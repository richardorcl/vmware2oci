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45b7b3b1d24bca" /><Relationship Type="http://schemas.openxmlformats.org/officeDocument/2006/relationships/extended-properties" Target="/docProps/app.xml" Id="R4c7eef961e8d49de" /><Relationship Type="http://schemas.openxmlformats.org/officeDocument/2006/relationships/officeDocument" Target="/ppt/presentation.xml" Id="R78b2dd47c2d842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56dd30d4584617"/>
  </p:sldMasterIdLst>
  <p:notesMasterIdLst>
    <p:notesMasterId xmlns:r="http://schemas.openxmlformats.org/officeDocument/2006/relationships" r:id="Ra19cad0ba34a4d1c"/>
  </p:notesMasterIdLst>
  <p:sldIdLst>
    <p:sldId xmlns:r="http://schemas.openxmlformats.org/officeDocument/2006/relationships" id="256" r:id="Refa9b5e5c8534388"/>
    <p:sldId xmlns:r="http://schemas.openxmlformats.org/officeDocument/2006/relationships" id="257" r:id="R1c1bb2bea92f475d"/>
    <p:sldId xmlns:r="http://schemas.openxmlformats.org/officeDocument/2006/relationships" id="258" r:id="R91f3df1cec5d44df"/>
    <p:sldId xmlns:r="http://schemas.openxmlformats.org/officeDocument/2006/relationships" id="259" r:id="R2cbf59d27ab343e9"/>
    <p:sldId xmlns:r="http://schemas.openxmlformats.org/officeDocument/2006/relationships" id="260" r:id="R09adf50bfe7f4a5e"/>
    <p:sldId xmlns:r="http://schemas.openxmlformats.org/officeDocument/2006/relationships" id="261" r:id="Ra2d803bf97ac43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1a7ccb0a5648da" /><Relationship Type="http://schemas.openxmlformats.org/officeDocument/2006/relationships/slideMaster" Target="/ppt/slideMasters/slideMaster1.xml" Id="R8956dd30d4584617" /><Relationship Type="http://schemas.openxmlformats.org/officeDocument/2006/relationships/notesMaster" Target="/ppt/notesMasters/notesMaster1.xml" Id="Ra19cad0ba34a4d1c" /><Relationship Type="http://schemas.openxmlformats.org/officeDocument/2006/relationships/presProps" Target="/ppt/presProps.xml" Id="R211e88ca95434fc7" /><Relationship Type="http://schemas.openxmlformats.org/officeDocument/2006/relationships/viewProps" Target="/ppt/viewProps.xml" Id="R4596df7f28b141fd" /><Relationship Type="http://schemas.openxmlformats.org/officeDocument/2006/relationships/tableStyles" Target="/ppt/tableStyles.xml" Id="Rca3f2887c8df4a5f" /><Relationship Type="http://schemas.openxmlformats.org/officeDocument/2006/relationships/slide" Target="/ppt/slides/slide1.xml" Id="Refa9b5e5c8534388" /><Relationship Type="http://schemas.openxmlformats.org/officeDocument/2006/relationships/slide" Target="/ppt/slides/slide2.xml" Id="R1c1bb2bea92f475d" /><Relationship Type="http://schemas.openxmlformats.org/officeDocument/2006/relationships/slide" Target="/ppt/slides/slide3.xml" Id="R91f3df1cec5d44df" /><Relationship Type="http://schemas.openxmlformats.org/officeDocument/2006/relationships/slide" Target="/ppt/slides/slide4.xml" Id="R2cbf59d27ab343e9" /><Relationship Type="http://schemas.openxmlformats.org/officeDocument/2006/relationships/slide" Target="/ppt/slides/slide5.xml" Id="R09adf50bfe7f4a5e" /><Relationship Type="http://schemas.openxmlformats.org/officeDocument/2006/relationships/slide" Target="/ppt/slides/slide6.xml" Id="Ra2d803bf97ac43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3aee8e6c4a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cfe6ccc7614ec5" /><Relationship Type="http://schemas.openxmlformats.org/officeDocument/2006/relationships/notesMaster" Target="/ppt/notesMasters/notesMaster1.xml" Id="R1097710880354a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0af9e4f327486d" /><Relationship Type="http://schemas.openxmlformats.org/officeDocument/2006/relationships/notesMaster" Target="/ppt/notesMasters/notesMaster1.xml" Id="R3149683958394b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c49297f1854ac2" /><Relationship Type="http://schemas.openxmlformats.org/officeDocument/2006/relationships/notesMaster" Target="/ppt/notesMasters/notesMaster1.xml" Id="R7c76d785f9f947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856ed1fba743c2" /><Relationship Type="http://schemas.openxmlformats.org/officeDocument/2006/relationships/notesMaster" Target="/ppt/notesMasters/notesMaster1.xml" Id="Re808c1ee0a1547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6d67afa3cb4252" /><Relationship Type="http://schemas.openxmlformats.org/officeDocument/2006/relationships/notesMaster" Target="/ppt/notesMasters/notesMaster1.xml" Id="Rb2069cf7eb2c4d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a765ced5684365" /><Relationship Type="http://schemas.openxmlformats.org/officeDocument/2006/relationships/notesMaster" Target="/ppt/notesMasters/notesMaster1.xml" Id="R347a4422cce244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image: user-provided screenshot "Hybrid Scenario". Logo, customer/date/prepared-by icons, Oracle mark, and the right-side hybrid infrastructure illustration are embedded as cropped image assets from that screenshot; visible title, subtitle, sizing label, customer/date/prepared-by labels and values are editable PowerPoint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418e68222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fbf76eaa0410c" /><Relationship Type="http://schemas.openxmlformats.org/officeDocument/2006/relationships/image" Target="/ppt/media/image.png" Id="R5909a69555a84c37" /><Relationship Type="http://schemas.openxmlformats.org/officeDocument/2006/relationships/image" Target="/ppt/media/image.svg" Id="R60bf2561a2ed4f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Light - Closing Slide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9a69555a84c37">
            <a:extLst>
              <a:ext uri="{96DAC541-7B7A-43D3-8B79-37D633B846F1}">
                <asvg:svgBlip xmlns:asvg="http://schemas.microsoft.com/office/drawing/2016/SVG/main" r:embed="R60bf2561a2ed4fd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043835" y="2998299"/>
            <a:ext cx="4104330" cy="861403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39f84e3e3c4eba" /><Relationship Type="http://schemas.openxmlformats.org/officeDocument/2006/relationships/slideLayout" Target="/ppt/slideLayouts/slideLayout1.xml" Id="R83d7bf76a1a94c49" /><Relationship Type="http://schemas.openxmlformats.org/officeDocument/2006/relationships/slideLayout" Target="/ppt/slideLayouts/slideLayout2.xml" Id="Raa52e2eda4aa47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A73578-F2E2-50B2-8FE9-85E22613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3500"/>
            <a:ext cx="2709863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Confidential - Oracle Restricted \Employees Only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911EAA2-F719-906A-0A6F-808E3643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642100"/>
            <a:ext cx="2709863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d7bf76a1a94c49"/>
    <p:sldLayoutId xmlns:r="http://schemas.openxmlformats.org/officeDocument/2006/relationships" id="2147483650" r:id="Raa52e2eda4aa47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a9f1593b947a9" /><Relationship Type="http://schemas.openxmlformats.org/officeDocument/2006/relationships/image" Target="/ppt/media/image2.png" Id="Rdbfbdb4fa1db4611" /><Relationship Type="http://schemas.openxmlformats.org/officeDocument/2006/relationships/image" Target="/ppt/media/image3.png" Id="Ra140c958bdae450a" /><Relationship Type="http://schemas.openxmlformats.org/officeDocument/2006/relationships/image" Target="/ppt/media/image4.png" Id="R410623d6aa5b47f9" /><Relationship Type="http://schemas.openxmlformats.org/officeDocument/2006/relationships/image" Target="/ppt/media/image5.png" Id="R5ea628bc74cf46b9" /><Relationship Type="http://schemas.openxmlformats.org/officeDocument/2006/relationships/image" Target="/ppt/media/image6.png" Id="Rf1f08746853b465b" /><Relationship Type="http://schemas.openxmlformats.org/officeDocument/2006/relationships/image" Target="/ppt/media/image7.png" Id="Re840fb05a3e7423f" /><Relationship Type="http://schemas.openxmlformats.org/officeDocument/2006/relationships/notesSlide" Target="/ppt/notesSlides/notesSlide1.xml" Id="Rd0b11a9f8bdb4f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ab7f04099497d" /><Relationship Type="http://schemas.openxmlformats.org/officeDocument/2006/relationships/image" Target="/ppt/media/image8.png" Id="R31b69c8ca3e24b5e" /><Relationship Type="http://schemas.openxmlformats.org/officeDocument/2006/relationships/image" Target="/ppt/media/image9.png" Id="R3931b8688c2b4122" /><Relationship Type="http://schemas.openxmlformats.org/officeDocument/2006/relationships/image" Target="/ppt/media/image10.png" Id="R56b32dd35fb14ca3" /><Relationship Type="http://schemas.openxmlformats.org/officeDocument/2006/relationships/image" Target="/ppt/media/image11.png" Id="Rc42eebd3b06048e5" /><Relationship Type="http://schemas.openxmlformats.org/officeDocument/2006/relationships/image" Target="/ppt/media/image12.png" Id="Rd27259d63e814810" /><Relationship Type="http://schemas.openxmlformats.org/officeDocument/2006/relationships/image" Target="/ppt/media/image13.png" Id="R7833cc0e34aa460e" /><Relationship Type="http://schemas.openxmlformats.org/officeDocument/2006/relationships/image" Target="/ppt/media/image14.png" Id="Rf31b07a0372e4413" /><Relationship Type="http://schemas.openxmlformats.org/officeDocument/2006/relationships/image" Target="/ppt/media/image15.png" Id="R0d72d88bd55a46d2" /><Relationship Type="http://schemas.openxmlformats.org/officeDocument/2006/relationships/image" Target="/ppt/media/image16.png" Id="Rf233166e707d4ae3" /><Relationship Type="http://schemas.openxmlformats.org/officeDocument/2006/relationships/image" Target="/ppt/media/image17.png" Id="Rec1323293b624f93" /><Relationship Type="http://schemas.openxmlformats.org/officeDocument/2006/relationships/image" Target="/ppt/media/image18.png" Id="Rc818a845ede44db0" /><Relationship Type="http://schemas.openxmlformats.org/officeDocument/2006/relationships/image" Target="/ppt/media/image19.png" Id="R3f65b5b113304a0a" /><Relationship Type="http://schemas.openxmlformats.org/officeDocument/2006/relationships/image" Target="/ppt/media/image20.png" Id="R1b845e15192f4b11" /><Relationship Type="http://schemas.openxmlformats.org/officeDocument/2006/relationships/image" Target="/ppt/media/image21.png" Id="R2c9c5f43434c4d72" /><Relationship Type="http://schemas.openxmlformats.org/officeDocument/2006/relationships/image" Target="/ppt/media/image22.png" Id="R33f4b80772734a5a" /><Relationship Type="http://schemas.openxmlformats.org/officeDocument/2006/relationships/image" Target="/ppt/media/image23.png" Id="Rf7c19ac394eb4388" /><Relationship Type="http://schemas.openxmlformats.org/officeDocument/2006/relationships/image" Target="/ppt/media/image24.png" Id="R81ec0c969093405e" /><Relationship Type="http://schemas.openxmlformats.org/officeDocument/2006/relationships/image" Target="/ppt/media/image25.png" Id="R5d951a18f2694598" /><Relationship Type="http://schemas.openxmlformats.org/officeDocument/2006/relationships/image" Target="/ppt/media/image26.png" Id="Rfa7d165ae4624ba2" /><Relationship Type="http://schemas.openxmlformats.org/officeDocument/2006/relationships/image" Target="/ppt/media/image27.png" Id="R11b8435b019b422c" /><Relationship Type="http://schemas.openxmlformats.org/officeDocument/2006/relationships/image" Target="/ppt/media/image28.png" Id="Re9891f49565245ae" /><Relationship Type="http://schemas.openxmlformats.org/officeDocument/2006/relationships/image" Target="/ppt/media/image29.png" Id="R41ac64d089ba4f50" /><Relationship Type="http://schemas.openxmlformats.org/officeDocument/2006/relationships/image" Target="/ppt/media/image30.png" Id="R51e3697965544741" /><Relationship Type="http://schemas.openxmlformats.org/officeDocument/2006/relationships/image" Target="/ppt/media/image31.png" Id="R919285e4180c4d5b" /><Relationship Type="http://schemas.openxmlformats.org/officeDocument/2006/relationships/image" Target="/ppt/media/image32.png" Id="Re586ca0aa6cc44d7" /><Relationship Type="http://schemas.openxmlformats.org/officeDocument/2006/relationships/image" Target="/ppt/media/image33.png" Id="R34eab0afa0714f61" /><Relationship Type="http://schemas.openxmlformats.org/officeDocument/2006/relationships/image" Target="/ppt/media/image34.png" Id="R4f4662baeeb049e8" /><Relationship Type="http://schemas.openxmlformats.org/officeDocument/2006/relationships/image" Target="/ppt/media/image35.png" Id="R6191ce1afc7b45a9" /><Relationship Type="http://schemas.openxmlformats.org/officeDocument/2006/relationships/image" Target="/ppt/media/image36.png" Id="Re193192bd25947b1" /><Relationship Type="http://schemas.openxmlformats.org/officeDocument/2006/relationships/notesSlide" Target="/ppt/notesSlides/notesSlide2.xml" Id="Re5489db1ff0e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36cf9887e4f23" /><Relationship Type="http://schemas.openxmlformats.org/officeDocument/2006/relationships/image" Target="/ppt/media/image37.png" Id="Rfa48f29c3ff0439b" /><Relationship Type="http://schemas.openxmlformats.org/officeDocument/2006/relationships/image" Target="/ppt/media/image38.png" Id="R9cc2ea2c0f2847f2" /><Relationship Type="http://schemas.openxmlformats.org/officeDocument/2006/relationships/image" Target="/ppt/media/image39.png" Id="Reb07531e7ea64c72" /><Relationship Type="http://schemas.openxmlformats.org/officeDocument/2006/relationships/image" Target="/ppt/media/image40.png" Id="Ra09aba7d4db441ad" /><Relationship Type="http://schemas.openxmlformats.org/officeDocument/2006/relationships/image" Target="/ppt/media/image41.png" Id="Rdd990646859c4869" /><Relationship Type="http://schemas.openxmlformats.org/officeDocument/2006/relationships/image" Target="/ppt/media/image42.png" Id="R9730bf3181eb4279" /><Relationship Type="http://schemas.openxmlformats.org/officeDocument/2006/relationships/image" Target="/ppt/media/image43.png" Id="Ra237d30f6bf0487c" /><Relationship Type="http://schemas.openxmlformats.org/officeDocument/2006/relationships/image" Target="/ppt/media/image44.png" Id="R4e3bc121397448bc" /><Relationship Type="http://schemas.openxmlformats.org/officeDocument/2006/relationships/image" Target="/ppt/media/image45.png" Id="R3353448b6c9e454d" /><Relationship Type="http://schemas.openxmlformats.org/officeDocument/2006/relationships/notesSlide" Target="/ppt/notesSlides/notesSlide3.xml" Id="R9ca55080cbaf43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e926d7f614416" /><Relationship Type="http://schemas.openxmlformats.org/officeDocument/2006/relationships/image" Target="/ppt/media/image46.png" Id="R129fdc768a354554" /><Relationship Type="http://schemas.openxmlformats.org/officeDocument/2006/relationships/image" Target="/ppt/media/image47.png" Id="R50e8296c829c40cc" /><Relationship Type="http://schemas.openxmlformats.org/officeDocument/2006/relationships/notesSlide" Target="/ppt/notesSlides/notesSlide4.xml" Id="R4c35ba29679347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1cbdc8ee648b1" /><Relationship Type="http://schemas.openxmlformats.org/officeDocument/2006/relationships/image" Target="/ppt/media/image48.png" Id="R18997f0547384949" /><Relationship Type="http://schemas.openxmlformats.org/officeDocument/2006/relationships/image" Target="/ppt/media/image49.png" Id="R184b398abfe140b5" /><Relationship Type="http://schemas.openxmlformats.org/officeDocument/2006/relationships/notesSlide" Target="/ppt/notesSlides/notesSlide5.xml" Id="R362db6a51eab4a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ee6e4edbf4cf5" /><Relationship Type="http://schemas.openxmlformats.org/officeDocument/2006/relationships/image" Target="/ppt/media/image50.png" Id="R17e7003636fe43eb" /><Relationship Type="http://schemas.openxmlformats.org/officeDocument/2006/relationships/image" Target="/ppt/media/image51.png" Id="Rb6e8eac1aabf420c" /><Relationship Type="http://schemas.openxmlformats.org/officeDocument/2006/relationships/notesSlide" Target="/ppt/notesSlides/notesSlide6.xml" Id="R5b522992f71f4e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49E835AC-E406-4A42-B827-3940795A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562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A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8BE297F6-E786-48FE-8038-AEA80C84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933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A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5099051-9731-4E14-9516-2FFFBEC3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A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3DDB224-6E1B-49AB-9820-2DAA224C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19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A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657043B8-6AFA-4B00-AA6F-A393240D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A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BA2D8AD-7606-4DDD-853D-0C1DDA55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A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143C4CD0-3596-49CC-B55D-DDD11F7A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323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A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bdb4fa1db4611"/>
          <a:stretch xmlns:a="http://schemas.openxmlformats.org/drawingml/2006/main"/>
        </p:blipFill>
        <p:spPr>
          <a:xfrm xmlns:a="http://schemas.openxmlformats.org/drawingml/2006/main">
            <a:off x="352425" y="432350"/>
            <a:ext cx="1952625" cy="592625"/>
          </a:xfrm>
          <a:prstGeom xmlns:a="http://schemas.openxmlformats.org/drawingml/2006/main" prst="rect">
            <a:avLst/>
          </a:prstGeom>
        </p:spPr>
      </p:pic>
      <p:pic>
        <p:nvPicPr>
          <p:cNvPr id="43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0c958bdae450a"/>
          <a:stretch xmlns:a="http://schemas.openxmlformats.org/drawingml/2006/main"/>
        </p:blipFill>
        <p:spPr>
          <a:xfrm xmlns:a="http://schemas.openxmlformats.org/drawingml/2006/main">
            <a:off x="5612278" y="571500"/>
            <a:ext cx="6015694" cy="5581650"/>
          </a:xfrm>
          <a:prstGeom xmlns:a="http://schemas.openxmlformats.org/drawingml/2006/main" prst="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60B91FC-8CD8-4E65-96AD-19939266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145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Hybrid Scenario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71B59EF-9810-4355-81FB-7D23F935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956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OCVS + OCI Compute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ADABF78-E7AC-4FA0-A74C-56A5348D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09950"/>
            <a:ext cx="504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58E955F-1E6B-4155-9ABE-62306BCC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Proposed Sizing</a:t>
            </a:r>
          </a:p>
        </p:txBody>
      </p:sp>
      <p:pic>
        <p:nvPicPr>
          <p:cNvPr id="48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623d6aa5b47f9"/>
          <a:stretch xmlns:a="http://schemas.openxmlformats.org/drawingml/2006/main"/>
        </p:blipFill>
        <p:spPr>
          <a:xfrm xmlns:a="http://schemas.openxmlformats.org/drawingml/2006/main">
            <a:off x="393982" y="4324350"/>
            <a:ext cx="421712" cy="428625"/>
          </a:xfrm>
          <a:prstGeom xmlns:a="http://schemas.openxmlformats.org/drawingml/2006/main" prst="rect">
            <a:avLst/>
          </a:prstGeom>
        </p:spPr>
      </p:pic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E759DF85-0D2B-4D4D-AE69-1E06A1AC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62450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D86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443DB73-AC2E-40D2-9DC7-AC735072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3815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8" name="editable-customer-value">
            <a:extLst xmlns:a="http://schemas.openxmlformats.org/drawingml/2006/main">
              <a:ext uri="{FF2B5EF4-FFF2-40B4-BE49-F238E27FC236}">
                <a16:creationId xmlns:a16="http://schemas.microsoft.com/office/drawing/2014/main" id="{4AD28CCF-BA72-4191-93C3-93A18C2C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29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pic>
        <p:nvPicPr>
          <p:cNvPr id="52" name="Pictur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628bc74cf46b9"/>
          <a:stretch xmlns:a="http://schemas.openxmlformats.org/drawingml/2006/main"/>
        </p:blipFill>
        <p:spPr>
          <a:xfrm xmlns:a="http://schemas.openxmlformats.org/drawingml/2006/main">
            <a:off x="390525" y="491490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96AB5EE4-7044-4726-B18C-20AA2A23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953000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D86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5177196-B61F-4C81-AAC6-28D79C3F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720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22" name="editable-date-value">
            <a:extLst xmlns:a="http://schemas.openxmlformats.org/drawingml/2006/main">
              <a:ext uri="{FF2B5EF4-FFF2-40B4-BE49-F238E27FC236}">
                <a16:creationId xmlns:a16="http://schemas.microsoft.com/office/drawing/2014/main" id="{6714AA64-5295-4F4D-AF20-EA167003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19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May 2025</a:t>
            </a:r>
          </a:p>
        </p:txBody>
      </p:sp>
      <p:pic>
        <p:nvPicPr>
          <p:cNvPr id="56" name="Picture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08746853b465b"/>
          <a:stretch xmlns:a="http://schemas.openxmlformats.org/drawingml/2006/main"/>
        </p:blipFill>
        <p:spPr>
          <a:xfrm xmlns:a="http://schemas.openxmlformats.org/drawingml/2006/main">
            <a:off x="393982" y="5505450"/>
            <a:ext cx="421712" cy="428625"/>
          </a:xfrm>
          <a:prstGeom xmlns:a="http://schemas.openxmlformats.org/drawingml/2006/main" prst="rect">
            <a:avLst/>
          </a:prstGeom>
        </p:spPr>
      </p:pic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7747E0ED-F6E3-4A6E-805F-BF461B4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43550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D86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85059C6-86C5-407F-AAA0-5DDE6E43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626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Prepared By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355C64F-574D-445D-A577-666CBAF1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1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Oracle Cloud VMware Specialist</a:t>
            </a:r>
          </a:p>
        </p:txBody>
      </p:sp>
      <p:pic>
        <p:nvPicPr>
          <p:cNvPr id="60" name="Picture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0fb05a3e7423f"/>
          <a:stretch xmlns:a="http://schemas.openxmlformats.org/drawingml/2006/main"/>
        </p:blipFill>
        <p:spPr>
          <a:xfrm xmlns:a="http://schemas.openxmlformats.org/drawingml/2006/main">
            <a:off x="11449050" y="6353855"/>
            <a:ext cx="476250" cy="4082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2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Oval 112">
            <a:extLst xmlns:a="http://schemas.openxmlformats.org/drawingml/2006/main">
              <a:ext uri="{FF2B5EF4-FFF2-40B4-BE49-F238E27FC236}">
                <a16:creationId xmlns:a16="http://schemas.microsoft.com/office/drawing/2014/main" id="{38D78533-4767-495E-B984-481F67FE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7810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C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C452F863-3813-49A4-941D-E7CCF747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52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C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63297081-6916-4391-B144-5CD441D8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8096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C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C5CA7685-C3C1-427E-BF02-F4356994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239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C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92C38F39-EBED-4F93-B013-B02B0F5A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2001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C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8F9C96D-0CC2-40A2-9A43-7BD816F7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86300"/>
            <a:ext cx="1333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E5EAE7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7A8B7D74-5D02-4DE2-B27B-5A0D87AF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791200"/>
            <a:ext cx="142875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E3E8E4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5A46560-09CB-410A-B1A9-CFFC0A24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Hybrid Migration with Oracle Cloud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E1C88A0-D8A6-4F14-AF3F-729BBCA2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65656"/>
                </a:solidFill>
                <a:latin typeface="Arial"/>
                <a:ea typeface="Arial"/>
                <a:cs typeface="Arial"/>
              </a:rPr>
              <a:t>Combine Oracle Cloud VMware Solution (OCVS) and OCI Compute to modernize workloads at your own pace.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6C4A35-ADA8-45E3-8D41-05CE15F5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1430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4" name="Picture 1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9c8ca3e24b5e"/>
          <a:stretch xmlns:a="http://schemas.openxmlformats.org/drawingml/2006/main"/>
        </p:blipFill>
        <p:spPr>
          <a:xfrm xmlns:a="http://schemas.openxmlformats.org/drawingml/2006/main">
            <a:off x="9582150" y="340338"/>
            <a:ext cx="2324100" cy="271825"/>
          </a:xfrm>
          <a:prstGeom xmlns:a="http://schemas.openxmlformats.org/drawingml/2006/main" prst="rect">
            <a:avLst/>
          </a:prstGeom>
        </p:spPr>
      </p:pic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58D98EE-C112-4B62-B525-BDFC5C0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95400"/>
            <a:ext cx="94678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C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6" name="Picture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1b8688c2b4122"/>
          <a:stretch xmlns:a="http://schemas.openxmlformats.org/drawingml/2006/main"/>
        </p:blipFill>
        <p:spPr>
          <a:xfrm xmlns:a="http://schemas.openxmlformats.org/drawingml/2006/main">
            <a:off x="447675" y="1413646"/>
            <a:ext cx="552450" cy="544558"/>
          </a:xfrm>
          <a:prstGeom xmlns:a="http://schemas.openxmlformats.org/drawingml/2006/main" prst="rect">
            <a:avLst/>
          </a:prstGeom>
        </p:spPr>
      </p:pic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7EC2ACB-D075-4DA6-A1EA-83FAD679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Flexibility to run and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modernize at your pace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2C8EA5B6-3BD4-485A-88DC-D34148B0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4668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9" name="Picture 1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32dd35fb14ca3"/>
          <a:stretch xmlns:a="http://schemas.openxmlformats.org/drawingml/2006/main"/>
        </p:blipFill>
        <p:spPr>
          <a:xfrm xmlns:a="http://schemas.openxmlformats.org/drawingml/2006/main">
            <a:off x="3067050" y="14097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F547F3-CBE3-4037-B51A-B086086D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524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Optimize costs and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improve efficiency</a:t>
            </a:r>
          </a:p>
        </p:txBody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0AE10538-CCD2-41E0-BB4D-1CC0924C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668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2" name="Picture 1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eebd3b06048e5"/>
          <a:stretch xmlns:a="http://schemas.openxmlformats.org/drawingml/2006/main"/>
        </p:blipFill>
        <p:spPr>
          <a:xfrm xmlns:a="http://schemas.openxmlformats.org/drawingml/2006/main">
            <a:off x="5334000" y="1413646"/>
            <a:ext cx="552450" cy="544558"/>
          </a:xfrm>
          <a:prstGeom xmlns:a="http://schemas.openxmlformats.org/drawingml/2006/main" prst="rect">
            <a:avLst/>
          </a:prstGeom>
        </p:spPr>
      </p:pic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A3A0681-5F20-4CAD-ACBF-98ABFCB2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24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Leverage best-in-class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 and reliability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6D5E2A3A-CAF1-4908-B594-7181EB69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668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5" name="Picture 1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259d63e814810"/>
          <a:stretch xmlns:a="http://schemas.openxmlformats.org/drawingml/2006/main"/>
        </p:blipFill>
        <p:spPr>
          <a:xfrm xmlns:a="http://schemas.openxmlformats.org/drawingml/2006/main">
            <a:off x="7667625" y="1413646"/>
            <a:ext cx="552450" cy="544558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9DB70C-24A3-45C5-9296-E2205361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24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Accelerate innovation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cloud-native services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438146C-B236-47BF-8E2F-E45185AC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81225"/>
            <a:ext cx="2714625" cy="339090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67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6906A73-A24F-41E4-A587-F7D596B6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81225"/>
            <a:ext cx="2714625" cy="371475"/>
          </a:xfrm>
          <a:prstGeom xmlns:a="http://schemas.openxmlformats.org/drawingml/2006/main" prst="roundRect">
            <a:avLst>
              <a:gd name="adj" fmla="val 17949"/>
            </a:avLst>
          </a:prstGeom>
          <a:gradFill xmlns:a="http://schemas.openxmlformats.org/drawingml/2006/main">
            <a:gsLst>
              <a:gs pos="0">
                <a:srgbClr val="003B25"/>
              </a:gs>
              <a:gs pos="100000">
                <a:srgbClr val="00462B"/>
              </a:gs>
            </a:gsLst>
            <a:lin ang="0"/>
          </a:gradFill>
          <a:ln xmlns:a="http://schemas.openxmlformats.org/drawingml/2006/main" w="0">
            <a:solidFill>
              <a:srgbClr val="003B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F1FBE9D-1BDC-4A0D-BD1E-39A44071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CURRENT ENVIRONMENT</a:t>
            </a:r>
          </a:p>
        </p:txBody>
      </p:sp>
      <p:pic>
        <p:nvPicPr>
          <p:cNvPr id="170" name="Picture 1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3cc0e34aa460e"/>
          <a:stretch xmlns:a="http://schemas.openxmlformats.org/drawingml/2006/main"/>
        </p:blipFill>
        <p:spPr>
          <a:xfrm xmlns:a="http://schemas.openxmlformats.org/drawingml/2006/main">
            <a:off x="459074" y="2771775"/>
            <a:ext cx="320102" cy="476250"/>
          </a:xfrm>
          <a:prstGeom xmlns:a="http://schemas.openxmlformats.org/drawingml/2006/main" prst="rect">
            <a:avLst/>
          </a:prstGeom>
        </p:spPr>
      </p:pic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FE31EB4-64A5-4E2E-AC5B-8BB5E72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CD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F400ABEF-C375-4542-A692-619EC866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38450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CD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F4C04305-7170-4011-91F9-43BBD730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38450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CD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19F62289-DB44-403F-A207-259A542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38450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CD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0B1EDB4-4DAF-4B07-9CD1-E26D90D7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9560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pic>
        <p:nvPicPr>
          <p:cNvPr id="176" name="Picture 1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b07a0372e4413"/>
          <a:stretch xmlns:a="http://schemas.openxmlformats.org/drawingml/2006/main"/>
        </p:blipFill>
        <p:spPr>
          <a:xfrm xmlns:a="http://schemas.openxmlformats.org/drawingml/2006/main">
            <a:off x="2674997" y="2828925"/>
            <a:ext cx="279280" cy="400050"/>
          </a:xfrm>
          <a:prstGeom xmlns:a="http://schemas.openxmlformats.org/drawingml/2006/main" prst="rect">
            <a:avLst/>
          </a:prstGeom>
        </p:spPr>
      </p:pic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10C66AA-24A1-4432-ABE1-A12BC675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718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On-Premises VMware Environment</a:t>
            </a:r>
          </a:p>
        </p:txBody>
      </p:sp>
      <p:sp>
        <p:nvSpPr>
          <p:cNvPr id="35" name="Straight Connector 34">
            <a:extLst xmlns:a="http://schemas.openxmlformats.org/drawingml/2006/main">
              <a:ext uri="{FF2B5EF4-FFF2-40B4-BE49-F238E27FC236}">
                <a16:creationId xmlns:a16="http://schemas.microsoft.com/office/drawing/2014/main" id="{95713809-B3FA-4953-B403-C5CFFD92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665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9" name="Picture 1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2d88bd55a46d2"/>
          <a:stretch xmlns:a="http://schemas.openxmlformats.org/drawingml/2006/main"/>
        </p:blipFill>
        <p:spPr>
          <a:xfrm xmlns:a="http://schemas.openxmlformats.org/drawingml/2006/main">
            <a:off x="495300" y="3926541"/>
            <a:ext cx="247650" cy="262218"/>
          </a:xfrm>
          <a:prstGeom xmlns:a="http://schemas.openxmlformats.org/drawingml/2006/main" prst="rect">
            <a:avLst/>
          </a:prstGeom>
        </p:spPr>
      </p:pic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FA6E09A6-4E67-4667-809B-BEB93C7A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Production workloads</a:t>
            </a:r>
          </a:p>
        </p:txBody>
      </p:sp>
      <p:pic>
        <p:nvPicPr>
          <p:cNvPr id="181" name="Picture 1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3166e707d4ae3"/>
          <a:stretch xmlns:a="http://schemas.openxmlformats.org/drawingml/2006/main"/>
        </p:blipFill>
        <p:spPr>
          <a:xfrm xmlns:a="http://schemas.openxmlformats.org/drawingml/2006/main">
            <a:off x="495300" y="4347882"/>
            <a:ext cx="247650" cy="276785"/>
          </a:xfrm>
          <a:prstGeom xmlns:a="http://schemas.openxmlformats.org/drawingml/2006/main" prst="rect">
            <a:avLst/>
          </a:prstGeom>
        </p:spPr>
      </p:pic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B34266A7-A485-42E7-866C-05E0C0E6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critical applications</a:t>
            </a:r>
          </a:p>
        </p:txBody>
      </p:sp>
      <p:pic>
        <p:nvPicPr>
          <p:cNvPr id="183" name="Picture 1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323293b624f93"/>
          <a:stretch xmlns:a="http://schemas.openxmlformats.org/drawingml/2006/main"/>
        </p:blipFill>
        <p:spPr>
          <a:xfrm xmlns:a="http://schemas.openxmlformats.org/drawingml/2006/main">
            <a:off x="495300" y="4760051"/>
            <a:ext cx="247650" cy="233499"/>
          </a:xfrm>
          <a:prstGeom xmlns:a="http://schemas.openxmlformats.org/drawingml/2006/main" prst="rect">
            <a:avLst/>
          </a:prstGeom>
        </p:spPr>
      </p:pic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834F0159-0058-48B1-9AE4-BF9F62D8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202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Users &amp; business operations</a:t>
            </a:r>
          </a:p>
        </p:txBody>
      </p:sp>
      <p:pic>
        <p:nvPicPr>
          <p:cNvPr id="185" name="Picture 1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8a845ede44db0"/>
          <a:stretch xmlns:a="http://schemas.openxmlformats.org/drawingml/2006/main"/>
        </p:blipFill>
        <p:spPr>
          <a:xfrm xmlns:a="http://schemas.openxmlformats.org/drawingml/2006/main">
            <a:off x="495300" y="5103668"/>
            <a:ext cx="247650" cy="270164"/>
          </a:xfrm>
          <a:prstGeom xmlns:a="http://schemas.openxmlformats.org/drawingml/2006/main" prst="rect">
            <a:avLst/>
          </a:prstGeom>
        </p:spPr>
      </p:pic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C8A0C27-3F09-48A6-A16E-45984E0D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At risk from cost, complexity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technical debt</a:t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F3F842EB-9BA9-4F93-A5FD-1BD48FAD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81225"/>
            <a:ext cx="3048000" cy="33909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67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241CC426-C86D-4F78-8B3B-E5010308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81225"/>
            <a:ext cx="3048000" cy="371475"/>
          </a:xfrm>
          <a:prstGeom xmlns:a="http://schemas.openxmlformats.org/drawingml/2006/main" prst="roundRect">
            <a:avLst>
              <a:gd name="adj" fmla="val 17949"/>
            </a:avLst>
          </a:prstGeom>
          <a:gradFill xmlns:a="http://schemas.openxmlformats.org/drawingml/2006/main">
            <a:gsLst>
              <a:gs pos="0">
                <a:srgbClr val="003B25"/>
              </a:gs>
              <a:gs pos="100000">
                <a:srgbClr val="00462B"/>
              </a:gs>
            </a:gsLst>
            <a:lin ang="0"/>
          </a:gradFill>
          <a:ln xmlns:a="http://schemas.openxmlformats.org/drawingml/2006/main" w="0">
            <a:solidFill>
              <a:srgbClr val="003B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EE4407C3-ABA2-47F5-9A74-38ACEB17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860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MIGRATION &amp; WORKLOAD MOBILITY</a:t>
            </a:r>
          </a:p>
        </p:txBody>
      </p:sp>
      <p:pic>
        <p:nvPicPr>
          <p:cNvPr id="190" name="Picture 1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5b5b113304a0a"/>
          <a:stretch xmlns:a="http://schemas.openxmlformats.org/drawingml/2006/main"/>
        </p:blipFill>
        <p:spPr>
          <a:xfrm xmlns:a="http://schemas.openxmlformats.org/drawingml/2006/main">
            <a:off x="3781425" y="2700572"/>
            <a:ext cx="609600" cy="599607"/>
          </a:xfrm>
          <a:prstGeom xmlns:a="http://schemas.openxmlformats.org/drawingml/2006/main" prst="rect">
            <a:avLst/>
          </a:prstGeom>
        </p:spPr>
      </p:pic>
      <p:sp>
        <p:nvSpPr>
          <p:cNvPr id="48" name="Straight Connector 47">
            <a:extLst xmlns:a="http://schemas.openxmlformats.org/drawingml/2006/main">
              <a:ext uri="{FF2B5EF4-FFF2-40B4-BE49-F238E27FC236}">
                <a16:creationId xmlns:a16="http://schemas.microsoft.com/office/drawing/2014/main" id="{72A8FE7C-A401-4E9F-89F1-245A2A11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67000"/>
            <a:ext cx="0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92" name="Picture 1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45e15192f4b11"/>
          <a:stretch xmlns:a="http://schemas.openxmlformats.org/drawingml/2006/main"/>
        </p:blipFill>
        <p:spPr>
          <a:xfrm xmlns:a="http://schemas.openxmlformats.org/drawingml/2006/main">
            <a:off x="5235831" y="2738438"/>
            <a:ext cx="539238" cy="514350"/>
          </a:xfrm>
          <a:prstGeom xmlns:a="http://schemas.openxmlformats.org/drawingml/2006/main" prst="rect">
            <a:avLst/>
          </a:prstGeom>
        </p:spPr>
      </p:pic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82B10384-22FE-46ED-82B2-83D2A0EA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312" y="32670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VMware Workload</a:t>
            </a:r>
            <a:r>
              <a:rPr sz="10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</a:t>
            </a:r>
            <a:endParaRPr sz="1000" b="1" i="0">
              <a:solidFill>
                <a:srgbClr val="003B2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to OCVS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4A36C29F-74B2-47D7-A04D-EF44BD13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6707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Workloads to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OCI Compute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57150A86-63D8-458F-8A12-2E89BBF0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78017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HCX Mobility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3D221785-1CC5-4AE8-BFE8-BD5F01F8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211" y="4010025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6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Secure, seamless migration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76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of VMware workloads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76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 Oracle Cloud VMware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76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Solution.</a:t>
            </a: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B893AB08-702D-4B5C-8044-182DDA4C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60997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OCI Migrations (OCM)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 Third-Party Tools</a:t>
            </a:r>
          </a:p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E516E089-9B63-4074-8D26-1125AA1F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6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Migrate and modernize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76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workloads to OCI Compute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76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using OCM or partner tools.</a:t>
            </a:r>
          </a:p>
        </p:txBody>
      </p:sp>
      <p:sp>
        <p:nvSpPr>
          <p:cNvPr id="56" name="Straight Connector 55">
            <a:extLst xmlns:a="http://schemas.openxmlformats.org/drawingml/2006/main">
              <a:ext uri="{FF2B5EF4-FFF2-40B4-BE49-F238E27FC236}">
                <a16:creationId xmlns:a16="http://schemas.microsoft.com/office/drawing/2014/main" id="{8EC0654B-43C1-4352-8F8B-364C399E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9105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2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7206710C-15F3-4542-8BB0-F7A50038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863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CONNECTIVITY OPTIONS</a:t>
            </a:r>
          </a:p>
        </p:txBody>
      </p:sp>
      <p:pic>
        <p:nvPicPr>
          <p:cNvPr id="201" name="Picture 16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c5f43434c4d72"/>
          <a:stretch xmlns:a="http://schemas.openxmlformats.org/drawingml/2006/main"/>
        </p:blipFill>
        <p:spPr>
          <a:xfrm xmlns:a="http://schemas.openxmlformats.org/drawingml/2006/main">
            <a:off x="3609975" y="4820189"/>
            <a:ext cx="447675" cy="456122"/>
          </a:xfrm>
          <a:prstGeom xmlns:a="http://schemas.openxmlformats.org/drawingml/2006/main" prst="rect">
            <a:avLst/>
          </a:prstGeom>
        </p:spPr>
      </p:pic>
      <p:pic>
        <p:nvPicPr>
          <p:cNvPr id="202" name="Picture 1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4b80772734a5a"/>
          <a:stretch xmlns:a="http://schemas.openxmlformats.org/drawingml/2006/main"/>
        </p:blipFill>
        <p:spPr>
          <a:xfrm xmlns:a="http://schemas.openxmlformats.org/drawingml/2006/main">
            <a:off x="4585229" y="4819650"/>
            <a:ext cx="440267" cy="457200"/>
          </a:xfrm>
          <a:prstGeom xmlns:a="http://schemas.openxmlformats.org/drawingml/2006/main" prst="rect">
            <a:avLst/>
          </a:prstGeom>
        </p:spPr>
      </p:pic>
      <p:pic>
        <p:nvPicPr>
          <p:cNvPr id="203" name="Picture 1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19ac394eb4388"/>
          <a:stretch xmlns:a="http://schemas.openxmlformats.org/drawingml/2006/main"/>
        </p:blipFill>
        <p:spPr>
          <a:xfrm xmlns:a="http://schemas.openxmlformats.org/drawingml/2006/main">
            <a:off x="5581650" y="4824413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E7DDA9FE-84AB-4353-B64B-C782B277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149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F3576EBD-A5F0-4873-BD74-57057295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149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VPN</a:t>
            </a:r>
          </a:p>
        </p:txBody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BD722160-7687-4E22-BDF8-639413E3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3149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FastConnect</a:t>
            </a:r>
          </a:p>
        </p:txBody>
      </p:sp>
      <p:pic>
        <p:nvPicPr>
          <p:cNvPr id="207" name="Picture 1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c0c969093405e"/>
          <a:stretch xmlns:a="http://schemas.openxmlformats.org/drawingml/2006/main"/>
        </p:blipFill>
        <p:spPr>
          <a:xfrm xmlns:a="http://schemas.openxmlformats.org/drawingml/2006/main">
            <a:off x="3028950" y="3539637"/>
            <a:ext cx="285750" cy="293077"/>
          </a:xfrm>
          <a:prstGeom xmlns:a="http://schemas.openxmlformats.org/drawingml/2006/main" prst="rect">
            <a:avLst/>
          </a:prstGeom>
        </p:spPr>
      </p:pic>
      <p:pic>
        <p:nvPicPr>
          <p:cNvPr id="208" name="Picture 17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51a18f2694598"/>
          <a:stretch xmlns:a="http://schemas.openxmlformats.org/drawingml/2006/main"/>
        </p:blipFill>
        <p:spPr>
          <a:xfrm xmlns:a="http://schemas.openxmlformats.org/drawingml/2006/main">
            <a:off x="6347460" y="3533775"/>
            <a:ext cx="297180" cy="304800"/>
          </a:xfrm>
          <a:prstGeom xmlns:a="http://schemas.openxmlformats.org/drawingml/2006/main" prst="rect">
            <a:avLst/>
          </a:prstGeom>
        </p:spPr>
      </p:pic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26FE7CC9-719C-41DA-AD71-CEE8E035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81225"/>
            <a:ext cx="3143250" cy="33909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Rounded Rectangle 66">
            <a:extLst xmlns:a="http://schemas.openxmlformats.org/drawingml/2006/main">
              <a:ext uri="{FF2B5EF4-FFF2-40B4-BE49-F238E27FC236}">
                <a16:creationId xmlns:a16="http://schemas.microsoft.com/office/drawing/2014/main" id="{8BA34303-23B5-42A6-B759-F773D5E1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81225"/>
            <a:ext cx="3143250" cy="371475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00000"/>
          </a:solidFill>
          <a:ln xmlns:a="http://schemas.openxmlformats.org/drawingml/2006/main" w="0">
            <a:solidFill>
              <a:srgbClr val="E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83AD87F9-C7A8-4DD9-BE49-4967D9DD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ENVIRONMENT (HYBRID)</a:t>
            </a:r>
          </a:p>
        </p:txBody>
      </p:sp>
      <p:sp>
        <p:nvSpPr>
          <p:cNvPr id="69" name="Cloud 68">
            <a:extLst xmlns:a="http://schemas.openxmlformats.org/drawingml/2006/main">
              <a:ext uri="{FF2B5EF4-FFF2-40B4-BE49-F238E27FC236}">
                <a16:creationId xmlns:a16="http://schemas.microsoft.com/office/drawing/2014/main" id="{80341006-C9F7-4FD9-B8DD-386B3B84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340" y="2752725"/>
            <a:ext cx="3069970" cy="180975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C67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Arc 69">
            <a:extLst xmlns:a="http://schemas.openxmlformats.org/drawingml/2006/main">
              <a:ext uri="{FF2B5EF4-FFF2-40B4-BE49-F238E27FC236}">
                <a16:creationId xmlns:a16="http://schemas.microsoft.com/office/drawing/2014/main" id="{FA2ACF4C-E1A9-47F5-9C3E-B8B6F4BE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19425"/>
            <a:ext cx="1219200" cy="111442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C6745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Straight Connector 70">
            <a:extLst xmlns:a="http://schemas.openxmlformats.org/drawingml/2006/main">
              <a:ext uri="{FF2B5EF4-FFF2-40B4-BE49-F238E27FC236}">
                <a16:creationId xmlns:a16="http://schemas.microsoft.com/office/drawing/2014/main" id="{8861F202-03A5-452A-8795-594C869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48575" y="3533774"/>
            <a:ext cx="1093500" cy="9525"/>
          </a:xfrm>
          <a:prstGeom xmlns:a="http://schemas.openxmlformats.org/drawingml/2006/main" prst="line">
            <a:avLst/>
          </a:prstGeom>
          <a:ln xmlns:a="http://schemas.openxmlformats.org/drawingml/2006/main" w="9525" cmpd="sng">
            <a:solidFill>
              <a:schemeClr val="dk1"/>
            </a:solidFill>
            <a:prstDash val="dash"/>
            <a:headEnd type="stealth" w="med" len="med"/>
            <a:tailEnd type="stealth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n w="9525">
                <a:solidFill>
                  <a:schemeClr val="tx1"/>
                </a:solidFill>
              </a:ln>
            </a:endParaRPr>
          </a:p>
        </p:txBody>
      </p:sp>
      <p:pic>
        <p:nvPicPr>
          <p:cNvPr id="215" name="Picture 1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d165ae4624ba2"/>
          <a:stretch xmlns:a="http://schemas.openxmlformats.org/drawingml/2006/main"/>
        </p:blipFill>
        <p:spPr>
          <a:xfrm xmlns:a="http://schemas.openxmlformats.org/drawingml/2006/main">
            <a:off x="8070594" y="2809875"/>
            <a:ext cx="222762" cy="276225"/>
          </a:xfrm>
          <a:prstGeom xmlns:a="http://schemas.openxmlformats.org/drawingml/2006/main" prst="rect">
            <a:avLst/>
          </a:prstGeom>
        </p:spPr>
      </p:pic>
      <p:pic>
        <p:nvPicPr>
          <p:cNvPr id="216" name="Picture 1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8435b019b422c"/>
          <a:stretch xmlns:a="http://schemas.openxmlformats.org/drawingml/2006/main"/>
        </p:blipFill>
        <p:spPr>
          <a:xfrm xmlns:a="http://schemas.openxmlformats.org/drawingml/2006/main">
            <a:off x="8042230" y="3990975"/>
            <a:ext cx="260441" cy="276225"/>
          </a:xfrm>
          <a:prstGeom xmlns:a="http://schemas.openxmlformats.org/drawingml/2006/main" prst="rect">
            <a:avLst/>
          </a:prstGeom>
        </p:spPr>
      </p:pic>
      <p:pic>
        <p:nvPicPr>
          <p:cNvPr id="217" name="Picture 18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91f49565245ae"/>
          <a:stretch xmlns:a="http://schemas.openxmlformats.org/drawingml/2006/main"/>
        </p:blipFill>
        <p:spPr>
          <a:xfrm xmlns:a="http://schemas.openxmlformats.org/drawingml/2006/main">
            <a:off x="8785578" y="3333750"/>
            <a:ext cx="431094" cy="447675"/>
          </a:xfrm>
          <a:prstGeom xmlns:a="http://schemas.openxmlformats.org/drawingml/2006/main" prst="rect">
            <a:avLst/>
          </a:prstGeom>
        </p:spPr>
      </p:pic>
      <p:sp>
        <p:nvSpPr>
          <p:cNvPr id="76" name="Rectangle 75">
            <a:extLst xmlns:a="http://schemas.openxmlformats.org/drawingml/2006/main">
              <a:ext uri="{FF2B5EF4-FFF2-40B4-BE49-F238E27FC236}">
                <a16:creationId xmlns:a16="http://schemas.microsoft.com/office/drawing/2014/main" id="{A6C2599F-DEC5-4F80-B6AC-32A609E0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48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OCVS</a:t>
            </a:r>
          </a:p>
        </p:txBody>
      </p:sp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181A4EBB-8073-4D8B-8BEA-F3C659B1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341" y="3988284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Run VMware</a:t>
            </a:r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D07A2387-B2DC-46D9-B019-42F37CE6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481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OCI Compute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EA2F3E31-55EA-4AD2-8583-312A2718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00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Modernize</a:t>
            </a:r>
          </a:p>
        </p:txBody>
      </p:sp>
      <p:sp>
        <p:nvSpPr>
          <p:cNvPr id="80" name="Rounded Rectangle 79">
            <a:extLst xmlns:a="http://schemas.openxmlformats.org/drawingml/2006/main">
              <a:ext uri="{FF2B5EF4-FFF2-40B4-BE49-F238E27FC236}">
                <a16:creationId xmlns:a16="http://schemas.microsoft.com/office/drawing/2014/main" id="{3D427039-41E7-473E-9076-FB853F48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629150"/>
            <a:ext cx="28765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3" name="Picture 19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c64d089ba4f50"/>
          <a:stretch xmlns:a="http://schemas.openxmlformats.org/drawingml/2006/main"/>
        </p:blipFill>
        <p:spPr>
          <a:xfrm xmlns:a="http://schemas.openxmlformats.org/drawingml/2006/main">
            <a:off x="6886575" y="4760051"/>
            <a:ext cx="398656" cy="419100"/>
          </a:xfrm>
          <a:prstGeom xmlns:a="http://schemas.openxmlformats.org/drawingml/2006/main" prst="rect">
            <a:avLst/>
          </a:prstGeom>
        </p:spPr>
      </p:pic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7AF957E3-5766-431A-9B71-8BB2D80C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762500"/>
            <a:ext cx="2028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Unified Management &amp; Security</a:t>
            </a:r>
          </a:p>
        </p:txBody>
      </p:sp>
      <p:sp>
        <p:nvSpPr>
          <p:cNvPr id="83" name="Rectangle 82">
            <a:extLst xmlns:a="http://schemas.openxmlformats.org/drawingml/2006/main">
              <a:ext uri="{FF2B5EF4-FFF2-40B4-BE49-F238E27FC236}">
                <a16:creationId xmlns:a16="http://schemas.microsoft.com/office/drawing/2014/main" id="{7820D916-9422-47B1-BEE1-E7EAAA54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9720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Consistent security, governance and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8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management across all environments.</a:t>
            </a:r>
          </a:p>
        </p:txBody>
      </p:sp>
      <p:sp>
        <p:nvSpPr>
          <p:cNvPr id="84" name="Straight Connector 83">
            <a:extLst xmlns:a="http://schemas.openxmlformats.org/drawingml/2006/main">
              <a:ext uri="{FF2B5EF4-FFF2-40B4-BE49-F238E27FC236}">
                <a16:creationId xmlns:a16="http://schemas.microsoft.com/office/drawing/2014/main" id="{B06C777C-FA3D-40E6-910F-C4D668A5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304925"/>
            <a:ext cx="0" cy="425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194C3829-C7E3-467C-876A-5C163BD7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352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BUSINESS OUTCOMES</a:t>
            </a:r>
          </a:p>
        </p:txBody>
      </p:sp>
      <p:sp>
        <p:nvSpPr>
          <p:cNvPr id="86" name="Straight Connector 85">
            <a:extLst xmlns:a="http://schemas.openxmlformats.org/drawingml/2006/main">
              <a:ext uri="{FF2B5EF4-FFF2-40B4-BE49-F238E27FC236}">
                <a16:creationId xmlns:a16="http://schemas.microsoft.com/office/drawing/2014/main" id="{1FDB18D3-84F9-49EB-99F8-B87FDD62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811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67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9" name="Picture 1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3697965544741"/>
          <a:stretch xmlns:a="http://schemas.openxmlformats.org/drawingml/2006/main"/>
        </p:blipFill>
        <p:spPr>
          <a:xfrm xmlns:a="http://schemas.openxmlformats.org/drawingml/2006/main">
            <a:off x="10067925" y="1771650"/>
            <a:ext cx="504825" cy="504825"/>
          </a:xfrm>
          <a:prstGeom xmlns:a="http://schemas.openxmlformats.org/drawingml/2006/main" prst="rect">
            <a:avLst/>
          </a:prstGeom>
        </p:spPr>
      </p:pic>
      <p:sp>
        <p:nvSpPr>
          <p:cNvPr id="88" name="Rectangle 87">
            <a:extLst xmlns:a="http://schemas.openxmlformats.org/drawingml/2006/main">
              <a:ext uri="{FF2B5EF4-FFF2-40B4-BE49-F238E27FC236}">
                <a16:creationId xmlns:a16="http://schemas.microsoft.com/office/drawing/2014/main" id="{2C929F64-F04F-462F-8208-5F16B54F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7907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Lower Costs</a:t>
            </a:r>
          </a:p>
        </p:txBody>
      </p:sp>
      <p:sp>
        <p:nvSpPr>
          <p:cNvPr id="89" name="Rectangle 88">
            <a:extLst xmlns:a="http://schemas.openxmlformats.org/drawingml/2006/main">
              <a:ext uri="{FF2B5EF4-FFF2-40B4-BE49-F238E27FC236}">
                <a16:creationId xmlns:a16="http://schemas.microsoft.com/office/drawing/2014/main" id="{0396E649-791C-4318-B7DD-37414FAB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097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Optimize infrastructure and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reduce operational costs.</a:t>
            </a:r>
          </a:p>
        </p:txBody>
      </p:sp>
      <p:sp>
        <p:nvSpPr>
          <p:cNvPr id="90" name="Straight Connector 89">
            <a:extLst xmlns:a="http://schemas.openxmlformats.org/drawingml/2006/main">
              <a:ext uri="{FF2B5EF4-FFF2-40B4-BE49-F238E27FC236}">
                <a16:creationId xmlns:a16="http://schemas.microsoft.com/office/drawing/2014/main" id="{19E87919-1E32-46A9-AD3A-79EF5553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907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3" name="Picture 2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285e4180c4d5b"/>
          <a:stretch xmlns:a="http://schemas.openxmlformats.org/drawingml/2006/main"/>
        </p:blipFill>
        <p:spPr>
          <a:xfrm xmlns:a="http://schemas.openxmlformats.org/drawingml/2006/main">
            <a:off x="10067925" y="2552700"/>
            <a:ext cx="504825" cy="504825"/>
          </a:xfrm>
          <a:prstGeom xmlns:a="http://schemas.openxmlformats.org/drawingml/2006/main" prst="rect">
            <a:avLst/>
          </a:prstGeom>
        </p:spPr>
      </p:pic>
      <p:sp>
        <p:nvSpPr>
          <p:cNvPr id="92" name="Rectangle 91">
            <a:extLst xmlns:a="http://schemas.openxmlformats.org/drawingml/2006/main">
              <a:ext uri="{FF2B5EF4-FFF2-40B4-BE49-F238E27FC236}">
                <a16:creationId xmlns:a16="http://schemas.microsoft.com/office/drawing/2014/main" id="{4A084D24-6799-4630-AE61-54B7E482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5717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Modernize &amp; Innovate</a:t>
            </a:r>
          </a:p>
        </p:txBody>
      </p:sp>
      <p:sp>
        <p:nvSpPr>
          <p:cNvPr id="93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B0325264-8DF1-4AE3-9A35-9AD70A5E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9082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OCI native services 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accelerate innovation.</a:t>
            </a:r>
          </a:p>
        </p:txBody>
      </p:sp>
      <p:sp>
        <p:nvSpPr>
          <p:cNvPr id="94" name="Straight Connector 93">
            <a:extLst xmlns:a="http://schemas.openxmlformats.org/drawingml/2006/main">
              <a:ext uri="{FF2B5EF4-FFF2-40B4-BE49-F238E27FC236}">
                <a16:creationId xmlns:a16="http://schemas.microsoft.com/office/drawing/2014/main" id="{0A601E8A-EF62-4E0D-8330-2157018D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718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7" name="Picture 2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6ca0aa6cc44d7"/>
          <a:stretch xmlns:a="http://schemas.openxmlformats.org/drawingml/2006/main"/>
        </p:blipFill>
        <p:spPr>
          <a:xfrm xmlns:a="http://schemas.openxmlformats.org/drawingml/2006/main">
            <a:off x="10067925" y="3333750"/>
            <a:ext cx="504825" cy="504825"/>
          </a:xfrm>
          <a:prstGeom xmlns:a="http://schemas.openxmlformats.org/drawingml/2006/main" prst="rect">
            <a:avLst/>
          </a:prstGeom>
        </p:spPr>
      </p:pic>
      <p:sp>
        <p:nvSpPr>
          <p:cNvPr id="96" name="Rectangle 95">
            <a:extLst xmlns:a="http://schemas.openxmlformats.org/drawingml/2006/main">
              <a:ext uri="{FF2B5EF4-FFF2-40B4-BE49-F238E27FC236}">
                <a16:creationId xmlns:a16="http://schemas.microsoft.com/office/drawing/2014/main" id="{94C75A87-ECBE-4C7E-8540-49E7ABA3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352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Flexible &amp; Scalable</a:t>
            </a:r>
          </a:p>
        </p:txBody>
      </p:sp>
      <p:sp>
        <p:nvSpPr>
          <p:cNvPr id="97" name="Rectangle 96">
            <a:extLst xmlns:a="http://schemas.openxmlformats.org/drawingml/2006/main">
              <a:ext uri="{FF2B5EF4-FFF2-40B4-BE49-F238E27FC236}">
                <a16:creationId xmlns:a16="http://schemas.microsoft.com/office/drawing/2014/main" id="{3AD2D020-558F-43A9-984B-09BD3845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5718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Scale on demand across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OCVS and OCI.</a:t>
            </a:r>
          </a:p>
        </p:txBody>
      </p:sp>
      <p:sp>
        <p:nvSpPr>
          <p:cNvPr id="98" name="Straight Connector 97">
            <a:extLst xmlns:a="http://schemas.openxmlformats.org/drawingml/2006/main">
              <a:ext uri="{FF2B5EF4-FFF2-40B4-BE49-F238E27FC236}">
                <a16:creationId xmlns:a16="http://schemas.microsoft.com/office/drawing/2014/main" id="{52D4440A-6C25-4149-B1CF-99D53DE4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528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1" name="Picture 2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ab0afa0714f61"/>
          <a:stretch xmlns:a="http://schemas.openxmlformats.org/drawingml/2006/main"/>
        </p:blipFill>
        <p:spPr>
          <a:xfrm xmlns:a="http://schemas.openxmlformats.org/drawingml/2006/main">
            <a:off x="10067925" y="4114800"/>
            <a:ext cx="504825" cy="504825"/>
          </a:xfrm>
          <a:prstGeom xmlns:a="http://schemas.openxmlformats.org/drawingml/2006/main" prst="rect">
            <a:avLst/>
          </a:prstGeom>
        </p:spPr>
      </p:pic>
      <p:sp>
        <p:nvSpPr>
          <p:cNvPr id="100" name="Rectangle 99">
            <a:extLst xmlns:a="http://schemas.openxmlformats.org/drawingml/2006/main">
              <a:ext uri="{FF2B5EF4-FFF2-40B4-BE49-F238E27FC236}">
                <a16:creationId xmlns:a16="http://schemas.microsoft.com/office/drawing/2014/main" id="{C4C5FD16-4E9F-4B23-B71E-4F994881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1338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Secure &amp; Reliable</a:t>
            </a:r>
          </a:p>
        </p:txBody>
      </p:sp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A5722576-E67C-41A6-848F-F4213078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35292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Enterprise-grade security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high availability.</a:t>
            </a:r>
          </a:p>
        </p:txBody>
      </p:sp>
      <p:sp>
        <p:nvSpPr>
          <p:cNvPr id="102" name="Straight Connector 101">
            <a:extLst xmlns:a="http://schemas.openxmlformats.org/drawingml/2006/main">
              <a:ext uri="{FF2B5EF4-FFF2-40B4-BE49-F238E27FC236}">
                <a16:creationId xmlns:a16="http://schemas.microsoft.com/office/drawing/2014/main" id="{7E275AB9-6E12-46AB-AF7C-E0AECB32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7339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5" name="Picture 2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662baeeb049e8"/>
          <a:stretch xmlns:a="http://schemas.openxmlformats.org/drawingml/2006/main"/>
        </p:blipFill>
        <p:spPr>
          <a:xfrm xmlns:a="http://schemas.openxmlformats.org/drawingml/2006/main">
            <a:off x="10067925" y="4895850"/>
            <a:ext cx="504825" cy="504825"/>
          </a:xfrm>
          <a:prstGeom xmlns:a="http://schemas.openxmlformats.org/drawingml/2006/main" prst="rect">
            <a:avLst/>
          </a:prstGeom>
        </p:spPr>
      </p:pic>
      <p:sp>
        <p:nvSpPr>
          <p:cNvPr id="104" name="Rectangle 103">
            <a:extLst xmlns:a="http://schemas.openxmlformats.org/drawingml/2006/main">
              <a:ext uri="{FF2B5EF4-FFF2-40B4-BE49-F238E27FC236}">
                <a16:creationId xmlns:a16="http://schemas.microsoft.com/office/drawing/2014/main" id="{B3ACEA2B-3278-461D-B2A6-DD55507C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9149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Future Ready</a:t>
            </a:r>
          </a:p>
        </p:txBody>
      </p:sp>
      <p:sp>
        <p:nvSpPr>
          <p:cNvPr id="105" name="Rectangle 104">
            <a:extLst xmlns:a="http://schemas.openxmlformats.org/drawingml/2006/main">
              <a:ext uri="{FF2B5EF4-FFF2-40B4-BE49-F238E27FC236}">
                <a16:creationId xmlns:a16="http://schemas.microsoft.com/office/drawing/2014/main" id="{60EC2853-4AC1-4472-852F-AB67D021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339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a modern, agile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foundation for the future.</a:t>
            </a:r>
          </a:p>
        </p:txBody>
      </p:sp>
      <p:sp>
        <p:nvSpPr>
          <p:cNvPr id="106" name="Rounded Rectangle 105">
            <a:extLst xmlns:a="http://schemas.openxmlformats.org/drawingml/2006/main">
              <a:ext uri="{FF2B5EF4-FFF2-40B4-BE49-F238E27FC236}">
                <a16:creationId xmlns:a16="http://schemas.microsoft.com/office/drawing/2014/main" id="{BE999163-D28A-4C4E-A8DA-0F644015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705475"/>
            <a:ext cx="9467850" cy="714375"/>
          </a:xfrm>
          <a:prstGeom xmlns:a="http://schemas.openxmlformats.org/drawingml/2006/main" prst="roundRect">
            <a:avLst>
              <a:gd name="adj" fmla="val 10667"/>
            </a:avLst>
          </a:prstGeom>
          <a:gradFill xmlns:a="http://schemas.openxmlformats.org/drawingml/2006/main">
            <a:gsLst>
              <a:gs pos="0">
                <a:srgbClr val="00351F"/>
              </a:gs>
              <a:gs pos="100000">
                <a:srgbClr val="00643E"/>
              </a:gs>
            </a:gsLst>
            <a:lin ang="0"/>
          </a:gradFill>
          <a:ln xmlns:a="http://schemas.openxmlformats.org/drawingml/2006/main" w="9525">
            <a:solidFill>
              <a:srgbClr val="003B2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9" name="Picture 2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1ce1afc7b45a9"/>
          <a:stretch xmlns:a="http://schemas.openxmlformats.org/drawingml/2006/main"/>
        </p:blipFill>
        <p:spPr>
          <a:xfrm xmlns:a="http://schemas.openxmlformats.org/drawingml/2006/main">
            <a:off x="432515" y="5810250"/>
            <a:ext cx="544669" cy="552450"/>
          </a:xfrm>
          <a:prstGeom xmlns:a="http://schemas.openxmlformats.org/drawingml/2006/main" prst="rect">
            <a:avLst/>
          </a:prstGeom>
        </p:spPr>
      </p:pic>
      <p:sp>
        <p:nvSpPr>
          <p:cNvPr id="108" name="Rectangle 107">
            <a:extLst xmlns:a="http://schemas.openxmlformats.org/drawingml/2006/main">
              <a:ext uri="{FF2B5EF4-FFF2-40B4-BE49-F238E27FC236}">
                <a16:creationId xmlns:a16="http://schemas.microsoft.com/office/drawing/2014/main" id="{1805E65A-5F4F-41A1-999B-F92AF941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817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Modernize at your own pace by combining Oracle Cloud VMware Solution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OCI Compute in a unified cloud architecture.</a:t>
            </a:r>
          </a:p>
        </p:txBody>
      </p:sp>
      <p:sp>
        <p:nvSpPr>
          <p:cNvPr id="109" name="Rectangle 108">
            <a:extLst xmlns:a="http://schemas.openxmlformats.org/drawingml/2006/main">
              <a:ext uri="{FF2B5EF4-FFF2-40B4-BE49-F238E27FC236}">
                <a16:creationId xmlns:a16="http://schemas.microsoft.com/office/drawing/2014/main" id="{5D1E25F5-163B-4090-8006-47F81744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72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Copyright © 2026, Oracle and/or its affiliates</a:t>
            </a:r>
          </a:p>
        </p:txBody>
      </p:sp>
      <p:sp>
        <p:nvSpPr>
          <p:cNvPr id="110" name="Straight Connector 109">
            <a:extLst xmlns:a="http://schemas.openxmlformats.org/drawingml/2006/main">
              <a:ext uri="{FF2B5EF4-FFF2-40B4-BE49-F238E27FC236}">
                <a16:creationId xmlns:a16="http://schemas.microsoft.com/office/drawing/2014/main" id="{80AD5F84-CDD6-48EA-8EE4-74BE40C6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57225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1" name="Rectangle 110">
            <a:extLst xmlns:a="http://schemas.openxmlformats.org/drawingml/2006/main">
              <a:ext uri="{FF2B5EF4-FFF2-40B4-BE49-F238E27FC236}">
                <a16:creationId xmlns:a16="http://schemas.microsoft.com/office/drawing/2014/main" id="{44546D48-808B-4322-A863-EB4D8482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5722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E00000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E00000"/>
                </a:solidFill>
                <a:latin typeface="Arial"/>
                <a:ea typeface="Arial"/>
                <a:cs typeface="Arial"/>
              </a:rPr>
              <a:t>Confidential: Internal/Restricted/Highly Restricted</a:t>
            </a:r>
          </a:p>
        </p:txBody>
      </p:sp>
      <p:pic>
        <p:nvPicPr>
          <p:cNvPr id="254" name="Picture 2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3192bd25947b1"/>
          <a:stretch xmlns:a="http://schemas.openxmlformats.org/drawingml/2006/main"/>
        </p:blipFill>
        <p:spPr>
          <a:xfrm xmlns:a="http://schemas.openxmlformats.org/drawingml/2006/main">
            <a:off x="11430840" y="6219825"/>
            <a:ext cx="484094" cy="514350"/>
          </a:xfrm>
          <a:prstGeom xmlns:a="http://schemas.openxmlformats.org/drawingml/2006/main" prst="rect">
            <a:avLst/>
          </a:prstGeom>
        </p:spPr>
      </p:pic>
      <p:pic>
        <p:nvPicPr>
          <p:cNvPr id="25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5b5b113304a0a"/>
          <a:stretch xmlns:a="http://schemas.openxmlformats.org/drawingml/2006/main"/>
        </p:blipFill>
        <p:spPr>
          <a:xfrm xmlns:a="http://schemas.openxmlformats.org/drawingml/2006/main">
            <a:off x="7106875" y="3302644"/>
            <a:ext cx="553914" cy="5448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63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73A5942D-D23C-45E6-ACE1-2F77352B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572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3088BEA-17DF-442D-9BC7-02155DD5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685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FF40793F-68B7-4A09-857E-9B1E1E9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74B1F8E-B96D-4B16-B046-787E8702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123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ECE320BA-C63B-4BBF-94C5-92BE5192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81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F232F3B-1324-4364-BD60-137FAF19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6478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12DA0ADF-18D5-4143-BAFB-C1D4E032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03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EF1F3FD-6495-4F9F-8163-4CEB685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81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B3A8DECC-6222-4521-82D5-B349CA05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848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0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8f29c3ff0439b"/>
          <a:stretch xmlns:a="http://schemas.openxmlformats.org/drawingml/2006/main"/>
        </p:blipFill>
        <p:spPr>
          <a:xfrm xmlns:a="http://schemas.openxmlformats.org/drawingml/2006/main">
            <a:off x="361950" y="357187"/>
            <a:ext cx="1927741" cy="600075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1FA5E6-65B3-42DA-A23A-AE93E672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33475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Assumptions &amp; Methodology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29860D-8183-4AA2-8F53-EEB15158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764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E173982-393B-42AC-A28E-FA0B0948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3832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proposed sizing is based on the information provided by the customer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the following assumptions and methodology.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05FD567-6830-4B7C-A6B4-1C17F3F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7391400" cy="3676650"/>
          </a:xfrm>
          <a:prstGeom xmlns:a="http://schemas.openxmlformats.org/drawingml/2006/main" prst="roundRect">
            <a:avLst>
              <a:gd name="adj" fmla="val 1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E7120EA-B371-422A-9F44-F023B4B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7391400" cy="361950"/>
          </a:xfrm>
          <a:prstGeom xmlns:a="http://schemas.openxmlformats.org/drawingml/2006/main" prst="roundRect">
            <a:avLst>
              <a:gd name="adj" fmla="val 18421"/>
            </a:avLst>
          </a:prstGeom>
          <a:gradFill xmlns:a="http://schemas.openxmlformats.org/drawingml/2006/main">
            <a:gsLst>
              <a:gs pos="0">
                <a:srgbClr val="00351F"/>
              </a:gs>
              <a:gs pos="100000">
                <a:srgbClr val="07543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Picture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2ea2c0f2847f2"/>
          <a:stretch xmlns:a="http://schemas.openxmlformats.org/drawingml/2006/main"/>
        </p:blipFill>
        <p:spPr>
          <a:xfrm xmlns:a="http://schemas.openxmlformats.org/drawingml/2006/main">
            <a:off x="617492" y="2390775"/>
            <a:ext cx="260441" cy="276225"/>
          </a:xfrm>
          <a:prstGeom xmlns:a="http://schemas.openxmlformats.org/drawingml/2006/main" prst="rect">
            <a:avLst/>
          </a:prstGeom>
        </p:spPr>
      </p:pic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91505E6-4E87-4F2F-9412-FA897C3D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38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Sizing Methodology</a:t>
            </a:r>
          </a:p>
        </p:txBody>
      </p:sp>
      <p:pic>
        <p:nvPicPr>
          <p:cNvPr id="78" name="Picture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7531e7ea64c72"/>
          <a:stretch xmlns:a="http://schemas.openxmlformats.org/drawingml/2006/main"/>
        </p:blipFill>
        <p:spPr>
          <a:xfrm xmlns:a="http://schemas.openxmlformats.org/drawingml/2006/main">
            <a:off x="600075" y="2779303"/>
            <a:ext cx="466725" cy="451669"/>
          </a:xfrm>
          <a:prstGeom xmlns:a="http://schemas.openxmlformats.org/drawingml/2006/main" prst="rect">
            <a:avLst/>
          </a:prstGeom>
        </p:spPr>
      </p:pic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908386-5A93-4A58-A462-83A24A1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Source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74A58121-1B16-4F12-92B5-F259AF49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289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D931CB-6DBE-4D20-B729-98885198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289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RVTools export provided by the customer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(Analysis Date: May 08, 2025)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23397379-0F76-4614-83F5-A13601AE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64218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3" name="Picture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aba7d4db441ad"/>
          <a:stretch xmlns:a="http://schemas.openxmlformats.org/drawingml/2006/main"/>
        </p:blipFill>
        <p:spPr>
          <a:xfrm xmlns:a="http://schemas.openxmlformats.org/drawingml/2006/main">
            <a:off x="600075" y="3309845"/>
            <a:ext cx="466725" cy="451669"/>
          </a:xfrm>
          <a:prstGeom xmlns:a="http://schemas.openxmlformats.org/drawingml/2006/main" prst="rect">
            <a:avLst/>
          </a:prstGeom>
        </p:spPr>
      </p:pic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E8908F2-D896-472D-AF70-B94F25A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5193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Sizing Approach</a:t>
            </a:r>
          </a:p>
        </p:txBody>
      </p:sp>
      <p:sp>
        <p:nvSpPr>
          <p:cNvPr id="26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CFDEC23A-6F66-49D5-87D3-62C87F39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9468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ECE9441-9ABA-4D86-B0D0-CA3DF1A3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9468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Capacity based on current utilization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projected growth</a:t>
            </a:r>
          </a:p>
        </p:txBody>
      </p:sp>
      <p:sp>
        <p:nvSpPr>
          <p:cNvPr id="28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45CE46C6-B9C0-4849-A834-96BE0653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94760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8" name="Picture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90646859c4869"/>
          <a:stretch xmlns:a="http://schemas.openxmlformats.org/drawingml/2006/main"/>
        </p:blipFill>
        <p:spPr>
          <a:xfrm xmlns:a="http://schemas.openxmlformats.org/drawingml/2006/main">
            <a:off x="600075" y="3836686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8085D01-F2D9-4FF8-AFE8-59DAD7C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573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CPU Contention Ratio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72944B4F-936E-4666-BCB5-19428C80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9001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editable-cpu-contention-ratio">
            <a:extLst xmlns:a="http://schemas.openxmlformats.org/drawingml/2006/main">
              <a:ext uri="{FF2B5EF4-FFF2-40B4-BE49-F238E27FC236}">
                <a16:creationId xmlns:a16="http://schemas.microsoft.com/office/drawing/2014/main" id="{4BB2C1F5-D562-49B2-9F9A-0CC0CC21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9001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1:6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1010FD1-CF72-4430-AE27-159930A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0908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(Industry standard for medium consolidation)</a:t>
            </a:r>
          </a:p>
        </p:txBody>
      </p:sp>
      <p:sp>
        <p:nvSpPr>
          <p:cNvPr id="34" name="Straight Connector 33">
            <a:extLst xmlns:a="http://schemas.openxmlformats.org/drawingml/2006/main">
              <a:ext uri="{FF2B5EF4-FFF2-40B4-BE49-F238E27FC236}">
                <a16:creationId xmlns:a16="http://schemas.microsoft.com/office/drawing/2014/main" id="{02CD068C-C8FC-47C9-BB57-3D4C6435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25303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4" name="Picture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0bf3181eb4279"/>
          <a:stretch xmlns:a="http://schemas.openxmlformats.org/drawingml/2006/main"/>
        </p:blipFill>
        <p:spPr>
          <a:xfrm xmlns:a="http://schemas.openxmlformats.org/drawingml/2006/main">
            <a:off x="600075" y="4367228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5B0B338-2A00-4402-837C-6832FD36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06278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Average Utilization</a:t>
            </a:r>
          </a:p>
        </p:txBody>
      </p:sp>
      <p:sp>
        <p:nvSpPr>
          <p:cNvPr id="37" name="Straight Connector 36">
            <a:extLst xmlns:a="http://schemas.openxmlformats.org/drawingml/2006/main">
              <a:ext uri="{FF2B5EF4-FFF2-40B4-BE49-F238E27FC236}">
                <a16:creationId xmlns:a16="http://schemas.microsoft.com/office/drawing/2014/main" id="{0004D49C-3CEF-4D64-8EE4-5C2EF19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0553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09B219E-B635-42E5-8711-6CCAA05C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20553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vCPU: 50%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vMEM: 60%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B5294845-2E5B-41F1-8CD4-A4D7AFAA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5845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9" name="Picture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7d30f6bf0487c"/>
          <a:stretch xmlns:a="http://schemas.openxmlformats.org/drawingml/2006/main"/>
        </p:blipFill>
        <p:spPr>
          <a:xfrm xmlns:a="http://schemas.openxmlformats.org/drawingml/2006/main">
            <a:off x="600075" y="4897771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237AD7F-4836-4176-AF9D-C45EBA30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3682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Target Utilization</a:t>
            </a:r>
          </a:p>
        </p:txBody>
      </p:sp>
      <p:sp>
        <p:nvSpPr>
          <p:cNvPr id="42" name="Straight Connector 41">
            <a:extLst xmlns:a="http://schemas.openxmlformats.org/drawingml/2006/main">
              <a:ext uri="{FF2B5EF4-FFF2-40B4-BE49-F238E27FC236}">
                <a16:creationId xmlns:a16="http://schemas.microsoft.com/office/drawing/2014/main" id="{4D9346C3-2665-41B0-99E5-1FA2EBA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109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BC0D906-17E6-4658-8738-8B367543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109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(For both vCPU and vMEM)</a:t>
            </a:r>
          </a:p>
        </p:txBody>
      </p:sp>
      <p:sp>
        <p:nvSpPr>
          <p:cNvPr id="44" name="Straight Connector 43">
            <a:extLst xmlns:a="http://schemas.openxmlformats.org/drawingml/2006/main">
              <a:ext uri="{FF2B5EF4-FFF2-40B4-BE49-F238E27FC236}">
                <a16:creationId xmlns:a16="http://schemas.microsoft.com/office/drawing/2014/main" id="{76C190DA-7557-4EF8-A3B4-C1CD1D53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86388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4" name="Picture 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bc121397448bc"/>
          <a:stretch xmlns:a="http://schemas.openxmlformats.org/drawingml/2006/main"/>
        </p:blipFill>
        <p:spPr>
          <a:xfrm xmlns:a="http://schemas.openxmlformats.org/drawingml/2006/main">
            <a:off x="600075" y="5424488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1AAF8FDE-50FC-4C3F-9F81-15310F8F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7363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Storage Type</a:t>
            </a:r>
          </a:p>
        </p:txBody>
      </p:sp>
      <p:sp>
        <p:nvSpPr>
          <p:cNvPr id="47" name="Straight Connector 46">
            <a:extLst xmlns:a="http://schemas.openxmlformats.org/drawingml/2006/main">
              <a:ext uri="{FF2B5EF4-FFF2-40B4-BE49-F238E27FC236}">
                <a16:creationId xmlns:a16="http://schemas.microsoft.com/office/drawing/2014/main" id="{FFEF831B-5985-4EBD-83C8-50668461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1638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editable-methodology-storage-type">
            <a:extLst xmlns:a="http://schemas.openxmlformats.org/drawingml/2006/main">
              <a:ext uri="{FF2B5EF4-FFF2-40B4-BE49-F238E27FC236}">
                <a16:creationId xmlns:a16="http://schemas.microsoft.com/office/drawing/2014/main" id="{FCCC5123-50EE-49F7-9C4E-AD8B5F1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81638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OCI Block Volume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(Block Storage)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16E4D860-FD45-4FE4-BDF9-3E6C0A6C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553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pic>
        <p:nvPicPr>
          <p:cNvPr id="109" name="Picture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3448b6c9e454d"/>
          <a:stretch xmlns:a="http://schemas.openxmlformats.org/drawingml/2006/main"/>
        </p:blipFill>
        <p:spPr>
          <a:xfrm xmlns:a="http://schemas.openxmlformats.org/drawingml/2006/main">
            <a:off x="11391900" y="6479151"/>
            <a:ext cx="400050" cy="3290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572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Current Environment-title">
            <a:extLst xmlns:a="http://schemas.openxmlformats.org/drawingml/2006/main">
              <a:ext uri="{FF2B5EF4-FFF2-40B4-BE49-F238E27FC236}">
                <a16:creationId xmlns:a16="http://schemas.microsoft.com/office/drawing/2014/main" id="{274DD59D-ACFC-47BA-AC53-6D05861D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Current Environment</a:t>
            </a:r>
          </a:p>
        </p:txBody>
      </p:sp>
      <p:sp>
        <p:nvSpPr>
          <p:cNvPr id="2" name="Current Environment-rule">
            <a:extLst xmlns:a="http://schemas.openxmlformats.org/drawingml/2006/main">
              <a:ext uri="{FF2B5EF4-FFF2-40B4-BE49-F238E27FC236}">
                <a16:creationId xmlns:a16="http://schemas.microsoft.com/office/drawing/2014/main" id="{E2DDF4C3-F256-4FAA-BDD7-80EC67C2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1C"/>
          </a:solidFill>
          <a:ln xmlns:a="http://schemas.openxmlformats.org/drawingml/2006/main" w="0">
            <a:noFill/>
          </a:ln>
        </p:spPr>
      </p:sp>
      <p:sp>
        <p:nvSpPr>
          <p:cNvPr id="3" name="Current Environment-subtitle">
            <a:extLst xmlns:a="http://schemas.openxmlformats.org/drawingml/2006/main">
              <a:ext uri="{FF2B5EF4-FFF2-40B4-BE49-F238E27FC236}">
                <a16:creationId xmlns:a16="http://schemas.microsoft.com/office/drawing/2014/main" id="{BCEAC05B-BA4E-45B1-A151-CE30EC2C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Analysis based on the selected RVTools assessment scope.</a:t>
            </a:r>
          </a:p>
        </p:txBody>
      </p:sp>
      <p:sp>
        <p:nvSpPr>
          <p:cNvPr id="4" name="Current Environment-footer">
            <a:extLst xmlns:a="http://schemas.openxmlformats.org/drawingml/2006/main">
              <a:ext uri="{FF2B5EF4-FFF2-40B4-BE49-F238E27FC236}">
                <a16:creationId xmlns:a16="http://schemas.microsoft.com/office/drawing/2014/main" id="{DF541D33-1718-45D9-85C1-8E8C27FA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D665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D665F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sp>
        <p:nvSpPr>
          <p:cNvPr id="5" name="editable-current-vms">
            <a:extLst xmlns:a="http://schemas.openxmlformats.org/drawingml/2006/main">
              <a:ext uri="{FF2B5EF4-FFF2-40B4-BE49-F238E27FC236}">
                <a16:creationId xmlns:a16="http://schemas.microsoft.com/office/drawing/2014/main" id="{A85EABB6-664F-43E6-9F80-E3C610B0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editable-current-powered-on">
            <a:extLst xmlns:a="http://schemas.openxmlformats.org/drawingml/2006/main">
              <a:ext uri="{FF2B5EF4-FFF2-40B4-BE49-F238E27FC236}">
                <a16:creationId xmlns:a16="http://schemas.microsoft.com/office/drawing/2014/main" id="{7B1DF803-F02B-4FA1-8298-27794EF8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editable-current-powered-off">
            <a:extLst xmlns:a="http://schemas.openxmlformats.org/drawingml/2006/main">
              <a:ext uri="{FF2B5EF4-FFF2-40B4-BE49-F238E27FC236}">
                <a16:creationId xmlns:a16="http://schemas.microsoft.com/office/drawing/2014/main" id="{DBB19AE5-D15D-475B-B5C5-FA075275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editable-current-vcpus">
            <a:extLst xmlns:a="http://schemas.openxmlformats.org/drawingml/2006/main">
              <a:ext uri="{FF2B5EF4-FFF2-40B4-BE49-F238E27FC236}">
                <a16:creationId xmlns:a16="http://schemas.microsoft.com/office/drawing/2014/main" id="{D21B7122-287A-433B-BF2E-0C3EBF9A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editable-current-vram">
            <a:extLst xmlns:a="http://schemas.openxmlformats.org/drawingml/2006/main">
              <a:ext uri="{FF2B5EF4-FFF2-40B4-BE49-F238E27FC236}">
                <a16:creationId xmlns:a16="http://schemas.microsoft.com/office/drawing/2014/main" id="{400AC9E9-1F3B-4C49-A0BD-324CA652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editable-current-storage">
            <a:extLst xmlns:a="http://schemas.openxmlformats.org/drawingml/2006/main">
              <a:ext uri="{FF2B5EF4-FFF2-40B4-BE49-F238E27FC236}">
                <a16:creationId xmlns:a16="http://schemas.microsoft.com/office/drawing/2014/main" id="{1BB8BCC5-DD80-416E-A1E1-8753BBAF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current-cluster-panel">
            <a:extLst xmlns:a="http://schemas.openxmlformats.org/drawingml/2006/main">
              <a:ext uri="{FF2B5EF4-FFF2-40B4-BE49-F238E27FC236}">
                <a16:creationId xmlns:a16="http://schemas.microsoft.com/office/drawing/2014/main" id="{EA349104-A448-4548-9B52-6DB42BDA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12" name="current-cluster-band">
            <a:extLst xmlns:a="http://schemas.openxmlformats.org/drawingml/2006/main">
              <a:ext uri="{FF2B5EF4-FFF2-40B4-BE49-F238E27FC236}">
                <a16:creationId xmlns:a16="http://schemas.microsoft.com/office/drawing/2014/main" id="{9F2A4122-AFCB-4AF7-8B1C-C8A71C8C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3" name="current-cluster-band-label">
            <a:extLst xmlns:a="http://schemas.openxmlformats.org/drawingml/2006/main">
              <a:ext uri="{FF2B5EF4-FFF2-40B4-BE49-F238E27FC236}">
                <a16:creationId xmlns:a16="http://schemas.microsoft.com/office/drawing/2014/main" id="{22CD020C-4813-4424-A506-FD722040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Selected Environment</a:t>
            </a:r>
          </a:p>
        </p:txBody>
      </p:sp>
      <p:sp>
        <p:nvSpPr>
          <p:cNvPr id="14" name="current-column-Source cluster">
            <a:extLst xmlns:a="http://schemas.openxmlformats.org/drawingml/2006/main">
              <a:ext uri="{FF2B5EF4-FFF2-40B4-BE49-F238E27FC236}">
                <a16:creationId xmlns:a16="http://schemas.microsoft.com/office/drawing/2014/main" id="{09D28804-20A6-4316-8FAB-7C5F3671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15" name="current-column-VMs">
            <a:extLst xmlns:a="http://schemas.openxmlformats.org/drawingml/2006/main">
              <a:ext uri="{FF2B5EF4-FFF2-40B4-BE49-F238E27FC236}">
                <a16:creationId xmlns:a16="http://schemas.microsoft.com/office/drawing/2014/main" id="{ACA3914E-7BB8-422F-B741-24B4E384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33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VMs</a:t>
            </a:r>
          </a:p>
        </p:txBody>
      </p:sp>
      <p:sp>
        <p:nvSpPr>
          <p:cNvPr id="16" name="current-column-vCPUs">
            <a:extLst xmlns:a="http://schemas.openxmlformats.org/drawingml/2006/main">
              <a:ext uri="{FF2B5EF4-FFF2-40B4-BE49-F238E27FC236}">
                <a16:creationId xmlns:a16="http://schemas.microsoft.com/office/drawing/2014/main" id="{CC09782D-4786-42D7-8756-F95E1732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vCPUs</a:t>
            </a:r>
          </a:p>
        </p:txBody>
      </p:sp>
      <p:sp>
        <p:nvSpPr>
          <p:cNvPr id="17" name="current-column-vRAM (GB)">
            <a:extLst xmlns:a="http://schemas.openxmlformats.org/drawingml/2006/main">
              <a:ext uri="{FF2B5EF4-FFF2-40B4-BE49-F238E27FC236}">
                <a16:creationId xmlns:a16="http://schemas.microsoft.com/office/drawing/2014/main" id="{6D742529-D6BB-42FB-ACE6-42032AFD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vRAM (GB)</a:t>
            </a:r>
          </a:p>
        </p:txBody>
      </p:sp>
      <p:sp>
        <p:nvSpPr>
          <p:cNvPr id="18" name="current-column-Storage (TB)">
            <a:extLst xmlns:a="http://schemas.openxmlformats.org/drawingml/2006/main">
              <a:ext uri="{FF2B5EF4-FFF2-40B4-BE49-F238E27FC236}">
                <a16:creationId xmlns:a16="http://schemas.microsoft.com/office/drawing/2014/main" id="{66112A01-94B9-41D3-8D45-F38A2E5B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(TB)</a:t>
            </a:r>
          </a:p>
        </p:txBody>
      </p:sp>
      <p:sp>
        <p:nvSpPr>
          <p:cNvPr id="19" name="editable-source-cluster-name-row-1">
            <a:extLst xmlns:a="http://schemas.openxmlformats.org/drawingml/2006/main">
              <a:ext uri="{FF2B5EF4-FFF2-40B4-BE49-F238E27FC236}">
                <a16:creationId xmlns:a16="http://schemas.microsoft.com/office/drawing/2014/main" id="{CAAD9A88-1F6D-42FB-97FF-9BF97A42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20" name="editable-source-cluster-vms-row-1">
            <a:extLst xmlns:a="http://schemas.openxmlformats.org/drawingml/2006/main">
              <a:ext uri="{FF2B5EF4-FFF2-40B4-BE49-F238E27FC236}">
                <a16:creationId xmlns:a16="http://schemas.microsoft.com/office/drawing/2014/main" id="{7F119569-EC8C-4AC6-B94E-44CF23CD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editable-source-cluster-vcpus-row-1">
            <a:extLst xmlns:a="http://schemas.openxmlformats.org/drawingml/2006/main">
              <a:ext uri="{FF2B5EF4-FFF2-40B4-BE49-F238E27FC236}">
                <a16:creationId xmlns:a16="http://schemas.microsoft.com/office/drawing/2014/main" id="{4191A2E8-B410-40F1-A9EE-1D3C66D2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editable-source-cluster-vram-row-1">
            <a:extLst xmlns:a="http://schemas.openxmlformats.org/drawingml/2006/main">
              <a:ext uri="{FF2B5EF4-FFF2-40B4-BE49-F238E27FC236}">
                <a16:creationId xmlns:a16="http://schemas.microsoft.com/office/drawing/2014/main" id="{6F574B13-A1AA-44F4-A900-9B969173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editable-source-cluster-storage-row-1">
            <a:extLst xmlns:a="http://schemas.openxmlformats.org/drawingml/2006/main">
              <a:ext uri="{FF2B5EF4-FFF2-40B4-BE49-F238E27FC236}">
                <a16:creationId xmlns:a16="http://schemas.microsoft.com/office/drawing/2014/main" id="{A5662A4E-E971-4DB5-B62A-648549B2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current-cluster-row-1-line">
            <a:extLst xmlns:a="http://schemas.openxmlformats.org/drawingml/2006/main">
              <a:ext uri="{FF2B5EF4-FFF2-40B4-BE49-F238E27FC236}">
                <a16:creationId xmlns:a16="http://schemas.microsoft.com/office/drawing/2014/main" id="{297990AD-FE9C-4BB8-AA4E-4B0544FF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5" name="current-cluster-row-2-fill">
            <a:extLst xmlns:a="http://schemas.openxmlformats.org/drawingml/2006/main">
              <a:ext uri="{FF2B5EF4-FFF2-40B4-BE49-F238E27FC236}">
                <a16:creationId xmlns:a16="http://schemas.microsoft.com/office/drawing/2014/main" id="{A68E587E-F07C-446E-B2B5-31206E2F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26" name="editable-source-cluster-name-row-2">
            <a:extLst xmlns:a="http://schemas.openxmlformats.org/drawingml/2006/main">
              <a:ext uri="{FF2B5EF4-FFF2-40B4-BE49-F238E27FC236}">
                <a16:creationId xmlns:a16="http://schemas.microsoft.com/office/drawing/2014/main" id="{B6869637-AED0-4B26-B594-88771E5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27" name="editable-source-cluster-vms-row-2">
            <a:extLst xmlns:a="http://schemas.openxmlformats.org/drawingml/2006/main">
              <a:ext uri="{FF2B5EF4-FFF2-40B4-BE49-F238E27FC236}">
                <a16:creationId xmlns:a16="http://schemas.microsoft.com/office/drawing/2014/main" id="{6E875F47-1687-444C-B07A-308B4E1C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editable-source-cluster-vcpus-row-2">
            <a:extLst xmlns:a="http://schemas.openxmlformats.org/drawingml/2006/main">
              <a:ext uri="{FF2B5EF4-FFF2-40B4-BE49-F238E27FC236}">
                <a16:creationId xmlns:a16="http://schemas.microsoft.com/office/drawing/2014/main" id="{CC4A9BBE-FCD8-4E17-83C5-63012382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editable-source-cluster-vram-row-2">
            <a:extLst xmlns:a="http://schemas.openxmlformats.org/drawingml/2006/main">
              <a:ext uri="{FF2B5EF4-FFF2-40B4-BE49-F238E27FC236}">
                <a16:creationId xmlns:a16="http://schemas.microsoft.com/office/drawing/2014/main" id="{EE9FEABF-BBB5-4A58-813E-1BC78851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editable-source-cluster-storage-row-2">
            <a:extLst xmlns:a="http://schemas.openxmlformats.org/drawingml/2006/main">
              <a:ext uri="{FF2B5EF4-FFF2-40B4-BE49-F238E27FC236}">
                <a16:creationId xmlns:a16="http://schemas.microsoft.com/office/drawing/2014/main" id="{2A097681-3414-4AC6-B602-0A5E55BF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current-cluster-row-2-line">
            <a:extLst xmlns:a="http://schemas.openxmlformats.org/drawingml/2006/main">
              <a:ext uri="{FF2B5EF4-FFF2-40B4-BE49-F238E27FC236}">
                <a16:creationId xmlns:a16="http://schemas.microsoft.com/office/drawing/2014/main" id="{7A18BF4A-E491-4298-A72C-96C7CEA1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32" name="editable-source-cluster-name-row-3">
            <a:extLst xmlns:a="http://schemas.openxmlformats.org/drawingml/2006/main">
              <a:ext uri="{FF2B5EF4-FFF2-40B4-BE49-F238E27FC236}">
                <a16:creationId xmlns:a16="http://schemas.microsoft.com/office/drawing/2014/main" id="{CB11598D-3DBF-4BA1-995C-A4A27D17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33" name="editable-source-cluster-vms-row-3">
            <a:extLst xmlns:a="http://schemas.openxmlformats.org/drawingml/2006/main">
              <a:ext uri="{FF2B5EF4-FFF2-40B4-BE49-F238E27FC236}">
                <a16:creationId xmlns:a16="http://schemas.microsoft.com/office/drawing/2014/main" id="{3F00F72D-8361-49AE-BAF2-BFB728A0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576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editable-source-cluster-vcpus-row-3">
            <a:extLst xmlns:a="http://schemas.openxmlformats.org/drawingml/2006/main">
              <a:ext uri="{FF2B5EF4-FFF2-40B4-BE49-F238E27FC236}">
                <a16:creationId xmlns:a16="http://schemas.microsoft.com/office/drawing/2014/main" id="{AA12AD90-6920-4BB2-88F2-81A0E7D5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" name="editable-source-cluster-vram-row-3">
            <a:extLst xmlns:a="http://schemas.openxmlformats.org/drawingml/2006/main">
              <a:ext uri="{FF2B5EF4-FFF2-40B4-BE49-F238E27FC236}">
                <a16:creationId xmlns:a16="http://schemas.microsoft.com/office/drawing/2014/main" id="{15CAE08A-E72E-443B-A9C5-44B5BF14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editable-source-cluster-storage-row-3">
            <a:extLst xmlns:a="http://schemas.openxmlformats.org/drawingml/2006/main">
              <a:ext uri="{FF2B5EF4-FFF2-40B4-BE49-F238E27FC236}">
                <a16:creationId xmlns:a16="http://schemas.microsoft.com/office/drawing/2014/main" id="{4AB408DF-11FF-4F60-9F28-3A9BD68A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" name="current-cluster-row-3-line">
            <a:extLst xmlns:a="http://schemas.openxmlformats.org/drawingml/2006/main">
              <a:ext uri="{FF2B5EF4-FFF2-40B4-BE49-F238E27FC236}">
                <a16:creationId xmlns:a16="http://schemas.microsoft.com/office/drawing/2014/main" id="{9B2D736D-45A1-4660-B615-9797FF19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38" name="current-cluster-row-4-fill">
            <a:extLst xmlns:a="http://schemas.openxmlformats.org/drawingml/2006/main">
              <a:ext uri="{FF2B5EF4-FFF2-40B4-BE49-F238E27FC236}">
                <a16:creationId xmlns:a16="http://schemas.microsoft.com/office/drawing/2014/main" id="{D54B2D08-6AC6-4FEE-82C7-F027FC4F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39" name="editable-source-cluster-name-row-4">
            <a:extLst xmlns:a="http://schemas.openxmlformats.org/drawingml/2006/main">
              <a:ext uri="{FF2B5EF4-FFF2-40B4-BE49-F238E27FC236}">
                <a16:creationId xmlns:a16="http://schemas.microsoft.com/office/drawing/2014/main" id="{A22B1A74-E42E-4CC1-8F70-FA6A9054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40" name="editable-source-cluster-vms-row-4">
            <a:extLst xmlns:a="http://schemas.openxmlformats.org/drawingml/2006/main">
              <a:ext uri="{FF2B5EF4-FFF2-40B4-BE49-F238E27FC236}">
                <a16:creationId xmlns:a16="http://schemas.microsoft.com/office/drawing/2014/main" id="{94A4C28B-4FC3-46FF-9B20-71FEE2D6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576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editable-source-cluster-vcpus-row-4">
            <a:extLst xmlns:a="http://schemas.openxmlformats.org/drawingml/2006/main">
              <a:ext uri="{FF2B5EF4-FFF2-40B4-BE49-F238E27FC236}">
                <a16:creationId xmlns:a16="http://schemas.microsoft.com/office/drawing/2014/main" id="{9DC071FB-2B62-4580-9F56-8094359E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editable-source-cluster-vram-row-4">
            <a:extLst xmlns:a="http://schemas.openxmlformats.org/drawingml/2006/main">
              <a:ext uri="{FF2B5EF4-FFF2-40B4-BE49-F238E27FC236}">
                <a16:creationId xmlns:a16="http://schemas.microsoft.com/office/drawing/2014/main" id="{2C0DE535-4D1B-4177-878D-8ADE1452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editable-source-cluster-storage-row-4">
            <a:extLst xmlns:a="http://schemas.openxmlformats.org/drawingml/2006/main">
              <a:ext uri="{FF2B5EF4-FFF2-40B4-BE49-F238E27FC236}">
                <a16:creationId xmlns:a16="http://schemas.microsoft.com/office/drawing/2014/main" id="{F04E4272-BBD0-478D-8A4D-A2A43C58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4" name="current-cluster-row-4-line">
            <a:extLst xmlns:a="http://schemas.openxmlformats.org/drawingml/2006/main">
              <a:ext uri="{FF2B5EF4-FFF2-40B4-BE49-F238E27FC236}">
                <a16:creationId xmlns:a16="http://schemas.microsoft.com/office/drawing/2014/main" id="{5C26708A-2CEB-4A2D-8579-7606C7D5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45" name="editable-source-cluster-name-row-5">
            <a:extLst xmlns:a="http://schemas.openxmlformats.org/drawingml/2006/main">
              <a:ext uri="{FF2B5EF4-FFF2-40B4-BE49-F238E27FC236}">
                <a16:creationId xmlns:a16="http://schemas.microsoft.com/office/drawing/2014/main" id="{8592AE5F-6FCA-406B-8E87-7AA6F2E3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46" name="editable-source-cluster-vms-row-5">
            <a:extLst xmlns:a="http://schemas.openxmlformats.org/drawingml/2006/main">
              <a:ext uri="{FF2B5EF4-FFF2-40B4-BE49-F238E27FC236}">
                <a16:creationId xmlns:a16="http://schemas.microsoft.com/office/drawing/2014/main" id="{596E01E6-6EA4-48B6-915A-80D5D463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577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editable-source-cluster-vcpus-row-5">
            <a:extLst xmlns:a="http://schemas.openxmlformats.org/drawingml/2006/main">
              <a:ext uri="{FF2B5EF4-FFF2-40B4-BE49-F238E27FC236}">
                <a16:creationId xmlns:a16="http://schemas.microsoft.com/office/drawing/2014/main" id="{40229909-00EE-42DB-AA10-977B7E4C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editable-source-cluster-vram-row-5">
            <a:extLst xmlns:a="http://schemas.openxmlformats.org/drawingml/2006/main">
              <a:ext uri="{FF2B5EF4-FFF2-40B4-BE49-F238E27FC236}">
                <a16:creationId xmlns:a16="http://schemas.microsoft.com/office/drawing/2014/main" id="{C8297396-732A-48FB-846F-B4DE18E5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editable-source-cluster-storage-row-5">
            <a:extLst xmlns:a="http://schemas.openxmlformats.org/drawingml/2006/main">
              <a:ext uri="{FF2B5EF4-FFF2-40B4-BE49-F238E27FC236}">
                <a16:creationId xmlns:a16="http://schemas.microsoft.com/office/drawing/2014/main" id="{9001C273-E07A-4C0B-AC7E-31B3DB50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current-cluster-row-5-line">
            <a:extLst xmlns:a="http://schemas.openxmlformats.org/drawingml/2006/main">
              <a:ext uri="{FF2B5EF4-FFF2-40B4-BE49-F238E27FC236}">
                <a16:creationId xmlns:a16="http://schemas.microsoft.com/office/drawing/2014/main" id="{6919846B-381C-48AE-AA61-A9A04DDB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291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1" name="current-cluster-row-6-fill">
            <a:extLst xmlns:a="http://schemas.openxmlformats.org/drawingml/2006/main">
              <a:ext uri="{FF2B5EF4-FFF2-40B4-BE49-F238E27FC236}">
                <a16:creationId xmlns:a16="http://schemas.microsoft.com/office/drawing/2014/main" id="{F3A36033-CA06-4384-BCCF-07BE4764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52" name="editable-source-cluster-name-row-6">
            <a:extLst xmlns:a="http://schemas.openxmlformats.org/drawingml/2006/main">
              <a:ext uri="{FF2B5EF4-FFF2-40B4-BE49-F238E27FC236}">
                <a16:creationId xmlns:a16="http://schemas.microsoft.com/office/drawing/2014/main" id="{02310983-459C-4D7C-85FE-A80F5E93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53" name="editable-source-cluster-vms-row-6">
            <a:extLst xmlns:a="http://schemas.openxmlformats.org/drawingml/2006/main">
              <a:ext uri="{FF2B5EF4-FFF2-40B4-BE49-F238E27FC236}">
                <a16:creationId xmlns:a16="http://schemas.microsoft.com/office/drawing/2014/main" id="{01EAA20B-39F8-474A-B5F4-584358CF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577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editable-source-cluster-vcpus-row-6">
            <a:extLst xmlns:a="http://schemas.openxmlformats.org/drawingml/2006/main">
              <a:ext uri="{FF2B5EF4-FFF2-40B4-BE49-F238E27FC236}">
                <a16:creationId xmlns:a16="http://schemas.microsoft.com/office/drawing/2014/main" id="{FDEA496B-F459-408D-9FB6-9CD0CB67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5" name="editable-source-cluster-vram-row-6">
            <a:extLst xmlns:a="http://schemas.openxmlformats.org/drawingml/2006/main">
              <a:ext uri="{FF2B5EF4-FFF2-40B4-BE49-F238E27FC236}">
                <a16:creationId xmlns:a16="http://schemas.microsoft.com/office/drawing/2014/main" id="{8A11AFDD-42A1-4581-9C3F-4C23E56C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editable-source-cluster-storage-row-6">
            <a:extLst xmlns:a="http://schemas.openxmlformats.org/drawingml/2006/main">
              <a:ext uri="{FF2B5EF4-FFF2-40B4-BE49-F238E27FC236}">
                <a16:creationId xmlns:a16="http://schemas.microsoft.com/office/drawing/2014/main" id="{9E883F07-FD02-469A-A3AE-EE8E0100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current-cluster-row-6-line">
            <a:extLst xmlns:a="http://schemas.openxmlformats.org/drawingml/2006/main">
              <a:ext uri="{FF2B5EF4-FFF2-40B4-BE49-F238E27FC236}">
                <a16:creationId xmlns:a16="http://schemas.microsoft.com/office/drawing/2014/main" id="{E38E2EEF-5FEE-404F-B8D3-E649749E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92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8" name="current-total-band">
            <a:extLst xmlns:a="http://schemas.openxmlformats.org/drawingml/2006/main">
              <a:ext uri="{FF2B5EF4-FFF2-40B4-BE49-F238E27FC236}">
                <a16:creationId xmlns:a16="http://schemas.microsoft.com/office/drawing/2014/main" id="{9C937A6A-2BED-41B2-BEC0-CBC1A99C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0"/>
            <a:ext cx="11430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59" name="current-total-label">
            <a:extLst xmlns:a="http://schemas.openxmlformats.org/drawingml/2006/main">
              <a:ext uri="{FF2B5EF4-FFF2-40B4-BE49-F238E27FC236}">
                <a16:creationId xmlns:a16="http://schemas.microsoft.com/office/drawing/2014/main" id="{94DD3EE9-47CC-4453-A7C9-57B2021C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SELECTED SCOPE</a:t>
            </a:r>
          </a:p>
        </p:txBody>
      </p:sp>
      <p:sp>
        <p:nvSpPr>
          <p:cNvPr id="60" name="editable-total-vms">
            <a:extLst xmlns:a="http://schemas.openxmlformats.org/drawingml/2006/main">
              <a:ext uri="{FF2B5EF4-FFF2-40B4-BE49-F238E27FC236}">
                <a16:creationId xmlns:a16="http://schemas.microsoft.com/office/drawing/2014/main" id="{E3810A2E-1D04-49C2-B8AF-91BF75FC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953125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1" name="editable-total-vcpus">
            <a:extLst xmlns:a="http://schemas.openxmlformats.org/drawingml/2006/main">
              <a:ext uri="{FF2B5EF4-FFF2-40B4-BE49-F238E27FC236}">
                <a16:creationId xmlns:a16="http://schemas.microsoft.com/office/drawing/2014/main" id="{0441B049-4AC6-439E-AC2F-12600FA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531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2" name="editable-total-vram">
            <a:extLst xmlns:a="http://schemas.openxmlformats.org/drawingml/2006/main">
              <a:ext uri="{FF2B5EF4-FFF2-40B4-BE49-F238E27FC236}">
                <a16:creationId xmlns:a16="http://schemas.microsoft.com/office/drawing/2014/main" id="{6961A7F2-CE7C-403D-972B-9DB12A9F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53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editable-total-storage">
            <a:extLst xmlns:a="http://schemas.openxmlformats.org/drawingml/2006/main">
              <a:ext uri="{FF2B5EF4-FFF2-40B4-BE49-F238E27FC236}">
                <a16:creationId xmlns:a16="http://schemas.microsoft.com/office/drawing/2014/main" id="{37DCCCE3-D715-47E6-B49F-242CFF7D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531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fdc768a354554"/>
          <a:stretch xmlns:a="http://schemas.openxmlformats.org/drawingml/2006/main"/>
        </p:blipFill>
        <p:spPr>
          <a:xfrm xmlns:a="http://schemas.openxmlformats.org/drawingml/2006/main">
            <a:off x="426149" y="276225"/>
            <a:ext cx="1824228" cy="54292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8296c829c40cc"/>
          <a:stretch xmlns:a="http://schemas.openxmlformats.org/drawingml/2006/main"/>
        </p:blipFill>
        <p:spPr>
          <a:xfrm xmlns:a="http://schemas.openxmlformats.org/drawingml/2006/main">
            <a:off x="11382375" y="6459855"/>
            <a:ext cx="419100" cy="3962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819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Infrastructure Sizing Summary-title">
            <a:extLst xmlns:a="http://schemas.openxmlformats.org/drawingml/2006/main">
              <a:ext uri="{FF2B5EF4-FFF2-40B4-BE49-F238E27FC236}">
                <a16:creationId xmlns:a16="http://schemas.microsoft.com/office/drawing/2014/main" id="{D050B58D-E784-4E93-938F-C7BCA3D7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Infrastructure Sizing Summary</a:t>
            </a:r>
          </a:p>
        </p:txBody>
      </p:sp>
      <p:sp>
        <p:nvSpPr>
          <p:cNvPr id="2" name="Infrastructure Sizing Summary-rule">
            <a:extLst xmlns:a="http://schemas.openxmlformats.org/drawingml/2006/main">
              <a:ext uri="{FF2B5EF4-FFF2-40B4-BE49-F238E27FC236}">
                <a16:creationId xmlns:a16="http://schemas.microsoft.com/office/drawing/2014/main" id="{4C86213B-EEB8-452F-8108-8B1E5420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1C"/>
          </a:solidFill>
          <a:ln xmlns:a="http://schemas.openxmlformats.org/drawingml/2006/main" w="0">
            <a:noFill/>
          </a:ln>
        </p:spPr>
      </p:sp>
      <p:sp>
        <p:nvSpPr>
          <p:cNvPr id="3" name="Infrastructure Sizing Summary-subtitle">
            <a:extLst xmlns:a="http://schemas.openxmlformats.org/drawingml/2006/main">
              <a:ext uri="{FF2B5EF4-FFF2-40B4-BE49-F238E27FC236}">
                <a16:creationId xmlns:a16="http://schemas.microsoft.com/office/drawing/2014/main" id="{A6421436-3E9C-4BCC-BC7F-8D352F0F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Target OCVS topology for the Hybrid OCVS subset.</a:t>
            </a:r>
          </a:p>
        </p:txBody>
      </p:sp>
      <p:sp>
        <p:nvSpPr>
          <p:cNvPr id="4" name="Infrastructure Sizing Summary-footer">
            <a:extLst xmlns:a="http://schemas.openxmlformats.org/drawingml/2006/main">
              <a:ext uri="{FF2B5EF4-FFF2-40B4-BE49-F238E27FC236}">
                <a16:creationId xmlns:a16="http://schemas.microsoft.com/office/drawing/2014/main" id="{BDB23E30-71EA-430C-AD4C-42FDA422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5D665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D665F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sp>
        <p:nvSpPr>
          <p:cNvPr id="5" name="editable-production-hosts">
            <a:extLst xmlns:a="http://schemas.openxmlformats.org/drawingml/2006/main">
              <a:ext uri="{FF2B5EF4-FFF2-40B4-BE49-F238E27FC236}">
                <a16:creationId xmlns:a16="http://schemas.microsoft.com/office/drawing/2014/main" id="{C47BCBA0-A733-40A9-A8F3-76D27604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editable-production-shape">
            <a:extLst xmlns:a="http://schemas.openxmlformats.org/drawingml/2006/main">
              <a:ext uri="{FF2B5EF4-FFF2-40B4-BE49-F238E27FC236}">
                <a16:creationId xmlns:a16="http://schemas.microsoft.com/office/drawing/2014/main" id="{893D7832-34E2-43B5-A3CB-9001B3E0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editable-ocvs-production-hosts">
            <a:extLst xmlns:a="http://schemas.openxmlformats.org/drawingml/2006/main">
              <a:ext uri="{FF2B5EF4-FFF2-40B4-BE49-F238E27FC236}">
                <a16:creationId xmlns:a16="http://schemas.microsoft.com/office/drawing/2014/main" id="{D3E420B1-E644-4908-ACAC-B8A0BB2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editable-ocvs-production-shape">
            <a:extLst xmlns:a="http://schemas.openxmlformats.org/drawingml/2006/main">
              <a:ext uri="{FF2B5EF4-FFF2-40B4-BE49-F238E27FC236}">
                <a16:creationId xmlns:a16="http://schemas.microsoft.com/office/drawing/2014/main" id="{20444B79-A96F-413D-BD9E-9E530B93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editable-ocvs-production-storage">
            <a:extLst xmlns:a="http://schemas.openxmlformats.org/drawingml/2006/main">
              <a:ext uri="{FF2B5EF4-FFF2-40B4-BE49-F238E27FC236}">
                <a16:creationId xmlns:a16="http://schemas.microsoft.com/office/drawing/2014/main" id="{A5EFB22A-31AC-4868-B8DC-098F599F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editable-ocvs-shape">
            <a:extLst xmlns:a="http://schemas.openxmlformats.org/drawingml/2006/main">
              <a:ext uri="{FF2B5EF4-FFF2-40B4-BE49-F238E27FC236}">
                <a16:creationId xmlns:a16="http://schemas.microsoft.com/office/drawing/2014/main" id="{B7A5D0D8-FC2F-42FD-A66C-8E9E263A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editable-cpu-contention-ratio">
            <a:extLst xmlns:a="http://schemas.openxmlformats.org/drawingml/2006/main">
              <a:ext uri="{FF2B5EF4-FFF2-40B4-BE49-F238E27FC236}">
                <a16:creationId xmlns:a16="http://schemas.microsoft.com/office/drawing/2014/main" id="{303490DD-4A96-4C3A-ACE9-A812A17F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editable-native-vms">
            <a:extLst xmlns:a="http://schemas.openxmlformats.org/drawingml/2006/main">
              <a:ext uri="{FF2B5EF4-FFF2-40B4-BE49-F238E27FC236}">
                <a16:creationId xmlns:a16="http://schemas.microsoft.com/office/drawing/2014/main" id="{72A757FA-A39B-4681-80C6-911454ED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editable-native-ocpus">
            <a:extLst xmlns:a="http://schemas.openxmlformats.org/drawingml/2006/main">
              <a:ext uri="{FF2B5EF4-FFF2-40B4-BE49-F238E27FC236}">
                <a16:creationId xmlns:a16="http://schemas.microsoft.com/office/drawing/2014/main" id="{F01F0BDF-6A5A-4774-B65F-2112AA1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editable-native-vram">
            <a:extLst xmlns:a="http://schemas.openxmlformats.org/drawingml/2006/main">
              <a:ext uri="{FF2B5EF4-FFF2-40B4-BE49-F238E27FC236}">
                <a16:creationId xmlns:a16="http://schemas.microsoft.com/office/drawing/2014/main" id="{5B2C938B-8ECE-4C89-A91A-8E254B78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editable-native-storage">
            <a:extLst xmlns:a="http://schemas.openxmlformats.org/drawingml/2006/main">
              <a:ext uri="{FF2B5EF4-FFF2-40B4-BE49-F238E27FC236}">
                <a16:creationId xmlns:a16="http://schemas.microsoft.com/office/drawing/2014/main" id="{CDE05541-92AC-4043-85BA-D3F111D4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editable-native-total-vms">
            <a:extLst xmlns:a="http://schemas.openxmlformats.org/drawingml/2006/main">
              <a:ext uri="{FF2B5EF4-FFF2-40B4-BE49-F238E27FC236}">
                <a16:creationId xmlns:a16="http://schemas.microsoft.com/office/drawing/2014/main" id="{4B2F8BFD-F7CA-426C-A772-93E4D947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editable-native-total-ocpus">
            <a:extLst xmlns:a="http://schemas.openxmlformats.org/drawingml/2006/main">
              <a:ext uri="{FF2B5EF4-FFF2-40B4-BE49-F238E27FC236}">
                <a16:creationId xmlns:a16="http://schemas.microsoft.com/office/drawing/2014/main" id="{EC46CAD7-5B4F-4650-9775-BCB988AF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editable-native-total-vram">
            <a:extLst xmlns:a="http://schemas.openxmlformats.org/drawingml/2006/main">
              <a:ext uri="{FF2B5EF4-FFF2-40B4-BE49-F238E27FC236}">
                <a16:creationId xmlns:a16="http://schemas.microsoft.com/office/drawing/2014/main" id="{AD43E0DE-03F8-41B1-A543-14547B43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editable-native-storage-vm-count">
            <a:extLst xmlns:a="http://schemas.openxmlformats.org/drawingml/2006/main">
              <a:ext uri="{FF2B5EF4-FFF2-40B4-BE49-F238E27FC236}">
                <a16:creationId xmlns:a16="http://schemas.microsoft.com/office/drawing/2014/main" id="{699982E8-972F-4AA9-95B0-5707CDBE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editable-native-total-vpus">
            <a:extLst xmlns:a="http://schemas.openxmlformats.org/drawingml/2006/main">
              <a:ext uri="{FF2B5EF4-FFF2-40B4-BE49-F238E27FC236}">
                <a16:creationId xmlns:a16="http://schemas.microsoft.com/office/drawing/2014/main" id="{B975101F-0023-4C1D-B404-DB385B1F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editable-native-total-storage">
            <a:extLst xmlns:a="http://schemas.openxmlformats.org/drawingml/2006/main">
              <a:ext uri="{FF2B5EF4-FFF2-40B4-BE49-F238E27FC236}">
                <a16:creationId xmlns:a16="http://schemas.microsoft.com/office/drawing/2014/main" id="{55B89989-93EB-4A99-A1B6-99DA23CB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editable-hybrid-native-shape-row-1">
            <a:extLst xmlns:a="http://schemas.openxmlformats.org/drawingml/2006/main">
              <a:ext uri="{FF2B5EF4-FFF2-40B4-BE49-F238E27FC236}">
                <a16:creationId xmlns:a16="http://schemas.microsoft.com/office/drawing/2014/main" id="{AE2617BF-A361-44C4-8948-D799F55C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editable-hybrid-native-shape-vms-row-1">
            <a:extLst xmlns:a="http://schemas.openxmlformats.org/drawingml/2006/main">
              <a:ext uri="{FF2B5EF4-FFF2-40B4-BE49-F238E27FC236}">
                <a16:creationId xmlns:a16="http://schemas.microsoft.com/office/drawing/2014/main" id="{C1983A53-7830-46BB-A4EE-E0AD3E6E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editable-hybrid-native-shape-ocpus-row-1">
            <a:extLst xmlns:a="http://schemas.openxmlformats.org/drawingml/2006/main">
              <a:ext uri="{FF2B5EF4-FFF2-40B4-BE49-F238E27FC236}">
                <a16:creationId xmlns:a16="http://schemas.microsoft.com/office/drawing/2014/main" id="{AABDB081-8BEC-4C2A-9A95-57CF69E0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5" name="editable-hybrid-native-shape-ram-row-1">
            <a:extLst xmlns:a="http://schemas.openxmlformats.org/drawingml/2006/main">
              <a:ext uri="{FF2B5EF4-FFF2-40B4-BE49-F238E27FC236}">
                <a16:creationId xmlns:a16="http://schemas.microsoft.com/office/drawing/2014/main" id="{88B2FB52-508A-4A39-9E7B-33E93DE8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editable-hybrid-native-vpu-label-row-1">
            <a:extLst xmlns:a="http://schemas.openxmlformats.org/drawingml/2006/main">
              <a:ext uri="{FF2B5EF4-FFF2-40B4-BE49-F238E27FC236}">
                <a16:creationId xmlns:a16="http://schemas.microsoft.com/office/drawing/2014/main" id="{916FD911-F830-4CF8-A2B4-CFF720E1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editable-hybrid-native-vpu-vms-row-1">
            <a:extLst xmlns:a="http://schemas.openxmlformats.org/drawingml/2006/main">
              <a:ext uri="{FF2B5EF4-FFF2-40B4-BE49-F238E27FC236}">
                <a16:creationId xmlns:a16="http://schemas.microsoft.com/office/drawing/2014/main" id="{8C35F9D1-09B2-4B1E-ADF7-C11465EC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editable-hybrid-native-vpu-total-row-1">
            <a:extLst xmlns:a="http://schemas.openxmlformats.org/drawingml/2006/main">
              <a:ext uri="{FF2B5EF4-FFF2-40B4-BE49-F238E27FC236}">
                <a16:creationId xmlns:a16="http://schemas.microsoft.com/office/drawing/2014/main" id="{128BF330-4782-4671-A237-37F5D0CD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editable-hybrid-native-vpu-storage-row-1">
            <a:extLst xmlns:a="http://schemas.openxmlformats.org/drawingml/2006/main">
              <a:ext uri="{FF2B5EF4-FFF2-40B4-BE49-F238E27FC236}">
                <a16:creationId xmlns:a16="http://schemas.microsoft.com/office/drawing/2014/main" id="{A92B11B9-F90E-45AA-9B9B-EE381D25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editable-hybrid-native-shape-row-2">
            <a:extLst xmlns:a="http://schemas.openxmlformats.org/drawingml/2006/main">
              <a:ext uri="{FF2B5EF4-FFF2-40B4-BE49-F238E27FC236}">
                <a16:creationId xmlns:a16="http://schemas.microsoft.com/office/drawing/2014/main" id="{58703452-78BF-480E-8C85-4EF97FAE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editable-hybrid-native-shape-vms-row-2">
            <a:extLst xmlns:a="http://schemas.openxmlformats.org/drawingml/2006/main">
              <a:ext uri="{FF2B5EF4-FFF2-40B4-BE49-F238E27FC236}">
                <a16:creationId xmlns:a16="http://schemas.microsoft.com/office/drawing/2014/main" id="{A07CBA12-D2FC-4FCC-A2EC-3A06B8FA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editable-hybrid-native-shape-ocpus-row-2">
            <a:extLst xmlns:a="http://schemas.openxmlformats.org/drawingml/2006/main">
              <a:ext uri="{FF2B5EF4-FFF2-40B4-BE49-F238E27FC236}">
                <a16:creationId xmlns:a16="http://schemas.microsoft.com/office/drawing/2014/main" id="{B5AA3C35-7A5D-4F54-9C1C-2A6B1675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" name="editable-hybrid-native-shape-ram-row-2">
            <a:extLst xmlns:a="http://schemas.openxmlformats.org/drawingml/2006/main">
              <a:ext uri="{FF2B5EF4-FFF2-40B4-BE49-F238E27FC236}">
                <a16:creationId xmlns:a16="http://schemas.microsoft.com/office/drawing/2014/main" id="{77875EDA-617A-44B9-81BB-88C8C029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editable-hybrid-native-vpu-label-row-2">
            <a:extLst xmlns:a="http://schemas.openxmlformats.org/drawingml/2006/main">
              <a:ext uri="{FF2B5EF4-FFF2-40B4-BE49-F238E27FC236}">
                <a16:creationId xmlns:a16="http://schemas.microsoft.com/office/drawing/2014/main" id="{90AC1019-B04E-4B22-B516-068C2C29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" name="editable-hybrid-native-vpu-vms-row-2">
            <a:extLst xmlns:a="http://schemas.openxmlformats.org/drawingml/2006/main">
              <a:ext uri="{FF2B5EF4-FFF2-40B4-BE49-F238E27FC236}">
                <a16:creationId xmlns:a16="http://schemas.microsoft.com/office/drawing/2014/main" id="{D9332A1F-ECAA-4E9E-AF4E-84D15ACA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editable-hybrid-native-vpu-total-row-2">
            <a:extLst xmlns:a="http://schemas.openxmlformats.org/drawingml/2006/main">
              <a:ext uri="{FF2B5EF4-FFF2-40B4-BE49-F238E27FC236}">
                <a16:creationId xmlns:a16="http://schemas.microsoft.com/office/drawing/2014/main" id="{315113FE-2956-4786-B4F2-CF0D644D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" name="editable-hybrid-native-vpu-storage-row-2">
            <a:extLst xmlns:a="http://schemas.openxmlformats.org/drawingml/2006/main">
              <a:ext uri="{FF2B5EF4-FFF2-40B4-BE49-F238E27FC236}">
                <a16:creationId xmlns:a16="http://schemas.microsoft.com/office/drawing/2014/main" id="{3E9CEAD1-B74E-44E7-A3CF-6C66F39F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" name="editable-hybrid-native-shape-row-3">
            <a:extLst xmlns:a="http://schemas.openxmlformats.org/drawingml/2006/main">
              <a:ext uri="{FF2B5EF4-FFF2-40B4-BE49-F238E27FC236}">
                <a16:creationId xmlns:a16="http://schemas.microsoft.com/office/drawing/2014/main" id="{E50E9F95-E76D-4B65-9B4E-99CC78DC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" name="editable-hybrid-native-shape-vms-row-3">
            <a:extLst xmlns:a="http://schemas.openxmlformats.org/drawingml/2006/main">
              <a:ext uri="{FF2B5EF4-FFF2-40B4-BE49-F238E27FC236}">
                <a16:creationId xmlns:a16="http://schemas.microsoft.com/office/drawing/2014/main" id="{8DA53E15-F6DF-4071-B813-70A2C38A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0" name="editable-hybrid-native-shape-ocpus-row-3">
            <a:extLst xmlns:a="http://schemas.openxmlformats.org/drawingml/2006/main">
              <a:ext uri="{FF2B5EF4-FFF2-40B4-BE49-F238E27FC236}">
                <a16:creationId xmlns:a16="http://schemas.microsoft.com/office/drawing/2014/main" id="{28EBD74B-9BF6-4DA6-9771-57D13913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editable-hybrid-native-shape-ram-row-3">
            <a:extLst xmlns:a="http://schemas.openxmlformats.org/drawingml/2006/main">
              <a:ext uri="{FF2B5EF4-FFF2-40B4-BE49-F238E27FC236}">
                <a16:creationId xmlns:a16="http://schemas.microsoft.com/office/drawing/2014/main" id="{990EB46B-0776-4DC6-B127-3C4A880C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editable-hybrid-native-vpu-label-row-3">
            <a:extLst xmlns:a="http://schemas.openxmlformats.org/drawingml/2006/main">
              <a:ext uri="{FF2B5EF4-FFF2-40B4-BE49-F238E27FC236}">
                <a16:creationId xmlns:a16="http://schemas.microsoft.com/office/drawing/2014/main" id="{17A77398-48DA-4209-A244-FD67CAFF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editable-hybrid-native-vpu-vms-row-3">
            <a:extLst xmlns:a="http://schemas.openxmlformats.org/drawingml/2006/main">
              <a:ext uri="{FF2B5EF4-FFF2-40B4-BE49-F238E27FC236}">
                <a16:creationId xmlns:a16="http://schemas.microsoft.com/office/drawing/2014/main" id="{EA87621A-7E2B-4614-AE58-987ED15A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4" name="editable-hybrid-native-vpu-total-row-3">
            <a:extLst xmlns:a="http://schemas.openxmlformats.org/drawingml/2006/main">
              <a:ext uri="{FF2B5EF4-FFF2-40B4-BE49-F238E27FC236}">
                <a16:creationId xmlns:a16="http://schemas.microsoft.com/office/drawing/2014/main" id="{B374A67E-C8B4-450A-97EC-D18D4C43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editable-hybrid-native-vpu-storage-row-3">
            <a:extLst xmlns:a="http://schemas.openxmlformats.org/drawingml/2006/main">
              <a:ext uri="{FF2B5EF4-FFF2-40B4-BE49-F238E27FC236}">
                <a16:creationId xmlns:a16="http://schemas.microsoft.com/office/drawing/2014/main" id="{569A2EBA-BA5A-498A-AC82-F22594AD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6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517CEC23-E8C3-45D1-BC37-FA031395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333750" cy="4000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47" name="architecture-band">
            <a:extLst xmlns:a="http://schemas.openxmlformats.org/drawingml/2006/main">
              <a:ext uri="{FF2B5EF4-FFF2-40B4-BE49-F238E27FC236}">
                <a16:creationId xmlns:a16="http://schemas.microsoft.com/office/drawing/2014/main" id="{17E8090C-5027-45B0-9520-962A8528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333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48" name="architecture-band-label">
            <a:extLst xmlns:a="http://schemas.openxmlformats.org/drawingml/2006/main">
              <a:ext uri="{FF2B5EF4-FFF2-40B4-BE49-F238E27FC236}">
                <a16:creationId xmlns:a16="http://schemas.microsoft.com/office/drawing/2014/main" id="{2C08C5CF-40EA-4AA6-B6C8-EE47A202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Architecture</a:t>
            </a:r>
          </a:p>
        </p:txBody>
      </p:sp>
      <p:sp>
        <p:nvSpPr>
          <p:cNvPr id="49" name="architecture-0-label">
            <a:extLst xmlns:a="http://schemas.openxmlformats.org/drawingml/2006/main">
              <a:ext uri="{FF2B5EF4-FFF2-40B4-BE49-F238E27FC236}">
                <a16:creationId xmlns:a16="http://schemas.microsoft.com/office/drawing/2014/main" id="{5EE3D850-6CDC-4FBF-A8FF-3CB3BF52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SDDCs</a:t>
            </a:r>
          </a:p>
        </p:txBody>
      </p:sp>
      <p:sp>
        <p:nvSpPr>
          <p:cNvPr id="50" name="editable-ocvs-sddcs">
            <a:extLst xmlns:a="http://schemas.openxmlformats.org/drawingml/2006/main">
              <a:ext uri="{FF2B5EF4-FFF2-40B4-BE49-F238E27FC236}">
                <a16:creationId xmlns:a16="http://schemas.microsoft.com/office/drawing/2014/main" id="{7A4F2B7A-6008-4165-A36D-0FFCD905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47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1" name="architecture-0-line">
            <a:extLst xmlns:a="http://schemas.openxmlformats.org/drawingml/2006/main">
              <a:ext uri="{FF2B5EF4-FFF2-40B4-BE49-F238E27FC236}">
                <a16:creationId xmlns:a16="http://schemas.microsoft.com/office/drawing/2014/main" id="{734F5079-A0CF-4969-AA09-70FEBC4D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2" name="architecture-1-label">
            <a:extLst xmlns:a="http://schemas.openxmlformats.org/drawingml/2006/main">
              <a:ext uri="{FF2B5EF4-FFF2-40B4-BE49-F238E27FC236}">
                <a16:creationId xmlns:a16="http://schemas.microsoft.com/office/drawing/2014/main" id="{7C08DFBF-A53D-4800-84C7-C45843B1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53" name="editable-ocvs-clusters">
            <a:extLst xmlns:a="http://schemas.openxmlformats.org/drawingml/2006/main">
              <a:ext uri="{FF2B5EF4-FFF2-40B4-BE49-F238E27FC236}">
                <a16:creationId xmlns:a16="http://schemas.microsoft.com/office/drawing/2014/main" id="{06CF6F43-7490-4141-8EC2-E9535635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8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architecture-1-line">
            <a:extLst xmlns:a="http://schemas.openxmlformats.org/drawingml/2006/main">
              <a:ext uri="{FF2B5EF4-FFF2-40B4-BE49-F238E27FC236}">
                <a16:creationId xmlns:a16="http://schemas.microsoft.com/office/drawing/2014/main" id="{522C9F4A-D642-4B20-A04B-4A45D00F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5" name="architecture-2-label">
            <a:extLst xmlns:a="http://schemas.openxmlformats.org/drawingml/2006/main">
              <a:ext uri="{FF2B5EF4-FFF2-40B4-BE49-F238E27FC236}">
                <a16:creationId xmlns:a16="http://schemas.microsoft.com/office/drawing/2014/main" id="{08CD52EE-BDF8-4C73-BEB0-3ED0C54A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56" name="editable-ocvs-hosts">
            <a:extLst xmlns:a="http://schemas.openxmlformats.org/drawingml/2006/main">
              <a:ext uri="{FF2B5EF4-FFF2-40B4-BE49-F238E27FC236}">
                <a16:creationId xmlns:a16="http://schemas.microsoft.com/office/drawing/2014/main" id="{E471A671-D207-4011-AC2A-3965376F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290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architecture-2-line">
            <a:extLst xmlns:a="http://schemas.openxmlformats.org/drawingml/2006/main">
              <a:ext uri="{FF2B5EF4-FFF2-40B4-BE49-F238E27FC236}">
                <a16:creationId xmlns:a16="http://schemas.microsoft.com/office/drawing/2014/main" id="{D64EDEE0-5198-4C6F-9CC5-F451B63C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8" name="architecture-3-label">
            <a:extLst xmlns:a="http://schemas.openxmlformats.org/drawingml/2006/main">
              <a:ext uri="{FF2B5EF4-FFF2-40B4-BE49-F238E27FC236}">
                <a16:creationId xmlns:a16="http://schemas.microsoft.com/office/drawing/2014/main" id="{C90265F2-714E-432F-9666-F5403F8A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(TB)</a:t>
            </a:r>
          </a:p>
        </p:txBody>
      </p:sp>
      <p:sp>
        <p:nvSpPr>
          <p:cNvPr id="59" name="editable-ocvs-storage">
            <a:extLst xmlns:a="http://schemas.openxmlformats.org/drawingml/2006/main">
              <a:ext uri="{FF2B5EF4-FFF2-40B4-BE49-F238E27FC236}">
                <a16:creationId xmlns:a16="http://schemas.microsoft.com/office/drawing/2014/main" id="{AA1416EA-9CD9-4FFE-BA41-166DC3BA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19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0" name="architecture-3-line">
            <a:extLst xmlns:a="http://schemas.openxmlformats.org/drawingml/2006/main">
              <a:ext uri="{FF2B5EF4-FFF2-40B4-BE49-F238E27FC236}">
                <a16:creationId xmlns:a16="http://schemas.microsoft.com/office/drawing/2014/main" id="{CFDBEA5B-31FF-4CB6-AA62-33C0E868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61" name="architecture-4-label">
            <a:extLst xmlns:a="http://schemas.openxmlformats.org/drawingml/2006/main">
              <a:ext uri="{FF2B5EF4-FFF2-40B4-BE49-F238E27FC236}">
                <a16:creationId xmlns:a16="http://schemas.microsoft.com/office/drawing/2014/main" id="{FF2ED5C2-4ED8-4EB1-BB24-99409B7C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type</a:t>
            </a:r>
          </a:p>
        </p:txBody>
      </p:sp>
      <p:sp>
        <p:nvSpPr>
          <p:cNvPr id="62" name="editable-ocvs-storage-type">
            <a:extLst xmlns:a="http://schemas.openxmlformats.org/drawingml/2006/main">
              <a:ext uri="{FF2B5EF4-FFF2-40B4-BE49-F238E27FC236}">
                <a16:creationId xmlns:a16="http://schemas.microsoft.com/office/drawing/2014/main" id="{D75B9CE1-C6BE-4D7D-BF06-30D48AAA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01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architecture-4-line">
            <a:extLst xmlns:a="http://schemas.openxmlformats.org/drawingml/2006/main">
              <a:ext uri="{FF2B5EF4-FFF2-40B4-BE49-F238E27FC236}">
                <a16:creationId xmlns:a16="http://schemas.microsoft.com/office/drawing/2014/main" id="{91A3FE21-77B0-45FC-BB8A-107443E1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64" name="cluster-distribution-panel">
            <a:extLst xmlns:a="http://schemas.openxmlformats.org/drawingml/2006/main">
              <a:ext uri="{FF2B5EF4-FFF2-40B4-BE49-F238E27FC236}">
                <a16:creationId xmlns:a16="http://schemas.microsoft.com/office/drawing/2014/main" id="{777D941E-9958-484C-84AE-50E0620B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905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65" name="cluster-distribution-band">
            <a:extLst xmlns:a="http://schemas.openxmlformats.org/drawingml/2006/main">
              <a:ext uri="{FF2B5EF4-FFF2-40B4-BE49-F238E27FC236}">
                <a16:creationId xmlns:a16="http://schemas.microsoft.com/office/drawing/2014/main" id="{6DCCDB16-4AD3-4925-AF10-8A225D48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905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66" name="cluster-distribution-band-label">
            <a:extLst xmlns:a="http://schemas.openxmlformats.org/drawingml/2006/main">
              <a:ext uri="{FF2B5EF4-FFF2-40B4-BE49-F238E27FC236}">
                <a16:creationId xmlns:a16="http://schemas.microsoft.com/office/drawing/2014/main" id="{E68B9302-959E-4D07-BD73-BE459945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OCVS Cluster Distribution</a:t>
            </a:r>
          </a:p>
        </p:txBody>
      </p:sp>
      <p:sp>
        <p:nvSpPr>
          <p:cNvPr id="67" name="cluster-header-Cluster">
            <a:extLst xmlns:a="http://schemas.openxmlformats.org/drawingml/2006/main">
              <a:ext uri="{FF2B5EF4-FFF2-40B4-BE49-F238E27FC236}">
                <a16:creationId xmlns:a16="http://schemas.microsoft.com/office/drawing/2014/main" id="{6A77380B-C2AF-446E-B104-6093544E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68" name="cluster-header-Workload">
            <a:extLst xmlns:a="http://schemas.openxmlformats.org/drawingml/2006/main">
              <a:ext uri="{FF2B5EF4-FFF2-40B4-BE49-F238E27FC236}">
                <a16:creationId xmlns:a16="http://schemas.microsoft.com/office/drawing/2014/main" id="{1E53C2F9-42D6-4BE5-9A15-6016BC6B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146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Workload</a:t>
            </a:r>
          </a:p>
        </p:txBody>
      </p:sp>
      <p:sp>
        <p:nvSpPr>
          <p:cNvPr id="69" name="cluster-header-Hosts">
            <a:extLst xmlns:a="http://schemas.openxmlformats.org/drawingml/2006/main">
              <a:ext uri="{FF2B5EF4-FFF2-40B4-BE49-F238E27FC236}">
                <a16:creationId xmlns:a16="http://schemas.microsoft.com/office/drawing/2014/main" id="{AD16A3EE-5863-4803-8ED3-9FD796E3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1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70" name="cluster-header-Shape">
            <a:extLst xmlns:a="http://schemas.openxmlformats.org/drawingml/2006/main">
              <a:ext uri="{FF2B5EF4-FFF2-40B4-BE49-F238E27FC236}">
                <a16:creationId xmlns:a16="http://schemas.microsoft.com/office/drawing/2014/main" id="{CB01CA81-BE4B-4D3F-B80D-8BBBA408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14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71" name="cluster-header-Storage">
            <a:extLst xmlns:a="http://schemas.openxmlformats.org/drawingml/2006/main">
              <a:ext uri="{FF2B5EF4-FFF2-40B4-BE49-F238E27FC236}">
                <a16:creationId xmlns:a16="http://schemas.microsoft.com/office/drawing/2014/main" id="{6E9B07FF-8129-4112-B454-DFDD4D9E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1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72" name="cluster-header-Architecture">
            <a:extLst xmlns:a="http://schemas.openxmlformats.org/drawingml/2006/main">
              <a:ext uri="{FF2B5EF4-FFF2-40B4-BE49-F238E27FC236}">
                <a16:creationId xmlns:a16="http://schemas.microsoft.com/office/drawing/2014/main" id="{77CF5A74-0F90-41E7-A9F9-473C786B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146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73" name="editable-ocvs-cluster-name-row-1">
            <a:extLst xmlns:a="http://schemas.openxmlformats.org/drawingml/2006/main">
              <a:ext uri="{FF2B5EF4-FFF2-40B4-BE49-F238E27FC236}">
                <a16:creationId xmlns:a16="http://schemas.microsoft.com/office/drawing/2014/main" id="{3B1C837A-146B-406B-B29F-F89D71E8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74" name="editable-ocvs-cluster-workload-row-1">
            <a:extLst xmlns:a="http://schemas.openxmlformats.org/drawingml/2006/main">
              <a:ext uri="{FF2B5EF4-FFF2-40B4-BE49-F238E27FC236}">
                <a16:creationId xmlns:a16="http://schemas.microsoft.com/office/drawing/2014/main" id="{0067D820-D8B7-4C62-AEA6-EF90237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813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75" name="editable-ocvs-cluster-hosts-row-1">
            <a:extLst xmlns:a="http://schemas.openxmlformats.org/drawingml/2006/main">
              <a:ext uri="{FF2B5EF4-FFF2-40B4-BE49-F238E27FC236}">
                <a16:creationId xmlns:a16="http://schemas.microsoft.com/office/drawing/2014/main" id="{872C249D-F306-4436-AD03-B8ACA7FF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81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6" name="editable-ocvs-cluster-shape-row-1">
            <a:extLst xmlns:a="http://schemas.openxmlformats.org/drawingml/2006/main">
              <a:ext uri="{FF2B5EF4-FFF2-40B4-BE49-F238E27FC236}">
                <a16:creationId xmlns:a16="http://schemas.microsoft.com/office/drawing/2014/main" id="{0B39C71E-E00E-4C34-9749-309E48B4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81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77" name="editable-ocvs-cluster-storage-row-1">
            <a:extLst xmlns:a="http://schemas.openxmlformats.org/drawingml/2006/main">
              <a:ext uri="{FF2B5EF4-FFF2-40B4-BE49-F238E27FC236}">
                <a16:creationId xmlns:a16="http://schemas.microsoft.com/office/drawing/2014/main" id="{A71545D2-2F58-41F5-8B7F-49892300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78" name="editable-ocvs-cluster-architecture-row-1">
            <a:extLst xmlns:a="http://schemas.openxmlformats.org/drawingml/2006/main">
              <a:ext uri="{FF2B5EF4-FFF2-40B4-BE49-F238E27FC236}">
                <a16:creationId xmlns:a16="http://schemas.microsoft.com/office/drawing/2014/main" id="{2B6F2BED-EB3B-4B3D-B9FC-8C447DD6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813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79" name="ocvs-cluster-row-1-line">
            <a:extLst xmlns:a="http://schemas.openxmlformats.org/drawingml/2006/main">
              <a:ext uri="{FF2B5EF4-FFF2-40B4-BE49-F238E27FC236}">
                <a16:creationId xmlns:a16="http://schemas.microsoft.com/office/drawing/2014/main" id="{B099649C-2B82-4EC0-A3E9-3430587E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289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80" name="ocvs-cluster-row-2-fill">
            <a:extLst xmlns:a="http://schemas.openxmlformats.org/drawingml/2006/main">
              <a:ext uri="{FF2B5EF4-FFF2-40B4-BE49-F238E27FC236}">
                <a16:creationId xmlns:a16="http://schemas.microsoft.com/office/drawing/2014/main" id="{5574954D-B7B1-4E21-AB78-9FDF8D66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81" name="editable-ocvs-cluster-name-row-2">
            <a:extLst xmlns:a="http://schemas.openxmlformats.org/drawingml/2006/main">
              <a:ext uri="{FF2B5EF4-FFF2-40B4-BE49-F238E27FC236}">
                <a16:creationId xmlns:a16="http://schemas.microsoft.com/office/drawing/2014/main" id="{227D9704-F168-4550-AB6B-C9300BFC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82" name="editable-ocvs-cluster-workload-row-2">
            <a:extLst xmlns:a="http://schemas.openxmlformats.org/drawingml/2006/main">
              <a:ext uri="{FF2B5EF4-FFF2-40B4-BE49-F238E27FC236}">
                <a16:creationId xmlns:a16="http://schemas.microsoft.com/office/drawing/2014/main" id="{FA02B5A9-11B5-4B21-8D3A-A8AE4BA6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575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83" name="editable-ocvs-cluster-hosts-row-2">
            <a:extLst xmlns:a="http://schemas.openxmlformats.org/drawingml/2006/main">
              <a:ext uri="{FF2B5EF4-FFF2-40B4-BE49-F238E27FC236}">
                <a16:creationId xmlns:a16="http://schemas.microsoft.com/office/drawing/2014/main" id="{3C5D13C8-0ED9-42BB-B04F-08F581ED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575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4" name="editable-ocvs-cluster-shape-row-2">
            <a:extLst xmlns:a="http://schemas.openxmlformats.org/drawingml/2006/main">
              <a:ext uri="{FF2B5EF4-FFF2-40B4-BE49-F238E27FC236}">
                <a16:creationId xmlns:a16="http://schemas.microsoft.com/office/drawing/2014/main" id="{CC09990F-2B74-4AD2-86FD-5858E5C2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57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85" name="editable-ocvs-cluster-storage-row-2">
            <a:extLst xmlns:a="http://schemas.openxmlformats.org/drawingml/2006/main">
              <a:ext uri="{FF2B5EF4-FFF2-40B4-BE49-F238E27FC236}">
                <a16:creationId xmlns:a16="http://schemas.microsoft.com/office/drawing/2014/main" id="{121F8A2A-E25E-4335-9246-9F74ECD1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86" name="editable-ocvs-cluster-architecture-row-2">
            <a:extLst xmlns:a="http://schemas.openxmlformats.org/drawingml/2006/main">
              <a:ext uri="{FF2B5EF4-FFF2-40B4-BE49-F238E27FC236}">
                <a16:creationId xmlns:a16="http://schemas.microsoft.com/office/drawing/2014/main" id="{B537EC7E-2C18-4A77-A19D-C2803D1D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57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87" name="ocvs-cluster-row-2-line">
            <a:extLst xmlns:a="http://schemas.openxmlformats.org/drawingml/2006/main">
              <a:ext uri="{FF2B5EF4-FFF2-40B4-BE49-F238E27FC236}">
                <a16:creationId xmlns:a16="http://schemas.microsoft.com/office/drawing/2014/main" id="{B91CB3F4-B2C7-4BA4-9C3C-F6285FEC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05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88" name="editable-ocvs-cluster-name-row-3">
            <a:extLst xmlns:a="http://schemas.openxmlformats.org/drawingml/2006/main">
              <a:ext uri="{FF2B5EF4-FFF2-40B4-BE49-F238E27FC236}">
                <a16:creationId xmlns:a16="http://schemas.microsoft.com/office/drawing/2014/main" id="{5989733E-2A94-4102-B637-665EC9F1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89" name="editable-ocvs-cluster-workload-row-3">
            <a:extLst xmlns:a="http://schemas.openxmlformats.org/drawingml/2006/main">
              <a:ext uri="{FF2B5EF4-FFF2-40B4-BE49-F238E27FC236}">
                <a16:creationId xmlns:a16="http://schemas.microsoft.com/office/drawing/2014/main" id="{F98BA521-2FF9-411B-9288-F1E39268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338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90" name="editable-ocvs-cluster-hosts-row-3">
            <a:extLst xmlns:a="http://schemas.openxmlformats.org/drawingml/2006/main">
              <a:ext uri="{FF2B5EF4-FFF2-40B4-BE49-F238E27FC236}">
                <a16:creationId xmlns:a16="http://schemas.microsoft.com/office/drawing/2014/main" id="{7289AD29-9559-4D62-A081-735D1430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33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1" name="editable-ocvs-cluster-shape-row-3">
            <a:extLst xmlns:a="http://schemas.openxmlformats.org/drawingml/2006/main">
              <a:ext uri="{FF2B5EF4-FFF2-40B4-BE49-F238E27FC236}">
                <a16:creationId xmlns:a16="http://schemas.microsoft.com/office/drawing/2014/main" id="{72B84881-B257-4E2A-8177-A440E035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33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92" name="editable-ocvs-cluster-storage-row-3">
            <a:extLst xmlns:a="http://schemas.openxmlformats.org/drawingml/2006/main">
              <a:ext uri="{FF2B5EF4-FFF2-40B4-BE49-F238E27FC236}">
                <a16:creationId xmlns:a16="http://schemas.microsoft.com/office/drawing/2014/main" id="{9060C444-3BBE-4028-B2C9-71B3CDD5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93" name="editable-ocvs-cluster-architecture-row-3">
            <a:extLst xmlns:a="http://schemas.openxmlformats.org/drawingml/2006/main">
              <a:ext uri="{FF2B5EF4-FFF2-40B4-BE49-F238E27FC236}">
                <a16:creationId xmlns:a16="http://schemas.microsoft.com/office/drawing/2014/main" id="{F65332C3-E2F5-403F-A91D-8F693251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338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94" name="ocvs-cluster-row-3-line">
            <a:extLst xmlns:a="http://schemas.openxmlformats.org/drawingml/2006/main">
              <a:ext uri="{FF2B5EF4-FFF2-40B4-BE49-F238E27FC236}">
                <a16:creationId xmlns:a16="http://schemas.microsoft.com/office/drawing/2014/main" id="{2A9E763D-A08A-4A34-B39F-72708A62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814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95" name="ocvs-cluster-row-4-fill">
            <a:extLst xmlns:a="http://schemas.openxmlformats.org/drawingml/2006/main">
              <a:ext uri="{FF2B5EF4-FFF2-40B4-BE49-F238E27FC236}">
                <a16:creationId xmlns:a16="http://schemas.microsoft.com/office/drawing/2014/main" id="{C69B2C4F-201C-4B30-95F4-850BE7DD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100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96" name="editable-ocvs-cluster-name-row-4">
            <a:extLst xmlns:a="http://schemas.openxmlformats.org/drawingml/2006/main">
              <a:ext uri="{FF2B5EF4-FFF2-40B4-BE49-F238E27FC236}">
                <a16:creationId xmlns:a16="http://schemas.microsoft.com/office/drawing/2014/main" id="{AEE0D2B9-3452-4DD9-9EB0-328DC7ED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97" name="editable-ocvs-cluster-workload-row-4">
            <a:extLst xmlns:a="http://schemas.openxmlformats.org/drawingml/2006/main">
              <a:ext uri="{FF2B5EF4-FFF2-40B4-BE49-F238E27FC236}">
                <a16:creationId xmlns:a16="http://schemas.microsoft.com/office/drawing/2014/main" id="{73A67F80-B68D-49A4-BE7C-ADF3C478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100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98" name="editable-ocvs-cluster-hosts-row-4">
            <a:extLst xmlns:a="http://schemas.openxmlformats.org/drawingml/2006/main">
              <a:ext uri="{FF2B5EF4-FFF2-40B4-BE49-F238E27FC236}">
                <a16:creationId xmlns:a16="http://schemas.microsoft.com/office/drawing/2014/main" id="{CF101C0F-4689-420E-8A6E-1595CE2E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10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9" name="editable-ocvs-cluster-shape-row-4">
            <a:extLst xmlns:a="http://schemas.openxmlformats.org/drawingml/2006/main">
              <a:ext uri="{FF2B5EF4-FFF2-40B4-BE49-F238E27FC236}">
                <a16:creationId xmlns:a16="http://schemas.microsoft.com/office/drawing/2014/main" id="{3A68AC4F-6E42-4FE1-9431-7B6BA401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10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100" name="editable-ocvs-cluster-storage-row-4">
            <a:extLst xmlns:a="http://schemas.openxmlformats.org/drawingml/2006/main">
              <a:ext uri="{FF2B5EF4-FFF2-40B4-BE49-F238E27FC236}">
                <a16:creationId xmlns:a16="http://schemas.microsoft.com/office/drawing/2014/main" id="{793C0F90-0A58-4548-BA67-1842C307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00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101" name="editable-ocvs-cluster-architecture-row-4">
            <a:extLst xmlns:a="http://schemas.openxmlformats.org/drawingml/2006/main">
              <a:ext uri="{FF2B5EF4-FFF2-40B4-BE49-F238E27FC236}">
                <a16:creationId xmlns:a16="http://schemas.microsoft.com/office/drawing/2014/main" id="{A5F32D01-F95F-4A5F-8517-AAAA5195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2100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102" name="ocvs-cluster-row-4-line">
            <a:extLst xmlns:a="http://schemas.openxmlformats.org/drawingml/2006/main">
              <a:ext uri="{FF2B5EF4-FFF2-40B4-BE49-F238E27FC236}">
                <a16:creationId xmlns:a16="http://schemas.microsoft.com/office/drawing/2014/main" id="{37EA232F-58A2-4645-A41C-6EFA6989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577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103" name="editable-ocvs-cluster-name-row-5">
            <a:extLst xmlns:a="http://schemas.openxmlformats.org/drawingml/2006/main">
              <a:ext uri="{FF2B5EF4-FFF2-40B4-BE49-F238E27FC236}">
                <a16:creationId xmlns:a16="http://schemas.microsoft.com/office/drawing/2014/main" id="{50AF186B-BB6C-4A65-A156-1965EEDC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86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104" name="editable-ocvs-cluster-workload-row-5">
            <a:extLst xmlns:a="http://schemas.openxmlformats.org/drawingml/2006/main">
              <a:ext uri="{FF2B5EF4-FFF2-40B4-BE49-F238E27FC236}">
                <a16:creationId xmlns:a16="http://schemas.microsoft.com/office/drawing/2014/main" id="{150B443B-2FAB-40A6-920E-6AC9971D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863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105" name="editable-ocvs-cluster-hosts-row-5">
            <a:extLst xmlns:a="http://schemas.openxmlformats.org/drawingml/2006/main">
              <a:ext uri="{FF2B5EF4-FFF2-40B4-BE49-F238E27FC236}">
                <a16:creationId xmlns:a16="http://schemas.microsoft.com/office/drawing/2014/main" id="{7EBEBD21-F864-412C-97DE-20580FCD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86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6" name="editable-ocvs-cluster-shape-row-5">
            <a:extLst xmlns:a="http://schemas.openxmlformats.org/drawingml/2006/main">
              <a:ext uri="{FF2B5EF4-FFF2-40B4-BE49-F238E27FC236}">
                <a16:creationId xmlns:a16="http://schemas.microsoft.com/office/drawing/2014/main" id="{4FD06E5B-48F2-430B-B66A-A792038A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86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107" name="editable-ocvs-cluster-storage-row-5">
            <a:extLst xmlns:a="http://schemas.openxmlformats.org/drawingml/2006/main">
              <a:ext uri="{FF2B5EF4-FFF2-40B4-BE49-F238E27FC236}">
                <a16:creationId xmlns:a16="http://schemas.microsoft.com/office/drawing/2014/main" id="{0A70ACBB-9D34-4A2E-8A6B-A04E227D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108" name="editable-ocvs-cluster-architecture-row-5">
            <a:extLst xmlns:a="http://schemas.openxmlformats.org/drawingml/2006/main">
              <a:ext uri="{FF2B5EF4-FFF2-40B4-BE49-F238E27FC236}">
                <a16:creationId xmlns:a16="http://schemas.microsoft.com/office/drawing/2014/main" id="{8466427D-6AD8-4275-A1D5-CA01DBCC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863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109" name="ocvs-cluster-row-5-line">
            <a:extLst xmlns:a="http://schemas.openxmlformats.org/drawingml/2006/main">
              <a:ext uri="{FF2B5EF4-FFF2-40B4-BE49-F238E27FC236}">
                <a16:creationId xmlns:a16="http://schemas.microsoft.com/office/drawing/2014/main" id="{AF3F2CBC-8DA8-40D4-AC19-F1A0B68B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339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110" name="ocvs-cluster-row-6-fill">
            <a:extLst xmlns:a="http://schemas.openxmlformats.org/drawingml/2006/main">
              <a:ext uri="{FF2B5EF4-FFF2-40B4-BE49-F238E27FC236}">
                <a16:creationId xmlns:a16="http://schemas.microsoft.com/office/drawing/2014/main" id="{542C1892-D694-4521-A0AC-F8653124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625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111" name="editable-ocvs-cluster-name-row-6">
            <a:extLst xmlns:a="http://schemas.openxmlformats.org/drawingml/2006/main">
              <a:ext uri="{FF2B5EF4-FFF2-40B4-BE49-F238E27FC236}">
                <a16:creationId xmlns:a16="http://schemas.microsoft.com/office/drawing/2014/main" id="{FDE801B5-07BB-4A61-919E-CC36A485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62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112" name="editable-ocvs-cluster-workload-row-6">
            <a:extLst xmlns:a="http://schemas.openxmlformats.org/drawingml/2006/main">
              <a:ext uri="{FF2B5EF4-FFF2-40B4-BE49-F238E27FC236}">
                <a16:creationId xmlns:a16="http://schemas.microsoft.com/office/drawing/2014/main" id="{64023BCE-228B-4BEA-9FE0-9FB1AE18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625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113" name="editable-ocvs-cluster-hosts-row-6">
            <a:extLst xmlns:a="http://schemas.openxmlformats.org/drawingml/2006/main">
              <a:ext uri="{FF2B5EF4-FFF2-40B4-BE49-F238E27FC236}">
                <a16:creationId xmlns:a16="http://schemas.microsoft.com/office/drawing/2014/main" id="{7C743FAD-CF1C-433A-857F-8AF163F3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625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editable-ocvs-cluster-shape-row-6">
            <a:extLst xmlns:a="http://schemas.openxmlformats.org/drawingml/2006/main">
              <a:ext uri="{FF2B5EF4-FFF2-40B4-BE49-F238E27FC236}">
                <a16:creationId xmlns:a16="http://schemas.microsoft.com/office/drawing/2014/main" id="{F98426DF-F46B-4507-8A17-DF2EF066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62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115" name="editable-ocvs-cluster-storage-row-6">
            <a:extLst xmlns:a="http://schemas.openxmlformats.org/drawingml/2006/main">
              <a:ext uri="{FF2B5EF4-FFF2-40B4-BE49-F238E27FC236}">
                <a16:creationId xmlns:a16="http://schemas.microsoft.com/office/drawing/2014/main" id="{53C5F65D-31B7-4A68-BED4-B7E6D29A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62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116" name="editable-ocvs-cluster-architecture-row-6">
            <a:extLst xmlns:a="http://schemas.openxmlformats.org/drawingml/2006/main">
              <a:ext uri="{FF2B5EF4-FFF2-40B4-BE49-F238E27FC236}">
                <a16:creationId xmlns:a16="http://schemas.microsoft.com/office/drawing/2014/main" id="{41BE74F1-1EAC-494C-BFCB-C545D39F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162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117" name="ocvs-cluster-row-6-line">
            <a:extLst xmlns:a="http://schemas.openxmlformats.org/drawingml/2006/main">
              <a:ext uri="{FF2B5EF4-FFF2-40B4-BE49-F238E27FC236}">
                <a16:creationId xmlns:a16="http://schemas.microsoft.com/office/drawing/2014/main" id="{B95CDC67-81E8-4FED-832A-F47E68FA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10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97f0547384949"/>
          <a:stretch xmlns:a="http://schemas.openxmlformats.org/drawingml/2006/main"/>
        </p:blipFill>
        <p:spPr>
          <a:xfrm xmlns:a="http://schemas.openxmlformats.org/drawingml/2006/main">
            <a:off x="9662432" y="333375"/>
            <a:ext cx="2334986" cy="209550"/>
          </a:xfrm>
          <a:prstGeom xmlns:a="http://schemas.openxmlformats.org/drawingml/2006/main" prst="rect">
            <a:avLst/>
          </a:prstGeom>
        </p:spPr>
      </p:pic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b398abfe140b5"/>
          <a:stretch xmlns:a="http://schemas.openxmlformats.org/drawingml/2006/main"/>
        </p:blipFill>
        <p:spPr>
          <a:xfrm xmlns:a="http://schemas.openxmlformats.org/drawingml/2006/main">
            <a:off x="11410950" y="6204706"/>
            <a:ext cx="476250" cy="506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972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pricing-top-mask">
            <a:extLst xmlns:a="http://schemas.openxmlformats.org/drawingml/2006/main">
              <a:ext uri="{FF2B5EF4-FFF2-40B4-BE49-F238E27FC236}">
                <a16:creationId xmlns:a16="http://schemas.microsoft.com/office/drawing/2014/main" id="{2B7D83AD-FB0E-498E-BC68-6E7863A9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ricing-footer-mask">
            <a:extLst xmlns:a="http://schemas.openxmlformats.org/drawingml/2006/main">
              <a:ext uri="{FF2B5EF4-FFF2-40B4-BE49-F238E27FC236}">
                <a16:creationId xmlns:a16="http://schemas.microsoft.com/office/drawing/2014/main" id="{44F91E24-7A19-45FD-8E1D-33105943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885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pricing-dot-1122-40">
            <a:extLst xmlns:a="http://schemas.openxmlformats.org/drawingml/2006/main">
              <a:ext uri="{FF2B5EF4-FFF2-40B4-BE49-F238E27FC236}">
                <a16:creationId xmlns:a16="http://schemas.microsoft.com/office/drawing/2014/main" id="{2A53CCDB-5A56-43E8-A6A1-5CC1371C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10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4" name="pricing-dot-1170-64">
            <a:extLst xmlns:a="http://schemas.openxmlformats.org/drawingml/2006/main">
              <a:ext uri="{FF2B5EF4-FFF2-40B4-BE49-F238E27FC236}">
                <a16:creationId xmlns:a16="http://schemas.microsoft.com/office/drawing/2014/main" id="{DE426867-7B02-4188-9C4F-6B0F29E5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5" name="pricing-dot-1215-30">
            <a:extLst xmlns:a="http://schemas.openxmlformats.org/drawingml/2006/main">
              <a:ext uri="{FF2B5EF4-FFF2-40B4-BE49-F238E27FC236}">
                <a16:creationId xmlns:a16="http://schemas.microsoft.com/office/drawing/2014/main" id="{7DD55CD4-4DE0-424A-8917-5A92A984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857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6" name="pricing-dot-1230-104">
            <a:extLst xmlns:a="http://schemas.openxmlformats.org/drawingml/2006/main">
              <a:ext uri="{FF2B5EF4-FFF2-40B4-BE49-F238E27FC236}">
                <a16:creationId xmlns:a16="http://schemas.microsoft.com/office/drawing/2014/main" id="{D776873A-E8DA-4064-A548-504763B4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9906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7" name="pricing-dot-1196-138">
            <a:extLst xmlns:a="http://schemas.openxmlformats.org/drawingml/2006/main">
              <a:ext uri="{FF2B5EF4-FFF2-40B4-BE49-F238E27FC236}">
                <a16:creationId xmlns:a16="http://schemas.microsoft.com/office/drawing/2014/main" id="{F4B05A92-D647-4000-B442-E6D6061A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8" name="pricing-dot-1250-164">
            <a:extLst xmlns:a="http://schemas.openxmlformats.org/drawingml/2006/main">
              <a:ext uri="{FF2B5EF4-FFF2-40B4-BE49-F238E27FC236}">
                <a16:creationId xmlns:a16="http://schemas.microsoft.com/office/drawing/2014/main" id="{DD89CD97-5BE6-41B2-93B3-17D1858B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6210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7003636fe43eb"/>
          <a:stretch xmlns:a="http://schemas.openxmlformats.org/drawingml/2006/main"/>
        </p:blipFill>
        <p:spPr>
          <a:xfrm xmlns:a="http://schemas.openxmlformats.org/drawingml/2006/main">
            <a:off x="361950" y="266700"/>
            <a:ext cx="1952625" cy="590550"/>
          </a:xfrm>
          <a:prstGeom xmlns:a="http://schemas.openxmlformats.org/drawingml/2006/main" prst="rect">
            <a:avLst/>
          </a:prstGeom>
        </p:spPr>
      </p:pic>
      <p:sp>
        <p:nvSpPr>
          <p:cNvPr id="10" name="hybrid-pricing-summary-title">
            <a:extLst xmlns:a="http://schemas.openxmlformats.org/drawingml/2006/main">
              <a:ext uri="{FF2B5EF4-FFF2-40B4-BE49-F238E27FC236}">
                <a16:creationId xmlns:a16="http://schemas.microsoft.com/office/drawing/2014/main" id="{5E5DEE6F-6D84-4382-8B05-AEC187CA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Hybrid Pricing Summary</a:t>
            </a:r>
          </a:p>
        </p:txBody>
      </p:sp>
      <p:sp>
        <p:nvSpPr>
          <p:cNvPr id="11" name="pricing-title-rule">
            <a:extLst xmlns:a="http://schemas.openxmlformats.org/drawingml/2006/main">
              <a:ext uri="{FF2B5EF4-FFF2-40B4-BE49-F238E27FC236}">
                <a16:creationId xmlns:a16="http://schemas.microsoft.com/office/drawing/2014/main" id="{6E59C6F3-E690-4717-A01B-D0BC2FA8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</a:ln>
        </p:spPr>
      </p:sp>
      <p:sp>
        <p:nvSpPr>
          <p:cNvPr id="12" name="pricing-footer-rule">
            <a:extLst xmlns:a="http://schemas.openxmlformats.org/drawingml/2006/main">
              <a:ext uri="{FF2B5EF4-FFF2-40B4-BE49-F238E27FC236}">
                <a16:creationId xmlns:a16="http://schemas.microsoft.com/office/drawing/2014/main" id="{2FE75D5A-085C-4035-852B-655ECE9F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C1"/>
          </a:solidFill>
          <a:ln xmlns:a="http://schemas.openxmlformats.org/drawingml/2006/main" w="9525">
            <a:solidFill>
              <a:srgbClr val="BFC5C1"/>
            </a:solidFill>
          </a:ln>
        </p:spPr>
      </p:sp>
      <p:sp>
        <p:nvSpPr>
          <p:cNvPr id="13" name="pricing-confidential">
            <a:extLst xmlns:a="http://schemas.openxmlformats.org/drawingml/2006/main">
              <a:ext uri="{FF2B5EF4-FFF2-40B4-BE49-F238E27FC236}">
                <a16:creationId xmlns:a16="http://schemas.microsoft.com/office/drawing/2014/main" id="{04BCAF88-205C-4B4F-AB15-D2D174B6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3524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Confidential - Oracle Restricted \ Employees Only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8eac1aabf420c"/>
          <a:stretch xmlns:a="http://schemas.openxmlformats.org/drawingml/2006/main"/>
        </p:blipFill>
        <p:spPr>
          <a:xfrm xmlns:a="http://schemas.openxmlformats.org/drawingml/2006/main">
            <a:off x="11334750" y="6477000"/>
            <a:ext cx="342900" cy="276225"/>
          </a:xfrm>
          <a:prstGeom xmlns:a="http://schemas.openxmlformats.org/drawingml/2006/main" prst="rect">
            <a:avLst/>
          </a:prstGeom>
        </p:spPr>
      </p:pic>
      <p:sp>
        <p:nvSpPr>
          <p:cNvPr id="15" name="hybrid-pricing-subtitle">
            <a:extLst xmlns:a="http://schemas.openxmlformats.org/drawingml/2006/main">
              <a:ext uri="{FF2B5EF4-FFF2-40B4-BE49-F238E27FC236}">
                <a16:creationId xmlns:a16="http://schemas.microsoft.com/office/drawing/2014/main" id="{58773582-52D2-4813-BB58-2AF71B24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335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Estimated pricing based on the selected OCI Native and OCVS sizing results.</a:t>
            </a:r>
          </a:p>
        </p:txBody>
      </p:sp>
      <p:sp>
        <p:nvSpPr>
          <p:cNvPr id="16" name="hybrid-native-card">
            <a:extLst xmlns:a="http://schemas.openxmlformats.org/drawingml/2006/main">
              <a:ext uri="{FF2B5EF4-FFF2-40B4-BE49-F238E27FC236}">
                <a16:creationId xmlns:a16="http://schemas.microsoft.com/office/drawing/2014/main" id="{AAF25EFD-EB5D-49C1-8D0B-A986D5AC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66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17" name="hybrid-native-band">
            <a:extLst xmlns:a="http://schemas.openxmlformats.org/drawingml/2006/main">
              <a:ext uri="{FF2B5EF4-FFF2-40B4-BE49-F238E27FC236}">
                <a16:creationId xmlns:a16="http://schemas.microsoft.com/office/drawing/2014/main" id="{BC0ABE4B-D7EF-4AD5-A9AB-F6FD5E1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66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8" name="hybrid-native-heading">
            <a:extLst xmlns:a="http://schemas.openxmlformats.org/drawingml/2006/main">
              <a:ext uri="{FF2B5EF4-FFF2-40B4-BE49-F238E27FC236}">
                <a16:creationId xmlns:a16="http://schemas.microsoft.com/office/drawing/2014/main" id="{5B7E2BDE-0C63-4130-9900-4DD40CDA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OCI Native Compute</a:t>
            </a:r>
          </a:p>
        </p:txBody>
      </p:sp>
      <p:sp>
        <p:nvSpPr>
          <p:cNvPr id="19" name="hybrid-native-monthly-label">
            <a:extLst xmlns:a="http://schemas.openxmlformats.org/drawingml/2006/main">
              <a:ext uri="{FF2B5EF4-FFF2-40B4-BE49-F238E27FC236}">
                <a16:creationId xmlns:a16="http://schemas.microsoft.com/office/drawing/2014/main" id="{D1965F63-67A0-4626-B63E-930E928C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OCI Native Monthly Cost</a:t>
            </a:r>
          </a:p>
        </p:txBody>
      </p:sp>
      <p:sp>
        <p:nvSpPr>
          <p:cNvPr id="20" name="editable-hybrid-pricing-native-monthly">
            <a:extLst xmlns:a="http://schemas.openxmlformats.org/drawingml/2006/main">
              <a:ext uri="{FF2B5EF4-FFF2-40B4-BE49-F238E27FC236}">
                <a16:creationId xmlns:a16="http://schemas.microsoft.com/office/drawing/2014/main" id="{927E2BC0-5C5E-4154-B29E-0D9E4AEA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1" name="hybrid-native-divider">
            <a:extLst xmlns:a="http://schemas.openxmlformats.org/drawingml/2006/main">
              <a:ext uri="{FF2B5EF4-FFF2-40B4-BE49-F238E27FC236}">
                <a16:creationId xmlns:a16="http://schemas.microsoft.com/office/drawing/2014/main" id="{68035418-F9DC-42A4-B379-C674D6A0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00375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2" name="hybrid-native-fixed-note">
            <a:extLst xmlns:a="http://schemas.openxmlformats.org/drawingml/2006/main">
              <a:ext uri="{FF2B5EF4-FFF2-40B4-BE49-F238E27FC236}">
                <a16:creationId xmlns:a16="http://schemas.microsoft.com/office/drawing/2014/main" id="{AEDF8B0F-EC1E-472B-88C1-A9F1A7C3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765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Unchanged across OCVS commitment terms</a:t>
            </a:r>
          </a:p>
        </p:txBody>
      </p:sp>
      <p:sp>
        <p:nvSpPr>
          <p:cNvPr id="23" name="hybrid-pricing-table">
            <a:extLst xmlns:a="http://schemas.openxmlformats.org/drawingml/2006/main">
              <a:ext uri="{FF2B5EF4-FFF2-40B4-BE49-F238E27FC236}">
                <a16:creationId xmlns:a16="http://schemas.microsoft.com/office/drawing/2014/main" id="{C1AD262A-6101-4F33-A758-357EC970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66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4" name="hybrid-pricing-table-band">
            <a:extLst xmlns:a="http://schemas.openxmlformats.org/drawingml/2006/main">
              <a:ext uri="{FF2B5EF4-FFF2-40B4-BE49-F238E27FC236}">
                <a16:creationId xmlns:a16="http://schemas.microsoft.com/office/drawing/2014/main" id="{2025FDF2-D0C9-425E-9C8D-0710E831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66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25" name="hybrid-pricing-header-1">
            <a:extLst xmlns:a="http://schemas.openxmlformats.org/drawingml/2006/main">
              <a:ext uri="{FF2B5EF4-FFF2-40B4-BE49-F238E27FC236}">
                <a16:creationId xmlns:a16="http://schemas.microsoft.com/office/drawing/2014/main" id="{D14DE09B-95A9-4745-A9AA-F12B5609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Commitment Term</a:t>
            </a:r>
          </a:p>
        </p:txBody>
      </p:sp>
      <p:sp>
        <p:nvSpPr>
          <p:cNvPr id="26" name="hybrid-pricing-header-2">
            <a:extLst xmlns:a="http://schemas.openxmlformats.org/drawingml/2006/main">
              <a:ext uri="{FF2B5EF4-FFF2-40B4-BE49-F238E27FC236}">
                <a16:creationId xmlns:a16="http://schemas.microsoft.com/office/drawing/2014/main" id="{4B2E914C-C0DC-48A0-8F9C-8023D9EB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81450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OCVS Cost</a:t>
            </a:r>
          </a:p>
        </p:txBody>
      </p:sp>
      <p:sp>
        <p:nvSpPr>
          <p:cNvPr id="27" name="hybrid-pricing-vertical-1">
            <a:extLst xmlns:a="http://schemas.openxmlformats.org/drawingml/2006/main">
              <a:ext uri="{FF2B5EF4-FFF2-40B4-BE49-F238E27FC236}">
                <a16:creationId xmlns:a16="http://schemas.microsoft.com/office/drawing/2014/main" id="{E77C28E9-2467-45E6-8253-CEC8F7F0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62450"/>
            <a:ext cx="95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8" name="hybrid-pricing-header-3">
            <a:extLst xmlns:a="http://schemas.openxmlformats.org/drawingml/2006/main">
              <a:ext uri="{FF2B5EF4-FFF2-40B4-BE49-F238E27FC236}">
                <a16:creationId xmlns:a16="http://schemas.microsoft.com/office/drawing/2014/main" id="{7A320E18-0DEC-445E-9132-16E811C4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81450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OCI Native Cost</a:t>
            </a:r>
          </a:p>
        </p:txBody>
      </p:sp>
      <p:sp>
        <p:nvSpPr>
          <p:cNvPr id="29" name="hybrid-pricing-vertical-2">
            <a:extLst xmlns:a="http://schemas.openxmlformats.org/drawingml/2006/main">
              <a:ext uri="{FF2B5EF4-FFF2-40B4-BE49-F238E27FC236}">
                <a16:creationId xmlns:a16="http://schemas.microsoft.com/office/drawing/2014/main" id="{750CB26C-4612-4971-84FA-4F234C1B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62450"/>
            <a:ext cx="95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0" name="hybrid-pricing-header-4">
            <a:extLst xmlns:a="http://schemas.openxmlformats.org/drawingml/2006/main">
              <a:ext uri="{FF2B5EF4-FFF2-40B4-BE49-F238E27FC236}">
                <a16:creationId xmlns:a16="http://schemas.microsoft.com/office/drawing/2014/main" id="{2B4DE026-D38A-4B8B-99B1-1D7525F6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814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Hybrid Monthly Total</a:t>
            </a:r>
          </a:p>
        </p:txBody>
      </p:sp>
      <p:sp>
        <p:nvSpPr>
          <p:cNvPr id="31" name="hybrid-pricing-vertical-3">
            <a:extLst xmlns:a="http://schemas.openxmlformats.org/drawingml/2006/main">
              <a:ext uri="{FF2B5EF4-FFF2-40B4-BE49-F238E27FC236}">
                <a16:creationId xmlns:a16="http://schemas.microsoft.com/office/drawing/2014/main" id="{3155F92A-7198-4925-9582-25552B4A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95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2" name="hybrid-pricing-header-5">
            <a:extLst xmlns:a="http://schemas.openxmlformats.org/drawingml/2006/main">
              <a:ext uri="{FF2B5EF4-FFF2-40B4-BE49-F238E27FC236}">
                <a16:creationId xmlns:a16="http://schemas.microsoft.com/office/drawing/2014/main" id="{8A77AEDD-EA36-45D7-88BB-B92E9C9A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814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Hybrid Annual Total</a:t>
            </a:r>
          </a:p>
        </p:txBody>
      </p:sp>
      <p:sp>
        <p:nvSpPr>
          <p:cNvPr id="33" name="hybrid-pricing-vertical-4">
            <a:extLst xmlns:a="http://schemas.openxmlformats.org/drawingml/2006/main">
              <a:ext uri="{FF2B5EF4-FFF2-40B4-BE49-F238E27FC236}">
                <a16:creationId xmlns:a16="http://schemas.microsoft.com/office/drawing/2014/main" id="{55A1E20C-617D-450D-93AB-3A82184C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62450"/>
            <a:ext cx="95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4" name="hybrid-pricing-row-1-line">
            <a:extLst xmlns:a="http://schemas.openxmlformats.org/drawingml/2006/main">
              <a:ext uri="{FF2B5EF4-FFF2-40B4-BE49-F238E27FC236}">
                <a16:creationId xmlns:a16="http://schemas.microsoft.com/office/drawing/2014/main" id="{F6DAD8B9-A349-4523-94BD-CD892249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9585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5" name="hybrid-pricing-payg-term">
            <a:extLst xmlns:a="http://schemas.openxmlformats.org/drawingml/2006/main">
              <a:ext uri="{FF2B5EF4-FFF2-40B4-BE49-F238E27FC236}">
                <a16:creationId xmlns:a16="http://schemas.microsoft.com/office/drawing/2014/main" id="{EFDE6D50-B44A-4441-9EF7-73F32FF0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86275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On-Demand</a:t>
            </a:r>
          </a:p>
        </p:txBody>
      </p:sp>
      <p:sp>
        <p:nvSpPr>
          <p:cNvPr id="36" name="editable-hybrid-pricing-payg-ocvs">
            <a:extLst xmlns:a="http://schemas.openxmlformats.org/drawingml/2006/main">
              <a:ext uri="{FF2B5EF4-FFF2-40B4-BE49-F238E27FC236}">
                <a16:creationId xmlns:a16="http://schemas.microsoft.com/office/drawing/2014/main" id="{C91203EB-EC18-4BBE-A4C6-359686CA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86275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7" name="editable-hybrid-pricing-payg-native">
            <a:extLst xmlns:a="http://schemas.openxmlformats.org/drawingml/2006/main">
              <a:ext uri="{FF2B5EF4-FFF2-40B4-BE49-F238E27FC236}">
                <a16:creationId xmlns:a16="http://schemas.microsoft.com/office/drawing/2014/main" id="{40348FEB-08FE-429B-B08F-80B0A8DB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86275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8" name="editable-hybrid-pricing-payg-monthly-total">
            <a:extLst xmlns:a="http://schemas.openxmlformats.org/drawingml/2006/main">
              <a:ext uri="{FF2B5EF4-FFF2-40B4-BE49-F238E27FC236}">
                <a16:creationId xmlns:a16="http://schemas.microsoft.com/office/drawing/2014/main" id="{1C605170-0C4A-45B0-A8B3-ED5D1BF0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862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9" name="editable-hybrid-pricing-payg-annual-total">
            <a:extLst xmlns:a="http://schemas.openxmlformats.org/drawingml/2006/main">
              <a:ext uri="{FF2B5EF4-FFF2-40B4-BE49-F238E27FC236}">
                <a16:creationId xmlns:a16="http://schemas.microsoft.com/office/drawing/2014/main" id="{6C0B8EB3-FF50-49D4-B343-9DAD8B5A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862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0" name="hybrid-pricing-row-2-line">
            <a:extLst xmlns:a="http://schemas.openxmlformats.org/drawingml/2006/main">
              <a:ext uri="{FF2B5EF4-FFF2-40B4-BE49-F238E27FC236}">
                <a16:creationId xmlns:a16="http://schemas.microsoft.com/office/drawing/2014/main" id="{32DEE8A4-6341-4B19-9862-82D26A27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3877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1" name="hybrid-pricing-one-year-term">
            <a:extLst xmlns:a="http://schemas.openxmlformats.org/drawingml/2006/main">
              <a:ext uri="{FF2B5EF4-FFF2-40B4-BE49-F238E27FC236}">
                <a16:creationId xmlns:a16="http://schemas.microsoft.com/office/drawing/2014/main" id="{E8ABE6CF-7475-4530-9436-F7399018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1-Year Commitment</a:t>
            </a:r>
          </a:p>
        </p:txBody>
      </p:sp>
      <p:sp>
        <p:nvSpPr>
          <p:cNvPr id="42" name="editable-hybrid-pricing-one-year-ocvs">
            <a:extLst xmlns:a="http://schemas.openxmlformats.org/drawingml/2006/main">
              <a:ext uri="{FF2B5EF4-FFF2-40B4-BE49-F238E27FC236}">
                <a16:creationId xmlns:a16="http://schemas.microsoft.com/office/drawing/2014/main" id="{FF616E6D-0EA1-4DBC-B3D8-E4433C24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3" name="editable-hybrid-pricing-one-year-native">
            <a:extLst xmlns:a="http://schemas.openxmlformats.org/drawingml/2006/main">
              <a:ext uri="{FF2B5EF4-FFF2-40B4-BE49-F238E27FC236}">
                <a16:creationId xmlns:a16="http://schemas.microsoft.com/office/drawing/2014/main" id="{24EEBA14-A9D7-432F-8250-746716BB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02920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4" name="editable-hybrid-pricing-on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D3B69AB7-E188-4F84-888C-2E334E7E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292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5" name="editable-hybrid-pricing-one-year-annual-total">
            <a:extLst xmlns:a="http://schemas.openxmlformats.org/drawingml/2006/main">
              <a:ext uri="{FF2B5EF4-FFF2-40B4-BE49-F238E27FC236}">
                <a16:creationId xmlns:a16="http://schemas.microsoft.com/office/drawing/2014/main" id="{5D6A4E49-6198-45C4-8D15-32F45E7A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292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6" name="hybrid-pricing-three-year-highlight">
            <a:extLst xmlns:a="http://schemas.openxmlformats.org/drawingml/2006/main">
              <a:ext uri="{FF2B5EF4-FFF2-40B4-BE49-F238E27FC236}">
                <a16:creationId xmlns:a16="http://schemas.microsoft.com/office/drawing/2014/main" id="{E4565EAB-02FD-44C6-A2E6-EE2D1C44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48300"/>
            <a:ext cx="1064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47" name="hybrid-pricing-row-3-line">
            <a:extLst xmlns:a="http://schemas.openxmlformats.org/drawingml/2006/main">
              <a:ext uri="{FF2B5EF4-FFF2-40B4-BE49-F238E27FC236}">
                <a16:creationId xmlns:a16="http://schemas.microsoft.com/office/drawing/2014/main" id="{D97468B7-54C1-4768-89CF-6FC9B4AF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9817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8" name="hybrid-pricing-three-year-term">
            <a:extLst xmlns:a="http://schemas.openxmlformats.org/drawingml/2006/main">
              <a:ext uri="{FF2B5EF4-FFF2-40B4-BE49-F238E27FC236}">
                <a16:creationId xmlns:a16="http://schemas.microsoft.com/office/drawing/2014/main" id="{0D0CAB54-EB91-4A3C-92C8-49EA6F5E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3-Year Commitment</a:t>
            </a:r>
          </a:p>
        </p:txBody>
      </p:sp>
      <p:sp>
        <p:nvSpPr>
          <p:cNvPr id="49" name="editable-hybrid-pricing-three-year-ocvs">
            <a:extLst xmlns:a="http://schemas.openxmlformats.org/drawingml/2006/main">
              <a:ext uri="{FF2B5EF4-FFF2-40B4-BE49-F238E27FC236}">
                <a16:creationId xmlns:a16="http://schemas.microsoft.com/office/drawing/2014/main" id="{2BE0A869-9A7E-4C6D-93E1-30FC515B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572125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0" name="editable-hybrid-pricing-three-year-native">
            <a:extLst xmlns:a="http://schemas.openxmlformats.org/drawingml/2006/main">
              <a:ext uri="{FF2B5EF4-FFF2-40B4-BE49-F238E27FC236}">
                <a16:creationId xmlns:a16="http://schemas.microsoft.com/office/drawing/2014/main" id="{07EFC12D-19D7-4C1D-982C-7353E3BF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572125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1" name="editable-hybrid-pricing-thre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2B8369FF-6A4C-490E-BDA8-5FF4A76A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5721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2" name="editable-hybrid-pricing-three-year-annual-total">
            <a:extLst xmlns:a="http://schemas.openxmlformats.org/drawingml/2006/main">
              <a:ext uri="{FF2B5EF4-FFF2-40B4-BE49-F238E27FC236}">
                <a16:creationId xmlns:a16="http://schemas.microsoft.com/office/drawing/2014/main" id="{840A367F-7A47-45B0-B275-8051C511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721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3" name="hybrid-pricing-footer-label">
            <a:extLst xmlns:a="http://schemas.openxmlformats.org/drawingml/2006/main">
              <a:ext uri="{FF2B5EF4-FFF2-40B4-BE49-F238E27FC236}">
                <a16:creationId xmlns:a16="http://schemas.microsoft.com/office/drawing/2014/main" id="{E95FFC6C-7AE2-4743-AC58-80716A24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Hybrid Customer Sizing</a:t>
            </a:r>
          </a:p>
        </p:txBody>
      </p:sp>
    </p:spTree>
    <p:extLst>
      <p:ext uri="{BB962C8B-B14F-4D97-AF65-F5344CB8AC3E}">
        <p14:creationId xmlns:p14="http://schemas.microsoft.com/office/powerpoint/2010/main" val="284264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2026-09-09T21:46:55.2780000Z</dcterms:created>
  <dcterms:modified xsi:type="dcterms:W3CDTF">2026-09-09T21:46:55.2780000Z</dcterms:modified>
</coreProperties>
</file>