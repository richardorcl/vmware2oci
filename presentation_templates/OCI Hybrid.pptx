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8" r:id="rId2"/>
    <p:sldId id="256" r:id="rId3"/>
    <p:sldId id="257" r:id="rId4"/>
    <p:sldId id="259" r:id="rId5"/>
    <p:sldId id="2076137198" r:id="rId6"/>
    <p:sldId id="2076137197" r:id="rId7"/>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FBFAF8"/>
    <a:srgbClr val="FCFBFA"/>
    <a:srgbClr val="F7F5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638"/>
  </p:normalViewPr>
  <p:slideViewPr>
    <p:cSldViewPr snapToGrid="0">
      <p:cViewPr>
        <p:scale>
          <a:sx n="62" d="100"/>
          <a:sy n="62" d="100"/>
        </p:scale>
        <p:origin x="3112" y="25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image: user-provided screenshot "Hybrid Scenario". Logo, customer/date/prepared-by icons, Oracle mark, and the right-side hybrid infrastructure illustration are embedded as cropped image assets from that screenshot; visible title, subtitle, sizing label, customer/date/prepared-by labels and values are editable PowerPoint 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image: user-provided screenshot "Current Environment". Oracle logo, Oracle mark, datacenter icon, metric icons, total-environment icon, and information icon are embedded as cropped image assets from that screenshot. The visible title, subtitle, panel headers, labels, metric values, notes, footer, cards, separators, and decorative background elements are recreated as editable PowerPoint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Source image: user-provided screenshot "Infrastructure Sizing Summary". Oracle logo, Oracle mark, OCVS icons, production icons, OCI compute/storage icons, and the hybrid callout pictogram are embedded as cropped image assets from that screenshot. The slide title, section labels, cards, tables, metrics, totals, separators, callout text, and footer are recreated as editable PowerPoint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Light - Closing Slide">
    <p:bg>
      <p:bgRef idx="1001">
        <a:schemeClr val="bg2"/>
      </p:bgRef>
    </p:bg>
    <p:spTree>
      <p:nvGrpSpPr>
        <p:cNvPr id="1" name=""/>
        <p:cNvGrpSpPr/>
        <p:nvPr/>
      </p:nvGrpSpPr>
      <p:grpSpPr>
        <a:xfrm>
          <a:off x="0" y="0"/>
          <a:ext cx="0" cy="0"/>
          <a:chOff x="0" y="0"/>
          <a:chExt cx="0" cy="0"/>
        </a:xfrm>
      </p:grpSpPr>
      <p:pic>
        <p:nvPicPr>
          <p:cNvPr id="2" name="Oracle Logo" descr="Oracle Logo">
            <a:extLst>
              <a:ext uri="{FF2B5EF4-FFF2-40B4-BE49-F238E27FC236}">
                <a16:creationId xmlns:a16="http://schemas.microsoft.com/office/drawing/2014/main" id="{65E5B106-857C-3950-B28D-EF7037F2162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bwMode="invGray">
          <a:xfrm>
            <a:off x="4043835" y="2998299"/>
            <a:ext cx="4104330" cy="861403"/>
          </a:xfrm>
          <a:prstGeom prst="rect">
            <a:avLst/>
          </a:prstGeom>
        </p:spPr>
      </p:pic>
    </p:spTree>
    <p:extLst>
      <p:ext uri="{BB962C8B-B14F-4D97-AF65-F5344CB8AC3E}">
        <p14:creationId xmlns:p14="http://schemas.microsoft.com/office/powerpoint/2010/main" val="301363934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A73578-F2E2-50B2-8FE9-85E22613E905}"/>
              </a:ext>
            </a:extLst>
          </p:cNvPr>
          <p:cNvSpPr txBox="1"/>
          <p:nvPr userDrawn="1">
            <p:extLst>
              <p:ext uri="{1162E1C5-73C7-4A58-AE30-91384D911F3F}">
                <p184:classification xmlns:p184="http://schemas.microsoft.com/office/powerpoint/2018/4/main" val="hdr"/>
              </p:ext>
            </p:extLst>
          </p:nvPr>
        </p:nvSpPr>
        <p:spPr>
          <a:xfrm>
            <a:off x="63500" y="63500"/>
            <a:ext cx="2709863" cy="152400"/>
          </a:xfrm>
          <a:prstGeom prst="rect">
            <a:avLst/>
          </a:prstGeom>
        </p:spPr>
        <p:txBody>
          <a:bodyPr horzOverflow="overflow" lIns="0" tIns="0" rIns="0" bIns="0">
            <a:spAutoFit/>
          </a:bodyPr>
          <a:lstStyle/>
          <a:p>
            <a:pPr algn="l"/>
            <a:r>
              <a:rPr lang="en-FR" sz="1000">
                <a:solidFill>
                  <a:srgbClr val="000000">
                    <a:alpha val="50000"/>
                  </a:srgbClr>
                </a:solidFill>
                <a:latin typeface="Aptos" panose="020B0004020202020204" pitchFamily="34" charset="0"/>
              </a:rPr>
              <a:t>Confidential - Oracle Restricted \Employees Only</a:t>
            </a:r>
          </a:p>
        </p:txBody>
      </p:sp>
      <p:sp>
        <p:nvSpPr>
          <p:cNvPr id="5" name="TextBox 4">
            <a:extLst>
              <a:ext uri="{FF2B5EF4-FFF2-40B4-BE49-F238E27FC236}">
                <a16:creationId xmlns:a16="http://schemas.microsoft.com/office/drawing/2014/main" id="{F911EAA2-F719-906A-0A6F-808E3643A69F}"/>
              </a:ext>
            </a:extLst>
          </p:cNvPr>
          <p:cNvSpPr txBox="1"/>
          <p:nvPr userDrawn="1">
            <p:extLst>
              <p:ext uri="{1162E1C5-73C7-4A58-AE30-91384D911F3F}">
                <p184:classification xmlns:p184="http://schemas.microsoft.com/office/powerpoint/2018/4/main" val="ftr"/>
              </p:ext>
            </p:extLst>
          </p:nvPr>
        </p:nvSpPr>
        <p:spPr>
          <a:xfrm>
            <a:off x="63500" y="6642100"/>
            <a:ext cx="2709863" cy="152400"/>
          </a:xfrm>
          <a:prstGeom prst="rect">
            <a:avLst/>
          </a:prstGeom>
        </p:spPr>
        <p:txBody>
          <a:bodyPr horzOverflow="overflow" lIns="0" tIns="0" rIns="0" bIns="0">
            <a:spAutoFit/>
          </a:bodyPr>
          <a:lstStyle/>
          <a:p>
            <a:pPr algn="l"/>
            <a:r>
              <a:rPr lang="en-FR" sz="1000">
                <a:solidFill>
                  <a:srgbClr val="000000">
                    <a:alpha val="50000"/>
                  </a:srgbClr>
                </a:solidFill>
                <a:latin typeface="Aptos" panose="020B0004020202020204" pitchFamily="34" charset="0"/>
              </a:rPr>
              <a:t>Confidential - Oracle Restricted \Employees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18" Type="http://schemas.openxmlformats.org/officeDocument/2006/relationships/image" Target="../media/image23.png"/><Relationship Id="rId26" Type="http://schemas.openxmlformats.org/officeDocument/2006/relationships/image" Target="../media/image31.png"/><Relationship Id="rId3" Type="http://schemas.openxmlformats.org/officeDocument/2006/relationships/image" Target="../media/image8.png"/><Relationship Id="rId21" Type="http://schemas.openxmlformats.org/officeDocument/2006/relationships/image" Target="../media/image26.png"/><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5" Type="http://schemas.openxmlformats.org/officeDocument/2006/relationships/image" Target="../media/image30.png"/><Relationship Id="rId2" Type="http://schemas.openxmlformats.org/officeDocument/2006/relationships/notesSlide" Target="../notesSlides/notesSlide2.xml"/><Relationship Id="rId16" Type="http://schemas.openxmlformats.org/officeDocument/2006/relationships/image" Target="../media/image21.png"/><Relationship Id="rId20" Type="http://schemas.openxmlformats.org/officeDocument/2006/relationships/image" Target="../media/image25.png"/><Relationship Id="rId29"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png"/><Relationship Id="rId24" Type="http://schemas.openxmlformats.org/officeDocument/2006/relationships/image" Target="../media/image29.png"/><Relationship Id="rId5" Type="http://schemas.openxmlformats.org/officeDocument/2006/relationships/image" Target="../media/image10.png"/><Relationship Id="rId15" Type="http://schemas.openxmlformats.org/officeDocument/2006/relationships/image" Target="../media/image20.png"/><Relationship Id="rId23" Type="http://schemas.openxmlformats.org/officeDocument/2006/relationships/image" Target="../media/image28.png"/><Relationship Id="rId28" Type="http://schemas.openxmlformats.org/officeDocument/2006/relationships/image" Target="../media/image33.png"/><Relationship Id="rId10" Type="http://schemas.openxmlformats.org/officeDocument/2006/relationships/image" Target="../media/image15.png"/><Relationship Id="rId19" Type="http://schemas.openxmlformats.org/officeDocument/2006/relationships/image" Target="../media/image24.png"/><Relationship Id="rId31" Type="http://schemas.openxmlformats.org/officeDocument/2006/relationships/image" Target="../media/image36.png"/><Relationship Id="rId4" Type="http://schemas.openxmlformats.org/officeDocument/2006/relationships/image" Target="../media/image9.png"/><Relationship Id="rId9" Type="http://schemas.openxmlformats.org/officeDocument/2006/relationships/image" Target="../media/image14.png"/><Relationship Id="rId14" Type="http://schemas.openxmlformats.org/officeDocument/2006/relationships/image" Target="../media/image19.png"/><Relationship Id="rId22" Type="http://schemas.openxmlformats.org/officeDocument/2006/relationships/image" Target="../media/image27.png"/><Relationship Id="rId27" Type="http://schemas.openxmlformats.org/officeDocument/2006/relationships/image" Target="../media/image32.png"/><Relationship Id="rId30" Type="http://schemas.openxmlformats.org/officeDocument/2006/relationships/image" Target="../media/image35.png"/></Relationships>
</file>

<file path=ppt/slides/_rels/slide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4.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5" Type="http://schemas.openxmlformats.org/officeDocument/2006/relationships/image" Target="../media/image5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 Id="rId14" Type="http://schemas.openxmlformats.org/officeDocument/2006/relationships/image" Target="../media/image57.png"/></Relationships>
</file>

<file path=ppt/slides/_rels/slide5.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image" Target="../media/image69.png"/><Relationship Id="rId3" Type="http://schemas.openxmlformats.org/officeDocument/2006/relationships/image" Target="../media/image59.png"/><Relationship Id="rId7" Type="http://schemas.openxmlformats.org/officeDocument/2006/relationships/image" Target="../media/image63.png"/><Relationship Id="rId12" Type="http://schemas.openxmlformats.org/officeDocument/2006/relationships/image" Target="../media/image68.png"/><Relationship Id="rId2" Type="http://schemas.openxmlformats.org/officeDocument/2006/relationships/notesSlide" Target="../notesSlides/notesSlide5.xml"/><Relationship Id="rId16"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62.png"/><Relationship Id="rId11" Type="http://schemas.openxmlformats.org/officeDocument/2006/relationships/image" Target="../media/image67.png"/><Relationship Id="rId5" Type="http://schemas.openxmlformats.org/officeDocument/2006/relationships/image" Target="../media/image61.png"/><Relationship Id="rId15" Type="http://schemas.openxmlformats.org/officeDocument/2006/relationships/image" Target="../media/image71.png"/><Relationship Id="rId10" Type="http://schemas.openxmlformats.org/officeDocument/2006/relationships/image" Target="../media/image66.png"/><Relationship Id="rId4" Type="http://schemas.openxmlformats.org/officeDocument/2006/relationships/image" Target="../media/image60.png"/><Relationship Id="rId9" Type="http://schemas.openxmlformats.org/officeDocument/2006/relationships/image" Target="../media/image65.png"/><Relationship Id="rId14" Type="http://schemas.openxmlformats.org/officeDocument/2006/relationships/image" Target="../media/image7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5F3"/>
        </a:solidFill>
        <a:effectLst/>
      </p:bgPr>
    </p:bg>
    <p:spTree>
      <p:nvGrpSpPr>
        <p:cNvPr id="1" name=""/>
        <p:cNvGrpSpPr/>
        <p:nvPr/>
      </p:nvGrpSpPr>
      <p:grpSpPr>
        <a:xfrm>
          <a:off x="0" y="0"/>
          <a:ext cx="0" cy="0"/>
          <a:chOff x="0" y="0"/>
          <a:chExt cx="0" cy="0"/>
        </a:xfrm>
      </p:grpSpPr>
      <p:sp>
        <p:nvSpPr>
          <p:cNvPr id="28" name="Oval 27">
            <a:extLst>
              <a:ext uri="{FF2B5EF4-FFF2-40B4-BE49-F238E27FC236}">
                <a16:creationId xmlns:a16="http://schemas.microsoft.com/office/drawing/2014/main" id="{49E835AC-E406-4A42-B827-3940795A8C78}"/>
              </a:ext>
            </a:extLst>
          </p:cNvPr>
          <p:cNvSpPr>
            <a:spLocks noGrp="1"/>
          </p:cNvSpPr>
          <p:nvPr/>
        </p:nvSpPr>
        <p:spPr>
          <a:xfrm>
            <a:off x="1695450" y="1562100"/>
            <a:ext cx="38100" cy="38100"/>
          </a:xfrm>
          <a:prstGeom prst="ellipse">
            <a:avLst/>
          </a:prstGeom>
          <a:solidFill>
            <a:srgbClr val="E7EAE8"/>
          </a:solidFill>
          <a:ln w="0">
            <a:noFill/>
            <a:prstDash val="solid"/>
          </a:ln>
        </p:spPr>
        <p:txBody>
          <a:bodyPr/>
          <a:lstStyle/>
          <a:p>
            <a:endParaRPr lang="en-FR"/>
          </a:p>
        </p:txBody>
      </p:sp>
      <p:sp>
        <p:nvSpPr>
          <p:cNvPr id="2" name="Oval 1">
            <a:extLst>
              <a:ext uri="{FF2B5EF4-FFF2-40B4-BE49-F238E27FC236}">
                <a16:creationId xmlns:a16="http://schemas.microsoft.com/office/drawing/2014/main" id="{8BE297F6-E786-48FE-8038-AEA80C84CDEC}"/>
              </a:ext>
            </a:extLst>
          </p:cNvPr>
          <p:cNvSpPr>
            <a:spLocks noGrp="1"/>
          </p:cNvSpPr>
          <p:nvPr/>
        </p:nvSpPr>
        <p:spPr>
          <a:xfrm>
            <a:off x="4476750" y="933450"/>
            <a:ext cx="47625" cy="47625"/>
          </a:xfrm>
          <a:prstGeom prst="ellipse">
            <a:avLst/>
          </a:prstGeom>
          <a:solidFill>
            <a:srgbClr val="E7EAE8"/>
          </a:solidFill>
          <a:ln w="0">
            <a:noFill/>
            <a:prstDash val="solid"/>
          </a:ln>
        </p:spPr>
        <p:txBody>
          <a:bodyPr/>
          <a:lstStyle/>
          <a:p>
            <a:endParaRPr lang="en-FR"/>
          </a:p>
        </p:txBody>
      </p:sp>
      <p:sp>
        <p:nvSpPr>
          <p:cNvPr id="3" name="Oval 2">
            <a:extLst>
              <a:ext uri="{FF2B5EF4-FFF2-40B4-BE49-F238E27FC236}">
                <a16:creationId xmlns:a16="http://schemas.microsoft.com/office/drawing/2014/main" id="{55099051-9731-4E14-9516-2FFFBEC3AB1D}"/>
              </a:ext>
            </a:extLst>
          </p:cNvPr>
          <p:cNvSpPr>
            <a:spLocks noGrp="1"/>
          </p:cNvSpPr>
          <p:nvPr/>
        </p:nvSpPr>
        <p:spPr>
          <a:xfrm>
            <a:off x="4876800" y="723900"/>
            <a:ext cx="28575" cy="28575"/>
          </a:xfrm>
          <a:prstGeom prst="ellipse">
            <a:avLst/>
          </a:prstGeom>
          <a:solidFill>
            <a:srgbClr val="E7EAE8"/>
          </a:solidFill>
          <a:ln w="0">
            <a:noFill/>
            <a:prstDash val="solid"/>
          </a:ln>
        </p:spPr>
        <p:txBody>
          <a:bodyPr/>
          <a:lstStyle/>
          <a:p>
            <a:endParaRPr lang="en-FR"/>
          </a:p>
        </p:txBody>
      </p:sp>
      <p:sp>
        <p:nvSpPr>
          <p:cNvPr id="4" name="Oval 3">
            <a:extLst>
              <a:ext uri="{FF2B5EF4-FFF2-40B4-BE49-F238E27FC236}">
                <a16:creationId xmlns:a16="http://schemas.microsoft.com/office/drawing/2014/main" id="{33DDB224-6E1B-49AB-9820-2DAA224CF01B}"/>
              </a:ext>
            </a:extLst>
          </p:cNvPr>
          <p:cNvSpPr>
            <a:spLocks noGrp="1"/>
          </p:cNvSpPr>
          <p:nvPr/>
        </p:nvSpPr>
        <p:spPr>
          <a:xfrm>
            <a:off x="5581650" y="3819525"/>
            <a:ext cx="47625" cy="47625"/>
          </a:xfrm>
          <a:prstGeom prst="ellipse">
            <a:avLst/>
          </a:prstGeom>
          <a:solidFill>
            <a:srgbClr val="E7EAE8"/>
          </a:solidFill>
          <a:ln w="0">
            <a:noFill/>
            <a:prstDash val="solid"/>
          </a:ln>
        </p:spPr>
        <p:txBody>
          <a:bodyPr/>
          <a:lstStyle/>
          <a:p>
            <a:endParaRPr lang="en-FR"/>
          </a:p>
        </p:txBody>
      </p:sp>
      <p:sp>
        <p:nvSpPr>
          <p:cNvPr id="5" name="Oval 4">
            <a:extLst>
              <a:ext uri="{FF2B5EF4-FFF2-40B4-BE49-F238E27FC236}">
                <a16:creationId xmlns:a16="http://schemas.microsoft.com/office/drawing/2014/main" id="{657043B8-6AFA-4B00-AA6F-A393240D0327}"/>
              </a:ext>
            </a:extLst>
          </p:cNvPr>
          <p:cNvSpPr>
            <a:spLocks noGrp="1"/>
          </p:cNvSpPr>
          <p:nvPr/>
        </p:nvSpPr>
        <p:spPr>
          <a:xfrm>
            <a:off x="6191250" y="4953000"/>
            <a:ext cx="38100" cy="38100"/>
          </a:xfrm>
          <a:prstGeom prst="ellipse">
            <a:avLst/>
          </a:prstGeom>
          <a:solidFill>
            <a:srgbClr val="E7EAE8"/>
          </a:solidFill>
          <a:ln w="0">
            <a:noFill/>
            <a:prstDash val="solid"/>
          </a:ln>
        </p:spPr>
        <p:txBody>
          <a:bodyPr/>
          <a:lstStyle/>
          <a:p>
            <a:endParaRPr lang="en-FR"/>
          </a:p>
        </p:txBody>
      </p:sp>
      <p:sp>
        <p:nvSpPr>
          <p:cNvPr id="6" name="Oval 5">
            <a:extLst>
              <a:ext uri="{FF2B5EF4-FFF2-40B4-BE49-F238E27FC236}">
                <a16:creationId xmlns:a16="http://schemas.microsoft.com/office/drawing/2014/main" id="{FBA2D8AD-7606-4DDD-853D-0C1DDA55FD37}"/>
              </a:ext>
            </a:extLst>
          </p:cNvPr>
          <p:cNvSpPr>
            <a:spLocks noGrp="1"/>
          </p:cNvSpPr>
          <p:nvPr/>
        </p:nvSpPr>
        <p:spPr>
          <a:xfrm>
            <a:off x="6924675" y="3829050"/>
            <a:ext cx="38100" cy="38100"/>
          </a:xfrm>
          <a:prstGeom prst="ellipse">
            <a:avLst/>
          </a:prstGeom>
          <a:solidFill>
            <a:srgbClr val="E7EAE8"/>
          </a:solidFill>
          <a:ln w="0">
            <a:noFill/>
            <a:prstDash val="solid"/>
          </a:ln>
        </p:spPr>
        <p:txBody>
          <a:bodyPr/>
          <a:lstStyle/>
          <a:p>
            <a:endParaRPr lang="en-FR"/>
          </a:p>
        </p:txBody>
      </p:sp>
      <p:sp>
        <p:nvSpPr>
          <p:cNvPr id="7" name="Oval 6">
            <a:extLst>
              <a:ext uri="{FF2B5EF4-FFF2-40B4-BE49-F238E27FC236}">
                <a16:creationId xmlns:a16="http://schemas.microsoft.com/office/drawing/2014/main" id="{143C4CD0-3596-49CC-B55D-DDD11F7A07E3}"/>
              </a:ext>
            </a:extLst>
          </p:cNvPr>
          <p:cNvSpPr>
            <a:spLocks noGrp="1"/>
          </p:cNvSpPr>
          <p:nvPr/>
        </p:nvSpPr>
        <p:spPr>
          <a:xfrm>
            <a:off x="11239500" y="1323975"/>
            <a:ext cx="28575" cy="28575"/>
          </a:xfrm>
          <a:prstGeom prst="ellipse">
            <a:avLst/>
          </a:prstGeom>
          <a:solidFill>
            <a:srgbClr val="E7EAE8"/>
          </a:solidFill>
          <a:ln w="0">
            <a:noFill/>
            <a:prstDash val="solid"/>
          </a:ln>
        </p:spPr>
        <p:txBody>
          <a:bodyPr/>
          <a:lstStyle/>
          <a:p>
            <a:endParaRPr lang="en-FR"/>
          </a:p>
        </p:txBody>
      </p:sp>
      <p:pic>
        <p:nvPicPr>
          <p:cNvPr id="36" name="Picture 35"/>
          <p:cNvPicPr>
            <a:picLocks noChangeAspect="1"/>
          </p:cNvPicPr>
          <p:nvPr/>
        </p:nvPicPr>
        <p:blipFill>
          <a:blip r:embed="rId3"/>
          <a:stretch/>
        </p:blipFill>
        <p:spPr>
          <a:xfrm>
            <a:off x="352425" y="432350"/>
            <a:ext cx="1952625" cy="592625"/>
          </a:xfrm>
          <a:prstGeom prst="rect">
            <a:avLst/>
          </a:prstGeom>
        </p:spPr>
      </p:pic>
      <p:pic>
        <p:nvPicPr>
          <p:cNvPr id="37" name="Picture 36"/>
          <p:cNvPicPr>
            <a:picLocks noChangeAspect="1"/>
          </p:cNvPicPr>
          <p:nvPr/>
        </p:nvPicPr>
        <p:blipFill>
          <a:blip r:embed="rId4"/>
          <a:stretch/>
        </p:blipFill>
        <p:spPr>
          <a:xfrm>
            <a:off x="5612278" y="571500"/>
            <a:ext cx="6015694" cy="5581650"/>
          </a:xfrm>
          <a:prstGeom prst="rect">
            <a:avLst/>
          </a:prstGeom>
          <a:noFill/>
        </p:spPr>
      </p:pic>
      <p:sp>
        <p:nvSpPr>
          <p:cNvPr id="11" name="Rectangle 10">
            <a:extLst>
              <a:ext uri="{FF2B5EF4-FFF2-40B4-BE49-F238E27FC236}">
                <a16:creationId xmlns:a16="http://schemas.microsoft.com/office/drawing/2014/main" id="{A60B91FC-8CD8-4E65-96AD-19939266738A}"/>
              </a:ext>
            </a:extLst>
          </p:cNvPr>
          <p:cNvSpPr>
            <a:spLocks noGrp="1"/>
          </p:cNvSpPr>
          <p:nvPr/>
        </p:nvSpPr>
        <p:spPr>
          <a:xfrm>
            <a:off x="390525" y="2114550"/>
            <a:ext cx="5334000" cy="647700"/>
          </a:xfrm>
          <a:prstGeom prst="rect">
            <a:avLst/>
          </a:prstGeom>
          <a:noFill/>
          <a:ln w="0">
            <a:noFill/>
            <a:prstDash val="solid"/>
          </a:ln>
        </p:spPr>
        <p:txBody>
          <a:bodyPr wrap="none" lIns="0" tIns="0" rIns="0" bIns="0" anchor="t"/>
          <a:lstStyle/>
          <a:p>
            <a:pPr algn="l">
              <a:lnSpc>
                <a:spcPct val="100000"/>
              </a:lnSpc>
              <a:buNone/>
              <a:defRPr sz="4350" b="1" i="0">
                <a:solidFill>
                  <a:srgbClr val="003B25"/>
                </a:solidFill>
                <a:latin typeface="Arial"/>
                <a:ea typeface="Arial"/>
                <a:cs typeface="Arial"/>
              </a:defRPr>
            </a:pPr>
            <a:r>
              <a:rPr sz="4350" b="1" i="0">
                <a:solidFill>
                  <a:srgbClr val="003B25"/>
                </a:solidFill>
                <a:latin typeface="Arial"/>
                <a:ea typeface="Arial"/>
                <a:cs typeface="Arial"/>
              </a:rPr>
              <a:t>Hybrid Scenario</a:t>
            </a:r>
          </a:p>
        </p:txBody>
      </p:sp>
      <p:sp>
        <p:nvSpPr>
          <p:cNvPr id="12" name="Rectangle 11">
            <a:extLst>
              <a:ext uri="{FF2B5EF4-FFF2-40B4-BE49-F238E27FC236}">
                <a16:creationId xmlns:a16="http://schemas.microsoft.com/office/drawing/2014/main" id="{571B59EF-9810-4355-81FB-7D23F93566EB}"/>
              </a:ext>
            </a:extLst>
          </p:cNvPr>
          <p:cNvSpPr>
            <a:spLocks noGrp="1"/>
          </p:cNvSpPr>
          <p:nvPr/>
        </p:nvSpPr>
        <p:spPr>
          <a:xfrm>
            <a:off x="390525" y="2895600"/>
            <a:ext cx="3905250" cy="361950"/>
          </a:xfrm>
          <a:prstGeom prst="rect">
            <a:avLst/>
          </a:prstGeom>
          <a:noFill/>
          <a:ln w="0">
            <a:noFill/>
            <a:prstDash val="solid"/>
          </a:ln>
        </p:spPr>
        <p:txBody>
          <a:bodyPr wrap="none" lIns="0" tIns="0" rIns="0" bIns="0" anchor="t"/>
          <a:lstStyle/>
          <a:p>
            <a:pPr algn="l">
              <a:lnSpc>
                <a:spcPct val="100000"/>
              </a:lnSpc>
              <a:buNone/>
              <a:defRPr sz="2250" b="0" i="0">
                <a:solidFill>
                  <a:srgbClr val="111111"/>
                </a:solidFill>
                <a:latin typeface="Arial"/>
                <a:ea typeface="Arial"/>
                <a:cs typeface="Arial"/>
              </a:defRPr>
            </a:pPr>
            <a:r>
              <a:rPr sz="2250" b="0" i="0" dirty="0">
                <a:solidFill>
                  <a:srgbClr val="111111"/>
                </a:solidFill>
                <a:latin typeface="Arial"/>
                <a:ea typeface="Arial"/>
                <a:cs typeface="Arial"/>
              </a:rPr>
              <a:t>OCVS + OCI Compute</a:t>
            </a:r>
          </a:p>
        </p:txBody>
      </p:sp>
      <p:sp>
        <p:nvSpPr>
          <p:cNvPr id="13" name="Rectangle 12">
            <a:extLst>
              <a:ext uri="{FF2B5EF4-FFF2-40B4-BE49-F238E27FC236}">
                <a16:creationId xmlns:a16="http://schemas.microsoft.com/office/drawing/2014/main" id="{1ADABF78-E7AC-4FA0-A74C-56A5348DC0BA}"/>
              </a:ext>
            </a:extLst>
          </p:cNvPr>
          <p:cNvSpPr>
            <a:spLocks noGrp="1"/>
          </p:cNvSpPr>
          <p:nvPr/>
        </p:nvSpPr>
        <p:spPr>
          <a:xfrm>
            <a:off x="390525" y="3409950"/>
            <a:ext cx="504825" cy="38100"/>
          </a:xfrm>
          <a:prstGeom prst="rect">
            <a:avLst/>
          </a:prstGeom>
          <a:solidFill>
            <a:srgbClr val="F00000"/>
          </a:solidFill>
          <a:ln w="0">
            <a:noFill/>
            <a:prstDash val="solid"/>
          </a:ln>
        </p:spPr>
        <p:txBody>
          <a:bodyPr/>
          <a:lstStyle/>
          <a:p>
            <a:endParaRPr lang="en-FR"/>
          </a:p>
        </p:txBody>
      </p:sp>
      <p:sp>
        <p:nvSpPr>
          <p:cNvPr id="14" name="Rectangle 13">
            <a:extLst>
              <a:ext uri="{FF2B5EF4-FFF2-40B4-BE49-F238E27FC236}">
                <a16:creationId xmlns:a16="http://schemas.microsoft.com/office/drawing/2014/main" id="{758E955F-1E6B-4155-9ABE-62306BCCCDFB}"/>
              </a:ext>
            </a:extLst>
          </p:cNvPr>
          <p:cNvSpPr>
            <a:spLocks noGrp="1"/>
          </p:cNvSpPr>
          <p:nvPr/>
        </p:nvSpPr>
        <p:spPr>
          <a:xfrm>
            <a:off x="390525" y="3676650"/>
            <a:ext cx="2714625" cy="323850"/>
          </a:xfrm>
          <a:prstGeom prst="rect">
            <a:avLst/>
          </a:prstGeom>
          <a:noFill/>
          <a:ln w="0">
            <a:noFill/>
            <a:prstDash val="solid"/>
          </a:ln>
        </p:spPr>
        <p:txBody>
          <a:bodyPr wrap="none" lIns="0" tIns="0" rIns="0" bIns="0" anchor="t"/>
          <a:lstStyle/>
          <a:p>
            <a:pPr algn="l">
              <a:lnSpc>
                <a:spcPct val="100000"/>
              </a:lnSpc>
              <a:buNone/>
              <a:defRPr sz="2175" b="0" i="0">
                <a:solidFill>
                  <a:srgbClr val="111111"/>
                </a:solidFill>
                <a:latin typeface="Arial"/>
                <a:ea typeface="Arial"/>
                <a:cs typeface="Arial"/>
              </a:defRPr>
            </a:pPr>
            <a:r>
              <a:rPr sz="2175" b="0" i="0" dirty="0">
                <a:solidFill>
                  <a:srgbClr val="111111"/>
                </a:solidFill>
                <a:latin typeface="Arial"/>
                <a:ea typeface="Arial"/>
                <a:cs typeface="Arial"/>
              </a:rPr>
              <a:t>Proposed Sizing</a:t>
            </a:r>
          </a:p>
        </p:txBody>
      </p:sp>
      <p:pic>
        <p:nvPicPr>
          <p:cNvPr id="42" name="Picture 41"/>
          <p:cNvPicPr>
            <a:picLocks noChangeAspect="1"/>
          </p:cNvPicPr>
          <p:nvPr/>
        </p:nvPicPr>
        <p:blipFill>
          <a:blip r:embed="rId5"/>
          <a:stretch/>
        </p:blipFill>
        <p:spPr>
          <a:xfrm>
            <a:off x="393982" y="4324350"/>
            <a:ext cx="421712" cy="428625"/>
          </a:xfrm>
          <a:prstGeom prst="rect">
            <a:avLst/>
          </a:prstGeom>
        </p:spPr>
      </p:pic>
      <p:sp>
        <p:nvSpPr>
          <p:cNvPr id="16" name="Straight Connector 15">
            <a:extLst>
              <a:ext uri="{FF2B5EF4-FFF2-40B4-BE49-F238E27FC236}">
                <a16:creationId xmlns:a16="http://schemas.microsoft.com/office/drawing/2014/main" id="{E759DF85-0D2B-4D4D-AE69-1E06A1ACC36C}"/>
              </a:ext>
            </a:extLst>
          </p:cNvPr>
          <p:cNvSpPr>
            <a:spLocks noGrp="1"/>
          </p:cNvSpPr>
          <p:nvPr/>
        </p:nvSpPr>
        <p:spPr>
          <a:xfrm>
            <a:off x="962025" y="4362450"/>
            <a:ext cx="0" cy="409575"/>
          </a:xfrm>
          <a:prstGeom prst="line">
            <a:avLst/>
          </a:prstGeom>
          <a:noFill/>
          <a:ln w="9525">
            <a:solidFill>
              <a:srgbClr val="7D8682"/>
            </a:solidFill>
            <a:prstDash val="solid"/>
          </a:ln>
        </p:spPr>
        <p:txBody>
          <a:bodyPr/>
          <a:lstStyle/>
          <a:p>
            <a:endParaRPr lang="en-FR"/>
          </a:p>
        </p:txBody>
      </p:sp>
      <p:sp>
        <p:nvSpPr>
          <p:cNvPr id="17" name="Rectangle 16">
            <a:extLst>
              <a:ext uri="{FF2B5EF4-FFF2-40B4-BE49-F238E27FC236}">
                <a16:creationId xmlns:a16="http://schemas.microsoft.com/office/drawing/2014/main" id="{0443DB73-AC2E-40D2-9DC7-AC7350722250}"/>
              </a:ext>
            </a:extLst>
          </p:cNvPr>
          <p:cNvSpPr>
            <a:spLocks noGrp="1"/>
          </p:cNvSpPr>
          <p:nvPr/>
        </p:nvSpPr>
        <p:spPr>
          <a:xfrm>
            <a:off x="1114425" y="4381500"/>
            <a:ext cx="1619250" cy="190500"/>
          </a:xfrm>
          <a:prstGeom prst="rect">
            <a:avLst/>
          </a:prstGeom>
          <a:noFill/>
          <a:ln w="0">
            <a:noFill/>
            <a:prstDash val="solid"/>
          </a:ln>
        </p:spPr>
        <p:txBody>
          <a:bodyPr wrap="none" lIns="0" tIns="0" rIns="0" bIns="0" anchor="t"/>
          <a:lstStyle/>
          <a:p>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Customer</a:t>
            </a:r>
          </a:p>
        </p:txBody>
      </p:sp>
      <p:sp>
        <p:nvSpPr>
          <p:cNvPr id="18" name="Rectangle 17">
            <a:extLst>
              <a:ext uri="{FF2B5EF4-FFF2-40B4-BE49-F238E27FC236}">
                <a16:creationId xmlns:a16="http://schemas.microsoft.com/office/drawing/2014/main" id="{4AD28CCF-BA72-4191-93C3-93A18C2C1F13}"/>
              </a:ext>
            </a:extLst>
          </p:cNvPr>
          <p:cNvSpPr>
            <a:spLocks noGrp="1"/>
          </p:cNvSpPr>
          <p:nvPr/>
        </p:nvSpPr>
        <p:spPr>
          <a:xfrm>
            <a:off x="1114425" y="4629150"/>
            <a:ext cx="2476500" cy="19050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dirty="0">
                <a:solidFill>
                  <a:srgbClr val="111111"/>
                </a:solidFill>
                <a:latin typeface="Arial"/>
                <a:ea typeface="Arial"/>
                <a:cs typeface="Arial"/>
              </a:rPr>
              <a:t>CLIENT</a:t>
            </a:r>
          </a:p>
        </p:txBody>
      </p:sp>
      <p:pic>
        <p:nvPicPr>
          <p:cNvPr id="46" name="Picture 45"/>
          <p:cNvPicPr>
            <a:picLocks noChangeAspect="1"/>
          </p:cNvPicPr>
          <p:nvPr/>
        </p:nvPicPr>
        <p:blipFill>
          <a:blip r:embed="rId6"/>
          <a:stretch/>
        </p:blipFill>
        <p:spPr>
          <a:xfrm>
            <a:off x="390525" y="4914900"/>
            <a:ext cx="428625" cy="428625"/>
          </a:xfrm>
          <a:prstGeom prst="rect">
            <a:avLst/>
          </a:prstGeom>
        </p:spPr>
      </p:pic>
      <p:sp>
        <p:nvSpPr>
          <p:cNvPr id="20" name="Straight Connector 19">
            <a:extLst>
              <a:ext uri="{FF2B5EF4-FFF2-40B4-BE49-F238E27FC236}">
                <a16:creationId xmlns:a16="http://schemas.microsoft.com/office/drawing/2014/main" id="{96AB5EE4-7044-4726-B18C-20AA2A233344}"/>
              </a:ext>
            </a:extLst>
          </p:cNvPr>
          <p:cNvSpPr>
            <a:spLocks noGrp="1"/>
          </p:cNvSpPr>
          <p:nvPr/>
        </p:nvSpPr>
        <p:spPr>
          <a:xfrm>
            <a:off x="962025" y="4953000"/>
            <a:ext cx="0" cy="409575"/>
          </a:xfrm>
          <a:prstGeom prst="line">
            <a:avLst/>
          </a:prstGeom>
          <a:noFill/>
          <a:ln w="9525">
            <a:solidFill>
              <a:srgbClr val="7D8682"/>
            </a:solidFill>
            <a:prstDash val="solid"/>
          </a:ln>
        </p:spPr>
        <p:txBody>
          <a:bodyPr/>
          <a:lstStyle/>
          <a:p>
            <a:endParaRPr lang="en-FR"/>
          </a:p>
        </p:txBody>
      </p:sp>
      <p:sp>
        <p:nvSpPr>
          <p:cNvPr id="21" name="Rectangle 20">
            <a:extLst>
              <a:ext uri="{FF2B5EF4-FFF2-40B4-BE49-F238E27FC236}">
                <a16:creationId xmlns:a16="http://schemas.microsoft.com/office/drawing/2014/main" id="{35177196-B61F-4C81-AAC6-28D79C3FDF5B}"/>
              </a:ext>
            </a:extLst>
          </p:cNvPr>
          <p:cNvSpPr>
            <a:spLocks noGrp="1"/>
          </p:cNvSpPr>
          <p:nvPr/>
        </p:nvSpPr>
        <p:spPr>
          <a:xfrm>
            <a:off x="1114425" y="4972050"/>
            <a:ext cx="1619250" cy="190500"/>
          </a:xfrm>
          <a:prstGeom prst="rect">
            <a:avLst/>
          </a:prstGeom>
          <a:noFill/>
          <a:ln w="0">
            <a:noFill/>
            <a:prstDash val="solid"/>
          </a:ln>
        </p:spPr>
        <p:txBody>
          <a:bodyPr wrap="none" lIns="0" tIns="0" rIns="0" bIns="0" anchor="t"/>
          <a:lstStyle/>
          <a:p>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Date</a:t>
            </a:r>
          </a:p>
        </p:txBody>
      </p:sp>
      <p:sp>
        <p:nvSpPr>
          <p:cNvPr id="22" name="Rectangle 21">
            <a:extLst>
              <a:ext uri="{FF2B5EF4-FFF2-40B4-BE49-F238E27FC236}">
                <a16:creationId xmlns:a16="http://schemas.microsoft.com/office/drawing/2014/main" id="{6714AA64-5295-4F4D-AF20-EA1670033FAC}"/>
              </a:ext>
            </a:extLst>
          </p:cNvPr>
          <p:cNvSpPr>
            <a:spLocks noGrp="1"/>
          </p:cNvSpPr>
          <p:nvPr/>
        </p:nvSpPr>
        <p:spPr>
          <a:xfrm>
            <a:off x="1114425" y="5219700"/>
            <a:ext cx="2476500" cy="19050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dirty="0">
                <a:solidFill>
                  <a:srgbClr val="111111"/>
                </a:solidFill>
                <a:latin typeface="Arial"/>
                <a:ea typeface="Arial"/>
                <a:cs typeface="Arial"/>
              </a:rPr>
              <a:t>May 2025</a:t>
            </a:r>
          </a:p>
        </p:txBody>
      </p:sp>
      <p:pic>
        <p:nvPicPr>
          <p:cNvPr id="50" name="Picture 49"/>
          <p:cNvPicPr>
            <a:picLocks noChangeAspect="1"/>
          </p:cNvPicPr>
          <p:nvPr/>
        </p:nvPicPr>
        <p:blipFill>
          <a:blip r:embed="rId7"/>
          <a:stretch/>
        </p:blipFill>
        <p:spPr>
          <a:xfrm>
            <a:off x="393982" y="5505450"/>
            <a:ext cx="421712" cy="428625"/>
          </a:xfrm>
          <a:prstGeom prst="rect">
            <a:avLst/>
          </a:prstGeom>
        </p:spPr>
      </p:pic>
      <p:sp>
        <p:nvSpPr>
          <p:cNvPr id="24" name="Straight Connector 23">
            <a:extLst>
              <a:ext uri="{FF2B5EF4-FFF2-40B4-BE49-F238E27FC236}">
                <a16:creationId xmlns:a16="http://schemas.microsoft.com/office/drawing/2014/main" id="{7747E0ED-F6E3-4A6E-805F-BF461B458BC3}"/>
              </a:ext>
            </a:extLst>
          </p:cNvPr>
          <p:cNvSpPr>
            <a:spLocks noGrp="1"/>
          </p:cNvSpPr>
          <p:nvPr/>
        </p:nvSpPr>
        <p:spPr>
          <a:xfrm>
            <a:off x="962025" y="5543550"/>
            <a:ext cx="0" cy="409575"/>
          </a:xfrm>
          <a:prstGeom prst="line">
            <a:avLst/>
          </a:prstGeom>
          <a:noFill/>
          <a:ln w="9525">
            <a:solidFill>
              <a:srgbClr val="7D8682"/>
            </a:solidFill>
            <a:prstDash val="solid"/>
          </a:ln>
        </p:spPr>
        <p:txBody>
          <a:bodyPr/>
          <a:lstStyle/>
          <a:p>
            <a:endParaRPr lang="en-FR"/>
          </a:p>
        </p:txBody>
      </p:sp>
      <p:sp>
        <p:nvSpPr>
          <p:cNvPr id="25" name="Rectangle 24">
            <a:extLst>
              <a:ext uri="{FF2B5EF4-FFF2-40B4-BE49-F238E27FC236}">
                <a16:creationId xmlns:a16="http://schemas.microsoft.com/office/drawing/2014/main" id="{D85059C6-86C5-407F-AAA0-5DDE6E430DC4}"/>
              </a:ext>
            </a:extLst>
          </p:cNvPr>
          <p:cNvSpPr>
            <a:spLocks noGrp="1"/>
          </p:cNvSpPr>
          <p:nvPr/>
        </p:nvSpPr>
        <p:spPr>
          <a:xfrm>
            <a:off x="1114425" y="5562600"/>
            <a:ext cx="1619250" cy="190500"/>
          </a:xfrm>
          <a:prstGeom prst="rect">
            <a:avLst/>
          </a:prstGeom>
          <a:noFill/>
          <a:ln w="0">
            <a:noFill/>
            <a:prstDash val="solid"/>
          </a:ln>
        </p:spPr>
        <p:txBody>
          <a:bodyPr wrap="none" lIns="0" tIns="0" rIns="0" bIns="0" anchor="t"/>
          <a:lstStyle/>
          <a:p>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Prepared By</a:t>
            </a:r>
          </a:p>
        </p:txBody>
      </p:sp>
      <p:sp>
        <p:nvSpPr>
          <p:cNvPr id="26" name="Rectangle 25">
            <a:extLst>
              <a:ext uri="{FF2B5EF4-FFF2-40B4-BE49-F238E27FC236}">
                <a16:creationId xmlns:a16="http://schemas.microsoft.com/office/drawing/2014/main" id="{B355C64F-574D-445D-A577-666CBAF16A88}"/>
              </a:ext>
            </a:extLst>
          </p:cNvPr>
          <p:cNvSpPr>
            <a:spLocks noGrp="1"/>
          </p:cNvSpPr>
          <p:nvPr/>
        </p:nvSpPr>
        <p:spPr>
          <a:xfrm>
            <a:off x="1114425" y="5810250"/>
            <a:ext cx="2476500" cy="19050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dirty="0">
                <a:solidFill>
                  <a:srgbClr val="111111"/>
                </a:solidFill>
                <a:latin typeface="Arial"/>
                <a:ea typeface="Arial"/>
                <a:cs typeface="Arial"/>
              </a:rPr>
              <a:t>Oracle Cloud VMware Specialist</a:t>
            </a:r>
          </a:p>
        </p:txBody>
      </p:sp>
      <p:pic>
        <p:nvPicPr>
          <p:cNvPr id="54" name="Picture 53"/>
          <p:cNvPicPr>
            <a:picLocks noChangeAspect="1"/>
          </p:cNvPicPr>
          <p:nvPr/>
        </p:nvPicPr>
        <p:blipFill>
          <a:blip r:embed="rId8"/>
          <a:stretch/>
        </p:blipFill>
        <p:spPr>
          <a:xfrm>
            <a:off x="11449050" y="6353855"/>
            <a:ext cx="476250" cy="408214"/>
          </a:xfrm>
          <a:prstGeom prst="rect">
            <a:avLst/>
          </a:prstGeom>
        </p:spPr>
      </p:pic>
    </p:spTree>
    <p:extLst>
      <p:ext uri="{BB962C8B-B14F-4D97-AF65-F5344CB8AC3E}">
        <p14:creationId xmlns:p14="http://schemas.microsoft.com/office/powerpoint/2010/main" val="562925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BFA"/>
        </a:solidFill>
        <a:effectLst/>
      </p:bgPr>
    </p:bg>
    <p:spTree>
      <p:nvGrpSpPr>
        <p:cNvPr id="1" name=""/>
        <p:cNvGrpSpPr/>
        <p:nvPr/>
      </p:nvGrpSpPr>
      <p:grpSpPr>
        <a:xfrm>
          <a:off x="0" y="0"/>
          <a:ext cx="0" cy="0"/>
          <a:chOff x="0" y="0"/>
          <a:chExt cx="0" cy="0"/>
        </a:xfrm>
      </p:grpSpPr>
      <p:sp>
        <p:nvSpPr>
          <p:cNvPr id="113" name="Oval 112">
            <a:extLst>
              <a:ext uri="{FF2B5EF4-FFF2-40B4-BE49-F238E27FC236}">
                <a16:creationId xmlns:a16="http://schemas.microsoft.com/office/drawing/2014/main" id="{38D78533-4767-495E-B984-481F67FEE230}"/>
              </a:ext>
            </a:extLst>
          </p:cNvPr>
          <p:cNvSpPr>
            <a:spLocks noGrp="1"/>
          </p:cNvSpPr>
          <p:nvPr/>
        </p:nvSpPr>
        <p:spPr>
          <a:xfrm>
            <a:off x="5067300" y="781050"/>
            <a:ext cx="38100" cy="38100"/>
          </a:xfrm>
          <a:prstGeom prst="ellipse">
            <a:avLst/>
          </a:prstGeom>
          <a:solidFill>
            <a:srgbClr val="E9ECEA"/>
          </a:solidFill>
          <a:ln w="0">
            <a:noFill/>
            <a:prstDash val="solid"/>
          </a:ln>
        </p:spPr>
        <p:txBody>
          <a:bodyPr/>
          <a:lstStyle/>
          <a:p>
            <a:endParaRPr lang="en-FR"/>
          </a:p>
        </p:txBody>
      </p:sp>
      <p:sp>
        <p:nvSpPr>
          <p:cNvPr id="2" name="Oval 1">
            <a:extLst>
              <a:ext uri="{FF2B5EF4-FFF2-40B4-BE49-F238E27FC236}">
                <a16:creationId xmlns:a16="http://schemas.microsoft.com/office/drawing/2014/main" id="{C452F863-3813-49A4-941D-E7CCF7474F61}"/>
              </a:ext>
            </a:extLst>
          </p:cNvPr>
          <p:cNvSpPr>
            <a:spLocks noGrp="1"/>
          </p:cNvSpPr>
          <p:nvPr/>
        </p:nvSpPr>
        <p:spPr>
          <a:xfrm>
            <a:off x="6829425" y="552450"/>
            <a:ext cx="57150" cy="57150"/>
          </a:xfrm>
          <a:prstGeom prst="ellipse">
            <a:avLst/>
          </a:prstGeom>
          <a:solidFill>
            <a:srgbClr val="E9ECEA"/>
          </a:solidFill>
          <a:ln w="0">
            <a:noFill/>
            <a:prstDash val="solid"/>
          </a:ln>
        </p:spPr>
        <p:txBody>
          <a:bodyPr/>
          <a:lstStyle/>
          <a:p>
            <a:endParaRPr lang="en-FR"/>
          </a:p>
        </p:txBody>
      </p:sp>
      <p:sp>
        <p:nvSpPr>
          <p:cNvPr id="3" name="Oval 2">
            <a:extLst>
              <a:ext uri="{FF2B5EF4-FFF2-40B4-BE49-F238E27FC236}">
                <a16:creationId xmlns:a16="http://schemas.microsoft.com/office/drawing/2014/main" id="{63297081-6916-4391-B144-5CD441D83232}"/>
              </a:ext>
            </a:extLst>
          </p:cNvPr>
          <p:cNvSpPr>
            <a:spLocks noGrp="1"/>
          </p:cNvSpPr>
          <p:nvPr/>
        </p:nvSpPr>
        <p:spPr>
          <a:xfrm>
            <a:off x="8810625" y="809625"/>
            <a:ext cx="28575" cy="28575"/>
          </a:xfrm>
          <a:prstGeom prst="ellipse">
            <a:avLst/>
          </a:prstGeom>
          <a:solidFill>
            <a:srgbClr val="E9ECEA"/>
          </a:solidFill>
          <a:ln w="0">
            <a:noFill/>
            <a:prstDash val="solid"/>
          </a:ln>
        </p:spPr>
        <p:txBody>
          <a:bodyPr/>
          <a:lstStyle/>
          <a:p>
            <a:endParaRPr lang="en-FR"/>
          </a:p>
        </p:txBody>
      </p:sp>
      <p:sp>
        <p:nvSpPr>
          <p:cNvPr id="4" name="Oval 3">
            <a:extLst>
              <a:ext uri="{FF2B5EF4-FFF2-40B4-BE49-F238E27FC236}">
                <a16:creationId xmlns:a16="http://schemas.microsoft.com/office/drawing/2014/main" id="{C5CA7685-C3C1-427E-BF02-F43569942E85}"/>
              </a:ext>
            </a:extLst>
          </p:cNvPr>
          <p:cNvSpPr>
            <a:spLocks noGrp="1"/>
          </p:cNvSpPr>
          <p:nvPr/>
        </p:nvSpPr>
        <p:spPr>
          <a:xfrm>
            <a:off x="11601450" y="923925"/>
            <a:ext cx="38100" cy="38100"/>
          </a:xfrm>
          <a:prstGeom prst="ellipse">
            <a:avLst/>
          </a:prstGeom>
          <a:solidFill>
            <a:srgbClr val="E9ECEA"/>
          </a:solidFill>
          <a:ln w="0">
            <a:noFill/>
            <a:prstDash val="solid"/>
          </a:ln>
        </p:spPr>
        <p:txBody>
          <a:bodyPr/>
          <a:lstStyle/>
          <a:p>
            <a:endParaRPr lang="en-FR"/>
          </a:p>
        </p:txBody>
      </p:sp>
      <p:sp>
        <p:nvSpPr>
          <p:cNvPr id="5" name="Oval 4">
            <a:extLst>
              <a:ext uri="{FF2B5EF4-FFF2-40B4-BE49-F238E27FC236}">
                <a16:creationId xmlns:a16="http://schemas.microsoft.com/office/drawing/2014/main" id="{92C38F39-EBED-4F93-B013-B02B0F5ADCC9}"/>
              </a:ext>
            </a:extLst>
          </p:cNvPr>
          <p:cNvSpPr>
            <a:spLocks noGrp="1"/>
          </p:cNvSpPr>
          <p:nvPr/>
        </p:nvSpPr>
        <p:spPr>
          <a:xfrm>
            <a:off x="9572625" y="1200150"/>
            <a:ext cx="19050" cy="19050"/>
          </a:xfrm>
          <a:prstGeom prst="ellipse">
            <a:avLst/>
          </a:prstGeom>
          <a:solidFill>
            <a:srgbClr val="E9ECEA"/>
          </a:solidFill>
          <a:ln w="0">
            <a:noFill/>
            <a:prstDash val="solid"/>
          </a:ln>
        </p:spPr>
        <p:txBody>
          <a:bodyPr/>
          <a:lstStyle/>
          <a:p>
            <a:endParaRPr lang="en-FR"/>
          </a:p>
        </p:txBody>
      </p:sp>
      <p:sp>
        <p:nvSpPr>
          <p:cNvPr id="6" name="Oval 5">
            <a:extLst>
              <a:ext uri="{FF2B5EF4-FFF2-40B4-BE49-F238E27FC236}">
                <a16:creationId xmlns:a16="http://schemas.microsoft.com/office/drawing/2014/main" id="{48F9C96D-0CC2-40A2-9A43-7BD816F7273E}"/>
              </a:ext>
            </a:extLst>
          </p:cNvPr>
          <p:cNvSpPr>
            <a:spLocks noGrp="1"/>
          </p:cNvSpPr>
          <p:nvPr/>
        </p:nvSpPr>
        <p:spPr>
          <a:xfrm>
            <a:off x="0" y="4686300"/>
            <a:ext cx="1333500" cy="2000250"/>
          </a:xfrm>
          <a:prstGeom prst="ellipse">
            <a:avLst/>
          </a:prstGeom>
          <a:solidFill>
            <a:srgbClr val="F4F7F5"/>
          </a:solidFill>
          <a:ln w="9525">
            <a:solidFill>
              <a:srgbClr val="E5EAE7"/>
            </a:solidFill>
            <a:prstDash val="dot"/>
          </a:ln>
        </p:spPr>
        <p:txBody>
          <a:bodyPr/>
          <a:lstStyle/>
          <a:p>
            <a:endParaRPr lang="en-FR"/>
          </a:p>
        </p:txBody>
      </p:sp>
      <p:sp>
        <p:nvSpPr>
          <p:cNvPr id="7" name="Oval 6">
            <a:extLst>
              <a:ext uri="{FF2B5EF4-FFF2-40B4-BE49-F238E27FC236}">
                <a16:creationId xmlns:a16="http://schemas.microsoft.com/office/drawing/2014/main" id="{7A8B7D74-5D02-4DE2-B27B-5A0D87AF4699}"/>
              </a:ext>
            </a:extLst>
          </p:cNvPr>
          <p:cNvSpPr>
            <a:spLocks noGrp="1"/>
          </p:cNvSpPr>
          <p:nvPr/>
        </p:nvSpPr>
        <p:spPr>
          <a:xfrm>
            <a:off x="10744200" y="5791200"/>
            <a:ext cx="1428750" cy="1066800"/>
          </a:xfrm>
          <a:prstGeom prst="ellipse">
            <a:avLst/>
          </a:prstGeom>
          <a:solidFill>
            <a:srgbClr val="F7F8F7"/>
          </a:solidFill>
          <a:ln w="9525">
            <a:solidFill>
              <a:srgbClr val="E3E8E4"/>
            </a:solidFill>
            <a:prstDash val="dot"/>
          </a:ln>
        </p:spPr>
        <p:txBody>
          <a:bodyPr/>
          <a:lstStyle/>
          <a:p>
            <a:endParaRPr lang="en-FR"/>
          </a:p>
        </p:txBody>
      </p:sp>
      <p:sp>
        <p:nvSpPr>
          <p:cNvPr id="8" name="Rectangle 7">
            <a:extLst>
              <a:ext uri="{FF2B5EF4-FFF2-40B4-BE49-F238E27FC236}">
                <a16:creationId xmlns:a16="http://schemas.microsoft.com/office/drawing/2014/main" id="{55A46560-09CB-410A-B1A9-CFFC0A24F6C8}"/>
              </a:ext>
            </a:extLst>
          </p:cNvPr>
          <p:cNvSpPr>
            <a:spLocks noGrp="1"/>
          </p:cNvSpPr>
          <p:nvPr/>
        </p:nvSpPr>
        <p:spPr>
          <a:xfrm>
            <a:off x="304800" y="304800"/>
            <a:ext cx="6858000" cy="457200"/>
          </a:xfrm>
          <a:prstGeom prst="rect">
            <a:avLst/>
          </a:prstGeom>
          <a:noFill/>
          <a:ln w="0">
            <a:noFill/>
            <a:prstDash val="solid"/>
          </a:ln>
        </p:spPr>
        <p:txBody>
          <a:bodyPr wrap="none" lIns="0" tIns="0" rIns="0" bIns="0" anchor="t"/>
          <a:lstStyle/>
          <a:p>
            <a:pPr algn="l">
              <a:lnSpc>
                <a:spcPct val="100000"/>
              </a:lnSpc>
              <a:buNone/>
              <a:defRPr sz="2700" b="1" i="0">
                <a:solidFill>
                  <a:srgbClr val="003B25"/>
                </a:solidFill>
                <a:latin typeface="Arial"/>
                <a:ea typeface="Arial"/>
                <a:cs typeface="Arial"/>
              </a:defRPr>
            </a:pPr>
            <a:r>
              <a:rPr sz="2700" b="1" i="0">
                <a:solidFill>
                  <a:srgbClr val="003B25"/>
                </a:solidFill>
                <a:latin typeface="Arial"/>
                <a:ea typeface="Arial"/>
                <a:cs typeface="Arial"/>
              </a:rPr>
              <a:t>Hybrid Migration with Oracle Cloud</a:t>
            </a:r>
          </a:p>
        </p:txBody>
      </p:sp>
      <p:sp>
        <p:nvSpPr>
          <p:cNvPr id="9" name="Rectangle 8">
            <a:extLst>
              <a:ext uri="{FF2B5EF4-FFF2-40B4-BE49-F238E27FC236}">
                <a16:creationId xmlns:a16="http://schemas.microsoft.com/office/drawing/2014/main" id="{2E1C88A0-D8A6-4F14-AF3F-729BBCA2117B}"/>
              </a:ext>
            </a:extLst>
          </p:cNvPr>
          <p:cNvSpPr>
            <a:spLocks noGrp="1"/>
          </p:cNvSpPr>
          <p:nvPr/>
        </p:nvSpPr>
        <p:spPr>
          <a:xfrm>
            <a:off x="304800" y="857250"/>
            <a:ext cx="8763000" cy="238125"/>
          </a:xfrm>
          <a:prstGeom prst="rect">
            <a:avLst/>
          </a:prstGeom>
          <a:noFill/>
          <a:ln w="0">
            <a:noFill/>
            <a:prstDash val="solid"/>
          </a:ln>
        </p:spPr>
        <p:txBody>
          <a:bodyPr wrap="none" lIns="0" tIns="0" rIns="0" bIns="0" anchor="t"/>
          <a:lstStyle/>
          <a:p>
            <a:pPr algn="l">
              <a:lnSpc>
                <a:spcPct val="100000"/>
              </a:lnSpc>
              <a:buNone/>
              <a:defRPr sz="1275" b="0" i="0">
                <a:solidFill>
                  <a:srgbClr val="565656"/>
                </a:solidFill>
                <a:latin typeface="Arial"/>
                <a:ea typeface="Arial"/>
                <a:cs typeface="Arial"/>
              </a:defRPr>
            </a:pPr>
            <a:r>
              <a:rPr sz="1275" b="0" i="0">
                <a:solidFill>
                  <a:srgbClr val="565656"/>
                </a:solidFill>
                <a:latin typeface="Arial"/>
                <a:ea typeface="Arial"/>
                <a:cs typeface="Arial"/>
              </a:rPr>
              <a:t>Combine Oracle Cloud VMware Solution (OCVS) and OCI Compute to modernize workloads at your own pace.</a:t>
            </a:r>
          </a:p>
        </p:txBody>
      </p:sp>
      <p:sp>
        <p:nvSpPr>
          <p:cNvPr id="10" name="Rectangle 9">
            <a:extLst>
              <a:ext uri="{FF2B5EF4-FFF2-40B4-BE49-F238E27FC236}">
                <a16:creationId xmlns:a16="http://schemas.microsoft.com/office/drawing/2014/main" id="{436C4A35-ADA8-45E3-8D41-05CE15F5DF0A}"/>
              </a:ext>
            </a:extLst>
          </p:cNvPr>
          <p:cNvSpPr>
            <a:spLocks noGrp="1"/>
          </p:cNvSpPr>
          <p:nvPr/>
        </p:nvSpPr>
        <p:spPr>
          <a:xfrm>
            <a:off x="314325" y="1143000"/>
            <a:ext cx="361950" cy="38100"/>
          </a:xfrm>
          <a:prstGeom prst="rect">
            <a:avLst/>
          </a:prstGeom>
          <a:solidFill>
            <a:srgbClr val="E00000"/>
          </a:solidFill>
          <a:ln w="0">
            <a:noFill/>
            <a:prstDash val="solid"/>
          </a:ln>
        </p:spPr>
        <p:txBody>
          <a:bodyPr/>
          <a:lstStyle/>
          <a:p>
            <a:endParaRPr lang="en-FR"/>
          </a:p>
        </p:txBody>
      </p:sp>
      <p:pic>
        <p:nvPicPr>
          <p:cNvPr id="123" name="Picture 122"/>
          <p:cNvPicPr>
            <a:picLocks noChangeAspect="1"/>
          </p:cNvPicPr>
          <p:nvPr/>
        </p:nvPicPr>
        <p:blipFill>
          <a:blip r:embed="rId3"/>
          <a:stretch/>
        </p:blipFill>
        <p:spPr>
          <a:xfrm>
            <a:off x="9582150" y="340338"/>
            <a:ext cx="2324100" cy="271825"/>
          </a:xfrm>
          <a:prstGeom prst="rect">
            <a:avLst/>
          </a:prstGeom>
        </p:spPr>
      </p:pic>
      <p:sp>
        <p:nvSpPr>
          <p:cNvPr id="12" name="Rounded Rectangle 11">
            <a:extLst>
              <a:ext uri="{FF2B5EF4-FFF2-40B4-BE49-F238E27FC236}">
                <a16:creationId xmlns:a16="http://schemas.microsoft.com/office/drawing/2014/main" id="{C58D98EE-C112-4B62-B525-BDFC5C0106F7}"/>
              </a:ext>
            </a:extLst>
          </p:cNvPr>
          <p:cNvSpPr>
            <a:spLocks noGrp="1"/>
          </p:cNvSpPr>
          <p:nvPr/>
        </p:nvSpPr>
        <p:spPr>
          <a:xfrm>
            <a:off x="304800" y="1295400"/>
            <a:ext cx="9467850" cy="742950"/>
          </a:xfrm>
          <a:prstGeom prst="roundRect">
            <a:avLst>
              <a:gd name="adj" fmla="val 10256"/>
            </a:avLst>
          </a:prstGeom>
          <a:solidFill>
            <a:srgbClr val="FFFFFF"/>
          </a:solidFill>
          <a:ln w="9525">
            <a:solidFill>
              <a:srgbClr val="C9D1CD"/>
            </a:solidFill>
            <a:prstDash val="solid"/>
          </a:ln>
        </p:spPr>
        <p:txBody>
          <a:bodyPr/>
          <a:lstStyle/>
          <a:p>
            <a:endParaRPr lang="en-FR"/>
          </a:p>
        </p:txBody>
      </p:sp>
      <p:pic>
        <p:nvPicPr>
          <p:cNvPr id="125" name="Picture 124"/>
          <p:cNvPicPr>
            <a:picLocks noChangeAspect="1"/>
          </p:cNvPicPr>
          <p:nvPr/>
        </p:nvPicPr>
        <p:blipFill>
          <a:blip r:embed="rId4"/>
          <a:stretch/>
        </p:blipFill>
        <p:spPr>
          <a:xfrm>
            <a:off x="447675" y="1413646"/>
            <a:ext cx="552450" cy="544558"/>
          </a:xfrm>
          <a:prstGeom prst="rect">
            <a:avLst/>
          </a:prstGeom>
        </p:spPr>
      </p:pic>
      <p:sp>
        <p:nvSpPr>
          <p:cNvPr id="14" name="Rectangle 13">
            <a:extLst>
              <a:ext uri="{FF2B5EF4-FFF2-40B4-BE49-F238E27FC236}">
                <a16:creationId xmlns:a16="http://schemas.microsoft.com/office/drawing/2014/main" id="{17EC2ACB-D075-4DA6-A1EA-83FAD6799511}"/>
              </a:ext>
            </a:extLst>
          </p:cNvPr>
          <p:cNvSpPr>
            <a:spLocks noGrp="1"/>
          </p:cNvSpPr>
          <p:nvPr/>
        </p:nvSpPr>
        <p:spPr>
          <a:xfrm>
            <a:off x="1095375" y="1524000"/>
            <a:ext cx="1619250" cy="400050"/>
          </a:xfrm>
          <a:prstGeom prst="rect">
            <a:avLst/>
          </a:prstGeom>
          <a:noFill/>
          <a:ln w="0">
            <a:noFill/>
            <a:prstDash val="solid"/>
          </a:ln>
        </p:spPr>
        <p:txBody>
          <a:bodyPr wrap="square" lIns="0" tIns="0" rIns="0" bIns="0" anchor="t"/>
          <a:lstStyle/>
          <a:p>
            <a:pPr algn="l">
              <a:lnSpc>
                <a:spcPct val="113000"/>
              </a:lnSpc>
              <a:buNone/>
              <a:defRPr sz="975" b="1" i="0">
                <a:solidFill>
                  <a:srgbClr val="111111"/>
                </a:solidFill>
                <a:latin typeface="Arial"/>
                <a:ea typeface="Arial"/>
                <a:cs typeface="Arial"/>
              </a:defRPr>
            </a:pPr>
            <a:r>
              <a:rPr sz="975" b="1" i="0">
                <a:solidFill>
                  <a:srgbClr val="111111"/>
                </a:solidFill>
                <a:latin typeface="Arial"/>
                <a:ea typeface="Arial"/>
                <a:cs typeface="Arial"/>
              </a:rPr>
              <a:t>Flexibility to run and</a:t>
            </a:r>
          </a:p>
          <a:p>
            <a:pPr algn="l">
              <a:lnSpc>
                <a:spcPct val="113000"/>
              </a:lnSpc>
              <a:buNone/>
              <a:defRPr sz="975" b="1" i="0">
                <a:solidFill>
                  <a:srgbClr val="111111"/>
                </a:solidFill>
                <a:latin typeface="Arial"/>
                <a:ea typeface="Arial"/>
                <a:cs typeface="Arial"/>
              </a:defRPr>
            </a:pPr>
            <a:r>
              <a:rPr sz="975" b="1" i="0">
                <a:solidFill>
                  <a:srgbClr val="111111"/>
                </a:solidFill>
                <a:latin typeface="Arial"/>
                <a:ea typeface="Arial"/>
                <a:cs typeface="Arial"/>
              </a:rPr>
              <a:t>modernize at your pace</a:t>
            </a:r>
          </a:p>
        </p:txBody>
      </p:sp>
      <p:sp>
        <p:nvSpPr>
          <p:cNvPr id="15" name="Straight Connector 14">
            <a:extLst>
              <a:ext uri="{FF2B5EF4-FFF2-40B4-BE49-F238E27FC236}">
                <a16:creationId xmlns:a16="http://schemas.microsoft.com/office/drawing/2014/main" id="{2C8EA5B6-3BD4-485A-88DC-D34148B0C32B}"/>
              </a:ext>
            </a:extLst>
          </p:cNvPr>
          <p:cNvSpPr>
            <a:spLocks noGrp="1"/>
          </p:cNvSpPr>
          <p:nvPr/>
        </p:nvSpPr>
        <p:spPr>
          <a:xfrm>
            <a:off x="2790825" y="1466850"/>
            <a:ext cx="0" cy="419100"/>
          </a:xfrm>
          <a:prstGeom prst="line">
            <a:avLst/>
          </a:prstGeom>
          <a:noFill/>
          <a:ln w="9525">
            <a:solidFill>
              <a:srgbClr val="D8DDD9"/>
            </a:solidFill>
            <a:prstDash val="solid"/>
          </a:ln>
        </p:spPr>
        <p:txBody>
          <a:bodyPr/>
          <a:lstStyle/>
          <a:p>
            <a:endParaRPr lang="en-FR"/>
          </a:p>
        </p:txBody>
      </p:sp>
      <p:pic>
        <p:nvPicPr>
          <p:cNvPr id="128" name="Picture 127"/>
          <p:cNvPicPr>
            <a:picLocks noChangeAspect="1"/>
          </p:cNvPicPr>
          <p:nvPr/>
        </p:nvPicPr>
        <p:blipFill>
          <a:blip r:embed="rId5"/>
          <a:stretch/>
        </p:blipFill>
        <p:spPr>
          <a:xfrm>
            <a:off x="3067050" y="1409700"/>
            <a:ext cx="552450" cy="552450"/>
          </a:xfrm>
          <a:prstGeom prst="rect">
            <a:avLst/>
          </a:prstGeom>
        </p:spPr>
      </p:pic>
      <p:sp>
        <p:nvSpPr>
          <p:cNvPr id="17" name="Rectangle 16">
            <a:extLst>
              <a:ext uri="{FF2B5EF4-FFF2-40B4-BE49-F238E27FC236}">
                <a16:creationId xmlns:a16="http://schemas.microsoft.com/office/drawing/2014/main" id="{85F547F3-CBE3-4037-B51A-B086086DF3D0}"/>
              </a:ext>
            </a:extLst>
          </p:cNvPr>
          <p:cNvSpPr>
            <a:spLocks noGrp="1"/>
          </p:cNvSpPr>
          <p:nvPr/>
        </p:nvSpPr>
        <p:spPr>
          <a:xfrm>
            <a:off x="3676650" y="1524000"/>
            <a:ext cx="1619250" cy="400050"/>
          </a:xfrm>
          <a:prstGeom prst="rect">
            <a:avLst/>
          </a:prstGeom>
          <a:noFill/>
          <a:ln w="0">
            <a:noFill/>
            <a:prstDash val="solid"/>
          </a:ln>
        </p:spPr>
        <p:txBody>
          <a:bodyPr wrap="square" lIns="0" tIns="0" rIns="0" bIns="0" anchor="t"/>
          <a:lstStyle/>
          <a:p>
            <a:pPr algn="l">
              <a:lnSpc>
                <a:spcPct val="113000"/>
              </a:lnSpc>
              <a:buNone/>
              <a:defRPr sz="975" b="1" i="0">
                <a:solidFill>
                  <a:srgbClr val="111111"/>
                </a:solidFill>
                <a:latin typeface="Arial"/>
                <a:ea typeface="Arial"/>
                <a:cs typeface="Arial"/>
              </a:defRPr>
            </a:pPr>
            <a:r>
              <a:rPr sz="975" b="1" i="0">
                <a:solidFill>
                  <a:srgbClr val="111111"/>
                </a:solidFill>
                <a:latin typeface="Arial"/>
                <a:ea typeface="Arial"/>
                <a:cs typeface="Arial"/>
              </a:rPr>
              <a:t>Optimize costs and</a:t>
            </a:r>
          </a:p>
          <a:p>
            <a:pPr algn="l">
              <a:lnSpc>
                <a:spcPct val="113000"/>
              </a:lnSpc>
              <a:buNone/>
              <a:defRPr sz="975" b="1" i="0">
                <a:solidFill>
                  <a:srgbClr val="111111"/>
                </a:solidFill>
                <a:latin typeface="Arial"/>
                <a:ea typeface="Arial"/>
                <a:cs typeface="Arial"/>
              </a:defRPr>
            </a:pPr>
            <a:r>
              <a:rPr sz="975" b="1" i="0">
                <a:solidFill>
                  <a:srgbClr val="111111"/>
                </a:solidFill>
                <a:latin typeface="Arial"/>
                <a:ea typeface="Arial"/>
                <a:cs typeface="Arial"/>
              </a:rPr>
              <a:t>improve efficiency</a:t>
            </a:r>
          </a:p>
        </p:txBody>
      </p:sp>
      <p:sp>
        <p:nvSpPr>
          <p:cNvPr id="18" name="Straight Connector 17">
            <a:extLst>
              <a:ext uri="{FF2B5EF4-FFF2-40B4-BE49-F238E27FC236}">
                <a16:creationId xmlns:a16="http://schemas.microsoft.com/office/drawing/2014/main" id="{0AE10538-CCD2-41E0-BB4D-1CC0924C1D59}"/>
              </a:ext>
            </a:extLst>
          </p:cNvPr>
          <p:cNvSpPr>
            <a:spLocks noGrp="1"/>
          </p:cNvSpPr>
          <p:nvPr/>
        </p:nvSpPr>
        <p:spPr>
          <a:xfrm>
            <a:off x="5067300" y="1466850"/>
            <a:ext cx="0" cy="419100"/>
          </a:xfrm>
          <a:prstGeom prst="line">
            <a:avLst/>
          </a:prstGeom>
          <a:noFill/>
          <a:ln w="9525">
            <a:solidFill>
              <a:srgbClr val="D8DDD9"/>
            </a:solidFill>
            <a:prstDash val="solid"/>
          </a:ln>
        </p:spPr>
        <p:txBody>
          <a:bodyPr/>
          <a:lstStyle/>
          <a:p>
            <a:endParaRPr lang="en-FR"/>
          </a:p>
        </p:txBody>
      </p:sp>
      <p:pic>
        <p:nvPicPr>
          <p:cNvPr id="131" name="Picture 130"/>
          <p:cNvPicPr>
            <a:picLocks noChangeAspect="1"/>
          </p:cNvPicPr>
          <p:nvPr/>
        </p:nvPicPr>
        <p:blipFill>
          <a:blip r:embed="rId6"/>
          <a:stretch/>
        </p:blipFill>
        <p:spPr>
          <a:xfrm>
            <a:off x="5334000" y="1413646"/>
            <a:ext cx="552450" cy="544558"/>
          </a:xfrm>
          <a:prstGeom prst="rect">
            <a:avLst/>
          </a:prstGeom>
        </p:spPr>
      </p:pic>
      <p:sp>
        <p:nvSpPr>
          <p:cNvPr id="20" name="Rectangle 19">
            <a:extLst>
              <a:ext uri="{FF2B5EF4-FFF2-40B4-BE49-F238E27FC236}">
                <a16:creationId xmlns:a16="http://schemas.microsoft.com/office/drawing/2014/main" id="{BA3A0681-5F20-4CAD-ACBF-98ABFCB202F8}"/>
              </a:ext>
            </a:extLst>
          </p:cNvPr>
          <p:cNvSpPr>
            <a:spLocks noGrp="1"/>
          </p:cNvSpPr>
          <p:nvPr/>
        </p:nvSpPr>
        <p:spPr>
          <a:xfrm>
            <a:off x="5943600" y="1524000"/>
            <a:ext cx="1619250" cy="400050"/>
          </a:xfrm>
          <a:prstGeom prst="rect">
            <a:avLst/>
          </a:prstGeom>
          <a:noFill/>
          <a:ln w="0">
            <a:noFill/>
            <a:prstDash val="solid"/>
          </a:ln>
        </p:spPr>
        <p:txBody>
          <a:bodyPr wrap="square" lIns="0" tIns="0" rIns="0" bIns="0" anchor="t"/>
          <a:lstStyle/>
          <a:p>
            <a:pPr algn="l">
              <a:lnSpc>
                <a:spcPct val="113000"/>
              </a:lnSpc>
              <a:buNone/>
              <a:defRPr sz="975" b="1" i="0">
                <a:solidFill>
                  <a:srgbClr val="111111"/>
                </a:solidFill>
                <a:latin typeface="Arial"/>
                <a:ea typeface="Arial"/>
                <a:cs typeface="Arial"/>
              </a:defRPr>
            </a:pPr>
            <a:r>
              <a:rPr sz="975" b="1" i="0" dirty="0">
                <a:solidFill>
                  <a:srgbClr val="111111"/>
                </a:solidFill>
                <a:latin typeface="Arial"/>
                <a:ea typeface="Arial"/>
                <a:cs typeface="Arial"/>
              </a:rPr>
              <a:t>Leverage best-in-class</a:t>
            </a:r>
          </a:p>
          <a:p>
            <a:pPr algn="l">
              <a:lnSpc>
                <a:spcPct val="113000"/>
              </a:lnSpc>
              <a:buNone/>
              <a:defRPr sz="975" b="1" i="0">
                <a:solidFill>
                  <a:srgbClr val="111111"/>
                </a:solidFill>
                <a:latin typeface="Arial"/>
                <a:ea typeface="Arial"/>
                <a:cs typeface="Arial"/>
              </a:defRPr>
            </a:pPr>
            <a:r>
              <a:rPr sz="975" b="1" i="0" dirty="0">
                <a:solidFill>
                  <a:srgbClr val="111111"/>
                </a:solidFill>
                <a:latin typeface="Arial"/>
                <a:ea typeface="Arial"/>
                <a:cs typeface="Arial"/>
              </a:rPr>
              <a:t>security and reliability</a:t>
            </a:r>
          </a:p>
        </p:txBody>
      </p:sp>
      <p:sp>
        <p:nvSpPr>
          <p:cNvPr id="21" name="Straight Connector 20">
            <a:extLst>
              <a:ext uri="{FF2B5EF4-FFF2-40B4-BE49-F238E27FC236}">
                <a16:creationId xmlns:a16="http://schemas.microsoft.com/office/drawing/2014/main" id="{6D5E2A3A-CAF1-4908-B594-7181EB69BA06}"/>
              </a:ext>
            </a:extLst>
          </p:cNvPr>
          <p:cNvSpPr>
            <a:spLocks noGrp="1"/>
          </p:cNvSpPr>
          <p:nvPr/>
        </p:nvSpPr>
        <p:spPr>
          <a:xfrm>
            <a:off x="7448550" y="1466850"/>
            <a:ext cx="0" cy="419100"/>
          </a:xfrm>
          <a:prstGeom prst="line">
            <a:avLst/>
          </a:prstGeom>
          <a:noFill/>
          <a:ln w="9525">
            <a:solidFill>
              <a:srgbClr val="D8DDD9"/>
            </a:solidFill>
            <a:prstDash val="solid"/>
          </a:ln>
        </p:spPr>
        <p:txBody>
          <a:bodyPr/>
          <a:lstStyle/>
          <a:p>
            <a:endParaRPr lang="en-FR"/>
          </a:p>
        </p:txBody>
      </p:sp>
      <p:pic>
        <p:nvPicPr>
          <p:cNvPr id="134" name="Picture 133"/>
          <p:cNvPicPr>
            <a:picLocks noChangeAspect="1"/>
          </p:cNvPicPr>
          <p:nvPr/>
        </p:nvPicPr>
        <p:blipFill>
          <a:blip r:embed="rId7"/>
          <a:stretch/>
        </p:blipFill>
        <p:spPr>
          <a:xfrm>
            <a:off x="7667625" y="1413646"/>
            <a:ext cx="552450" cy="544558"/>
          </a:xfrm>
          <a:prstGeom prst="rect">
            <a:avLst/>
          </a:prstGeom>
        </p:spPr>
      </p:pic>
      <p:sp>
        <p:nvSpPr>
          <p:cNvPr id="23" name="Rectangle 22">
            <a:extLst>
              <a:ext uri="{FF2B5EF4-FFF2-40B4-BE49-F238E27FC236}">
                <a16:creationId xmlns:a16="http://schemas.microsoft.com/office/drawing/2014/main" id="{7A9DB70C-24A3-45C5-9296-E22053610F4B}"/>
              </a:ext>
            </a:extLst>
          </p:cNvPr>
          <p:cNvSpPr>
            <a:spLocks noGrp="1"/>
          </p:cNvSpPr>
          <p:nvPr/>
        </p:nvSpPr>
        <p:spPr>
          <a:xfrm>
            <a:off x="8258175" y="1524000"/>
            <a:ext cx="1619250" cy="400050"/>
          </a:xfrm>
          <a:prstGeom prst="rect">
            <a:avLst/>
          </a:prstGeom>
          <a:noFill/>
          <a:ln w="0">
            <a:noFill/>
            <a:prstDash val="solid"/>
          </a:ln>
        </p:spPr>
        <p:txBody>
          <a:bodyPr wrap="square" lIns="0" tIns="0" rIns="0" bIns="0" anchor="t"/>
          <a:lstStyle/>
          <a:p>
            <a:pPr algn="l">
              <a:lnSpc>
                <a:spcPct val="113000"/>
              </a:lnSpc>
              <a:buNone/>
              <a:defRPr sz="975" b="1" i="0">
                <a:solidFill>
                  <a:srgbClr val="111111"/>
                </a:solidFill>
                <a:latin typeface="Arial"/>
                <a:ea typeface="Arial"/>
                <a:cs typeface="Arial"/>
              </a:defRPr>
            </a:pPr>
            <a:r>
              <a:rPr sz="975" b="1" i="0">
                <a:solidFill>
                  <a:srgbClr val="111111"/>
                </a:solidFill>
                <a:latin typeface="Arial"/>
                <a:ea typeface="Arial"/>
                <a:cs typeface="Arial"/>
              </a:rPr>
              <a:t>Accelerate innovation</a:t>
            </a:r>
          </a:p>
          <a:p>
            <a:pPr algn="l">
              <a:lnSpc>
                <a:spcPct val="113000"/>
              </a:lnSpc>
              <a:buNone/>
              <a:defRPr sz="975" b="1" i="0">
                <a:solidFill>
                  <a:srgbClr val="111111"/>
                </a:solidFill>
                <a:latin typeface="Arial"/>
                <a:ea typeface="Arial"/>
                <a:cs typeface="Arial"/>
              </a:defRPr>
            </a:pPr>
            <a:r>
              <a:rPr sz="975" b="1" i="0">
                <a:solidFill>
                  <a:srgbClr val="111111"/>
                </a:solidFill>
                <a:latin typeface="Arial"/>
                <a:ea typeface="Arial"/>
                <a:cs typeface="Arial"/>
              </a:rPr>
              <a:t>with cloud-native services</a:t>
            </a:r>
          </a:p>
        </p:txBody>
      </p:sp>
      <p:sp>
        <p:nvSpPr>
          <p:cNvPr id="24" name="Rounded Rectangle 23">
            <a:extLst>
              <a:ext uri="{FF2B5EF4-FFF2-40B4-BE49-F238E27FC236}">
                <a16:creationId xmlns:a16="http://schemas.microsoft.com/office/drawing/2014/main" id="{D438146C-B236-47BF-8E2F-E45185AC60C5}"/>
              </a:ext>
            </a:extLst>
          </p:cNvPr>
          <p:cNvSpPr>
            <a:spLocks noGrp="1"/>
          </p:cNvSpPr>
          <p:nvPr/>
        </p:nvSpPr>
        <p:spPr>
          <a:xfrm>
            <a:off x="304800" y="2181225"/>
            <a:ext cx="2714625" cy="3390900"/>
          </a:xfrm>
          <a:prstGeom prst="roundRect">
            <a:avLst>
              <a:gd name="adj" fmla="val 2807"/>
            </a:avLst>
          </a:prstGeom>
          <a:solidFill>
            <a:srgbClr val="FFFFFF"/>
          </a:solidFill>
          <a:ln w="9525">
            <a:solidFill>
              <a:srgbClr val="1C6745"/>
            </a:solidFill>
            <a:prstDash val="solid"/>
          </a:ln>
        </p:spPr>
        <p:txBody>
          <a:bodyPr/>
          <a:lstStyle/>
          <a:p>
            <a:endParaRPr lang="en-FR"/>
          </a:p>
        </p:txBody>
      </p:sp>
      <p:sp>
        <p:nvSpPr>
          <p:cNvPr id="25" name="Rounded Rectangle 24">
            <a:extLst>
              <a:ext uri="{FF2B5EF4-FFF2-40B4-BE49-F238E27FC236}">
                <a16:creationId xmlns:a16="http://schemas.microsoft.com/office/drawing/2014/main" id="{66906A73-A24F-41E4-A587-F7D596B65281}"/>
              </a:ext>
            </a:extLst>
          </p:cNvPr>
          <p:cNvSpPr>
            <a:spLocks noGrp="1"/>
          </p:cNvSpPr>
          <p:nvPr/>
        </p:nvSpPr>
        <p:spPr>
          <a:xfrm>
            <a:off x="304800" y="2181225"/>
            <a:ext cx="2714625" cy="371475"/>
          </a:xfrm>
          <a:prstGeom prst="roundRect">
            <a:avLst>
              <a:gd name="adj" fmla="val 17949"/>
            </a:avLst>
          </a:prstGeom>
          <a:gradFill>
            <a:gsLst>
              <a:gs pos="0">
                <a:srgbClr val="003B25"/>
              </a:gs>
              <a:gs pos="100000">
                <a:srgbClr val="00462B"/>
              </a:gs>
            </a:gsLst>
            <a:lin ang="0"/>
          </a:gradFill>
          <a:ln w="0">
            <a:solidFill>
              <a:srgbClr val="003B25"/>
            </a:solidFill>
            <a:prstDash val="solid"/>
          </a:ln>
        </p:spPr>
        <p:txBody>
          <a:bodyPr/>
          <a:lstStyle/>
          <a:p>
            <a:endParaRPr lang="en-FR"/>
          </a:p>
        </p:txBody>
      </p:sp>
      <p:sp>
        <p:nvSpPr>
          <p:cNvPr id="26" name="Rectangle 25">
            <a:extLst>
              <a:ext uri="{FF2B5EF4-FFF2-40B4-BE49-F238E27FC236}">
                <a16:creationId xmlns:a16="http://schemas.microsoft.com/office/drawing/2014/main" id="{1F1FBE9D-1BDC-4A0D-BD1E-39A44071583C}"/>
              </a:ext>
            </a:extLst>
          </p:cNvPr>
          <p:cNvSpPr>
            <a:spLocks noGrp="1"/>
          </p:cNvSpPr>
          <p:nvPr/>
        </p:nvSpPr>
        <p:spPr>
          <a:xfrm>
            <a:off x="304800" y="2286000"/>
            <a:ext cx="2714625" cy="171450"/>
          </a:xfrm>
          <a:prstGeom prst="rect">
            <a:avLst/>
          </a:prstGeom>
          <a:noFill/>
          <a:ln w="0">
            <a:noFill/>
            <a:prstDash val="solid"/>
          </a:ln>
        </p:spPr>
        <p:txBody>
          <a:bodyPr wrap="none" lIns="0" tIns="0" rIns="0" bIns="0" anchor="t"/>
          <a:lstStyle/>
          <a:p>
            <a:pPr algn="ctr">
              <a:lnSpc>
                <a:spcPct val="100000"/>
              </a:lnSpc>
              <a:buNone/>
              <a:defRPr sz="1050" b="1" i="0">
                <a:solidFill>
                  <a:srgbClr val="FFFFFF"/>
                </a:solidFill>
                <a:latin typeface="Arial"/>
                <a:ea typeface="Arial"/>
                <a:cs typeface="Arial"/>
              </a:defRPr>
            </a:pPr>
            <a:r>
              <a:rPr sz="1050" b="1" i="0">
                <a:solidFill>
                  <a:srgbClr val="FFFFFF"/>
                </a:solidFill>
                <a:latin typeface="Arial"/>
                <a:ea typeface="Arial"/>
                <a:cs typeface="Arial"/>
              </a:rPr>
              <a:t>YOUR CURRENT ENVIRONMENT</a:t>
            </a:r>
          </a:p>
        </p:txBody>
      </p:sp>
      <p:pic>
        <p:nvPicPr>
          <p:cNvPr id="139" name="Picture 138"/>
          <p:cNvPicPr>
            <a:picLocks noChangeAspect="1"/>
          </p:cNvPicPr>
          <p:nvPr/>
        </p:nvPicPr>
        <p:blipFill>
          <a:blip r:embed="rId8"/>
          <a:stretch/>
        </p:blipFill>
        <p:spPr>
          <a:xfrm>
            <a:off x="459074" y="2771775"/>
            <a:ext cx="320102" cy="476250"/>
          </a:xfrm>
          <a:prstGeom prst="rect">
            <a:avLst/>
          </a:prstGeom>
        </p:spPr>
      </p:pic>
      <p:sp>
        <p:nvSpPr>
          <p:cNvPr id="28" name="Rounded Rectangle 27">
            <a:extLst>
              <a:ext uri="{FF2B5EF4-FFF2-40B4-BE49-F238E27FC236}">
                <a16:creationId xmlns:a16="http://schemas.microsoft.com/office/drawing/2014/main" id="{1FE31EB4-64A5-4E2E-AC5B-8BB5E726D7D3}"/>
              </a:ext>
            </a:extLst>
          </p:cNvPr>
          <p:cNvSpPr>
            <a:spLocks noGrp="1"/>
          </p:cNvSpPr>
          <p:nvPr/>
        </p:nvSpPr>
        <p:spPr>
          <a:xfrm>
            <a:off x="876300" y="2838450"/>
            <a:ext cx="285750" cy="285750"/>
          </a:xfrm>
          <a:prstGeom prst="roundRect">
            <a:avLst>
              <a:gd name="adj" fmla="val 13333"/>
            </a:avLst>
          </a:prstGeom>
          <a:solidFill>
            <a:srgbClr val="FFFFFF"/>
          </a:solidFill>
          <a:ln w="9525">
            <a:solidFill>
              <a:srgbClr val="C9D1CD"/>
            </a:solidFill>
            <a:prstDash val="solid"/>
          </a:ln>
        </p:spPr>
        <p:txBody>
          <a:bodyPr wrap="none" lIns="0" tIns="0" rIns="0" bIns="0" anchor="ctr"/>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VM</a:t>
            </a:r>
          </a:p>
        </p:txBody>
      </p:sp>
      <p:sp>
        <p:nvSpPr>
          <p:cNvPr id="29" name="Rounded Rectangle 28">
            <a:extLst>
              <a:ext uri="{FF2B5EF4-FFF2-40B4-BE49-F238E27FC236}">
                <a16:creationId xmlns:a16="http://schemas.microsoft.com/office/drawing/2014/main" id="{F400ABEF-C375-4542-A692-619EC8665EF7}"/>
              </a:ext>
            </a:extLst>
          </p:cNvPr>
          <p:cNvSpPr>
            <a:spLocks noGrp="1"/>
          </p:cNvSpPr>
          <p:nvPr/>
        </p:nvSpPr>
        <p:spPr>
          <a:xfrm>
            <a:off x="1276350" y="2838450"/>
            <a:ext cx="285750" cy="285750"/>
          </a:xfrm>
          <a:prstGeom prst="roundRect">
            <a:avLst>
              <a:gd name="adj" fmla="val 13333"/>
            </a:avLst>
          </a:prstGeom>
          <a:solidFill>
            <a:srgbClr val="FFFFFF"/>
          </a:solidFill>
          <a:ln w="9525">
            <a:solidFill>
              <a:srgbClr val="C9D1CD"/>
            </a:solidFill>
            <a:prstDash val="solid"/>
          </a:ln>
        </p:spPr>
        <p:txBody>
          <a:bodyPr wrap="none" lIns="0" tIns="0" rIns="0" bIns="0" anchor="ctr"/>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VM</a:t>
            </a:r>
          </a:p>
        </p:txBody>
      </p:sp>
      <p:sp>
        <p:nvSpPr>
          <p:cNvPr id="30" name="Rounded Rectangle 29">
            <a:extLst>
              <a:ext uri="{FF2B5EF4-FFF2-40B4-BE49-F238E27FC236}">
                <a16:creationId xmlns:a16="http://schemas.microsoft.com/office/drawing/2014/main" id="{F4C04305-7170-4011-91F9-43BBD730CCA5}"/>
              </a:ext>
            </a:extLst>
          </p:cNvPr>
          <p:cNvSpPr>
            <a:spLocks noGrp="1"/>
          </p:cNvSpPr>
          <p:nvPr/>
        </p:nvSpPr>
        <p:spPr>
          <a:xfrm>
            <a:off x="1657350" y="2838450"/>
            <a:ext cx="285750" cy="285750"/>
          </a:xfrm>
          <a:prstGeom prst="roundRect">
            <a:avLst>
              <a:gd name="adj" fmla="val 13333"/>
            </a:avLst>
          </a:prstGeom>
          <a:solidFill>
            <a:srgbClr val="FFFFFF"/>
          </a:solidFill>
          <a:ln w="9525">
            <a:solidFill>
              <a:srgbClr val="C9D1CD"/>
            </a:solidFill>
            <a:prstDash val="solid"/>
          </a:ln>
        </p:spPr>
        <p:txBody>
          <a:bodyPr wrap="none" lIns="0" tIns="0" rIns="0" bIns="0" anchor="ctr"/>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VM</a:t>
            </a:r>
          </a:p>
        </p:txBody>
      </p:sp>
      <p:sp>
        <p:nvSpPr>
          <p:cNvPr id="31" name="Rounded Rectangle 30">
            <a:extLst>
              <a:ext uri="{FF2B5EF4-FFF2-40B4-BE49-F238E27FC236}">
                <a16:creationId xmlns:a16="http://schemas.microsoft.com/office/drawing/2014/main" id="{19F62289-DB44-403F-A207-259A542B11AE}"/>
              </a:ext>
            </a:extLst>
          </p:cNvPr>
          <p:cNvSpPr>
            <a:spLocks noGrp="1"/>
          </p:cNvSpPr>
          <p:nvPr/>
        </p:nvSpPr>
        <p:spPr>
          <a:xfrm>
            <a:off x="2247900" y="2838450"/>
            <a:ext cx="285750" cy="285750"/>
          </a:xfrm>
          <a:prstGeom prst="roundRect">
            <a:avLst>
              <a:gd name="adj" fmla="val 13333"/>
            </a:avLst>
          </a:prstGeom>
          <a:solidFill>
            <a:srgbClr val="FFFFFF"/>
          </a:solidFill>
          <a:ln w="9525">
            <a:solidFill>
              <a:srgbClr val="C9D1CD"/>
            </a:solidFill>
            <a:prstDash val="solid"/>
          </a:ln>
        </p:spPr>
        <p:txBody>
          <a:bodyPr wrap="none" lIns="0" tIns="0" rIns="0" bIns="0" anchor="ctr"/>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VM</a:t>
            </a:r>
          </a:p>
        </p:txBody>
      </p:sp>
      <p:sp>
        <p:nvSpPr>
          <p:cNvPr id="32" name="Rectangle 31">
            <a:extLst>
              <a:ext uri="{FF2B5EF4-FFF2-40B4-BE49-F238E27FC236}">
                <a16:creationId xmlns:a16="http://schemas.microsoft.com/office/drawing/2014/main" id="{E0B1EDB4-4DAF-4B07-9CD1-E26D90D74E5B}"/>
              </a:ext>
            </a:extLst>
          </p:cNvPr>
          <p:cNvSpPr>
            <a:spLocks noGrp="1"/>
          </p:cNvSpPr>
          <p:nvPr/>
        </p:nvSpPr>
        <p:spPr>
          <a:xfrm>
            <a:off x="2047875" y="2895600"/>
            <a:ext cx="228600" cy="152400"/>
          </a:xfrm>
          <a:prstGeom prst="rect">
            <a:avLst/>
          </a:prstGeom>
          <a:noFill/>
          <a:ln w="0">
            <a:noFill/>
            <a:prstDash val="solid"/>
          </a:ln>
        </p:spPr>
        <p:txBody>
          <a:bodyPr wrap="none" lIns="0" tIns="0" rIns="0" bIns="0" anchor="t"/>
          <a:lstStyle/>
          <a:p>
            <a:pPr algn="ctr">
              <a:lnSpc>
                <a:spcPct val="100000"/>
              </a:lnSpc>
              <a:buNone/>
              <a:defRPr sz="975" b="1" i="0">
                <a:solidFill>
                  <a:srgbClr val="111111"/>
                </a:solidFill>
                <a:latin typeface="Arial"/>
                <a:ea typeface="Arial"/>
                <a:cs typeface="Arial"/>
              </a:defRPr>
            </a:pPr>
            <a:r>
              <a:rPr sz="975" b="1" i="0">
                <a:solidFill>
                  <a:srgbClr val="111111"/>
                </a:solidFill>
                <a:latin typeface="Arial"/>
                <a:ea typeface="Arial"/>
                <a:cs typeface="Arial"/>
              </a:rPr>
              <a:t>...</a:t>
            </a:r>
          </a:p>
        </p:txBody>
      </p:sp>
      <p:pic>
        <p:nvPicPr>
          <p:cNvPr id="145" name="Picture 144"/>
          <p:cNvPicPr>
            <a:picLocks noChangeAspect="1"/>
          </p:cNvPicPr>
          <p:nvPr/>
        </p:nvPicPr>
        <p:blipFill>
          <a:blip r:embed="rId9"/>
          <a:stretch/>
        </p:blipFill>
        <p:spPr>
          <a:xfrm>
            <a:off x="2674997" y="2828925"/>
            <a:ext cx="279280" cy="400050"/>
          </a:xfrm>
          <a:prstGeom prst="rect">
            <a:avLst/>
          </a:prstGeom>
        </p:spPr>
      </p:pic>
      <p:sp>
        <p:nvSpPr>
          <p:cNvPr id="34" name="Rectangle 33">
            <a:extLst>
              <a:ext uri="{FF2B5EF4-FFF2-40B4-BE49-F238E27FC236}">
                <a16:creationId xmlns:a16="http://schemas.microsoft.com/office/drawing/2014/main" id="{D10C66AA-24A1-4432-ABE1-A12BC6755626}"/>
              </a:ext>
            </a:extLst>
          </p:cNvPr>
          <p:cNvSpPr>
            <a:spLocks noGrp="1"/>
          </p:cNvSpPr>
          <p:nvPr/>
        </p:nvSpPr>
        <p:spPr>
          <a:xfrm>
            <a:off x="752475" y="3371850"/>
            <a:ext cx="1905000" cy="19050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On-Premises VMware Environment</a:t>
            </a:r>
          </a:p>
        </p:txBody>
      </p:sp>
      <p:sp>
        <p:nvSpPr>
          <p:cNvPr id="35" name="Straight Connector 34">
            <a:extLst>
              <a:ext uri="{FF2B5EF4-FFF2-40B4-BE49-F238E27FC236}">
                <a16:creationId xmlns:a16="http://schemas.microsoft.com/office/drawing/2014/main" id="{95713809-B3FA-4953-B403-C5CFFD92D37C}"/>
              </a:ext>
            </a:extLst>
          </p:cNvPr>
          <p:cNvSpPr>
            <a:spLocks noGrp="1"/>
          </p:cNvSpPr>
          <p:nvPr/>
        </p:nvSpPr>
        <p:spPr>
          <a:xfrm>
            <a:off x="495300" y="3676650"/>
            <a:ext cx="2362200" cy="0"/>
          </a:xfrm>
          <a:prstGeom prst="line">
            <a:avLst/>
          </a:prstGeom>
          <a:noFill/>
          <a:ln w="9525">
            <a:solidFill>
              <a:srgbClr val="D8DDD9"/>
            </a:solidFill>
            <a:prstDash val="solid"/>
          </a:ln>
        </p:spPr>
        <p:txBody>
          <a:bodyPr/>
          <a:lstStyle/>
          <a:p>
            <a:endParaRPr lang="en-FR"/>
          </a:p>
        </p:txBody>
      </p:sp>
      <p:pic>
        <p:nvPicPr>
          <p:cNvPr id="148" name="Picture 147"/>
          <p:cNvPicPr>
            <a:picLocks noChangeAspect="1"/>
          </p:cNvPicPr>
          <p:nvPr/>
        </p:nvPicPr>
        <p:blipFill>
          <a:blip r:embed="rId10"/>
          <a:stretch/>
        </p:blipFill>
        <p:spPr>
          <a:xfrm>
            <a:off x="495300" y="3926541"/>
            <a:ext cx="247650" cy="262218"/>
          </a:xfrm>
          <a:prstGeom prst="rect">
            <a:avLst/>
          </a:prstGeom>
        </p:spPr>
      </p:pic>
      <p:sp>
        <p:nvSpPr>
          <p:cNvPr id="37" name="Rectangle 36">
            <a:extLst>
              <a:ext uri="{FF2B5EF4-FFF2-40B4-BE49-F238E27FC236}">
                <a16:creationId xmlns:a16="http://schemas.microsoft.com/office/drawing/2014/main" id="{FA6E09A6-4E67-4667-809B-BEB93C7A35BD}"/>
              </a:ext>
            </a:extLst>
          </p:cNvPr>
          <p:cNvSpPr>
            <a:spLocks noGrp="1"/>
          </p:cNvSpPr>
          <p:nvPr/>
        </p:nvSpPr>
        <p:spPr>
          <a:xfrm>
            <a:off x="876300" y="3952875"/>
            <a:ext cx="1771650" cy="361950"/>
          </a:xfrm>
          <a:prstGeom prst="rect">
            <a:avLst/>
          </a:prstGeom>
          <a:noFill/>
          <a:ln w="0">
            <a:noFill/>
            <a:prstDash val="solid"/>
          </a:ln>
        </p:spPr>
        <p:txBody>
          <a:bodyPr wrap="square" lIns="0" tIns="0" rIns="0" bIns="0" anchor="t"/>
          <a:lstStyle/>
          <a:p>
            <a:pPr algn="l">
              <a:lnSpc>
                <a:spcPct val="108000"/>
              </a:lnSpc>
              <a:buNone/>
              <a:defRPr sz="975" b="0" i="0">
                <a:solidFill>
                  <a:srgbClr val="111111"/>
                </a:solidFill>
                <a:latin typeface="Arial"/>
                <a:ea typeface="Arial"/>
                <a:cs typeface="Arial"/>
              </a:defRPr>
            </a:pPr>
            <a:r>
              <a:rPr sz="975" b="0" i="0">
                <a:solidFill>
                  <a:srgbClr val="111111"/>
                </a:solidFill>
                <a:latin typeface="Arial"/>
                <a:ea typeface="Arial"/>
                <a:cs typeface="Arial"/>
              </a:rPr>
              <a:t>Production workloads</a:t>
            </a:r>
          </a:p>
        </p:txBody>
      </p:sp>
      <p:pic>
        <p:nvPicPr>
          <p:cNvPr id="150" name="Picture 149"/>
          <p:cNvPicPr>
            <a:picLocks noChangeAspect="1"/>
          </p:cNvPicPr>
          <p:nvPr/>
        </p:nvPicPr>
        <p:blipFill>
          <a:blip r:embed="rId11"/>
          <a:stretch/>
        </p:blipFill>
        <p:spPr>
          <a:xfrm>
            <a:off x="495300" y="4347882"/>
            <a:ext cx="247650" cy="276785"/>
          </a:xfrm>
          <a:prstGeom prst="rect">
            <a:avLst/>
          </a:prstGeom>
        </p:spPr>
      </p:pic>
      <p:sp>
        <p:nvSpPr>
          <p:cNvPr id="39" name="Rectangle 38">
            <a:extLst>
              <a:ext uri="{FF2B5EF4-FFF2-40B4-BE49-F238E27FC236}">
                <a16:creationId xmlns:a16="http://schemas.microsoft.com/office/drawing/2014/main" id="{B34266A7-A485-42E7-866C-05E0C0E69AE2}"/>
              </a:ext>
            </a:extLst>
          </p:cNvPr>
          <p:cNvSpPr>
            <a:spLocks noGrp="1"/>
          </p:cNvSpPr>
          <p:nvPr/>
        </p:nvSpPr>
        <p:spPr>
          <a:xfrm>
            <a:off x="876300" y="4381500"/>
            <a:ext cx="1771650" cy="361950"/>
          </a:xfrm>
          <a:prstGeom prst="rect">
            <a:avLst/>
          </a:prstGeom>
          <a:noFill/>
          <a:ln w="0">
            <a:noFill/>
            <a:prstDash val="solid"/>
          </a:ln>
        </p:spPr>
        <p:txBody>
          <a:bodyPr wrap="square" lIns="0" tIns="0" rIns="0" bIns="0" anchor="t"/>
          <a:lstStyle/>
          <a:p>
            <a:pPr algn="l">
              <a:lnSpc>
                <a:spcPct val="108000"/>
              </a:lnSpc>
              <a:buNone/>
              <a:defRPr sz="975" b="0" i="0">
                <a:solidFill>
                  <a:srgbClr val="111111"/>
                </a:solidFill>
                <a:latin typeface="Arial"/>
                <a:ea typeface="Arial"/>
                <a:cs typeface="Arial"/>
              </a:defRPr>
            </a:pPr>
            <a:r>
              <a:rPr sz="975" b="0" i="0">
                <a:solidFill>
                  <a:srgbClr val="111111"/>
                </a:solidFill>
                <a:latin typeface="Arial"/>
                <a:ea typeface="Arial"/>
                <a:cs typeface="Arial"/>
              </a:rPr>
              <a:t>Business critical applications</a:t>
            </a:r>
          </a:p>
        </p:txBody>
      </p:sp>
      <p:pic>
        <p:nvPicPr>
          <p:cNvPr id="152" name="Picture 151"/>
          <p:cNvPicPr>
            <a:picLocks noChangeAspect="1"/>
          </p:cNvPicPr>
          <p:nvPr/>
        </p:nvPicPr>
        <p:blipFill>
          <a:blip r:embed="rId12"/>
          <a:stretch/>
        </p:blipFill>
        <p:spPr>
          <a:xfrm>
            <a:off x="495300" y="4760051"/>
            <a:ext cx="247650" cy="233499"/>
          </a:xfrm>
          <a:prstGeom prst="rect">
            <a:avLst/>
          </a:prstGeom>
        </p:spPr>
      </p:pic>
      <p:sp>
        <p:nvSpPr>
          <p:cNvPr id="41" name="Rectangle 40">
            <a:extLst>
              <a:ext uri="{FF2B5EF4-FFF2-40B4-BE49-F238E27FC236}">
                <a16:creationId xmlns:a16="http://schemas.microsoft.com/office/drawing/2014/main" id="{834F0159-0058-48B1-9AE4-BF9F62D8AD86}"/>
              </a:ext>
            </a:extLst>
          </p:cNvPr>
          <p:cNvSpPr>
            <a:spLocks noGrp="1"/>
          </p:cNvSpPr>
          <p:nvPr/>
        </p:nvSpPr>
        <p:spPr>
          <a:xfrm>
            <a:off x="876300" y="4772025"/>
            <a:ext cx="1771650" cy="361950"/>
          </a:xfrm>
          <a:prstGeom prst="rect">
            <a:avLst/>
          </a:prstGeom>
          <a:noFill/>
          <a:ln w="0">
            <a:noFill/>
            <a:prstDash val="solid"/>
          </a:ln>
        </p:spPr>
        <p:txBody>
          <a:bodyPr wrap="square" lIns="0" tIns="0" rIns="0" bIns="0" anchor="t"/>
          <a:lstStyle/>
          <a:p>
            <a:pPr algn="l">
              <a:lnSpc>
                <a:spcPct val="108000"/>
              </a:lnSpc>
              <a:buNone/>
              <a:defRPr sz="975" b="0" i="0">
                <a:solidFill>
                  <a:srgbClr val="111111"/>
                </a:solidFill>
                <a:latin typeface="Arial"/>
                <a:ea typeface="Arial"/>
                <a:cs typeface="Arial"/>
              </a:defRPr>
            </a:pPr>
            <a:r>
              <a:rPr sz="975" b="0" i="0">
                <a:solidFill>
                  <a:srgbClr val="111111"/>
                </a:solidFill>
                <a:latin typeface="Arial"/>
                <a:ea typeface="Arial"/>
                <a:cs typeface="Arial"/>
              </a:rPr>
              <a:t>Users &amp; business operations</a:t>
            </a:r>
          </a:p>
        </p:txBody>
      </p:sp>
      <p:pic>
        <p:nvPicPr>
          <p:cNvPr id="154" name="Picture 153"/>
          <p:cNvPicPr>
            <a:picLocks noChangeAspect="1"/>
          </p:cNvPicPr>
          <p:nvPr/>
        </p:nvPicPr>
        <p:blipFill>
          <a:blip r:embed="rId13"/>
          <a:stretch/>
        </p:blipFill>
        <p:spPr>
          <a:xfrm>
            <a:off x="495300" y="5103668"/>
            <a:ext cx="247650" cy="270164"/>
          </a:xfrm>
          <a:prstGeom prst="rect">
            <a:avLst/>
          </a:prstGeom>
        </p:spPr>
      </p:pic>
      <p:sp>
        <p:nvSpPr>
          <p:cNvPr id="43" name="Rectangle 42">
            <a:extLst>
              <a:ext uri="{FF2B5EF4-FFF2-40B4-BE49-F238E27FC236}">
                <a16:creationId xmlns:a16="http://schemas.microsoft.com/office/drawing/2014/main" id="{DC8A0C27-3F09-48A6-A16E-45984E0DAD4A}"/>
              </a:ext>
            </a:extLst>
          </p:cNvPr>
          <p:cNvSpPr>
            <a:spLocks noGrp="1"/>
          </p:cNvSpPr>
          <p:nvPr/>
        </p:nvSpPr>
        <p:spPr>
          <a:xfrm>
            <a:off x="876300" y="5133975"/>
            <a:ext cx="1771650" cy="361950"/>
          </a:xfrm>
          <a:prstGeom prst="rect">
            <a:avLst/>
          </a:prstGeom>
          <a:noFill/>
          <a:ln w="0">
            <a:noFill/>
            <a:prstDash val="solid"/>
          </a:ln>
        </p:spPr>
        <p:txBody>
          <a:bodyPr wrap="square" lIns="0" tIns="0" rIns="0" bIns="0" anchor="t"/>
          <a:lstStyle/>
          <a:p>
            <a:pPr algn="l">
              <a:lnSpc>
                <a:spcPct val="108000"/>
              </a:lnSpc>
              <a:buNone/>
              <a:defRPr sz="975" b="0" i="0">
                <a:solidFill>
                  <a:srgbClr val="111111"/>
                </a:solidFill>
                <a:latin typeface="Arial"/>
                <a:ea typeface="Arial"/>
                <a:cs typeface="Arial"/>
              </a:defRPr>
            </a:pPr>
            <a:r>
              <a:rPr sz="975" b="0" i="0">
                <a:solidFill>
                  <a:srgbClr val="111111"/>
                </a:solidFill>
                <a:latin typeface="Arial"/>
                <a:ea typeface="Arial"/>
                <a:cs typeface="Arial"/>
              </a:rPr>
              <a:t>At risk from cost, complexity</a:t>
            </a:r>
          </a:p>
          <a:p>
            <a:pPr algn="l">
              <a:lnSpc>
                <a:spcPct val="108000"/>
              </a:lnSpc>
              <a:buNone/>
              <a:defRPr sz="975" b="0" i="0">
                <a:solidFill>
                  <a:srgbClr val="111111"/>
                </a:solidFill>
                <a:latin typeface="Arial"/>
                <a:ea typeface="Arial"/>
                <a:cs typeface="Arial"/>
              </a:defRPr>
            </a:pPr>
            <a:r>
              <a:rPr sz="975" b="0" i="0">
                <a:solidFill>
                  <a:srgbClr val="111111"/>
                </a:solidFill>
                <a:latin typeface="Arial"/>
                <a:ea typeface="Arial"/>
                <a:cs typeface="Arial"/>
              </a:rPr>
              <a:t>and technical debt</a:t>
            </a:r>
          </a:p>
        </p:txBody>
      </p:sp>
      <p:sp>
        <p:nvSpPr>
          <p:cNvPr id="44" name="Rounded Rectangle 43">
            <a:extLst>
              <a:ext uri="{FF2B5EF4-FFF2-40B4-BE49-F238E27FC236}">
                <a16:creationId xmlns:a16="http://schemas.microsoft.com/office/drawing/2014/main" id="{F3F842EB-9BA9-4F93-A5FD-1BD48FADCE58}"/>
              </a:ext>
            </a:extLst>
          </p:cNvPr>
          <p:cNvSpPr>
            <a:spLocks noGrp="1"/>
          </p:cNvSpPr>
          <p:nvPr/>
        </p:nvSpPr>
        <p:spPr>
          <a:xfrm>
            <a:off x="3295650" y="2181225"/>
            <a:ext cx="3048000" cy="3390900"/>
          </a:xfrm>
          <a:prstGeom prst="roundRect">
            <a:avLst>
              <a:gd name="adj" fmla="val 2500"/>
            </a:avLst>
          </a:prstGeom>
          <a:solidFill>
            <a:srgbClr val="FFFFFF"/>
          </a:solidFill>
          <a:ln w="9525">
            <a:solidFill>
              <a:srgbClr val="1C6745"/>
            </a:solidFill>
            <a:prstDash val="solid"/>
          </a:ln>
        </p:spPr>
        <p:txBody>
          <a:bodyPr/>
          <a:lstStyle/>
          <a:p>
            <a:endParaRPr lang="en-FR"/>
          </a:p>
        </p:txBody>
      </p:sp>
      <p:sp>
        <p:nvSpPr>
          <p:cNvPr id="45" name="Rounded Rectangle 44">
            <a:extLst>
              <a:ext uri="{FF2B5EF4-FFF2-40B4-BE49-F238E27FC236}">
                <a16:creationId xmlns:a16="http://schemas.microsoft.com/office/drawing/2014/main" id="{241CC426-C86D-4F78-8B3B-E50103086676}"/>
              </a:ext>
            </a:extLst>
          </p:cNvPr>
          <p:cNvSpPr>
            <a:spLocks noGrp="1"/>
          </p:cNvSpPr>
          <p:nvPr/>
        </p:nvSpPr>
        <p:spPr>
          <a:xfrm>
            <a:off x="3295650" y="2181225"/>
            <a:ext cx="3048000" cy="371475"/>
          </a:xfrm>
          <a:prstGeom prst="roundRect">
            <a:avLst>
              <a:gd name="adj" fmla="val 17949"/>
            </a:avLst>
          </a:prstGeom>
          <a:gradFill>
            <a:gsLst>
              <a:gs pos="0">
                <a:srgbClr val="003B25"/>
              </a:gs>
              <a:gs pos="100000">
                <a:srgbClr val="00462B"/>
              </a:gs>
            </a:gsLst>
            <a:lin ang="0"/>
          </a:gradFill>
          <a:ln w="0">
            <a:solidFill>
              <a:srgbClr val="003B25"/>
            </a:solidFill>
            <a:prstDash val="solid"/>
          </a:ln>
        </p:spPr>
        <p:txBody>
          <a:bodyPr/>
          <a:lstStyle/>
          <a:p>
            <a:endParaRPr lang="en-FR"/>
          </a:p>
        </p:txBody>
      </p:sp>
      <p:sp>
        <p:nvSpPr>
          <p:cNvPr id="46" name="Rectangle 45">
            <a:extLst>
              <a:ext uri="{FF2B5EF4-FFF2-40B4-BE49-F238E27FC236}">
                <a16:creationId xmlns:a16="http://schemas.microsoft.com/office/drawing/2014/main" id="{EE4407C3-ABA2-47F5-9A74-38ACEB17CEC7}"/>
              </a:ext>
            </a:extLst>
          </p:cNvPr>
          <p:cNvSpPr>
            <a:spLocks noGrp="1"/>
          </p:cNvSpPr>
          <p:nvPr/>
        </p:nvSpPr>
        <p:spPr>
          <a:xfrm>
            <a:off x="3295650" y="2286000"/>
            <a:ext cx="3048000" cy="171450"/>
          </a:xfrm>
          <a:prstGeom prst="rect">
            <a:avLst/>
          </a:prstGeom>
          <a:noFill/>
          <a:ln w="0">
            <a:noFill/>
            <a:prstDash val="solid"/>
          </a:ln>
        </p:spPr>
        <p:txBody>
          <a:bodyPr wrap="none" lIns="0" tIns="0" rIns="0" bIns="0" anchor="t"/>
          <a:lstStyle/>
          <a:p>
            <a:pPr algn="ctr">
              <a:lnSpc>
                <a:spcPct val="100000"/>
              </a:lnSpc>
              <a:buNone/>
              <a:defRPr sz="1050" b="1" i="0">
                <a:solidFill>
                  <a:srgbClr val="FFFFFF"/>
                </a:solidFill>
                <a:latin typeface="Arial"/>
                <a:ea typeface="Arial"/>
                <a:cs typeface="Arial"/>
              </a:defRPr>
            </a:pPr>
            <a:r>
              <a:rPr sz="1050" b="1" i="0">
                <a:solidFill>
                  <a:srgbClr val="FFFFFF"/>
                </a:solidFill>
                <a:latin typeface="Arial"/>
                <a:ea typeface="Arial"/>
                <a:cs typeface="Arial"/>
              </a:rPr>
              <a:t>MIGRATION &amp; WORKLOAD MOBILITY</a:t>
            </a:r>
          </a:p>
        </p:txBody>
      </p:sp>
      <p:pic>
        <p:nvPicPr>
          <p:cNvPr id="159" name="Picture 158"/>
          <p:cNvPicPr>
            <a:picLocks noChangeAspect="1"/>
          </p:cNvPicPr>
          <p:nvPr/>
        </p:nvPicPr>
        <p:blipFill>
          <a:blip r:embed="rId14"/>
          <a:stretch/>
        </p:blipFill>
        <p:spPr>
          <a:xfrm>
            <a:off x="3781425" y="2700572"/>
            <a:ext cx="609600" cy="599607"/>
          </a:xfrm>
          <a:prstGeom prst="rect">
            <a:avLst/>
          </a:prstGeom>
        </p:spPr>
      </p:pic>
      <p:sp>
        <p:nvSpPr>
          <p:cNvPr id="48" name="Straight Connector 47">
            <a:extLst>
              <a:ext uri="{FF2B5EF4-FFF2-40B4-BE49-F238E27FC236}">
                <a16:creationId xmlns:a16="http://schemas.microsoft.com/office/drawing/2014/main" id="{72A8FE7C-A401-4E9F-89F1-245A2A11B90B}"/>
              </a:ext>
            </a:extLst>
          </p:cNvPr>
          <p:cNvSpPr>
            <a:spLocks noGrp="1"/>
          </p:cNvSpPr>
          <p:nvPr/>
        </p:nvSpPr>
        <p:spPr>
          <a:xfrm>
            <a:off x="4800600" y="2667000"/>
            <a:ext cx="0" cy="1771650"/>
          </a:xfrm>
          <a:prstGeom prst="line">
            <a:avLst/>
          </a:prstGeom>
          <a:noFill/>
          <a:ln w="9525">
            <a:solidFill>
              <a:srgbClr val="D8DDD9"/>
            </a:solidFill>
            <a:prstDash val="solid"/>
          </a:ln>
        </p:spPr>
        <p:txBody>
          <a:bodyPr/>
          <a:lstStyle/>
          <a:p>
            <a:endParaRPr lang="en-FR"/>
          </a:p>
        </p:txBody>
      </p:sp>
      <p:pic>
        <p:nvPicPr>
          <p:cNvPr id="161" name="Picture 160"/>
          <p:cNvPicPr>
            <a:picLocks noChangeAspect="1"/>
          </p:cNvPicPr>
          <p:nvPr/>
        </p:nvPicPr>
        <p:blipFill>
          <a:blip r:embed="rId15"/>
          <a:stretch/>
        </p:blipFill>
        <p:spPr>
          <a:xfrm>
            <a:off x="5235831" y="2738438"/>
            <a:ext cx="539238" cy="514350"/>
          </a:xfrm>
          <a:prstGeom prst="rect">
            <a:avLst/>
          </a:prstGeom>
        </p:spPr>
      </p:pic>
      <p:sp>
        <p:nvSpPr>
          <p:cNvPr id="50" name="Rectangle 49">
            <a:extLst>
              <a:ext uri="{FF2B5EF4-FFF2-40B4-BE49-F238E27FC236}">
                <a16:creationId xmlns:a16="http://schemas.microsoft.com/office/drawing/2014/main" id="{82B10384-22FE-46ED-82B2-83D2A0EA0F9B}"/>
              </a:ext>
            </a:extLst>
          </p:cNvPr>
          <p:cNvSpPr>
            <a:spLocks noGrp="1"/>
          </p:cNvSpPr>
          <p:nvPr/>
        </p:nvSpPr>
        <p:spPr>
          <a:xfrm>
            <a:off x="3473312" y="3267075"/>
            <a:ext cx="1219200" cy="400050"/>
          </a:xfrm>
          <a:prstGeom prst="rect">
            <a:avLst/>
          </a:prstGeom>
          <a:noFill/>
          <a:ln w="0">
            <a:noFill/>
            <a:prstDash val="solid"/>
          </a:ln>
        </p:spPr>
        <p:txBody>
          <a:bodyPr wrap="square" lIns="0" tIns="0" rIns="0" bIns="0" anchor="t"/>
          <a:lstStyle/>
          <a:p>
            <a:pPr algn="ctr">
              <a:lnSpc>
                <a:spcPct val="105000"/>
              </a:lnSpc>
              <a:buNone/>
              <a:defRPr sz="975" b="1" i="0">
                <a:solidFill>
                  <a:srgbClr val="003B25"/>
                </a:solidFill>
                <a:latin typeface="Arial"/>
                <a:ea typeface="Arial"/>
                <a:cs typeface="Arial"/>
              </a:defRPr>
            </a:pPr>
            <a:r>
              <a:rPr sz="1000" b="1" i="0" dirty="0">
                <a:solidFill>
                  <a:srgbClr val="003B25"/>
                </a:solidFill>
                <a:latin typeface="Arial"/>
                <a:ea typeface="Arial"/>
                <a:cs typeface="Arial"/>
              </a:rPr>
              <a:t>VMware Workload</a:t>
            </a:r>
            <a:r>
              <a:rPr lang="fr-FR" sz="1000" b="1" i="0" dirty="0">
                <a:solidFill>
                  <a:srgbClr val="003B25"/>
                </a:solidFill>
                <a:latin typeface="Arial"/>
                <a:ea typeface="Arial"/>
                <a:cs typeface="Arial"/>
              </a:rPr>
              <a:t>s</a:t>
            </a:r>
            <a:endParaRPr sz="1000" b="1" i="0" dirty="0">
              <a:solidFill>
                <a:srgbClr val="003B25"/>
              </a:solidFill>
              <a:latin typeface="Arial"/>
              <a:ea typeface="Arial"/>
              <a:cs typeface="Arial"/>
            </a:endParaRPr>
          </a:p>
          <a:p>
            <a:pPr algn="ctr">
              <a:lnSpc>
                <a:spcPct val="105000"/>
              </a:lnSpc>
              <a:buNone/>
              <a:defRPr sz="975" b="1" i="0">
                <a:solidFill>
                  <a:srgbClr val="003B25"/>
                </a:solidFill>
                <a:latin typeface="Arial"/>
                <a:ea typeface="Arial"/>
                <a:cs typeface="Arial"/>
              </a:defRPr>
            </a:pPr>
            <a:r>
              <a:rPr sz="1000" b="1" i="0" dirty="0">
                <a:solidFill>
                  <a:srgbClr val="003B25"/>
                </a:solidFill>
                <a:latin typeface="Arial"/>
                <a:ea typeface="Arial"/>
                <a:cs typeface="Arial"/>
              </a:rPr>
              <a:t>to OCVS</a:t>
            </a:r>
          </a:p>
        </p:txBody>
      </p:sp>
      <p:sp>
        <p:nvSpPr>
          <p:cNvPr id="51" name="Rectangle 50">
            <a:extLst>
              <a:ext uri="{FF2B5EF4-FFF2-40B4-BE49-F238E27FC236}">
                <a16:creationId xmlns:a16="http://schemas.microsoft.com/office/drawing/2014/main" id="{4A36C29F-74B2-47D7-A04D-EF44BD13A97A}"/>
              </a:ext>
            </a:extLst>
          </p:cNvPr>
          <p:cNvSpPr>
            <a:spLocks noGrp="1"/>
          </p:cNvSpPr>
          <p:nvPr/>
        </p:nvSpPr>
        <p:spPr>
          <a:xfrm>
            <a:off x="5057775" y="3267075"/>
            <a:ext cx="1047750" cy="400050"/>
          </a:xfrm>
          <a:prstGeom prst="rect">
            <a:avLst/>
          </a:prstGeom>
          <a:noFill/>
          <a:ln w="0">
            <a:noFill/>
            <a:prstDash val="solid"/>
          </a:ln>
        </p:spPr>
        <p:txBody>
          <a:bodyPr wrap="square" lIns="0" tIns="0" rIns="0" bIns="0" anchor="t"/>
          <a:lstStyle/>
          <a:p>
            <a:pPr algn="ctr">
              <a:lnSpc>
                <a:spcPct val="105000"/>
              </a:lnSpc>
              <a:buNone/>
              <a:defRPr sz="975" b="1" i="0">
                <a:solidFill>
                  <a:srgbClr val="003B25"/>
                </a:solidFill>
                <a:latin typeface="Arial"/>
                <a:ea typeface="Arial"/>
                <a:cs typeface="Arial"/>
              </a:defRPr>
            </a:pPr>
            <a:r>
              <a:rPr sz="975" b="1" i="0" dirty="0">
                <a:solidFill>
                  <a:srgbClr val="003B25"/>
                </a:solidFill>
                <a:latin typeface="Arial"/>
                <a:ea typeface="Arial"/>
                <a:cs typeface="Arial"/>
              </a:rPr>
              <a:t>Workloads to</a:t>
            </a:r>
          </a:p>
          <a:p>
            <a:pPr algn="ctr">
              <a:lnSpc>
                <a:spcPct val="105000"/>
              </a:lnSpc>
              <a:buNone/>
              <a:defRPr sz="975" b="1" i="0">
                <a:solidFill>
                  <a:srgbClr val="003B25"/>
                </a:solidFill>
                <a:latin typeface="Arial"/>
                <a:ea typeface="Arial"/>
                <a:cs typeface="Arial"/>
              </a:defRPr>
            </a:pPr>
            <a:r>
              <a:rPr sz="975" b="1" i="0" dirty="0">
                <a:solidFill>
                  <a:srgbClr val="003B25"/>
                </a:solidFill>
                <a:latin typeface="Arial"/>
                <a:ea typeface="Arial"/>
                <a:cs typeface="Arial"/>
              </a:rPr>
              <a:t>OCI Compute</a:t>
            </a:r>
          </a:p>
        </p:txBody>
      </p:sp>
      <p:sp>
        <p:nvSpPr>
          <p:cNvPr id="52" name="Rectangle 51">
            <a:extLst>
              <a:ext uri="{FF2B5EF4-FFF2-40B4-BE49-F238E27FC236}">
                <a16:creationId xmlns:a16="http://schemas.microsoft.com/office/drawing/2014/main" id="{57150A86-63D8-458F-8A12-2E89BBF0E1CC}"/>
              </a:ext>
            </a:extLst>
          </p:cNvPr>
          <p:cNvSpPr>
            <a:spLocks noGrp="1"/>
          </p:cNvSpPr>
          <p:nvPr/>
        </p:nvSpPr>
        <p:spPr>
          <a:xfrm>
            <a:off x="3686175" y="3678017"/>
            <a:ext cx="819150" cy="190500"/>
          </a:xfrm>
          <a:prstGeom prst="rect">
            <a:avLst/>
          </a:prstGeom>
          <a:noFill/>
          <a:ln w="0">
            <a:noFill/>
            <a:prstDash val="solid"/>
          </a:ln>
        </p:spPr>
        <p:txBody>
          <a:bodyPr wrap="none" lIns="0" tIns="0" rIns="0" bIns="0" anchor="t"/>
          <a:lstStyle/>
          <a:p>
            <a:pPr algn="ctr">
              <a:lnSpc>
                <a:spcPct val="100000"/>
              </a:lnSpc>
              <a:buNone/>
              <a:defRPr sz="975" b="1" i="0">
                <a:solidFill>
                  <a:srgbClr val="111111"/>
                </a:solidFill>
                <a:latin typeface="Arial"/>
                <a:ea typeface="Arial"/>
                <a:cs typeface="Arial"/>
              </a:defRPr>
            </a:pPr>
            <a:r>
              <a:rPr sz="975" b="1" i="0" dirty="0">
                <a:solidFill>
                  <a:srgbClr val="111111"/>
                </a:solidFill>
                <a:latin typeface="Arial"/>
                <a:ea typeface="Arial"/>
                <a:cs typeface="Arial"/>
              </a:rPr>
              <a:t>HCX Mobility</a:t>
            </a:r>
          </a:p>
        </p:txBody>
      </p:sp>
      <p:sp>
        <p:nvSpPr>
          <p:cNvPr id="53" name="Rectangle 52">
            <a:extLst>
              <a:ext uri="{FF2B5EF4-FFF2-40B4-BE49-F238E27FC236}">
                <a16:creationId xmlns:a16="http://schemas.microsoft.com/office/drawing/2014/main" id="{3D221785-1CC5-4AE8-BFE8-BD5F01F89452}"/>
              </a:ext>
            </a:extLst>
          </p:cNvPr>
          <p:cNvSpPr>
            <a:spLocks noGrp="1"/>
          </p:cNvSpPr>
          <p:nvPr/>
        </p:nvSpPr>
        <p:spPr>
          <a:xfrm>
            <a:off x="3476211" y="4010025"/>
            <a:ext cx="1219200" cy="552450"/>
          </a:xfrm>
          <a:prstGeom prst="rect">
            <a:avLst/>
          </a:prstGeom>
          <a:noFill/>
          <a:ln w="0">
            <a:noFill/>
            <a:prstDash val="solid"/>
          </a:ln>
        </p:spPr>
        <p:txBody>
          <a:bodyPr wrap="square" lIns="0" tIns="0" rIns="0" bIns="0" anchor="t"/>
          <a:lstStyle/>
          <a:p>
            <a:pPr algn="ctr">
              <a:lnSpc>
                <a:spcPct val="110000"/>
              </a:lnSpc>
              <a:buNone/>
              <a:defRPr sz="765" b="0" i="0">
                <a:solidFill>
                  <a:srgbClr val="111111"/>
                </a:solidFill>
                <a:latin typeface="Arial"/>
                <a:ea typeface="Arial"/>
                <a:cs typeface="Arial"/>
              </a:defRPr>
            </a:pPr>
            <a:r>
              <a:rPr sz="765" b="0" i="0" dirty="0">
                <a:solidFill>
                  <a:srgbClr val="111111"/>
                </a:solidFill>
                <a:latin typeface="Arial"/>
                <a:ea typeface="Arial"/>
                <a:cs typeface="Arial"/>
              </a:rPr>
              <a:t>Secure, seamless migration</a:t>
            </a:r>
          </a:p>
          <a:p>
            <a:pPr algn="ctr">
              <a:lnSpc>
                <a:spcPct val="110000"/>
              </a:lnSpc>
              <a:buNone/>
              <a:defRPr sz="765" b="0" i="0">
                <a:solidFill>
                  <a:srgbClr val="111111"/>
                </a:solidFill>
                <a:latin typeface="Arial"/>
                <a:ea typeface="Arial"/>
                <a:cs typeface="Arial"/>
              </a:defRPr>
            </a:pPr>
            <a:r>
              <a:rPr sz="765" b="0" i="0" dirty="0">
                <a:solidFill>
                  <a:srgbClr val="111111"/>
                </a:solidFill>
                <a:latin typeface="Arial"/>
                <a:ea typeface="Arial"/>
                <a:cs typeface="Arial"/>
              </a:rPr>
              <a:t>of VMware workloads</a:t>
            </a:r>
          </a:p>
          <a:p>
            <a:pPr algn="ctr">
              <a:lnSpc>
                <a:spcPct val="110000"/>
              </a:lnSpc>
              <a:buNone/>
              <a:defRPr sz="765" b="0" i="0">
                <a:solidFill>
                  <a:srgbClr val="111111"/>
                </a:solidFill>
                <a:latin typeface="Arial"/>
                <a:ea typeface="Arial"/>
                <a:cs typeface="Arial"/>
              </a:defRPr>
            </a:pPr>
            <a:r>
              <a:rPr sz="765" b="0" i="0" dirty="0">
                <a:solidFill>
                  <a:srgbClr val="111111"/>
                </a:solidFill>
                <a:latin typeface="Arial"/>
                <a:ea typeface="Arial"/>
                <a:cs typeface="Arial"/>
              </a:rPr>
              <a:t>to Oracle Cloud VMware</a:t>
            </a:r>
          </a:p>
          <a:p>
            <a:pPr algn="ctr">
              <a:lnSpc>
                <a:spcPct val="110000"/>
              </a:lnSpc>
              <a:buNone/>
              <a:defRPr sz="765" b="0" i="0">
                <a:solidFill>
                  <a:srgbClr val="111111"/>
                </a:solidFill>
                <a:latin typeface="Arial"/>
                <a:ea typeface="Arial"/>
                <a:cs typeface="Arial"/>
              </a:defRPr>
            </a:pPr>
            <a:r>
              <a:rPr sz="765" b="0" i="0" dirty="0">
                <a:solidFill>
                  <a:srgbClr val="111111"/>
                </a:solidFill>
                <a:latin typeface="Arial"/>
                <a:ea typeface="Arial"/>
                <a:cs typeface="Arial"/>
              </a:rPr>
              <a:t>Solution.</a:t>
            </a:r>
          </a:p>
        </p:txBody>
      </p:sp>
      <p:sp>
        <p:nvSpPr>
          <p:cNvPr id="54" name="Rectangle 53">
            <a:extLst>
              <a:ext uri="{FF2B5EF4-FFF2-40B4-BE49-F238E27FC236}">
                <a16:creationId xmlns:a16="http://schemas.microsoft.com/office/drawing/2014/main" id="{B893AB08-702D-4B5C-8044-182DDA4C60C6}"/>
              </a:ext>
            </a:extLst>
          </p:cNvPr>
          <p:cNvSpPr>
            <a:spLocks noGrp="1"/>
          </p:cNvSpPr>
          <p:nvPr/>
        </p:nvSpPr>
        <p:spPr>
          <a:xfrm>
            <a:off x="4981575" y="3609975"/>
            <a:ext cx="1314450" cy="361950"/>
          </a:xfrm>
          <a:prstGeom prst="rect">
            <a:avLst/>
          </a:prstGeom>
          <a:noFill/>
          <a:ln w="0">
            <a:noFill/>
            <a:prstDash val="solid"/>
          </a:ln>
        </p:spPr>
        <p:txBody>
          <a:bodyPr wrap="square" lIns="0" tIns="0" rIns="0" bIns="0" anchor="t"/>
          <a:lstStyle/>
          <a:p>
            <a:pPr algn="ctr">
              <a:lnSpc>
                <a:spcPct val="105000"/>
              </a:lnSpc>
              <a:buNone/>
              <a:defRPr sz="975" b="1" i="0">
                <a:solidFill>
                  <a:srgbClr val="111111"/>
                </a:solidFill>
                <a:latin typeface="Arial"/>
                <a:ea typeface="Arial"/>
                <a:cs typeface="Arial"/>
              </a:defRPr>
            </a:pPr>
            <a:r>
              <a:rPr sz="975" b="1" i="0" dirty="0">
                <a:solidFill>
                  <a:srgbClr val="111111"/>
                </a:solidFill>
                <a:latin typeface="Arial"/>
                <a:ea typeface="Arial"/>
                <a:cs typeface="Arial"/>
              </a:rPr>
              <a:t>OCI Migrations (OCM)</a:t>
            </a:r>
          </a:p>
          <a:p>
            <a:pPr algn="ctr">
              <a:lnSpc>
                <a:spcPct val="105000"/>
              </a:lnSpc>
              <a:buNone/>
              <a:defRPr sz="975" b="1" i="0">
                <a:solidFill>
                  <a:srgbClr val="111111"/>
                </a:solidFill>
                <a:latin typeface="Arial"/>
                <a:ea typeface="Arial"/>
                <a:cs typeface="Arial"/>
              </a:defRPr>
            </a:pPr>
            <a:r>
              <a:rPr sz="975" b="1" i="0" dirty="0">
                <a:solidFill>
                  <a:srgbClr val="111111"/>
                </a:solidFill>
                <a:latin typeface="Arial"/>
                <a:ea typeface="Arial"/>
                <a:cs typeface="Arial"/>
              </a:rPr>
              <a:t>or Third-Party Tools</a:t>
            </a:r>
          </a:p>
        </p:txBody>
      </p:sp>
      <p:sp>
        <p:nvSpPr>
          <p:cNvPr id="55" name="Rectangle 54">
            <a:extLst>
              <a:ext uri="{FF2B5EF4-FFF2-40B4-BE49-F238E27FC236}">
                <a16:creationId xmlns:a16="http://schemas.microsoft.com/office/drawing/2014/main" id="{E516E089-9B63-4074-8D26-1125AA1F604F}"/>
              </a:ext>
            </a:extLst>
          </p:cNvPr>
          <p:cNvSpPr>
            <a:spLocks noGrp="1"/>
          </p:cNvSpPr>
          <p:nvPr/>
        </p:nvSpPr>
        <p:spPr>
          <a:xfrm>
            <a:off x="4991100" y="4019550"/>
            <a:ext cx="1276350" cy="552450"/>
          </a:xfrm>
          <a:prstGeom prst="rect">
            <a:avLst/>
          </a:prstGeom>
          <a:noFill/>
          <a:ln w="0">
            <a:noFill/>
            <a:prstDash val="solid"/>
          </a:ln>
        </p:spPr>
        <p:txBody>
          <a:bodyPr wrap="square" lIns="0" tIns="0" rIns="0" bIns="0" anchor="t"/>
          <a:lstStyle/>
          <a:p>
            <a:pPr algn="ctr">
              <a:lnSpc>
                <a:spcPct val="110000"/>
              </a:lnSpc>
              <a:buNone/>
              <a:defRPr sz="765" b="0" i="0">
                <a:solidFill>
                  <a:srgbClr val="111111"/>
                </a:solidFill>
                <a:latin typeface="Arial"/>
                <a:ea typeface="Arial"/>
                <a:cs typeface="Arial"/>
              </a:defRPr>
            </a:pPr>
            <a:r>
              <a:rPr sz="765" b="0" i="0" dirty="0">
                <a:solidFill>
                  <a:srgbClr val="111111"/>
                </a:solidFill>
                <a:latin typeface="Arial"/>
                <a:ea typeface="Arial"/>
                <a:cs typeface="Arial"/>
              </a:rPr>
              <a:t>Migrate and modernize</a:t>
            </a:r>
          </a:p>
          <a:p>
            <a:pPr algn="ctr">
              <a:lnSpc>
                <a:spcPct val="110000"/>
              </a:lnSpc>
              <a:buNone/>
              <a:defRPr sz="765" b="0" i="0">
                <a:solidFill>
                  <a:srgbClr val="111111"/>
                </a:solidFill>
                <a:latin typeface="Arial"/>
                <a:ea typeface="Arial"/>
                <a:cs typeface="Arial"/>
              </a:defRPr>
            </a:pPr>
            <a:r>
              <a:rPr sz="765" b="0" i="0" dirty="0">
                <a:solidFill>
                  <a:srgbClr val="111111"/>
                </a:solidFill>
                <a:latin typeface="Arial"/>
                <a:ea typeface="Arial"/>
                <a:cs typeface="Arial"/>
              </a:rPr>
              <a:t>workloads to OCI Compute</a:t>
            </a:r>
          </a:p>
          <a:p>
            <a:pPr algn="ctr">
              <a:lnSpc>
                <a:spcPct val="110000"/>
              </a:lnSpc>
              <a:buNone/>
              <a:defRPr sz="765" b="0" i="0">
                <a:solidFill>
                  <a:srgbClr val="111111"/>
                </a:solidFill>
                <a:latin typeface="Arial"/>
                <a:ea typeface="Arial"/>
                <a:cs typeface="Arial"/>
              </a:defRPr>
            </a:pPr>
            <a:r>
              <a:rPr sz="765" b="0" i="0" dirty="0">
                <a:solidFill>
                  <a:srgbClr val="111111"/>
                </a:solidFill>
                <a:latin typeface="Arial"/>
                <a:ea typeface="Arial"/>
                <a:cs typeface="Arial"/>
              </a:rPr>
              <a:t>using OCM or partner tools.</a:t>
            </a:r>
          </a:p>
        </p:txBody>
      </p:sp>
      <p:sp>
        <p:nvSpPr>
          <p:cNvPr id="56" name="Straight Connector 55">
            <a:extLst>
              <a:ext uri="{FF2B5EF4-FFF2-40B4-BE49-F238E27FC236}">
                <a16:creationId xmlns:a16="http://schemas.microsoft.com/office/drawing/2014/main" id="{8EC0654B-43C1-4352-8F8B-364C399EB733}"/>
              </a:ext>
            </a:extLst>
          </p:cNvPr>
          <p:cNvSpPr>
            <a:spLocks noGrp="1"/>
          </p:cNvSpPr>
          <p:nvPr/>
        </p:nvSpPr>
        <p:spPr>
          <a:xfrm>
            <a:off x="3448050" y="4591050"/>
            <a:ext cx="2743200" cy="0"/>
          </a:xfrm>
          <a:prstGeom prst="line">
            <a:avLst/>
          </a:prstGeom>
          <a:noFill/>
          <a:ln w="9525">
            <a:solidFill>
              <a:srgbClr val="E2E2E2"/>
            </a:solidFill>
            <a:prstDash val="solid"/>
          </a:ln>
        </p:spPr>
        <p:txBody>
          <a:bodyPr/>
          <a:lstStyle/>
          <a:p>
            <a:endParaRPr lang="en-FR"/>
          </a:p>
        </p:txBody>
      </p:sp>
      <p:sp>
        <p:nvSpPr>
          <p:cNvPr id="57" name="Rectangle 56">
            <a:extLst>
              <a:ext uri="{FF2B5EF4-FFF2-40B4-BE49-F238E27FC236}">
                <a16:creationId xmlns:a16="http://schemas.microsoft.com/office/drawing/2014/main" id="{7206710C-15F3-4542-8BB0-F7A500382937}"/>
              </a:ext>
            </a:extLst>
          </p:cNvPr>
          <p:cNvSpPr>
            <a:spLocks noGrp="1"/>
          </p:cNvSpPr>
          <p:nvPr/>
        </p:nvSpPr>
        <p:spPr>
          <a:xfrm>
            <a:off x="4191000" y="4686300"/>
            <a:ext cx="125730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CONNECTIVITY OPTIONS</a:t>
            </a:r>
          </a:p>
        </p:txBody>
      </p:sp>
      <p:pic>
        <p:nvPicPr>
          <p:cNvPr id="170" name="Picture 169"/>
          <p:cNvPicPr>
            <a:picLocks noChangeAspect="1"/>
          </p:cNvPicPr>
          <p:nvPr/>
        </p:nvPicPr>
        <p:blipFill>
          <a:blip r:embed="rId16"/>
          <a:stretch/>
        </p:blipFill>
        <p:spPr>
          <a:xfrm>
            <a:off x="3609975" y="4820189"/>
            <a:ext cx="447675" cy="456122"/>
          </a:xfrm>
          <a:prstGeom prst="rect">
            <a:avLst/>
          </a:prstGeom>
        </p:spPr>
      </p:pic>
      <p:pic>
        <p:nvPicPr>
          <p:cNvPr id="171" name="Picture 170"/>
          <p:cNvPicPr>
            <a:picLocks noChangeAspect="1"/>
          </p:cNvPicPr>
          <p:nvPr/>
        </p:nvPicPr>
        <p:blipFill>
          <a:blip r:embed="rId17"/>
          <a:stretch/>
        </p:blipFill>
        <p:spPr>
          <a:xfrm>
            <a:off x="4585229" y="4819650"/>
            <a:ext cx="440267" cy="457200"/>
          </a:xfrm>
          <a:prstGeom prst="rect">
            <a:avLst/>
          </a:prstGeom>
        </p:spPr>
      </p:pic>
      <p:pic>
        <p:nvPicPr>
          <p:cNvPr id="172" name="Picture 171"/>
          <p:cNvPicPr>
            <a:picLocks noChangeAspect="1"/>
          </p:cNvPicPr>
          <p:nvPr/>
        </p:nvPicPr>
        <p:blipFill>
          <a:blip r:embed="rId18"/>
          <a:stretch/>
        </p:blipFill>
        <p:spPr>
          <a:xfrm>
            <a:off x="5581650" y="4824413"/>
            <a:ext cx="447675" cy="447675"/>
          </a:xfrm>
          <a:prstGeom prst="rect">
            <a:avLst/>
          </a:prstGeom>
        </p:spPr>
      </p:pic>
      <p:sp>
        <p:nvSpPr>
          <p:cNvPr id="61" name="Rectangle 60">
            <a:extLst>
              <a:ext uri="{FF2B5EF4-FFF2-40B4-BE49-F238E27FC236}">
                <a16:creationId xmlns:a16="http://schemas.microsoft.com/office/drawing/2014/main" id="{E7DDA9FE-84AB-4353-B64B-C782B277BEF2}"/>
              </a:ext>
            </a:extLst>
          </p:cNvPr>
          <p:cNvSpPr>
            <a:spLocks noGrp="1"/>
          </p:cNvSpPr>
          <p:nvPr/>
        </p:nvSpPr>
        <p:spPr>
          <a:xfrm>
            <a:off x="3562350" y="5314950"/>
            <a:ext cx="523875" cy="152400"/>
          </a:xfrm>
          <a:prstGeom prst="rect">
            <a:avLst/>
          </a:prstGeom>
          <a:noFill/>
          <a:ln w="0">
            <a:noFill/>
            <a:prstDash val="solid"/>
          </a:ln>
        </p:spPr>
        <p:txBody>
          <a:bodyPr wrap="none" lIns="0" tIns="0" rIns="0" bIns="0" anchor="t"/>
          <a:lstStyle/>
          <a:p>
            <a:pPr algn="ct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Internet</a:t>
            </a:r>
          </a:p>
        </p:txBody>
      </p:sp>
      <p:sp>
        <p:nvSpPr>
          <p:cNvPr id="62" name="Rectangle 61">
            <a:extLst>
              <a:ext uri="{FF2B5EF4-FFF2-40B4-BE49-F238E27FC236}">
                <a16:creationId xmlns:a16="http://schemas.microsoft.com/office/drawing/2014/main" id="{F3576EBD-A5F0-4873-BD74-57057295ACA6}"/>
              </a:ext>
            </a:extLst>
          </p:cNvPr>
          <p:cNvSpPr>
            <a:spLocks noGrp="1"/>
          </p:cNvSpPr>
          <p:nvPr/>
        </p:nvSpPr>
        <p:spPr>
          <a:xfrm>
            <a:off x="4610100" y="5314950"/>
            <a:ext cx="400050" cy="152400"/>
          </a:xfrm>
          <a:prstGeom prst="rect">
            <a:avLst/>
          </a:prstGeom>
          <a:noFill/>
          <a:ln w="0">
            <a:noFill/>
            <a:prstDash val="solid"/>
          </a:ln>
        </p:spPr>
        <p:txBody>
          <a:bodyPr wrap="none" lIns="0" tIns="0" rIns="0" bIns="0" anchor="t"/>
          <a:lstStyle/>
          <a:p>
            <a:pPr algn="ct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VPN</a:t>
            </a:r>
          </a:p>
        </p:txBody>
      </p:sp>
      <p:sp>
        <p:nvSpPr>
          <p:cNvPr id="63" name="Rectangle 62">
            <a:extLst>
              <a:ext uri="{FF2B5EF4-FFF2-40B4-BE49-F238E27FC236}">
                <a16:creationId xmlns:a16="http://schemas.microsoft.com/office/drawing/2014/main" id="{BD722160-7687-4E22-BDF8-639413E3EF4A}"/>
              </a:ext>
            </a:extLst>
          </p:cNvPr>
          <p:cNvSpPr>
            <a:spLocks noGrp="1"/>
          </p:cNvSpPr>
          <p:nvPr/>
        </p:nvSpPr>
        <p:spPr>
          <a:xfrm>
            <a:off x="5505450" y="5314950"/>
            <a:ext cx="666750" cy="152400"/>
          </a:xfrm>
          <a:prstGeom prst="rect">
            <a:avLst/>
          </a:prstGeom>
          <a:noFill/>
          <a:ln w="0">
            <a:noFill/>
            <a:prstDash val="solid"/>
          </a:ln>
        </p:spPr>
        <p:txBody>
          <a:bodyPr wrap="none" lIns="0" tIns="0" rIns="0" bIns="0" anchor="t"/>
          <a:lstStyle/>
          <a:p>
            <a:pPr algn="ct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FastConnect</a:t>
            </a:r>
          </a:p>
        </p:txBody>
      </p:sp>
      <p:pic>
        <p:nvPicPr>
          <p:cNvPr id="176" name="Picture 175"/>
          <p:cNvPicPr>
            <a:picLocks noChangeAspect="1"/>
          </p:cNvPicPr>
          <p:nvPr/>
        </p:nvPicPr>
        <p:blipFill>
          <a:blip r:embed="rId19"/>
          <a:stretch/>
        </p:blipFill>
        <p:spPr>
          <a:xfrm>
            <a:off x="3028950" y="3539637"/>
            <a:ext cx="285750" cy="293077"/>
          </a:xfrm>
          <a:prstGeom prst="rect">
            <a:avLst/>
          </a:prstGeom>
        </p:spPr>
      </p:pic>
      <p:pic>
        <p:nvPicPr>
          <p:cNvPr id="177" name="Picture 176"/>
          <p:cNvPicPr>
            <a:picLocks noChangeAspect="1"/>
          </p:cNvPicPr>
          <p:nvPr/>
        </p:nvPicPr>
        <p:blipFill>
          <a:blip r:embed="rId20"/>
          <a:stretch/>
        </p:blipFill>
        <p:spPr>
          <a:xfrm>
            <a:off x="6347460" y="3533775"/>
            <a:ext cx="297180" cy="304800"/>
          </a:xfrm>
          <a:prstGeom prst="rect">
            <a:avLst/>
          </a:prstGeom>
        </p:spPr>
      </p:pic>
      <p:sp>
        <p:nvSpPr>
          <p:cNvPr id="66" name="Rounded Rectangle 65">
            <a:extLst>
              <a:ext uri="{FF2B5EF4-FFF2-40B4-BE49-F238E27FC236}">
                <a16:creationId xmlns:a16="http://schemas.microsoft.com/office/drawing/2014/main" id="{26FE7CC9-719C-41DA-AD71-CEE8E0359FAE}"/>
              </a:ext>
            </a:extLst>
          </p:cNvPr>
          <p:cNvSpPr>
            <a:spLocks noGrp="1"/>
          </p:cNvSpPr>
          <p:nvPr/>
        </p:nvSpPr>
        <p:spPr>
          <a:xfrm>
            <a:off x="6629400" y="2181225"/>
            <a:ext cx="3143250" cy="3390900"/>
          </a:xfrm>
          <a:prstGeom prst="roundRect">
            <a:avLst>
              <a:gd name="adj" fmla="val 2424"/>
            </a:avLst>
          </a:prstGeom>
          <a:solidFill>
            <a:srgbClr val="FFFFFF"/>
          </a:solidFill>
          <a:ln w="9525">
            <a:solidFill>
              <a:srgbClr val="E00000"/>
            </a:solidFill>
            <a:prstDash val="solid"/>
          </a:ln>
        </p:spPr>
        <p:txBody>
          <a:bodyPr/>
          <a:lstStyle/>
          <a:p>
            <a:endParaRPr lang="en-FR"/>
          </a:p>
        </p:txBody>
      </p:sp>
      <p:sp>
        <p:nvSpPr>
          <p:cNvPr id="67" name="Rounded Rectangle 66">
            <a:extLst>
              <a:ext uri="{FF2B5EF4-FFF2-40B4-BE49-F238E27FC236}">
                <a16:creationId xmlns:a16="http://schemas.microsoft.com/office/drawing/2014/main" id="{8BA34303-23B5-42A6-B759-F773D5E1C7C2}"/>
              </a:ext>
            </a:extLst>
          </p:cNvPr>
          <p:cNvSpPr>
            <a:spLocks noGrp="1"/>
          </p:cNvSpPr>
          <p:nvPr/>
        </p:nvSpPr>
        <p:spPr>
          <a:xfrm>
            <a:off x="6629400" y="2181225"/>
            <a:ext cx="3143250" cy="371475"/>
          </a:xfrm>
          <a:prstGeom prst="roundRect">
            <a:avLst>
              <a:gd name="adj" fmla="val 17949"/>
            </a:avLst>
          </a:prstGeom>
          <a:solidFill>
            <a:srgbClr val="E00000"/>
          </a:solidFill>
          <a:ln w="0">
            <a:solidFill>
              <a:srgbClr val="E00000"/>
            </a:solidFill>
            <a:prstDash val="solid"/>
          </a:ln>
        </p:spPr>
        <p:txBody>
          <a:bodyPr/>
          <a:lstStyle/>
          <a:p>
            <a:endParaRPr lang="en-FR"/>
          </a:p>
        </p:txBody>
      </p:sp>
      <p:sp>
        <p:nvSpPr>
          <p:cNvPr id="68" name="Rectangle 67">
            <a:extLst>
              <a:ext uri="{FF2B5EF4-FFF2-40B4-BE49-F238E27FC236}">
                <a16:creationId xmlns:a16="http://schemas.microsoft.com/office/drawing/2014/main" id="{83AD87F9-C7A8-4DD9-BE49-4967D9DDA67F}"/>
              </a:ext>
            </a:extLst>
          </p:cNvPr>
          <p:cNvSpPr>
            <a:spLocks noGrp="1"/>
          </p:cNvSpPr>
          <p:nvPr/>
        </p:nvSpPr>
        <p:spPr>
          <a:xfrm>
            <a:off x="6629400" y="2286000"/>
            <a:ext cx="3143250" cy="171450"/>
          </a:xfrm>
          <a:prstGeom prst="rect">
            <a:avLst/>
          </a:prstGeom>
          <a:noFill/>
          <a:ln w="0">
            <a:noFill/>
            <a:prstDash val="solid"/>
          </a:ln>
        </p:spPr>
        <p:txBody>
          <a:bodyPr wrap="none" lIns="0" tIns="0" rIns="0" bIns="0" anchor="t"/>
          <a:lstStyle/>
          <a:p>
            <a:pPr algn="ctr">
              <a:lnSpc>
                <a:spcPct val="100000"/>
              </a:lnSpc>
              <a:buNone/>
              <a:defRPr sz="1050" b="1" i="0">
                <a:solidFill>
                  <a:srgbClr val="FFFFFF"/>
                </a:solidFill>
                <a:latin typeface="Arial"/>
                <a:ea typeface="Arial"/>
                <a:cs typeface="Arial"/>
              </a:defRPr>
            </a:pPr>
            <a:r>
              <a:rPr sz="1050" b="1" i="0">
                <a:solidFill>
                  <a:srgbClr val="FFFFFF"/>
                </a:solidFill>
                <a:latin typeface="Arial"/>
                <a:ea typeface="Arial"/>
                <a:cs typeface="Arial"/>
              </a:rPr>
              <a:t>TARGET ENVIRONMENT (HYBRID)</a:t>
            </a:r>
          </a:p>
        </p:txBody>
      </p:sp>
      <p:sp>
        <p:nvSpPr>
          <p:cNvPr id="69" name="Cloud 68">
            <a:extLst>
              <a:ext uri="{FF2B5EF4-FFF2-40B4-BE49-F238E27FC236}">
                <a16:creationId xmlns:a16="http://schemas.microsoft.com/office/drawing/2014/main" id="{80341006-C9F7-4FD9-B8DD-386B3B84CA98}"/>
              </a:ext>
            </a:extLst>
          </p:cNvPr>
          <p:cNvSpPr>
            <a:spLocks noGrp="1"/>
          </p:cNvSpPr>
          <p:nvPr/>
        </p:nvSpPr>
        <p:spPr>
          <a:xfrm>
            <a:off x="6660340" y="2752725"/>
            <a:ext cx="3069970" cy="1809750"/>
          </a:xfrm>
          <a:prstGeom prst="cloud">
            <a:avLst/>
          </a:prstGeom>
          <a:solidFill>
            <a:srgbClr val="FFFFFF"/>
          </a:solidFill>
          <a:ln w="12383">
            <a:solidFill>
              <a:srgbClr val="1C6745"/>
            </a:solidFill>
            <a:prstDash val="solid"/>
          </a:ln>
        </p:spPr>
        <p:txBody>
          <a:bodyPr/>
          <a:lstStyle/>
          <a:p>
            <a:endParaRPr lang="en-FR" dirty="0"/>
          </a:p>
        </p:txBody>
      </p:sp>
      <p:sp>
        <p:nvSpPr>
          <p:cNvPr id="70" name="Arc 69">
            <a:extLst>
              <a:ext uri="{FF2B5EF4-FFF2-40B4-BE49-F238E27FC236}">
                <a16:creationId xmlns:a16="http://schemas.microsoft.com/office/drawing/2014/main" id="{FA2ACF4C-E1A9-47F5-9C3E-B8B6F4BE267F}"/>
              </a:ext>
            </a:extLst>
          </p:cNvPr>
          <p:cNvSpPr>
            <a:spLocks noGrp="1"/>
          </p:cNvSpPr>
          <p:nvPr/>
        </p:nvSpPr>
        <p:spPr>
          <a:xfrm>
            <a:off x="7648575" y="3019425"/>
            <a:ext cx="1219200" cy="1114425"/>
          </a:xfrm>
          <a:prstGeom prst="arc">
            <a:avLst/>
          </a:prstGeom>
          <a:noFill/>
          <a:ln w="11430">
            <a:solidFill>
              <a:srgbClr val="1C6745"/>
            </a:solidFill>
            <a:prstDash val="dash"/>
          </a:ln>
        </p:spPr>
        <p:txBody>
          <a:bodyPr/>
          <a:lstStyle/>
          <a:p>
            <a:endParaRPr lang="en-FR"/>
          </a:p>
        </p:txBody>
      </p:sp>
      <p:sp>
        <p:nvSpPr>
          <p:cNvPr id="71" name="Straight Connector 70">
            <a:extLst>
              <a:ext uri="{FF2B5EF4-FFF2-40B4-BE49-F238E27FC236}">
                <a16:creationId xmlns:a16="http://schemas.microsoft.com/office/drawing/2014/main" id="{8861F202-03A5-452A-8795-594C86944C69}"/>
              </a:ext>
            </a:extLst>
          </p:cNvPr>
          <p:cNvSpPr>
            <a:spLocks noGrp="1"/>
          </p:cNvSpPr>
          <p:nvPr/>
        </p:nvSpPr>
        <p:spPr>
          <a:xfrm flipV="1">
            <a:off x="7648575" y="3533774"/>
            <a:ext cx="1093500" cy="9525"/>
          </a:xfrm>
          <a:prstGeom prst="line">
            <a:avLst/>
          </a:prstGeom>
          <a:ln w="9525" cap="flat" cmpd="sng" algn="ctr">
            <a:solidFill>
              <a:schemeClr val="dk1"/>
            </a:solidFill>
            <a:prstDash val="dash"/>
            <a:round/>
            <a:headEnd type="stealth" w="med" len="med"/>
            <a:tailEnd type="stealth" w="med" len="med"/>
          </a:ln>
        </p:spPr>
        <p:style>
          <a:lnRef idx="0">
            <a:scrgbClr r="0" g="0" b="0"/>
          </a:lnRef>
          <a:fillRef idx="0">
            <a:scrgbClr r="0" g="0" b="0"/>
          </a:fillRef>
          <a:effectRef idx="0">
            <a:scrgbClr r="0" g="0" b="0"/>
          </a:effectRef>
          <a:fontRef idx="minor">
            <a:schemeClr val="tx1"/>
          </a:fontRef>
        </p:style>
        <p:txBody>
          <a:bodyPr/>
          <a:lstStyle/>
          <a:p>
            <a:endParaRPr lang="en-FR" dirty="0">
              <a:ln w="9525">
                <a:solidFill>
                  <a:schemeClr val="tx1"/>
                </a:solidFill>
              </a:ln>
            </a:endParaRPr>
          </a:p>
        </p:txBody>
      </p:sp>
      <p:pic>
        <p:nvPicPr>
          <p:cNvPr id="184" name="Picture 183"/>
          <p:cNvPicPr>
            <a:picLocks noChangeAspect="1"/>
          </p:cNvPicPr>
          <p:nvPr/>
        </p:nvPicPr>
        <p:blipFill>
          <a:blip r:embed="rId21"/>
          <a:stretch/>
        </p:blipFill>
        <p:spPr>
          <a:xfrm>
            <a:off x="8070594" y="2809875"/>
            <a:ext cx="222762" cy="276225"/>
          </a:xfrm>
          <a:prstGeom prst="rect">
            <a:avLst/>
          </a:prstGeom>
        </p:spPr>
      </p:pic>
      <p:pic>
        <p:nvPicPr>
          <p:cNvPr id="185" name="Picture 184"/>
          <p:cNvPicPr>
            <a:picLocks noChangeAspect="1"/>
          </p:cNvPicPr>
          <p:nvPr/>
        </p:nvPicPr>
        <p:blipFill>
          <a:blip r:embed="rId22"/>
          <a:stretch/>
        </p:blipFill>
        <p:spPr>
          <a:xfrm>
            <a:off x="8042230" y="3990975"/>
            <a:ext cx="260441" cy="276225"/>
          </a:xfrm>
          <a:prstGeom prst="rect">
            <a:avLst/>
          </a:prstGeom>
        </p:spPr>
      </p:pic>
      <p:pic>
        <p:nvPicPr>
          <p:cNvPr id="187" name="Picture 186"/>
          <p:cNvPicPr>
            <a:picLocks noChangeAspect="1"/>
          </p:cNvPicPr>
          <p:nvPr/>
        </p:nvPicPr>
        <p:blipFill>
          <a:blip r:embed="rId23"/>
          <a:stretch/>
        </p:blipFill>
        <p:spPr>
          <a:xfrm>
            <a:off x="8785578" y="3333750"/>
            <a:ext cx="431094" cy="447675"/>
          </a:xfrm>
          <a:prstGeom prst="rect">
            <a:avLst/>
          </a:prstGeom>
        </p:spPr>
      </p:pic>
      <p:sp>
        <p:nvSpPr>
          <p:cNvPr id="76" name="Rectangle 75">
            <a:extLst>
              <a:ext uri="{FF2B5EF4-FFF2-40B4-BE49-F238E27FC236}">
                <a16:creationId xmlns:a16="http://schemas.microsoft.com/office/drawing/2014/main" id="{A6C2599F-DEC5-4F80-B6AC-32A609E0FFF7}"/>
              </a:ext>
            </a:extLst>
          </p:cNvPr>
          <p:cNvSpPr>
            <a:spLocks noGrp="1"/>
          </p:cNvSpPr>
          <p:nvPr/>
        </p:nvSpPr>
        <p:spPr>
          <a:xfrm>
            <a:off x="7134225" y="3848100"/>
            <a:ext cx="571500" cy="171450"/>
          </a:xfrm>
          <a:prstGeom prst="rect">
            <a:avLst/>
          </a:prstGeom>
          <a:noFill/>
          <a:ln w="0">
            <a:noFill/>
            <a:prstDash val="solid"/>
          </a:ln>
        </p:spPr>
        <p:txBody>
          <a:bodyPr wrap="none" lIns="0" tIns="0" rIns="0" bIns="0" anchor="t"/>
          <a:lstStyle/>
          <a:p>
            <a:pPr algn="ctr">
              <a:lnSpc>
                <a:spcPct val="100000"/>
              </a:lnSpc>
              <a:buNone/>
              <a:defRPr sz="900" b="1" i="0">
                <a:solidFill>
                  <a:srgbClr val="111111"/>
                </a:solidFill>
                <a:latin typeface="Arial"/>
                <a:ea typeface="Arial"/>
                <a:cs typeface="Arial"/>
              </a:defRPr>
            </a:pPr>
            <a:r>
              <a:rPr sz="900" b="1" i="0">
                <a:solidFill>
                  <a:srgbClr val="111111"/>
                </a:solidFill>
                <a:latin typeface="Arial"/>
                <a:ea typeface="Arial"/>
                <a:cs typeface="Arial"/>
              </a:rPr>
              <a:t>OCVS</a:t>
            </a:r>
          </a:p>
        </p:txBody>
      </p:sp>
      <p:sp>
        <p:nvSpPr>
          <p:cNvPr id="77" name="Rectangle 76">
            <a:extLst>
              <a:ext uri="{FF2B5EF4-FFF2-40B4-BE49-F238E27FC236}">
                <a16:creationId xmlns:a16="http://schemas.microsoft.com/office/drawing/2014/main" id="{181A4EBB-8073-4D8B-8BEA-F3C659B16090}"/>
              </a:ext>
            </a:extLst>
          </p:cNvPr>
          <p:cNvSpPr>
            <a:spLocks noGrp="1"/>
          </p:cNvSpPr>
          <p:nvPr/>
        </p:nvSpPr>
        <p:spPr>
          <a:xfrm>
            <a:off x="6964341" y="3988284"/>
            <a:ext cx="876300" cy="171450"/>
          </a:xfrm>
          <a:prstGeom prst="rect">
            <a:avLst/>
          </a:prstGeom>
          <a:noFill/>
          <a:ln w="0">
            <a:noFill/>
            <a:prstDash val="solid"/>
          </a:ln>
        </p:spPr>
        <p:txBody>
          <a:bodyPr wrap="none" lIns="0" tIns="0" rIns="0" bIns="0" anchor="t"/>
          <a:lstStyle/>
          <a:p>
            <a:pPr algn="ctr">
              <a:lnSpc>
                <a:spcPct val="100000"/>
              </a:lnSpc>
              <a:buNone/>
              <a:defRPr sz="825" b="0" i="0">
                <a:solidFill>
                  <a:srgbClr val="111111"/>
                </a:solidFill>
                <a:latin typeface="Arial"/>
                <a:ea typeface="Arial"/>
                <a:cs typeface="Arial"/>
              </a:defRPr>
            </a:pPr>
            <a:r>
              <a:rPr sz="825" b="0" i="0" dirty="0">
                <a:solidFill>
                  <a:srgbClr val="111111"/>
                </a:solidFill>
                <a:latin typeface="Arial"/>
                <a:ea typeface="Arial"/>
                <a:cs typeface="Arial"/>
              </a:rPr>
              <a:t>Run VMware</a:t>
            </a:r>
          </a:p>
        </p:txBody>
      </p:sp>
      <p:sp>
        <p:nvSpPr>
          <p:cNvPr id="78" name="Rectangle 77">
            <a:extLst>
              <a:ext uri="{FF2B5EF4-FFF2-40B4-BE49-F238E27FC236}">
                <a16:creationId xmlns:a16="http://schemas.microsoft.com/office/drawing/2014/main" id="{D07A2387-B2DC-46D9-B019-42F37CE6AD09}"/>
              </a:ext>
            </a:extLst>
          </p:cNvPr>
          <p:cNvSpPr>
            <a:spLocks noGrp="1"/>
          </p:cNvSpPr>
          <p:nvPr/>
        </p:nvSpPr>
        <p:spPr>
          <a:xfrm>
            <a:off x="8677275" y="3848100"/>
            <a:ext cx="819150" cy="171450"/>
          </a:xfrm>
          <a:prstGeom prst="rect">
            <a:avLst/>
          </a:prstGeom>
          <a:noFill/>
          <a:ln w="0">
            <a:noFill/>
            <a:prstDash val="solid"/>
          </a:ln>
        </p:spPr>
        <p:txBody>
          <a:bodyPr wrap="none" lIns="0" tIns="0" rIns="0" bIns="0" anchor="t"/>
          <a:lstStyle/>
          <a:p>
            <a:pPr algn="ctr">
              <a:lnSpc>
                <a:spcPct val="100000"/>
              </a:lnSpc>
              <a:buNone/>
              <a:defRPr sz="900" b="1" i="0">
                <a:solidFill>
                  <a:srgbClr val="111111"/>
                </a:solidFill>
                <a:latin typeface="Arial"/>
                <a:ea typeface="Arial"/>
                <a:cs typeface="Arial"/>
              </a:defRPr>
            </a:pPr>
            <a:r>
              <a:rPr sz="900" b="1" i="0">
                <a:solidFill>
                  <a:srgbClr val="111111"/>
                </a:solidFill>
                <a:latin typeface="Arial"/>
                <a:ea typeface="Arial"/>
                <a:cs typeface="Arial"/>
              </a:rPr>
              <a:t>OCI Compute</a:t>
            </a:r>
          </a:p>
        </p:txBody>
      </p:sp>
      <p:sp>
        <p:nvSpPr>
          <p:cNvPr id="79" name="Rectangle 78">
            <a:extLst>
              <a:ext uri="{FF2B5EF4-FFF2-40B4-BE49-F238E27FC236}">
                <a16:creationId xmlns:a16="http://schemas.microsoft.com/office/drawing/2014/main" id="{EA2F3E31-55EA-4AD2-8583-312A2718BD4D}"/>
              </a:ext>
            </a:extLst>
          </p:cNvPr>
          <p:cNvSpPr>
            <a:spLocks noGrp="1"/>
          </p:cNvSpPr>
          <p:nvPr/>
        </p:nvSpPr>
        <p:spPr>
          <a:xfrm>
            <a:off x="8686800" y="4010025"/>
            <a:ext cx="762000" cy="171450"/>
          </a:xfrm>
          <a:prstGeom prst="rect">
            <a:avLst/>
          </a:prstGeom>
          <a:noFill/>
          <a:ln w="0">
            <a:noFill/>
            <a:prstDash val="solid"/>
          </a:ln>
        </p:spPr>
        <p:txBody>
          <a:bodyPr wrap="none" lIns="0" tIns="0" rIns="0" bIns="0" anchor="t"/>
          <a:lstStyle/>
          <a:p>
            <a:pPr algn="ctr">
              <a:lnSpc>
                <a:spcPct val="100000"/>
              </a:lnSpc>
              <a:buNone/>
              <a:defRPr sz="825" b="0" i="0">
                <a:solidFill>
                  <a:srgbClr val="111111"/>
                </a:solidFill>
                <a:latin typeface="Arial"/>
                <a:ea typeface="Arial"/>
                <a:cs typeface="Arial"/>
              </a:defRPr>
            </a:pPr>
            <a:r>
              <a:rPr sz="825" b="0" i="0" dirty="0">
                <a:solidFill>
                  <a:srgbClr val="111111"/>
                </a:solidFill>
                <a:latin typeface="Arial"/>
                <a:ea typeface="Arial"/>
                <a:cs typeface="Arial"/>
              </a:rPr>
              <a:t>Modernize</a:t>
            </a:r>
          </a:p>
        </p:txBody>
      </p:sp>
      <p:sp>
        <p:nvSpPr>
          <p:cNvPr id="80" name="Rounded Rectangle 79">
            <a:extLst>
              <a:ext uri="{FF2B5EF4-FFF2-40B4-BE49-F238E27FC236}">
                <a16:creationId xmlns:a16="http://schemas.microsoft.com/office/drawing/2014/main" id="{3D427039-41E7-473E-9076-FB853F489E6F}"/>
              </a:ext>
            </a:extLst>
          </p:cNvPr>
          <p:cNvSpPr>
            <a:spLocks noGrp="1"/>
          </p:cNvSpPr>
          <p:nvPr/>
        </p:nvSpPr>
        <p:spPr>
          <a:xfrm>
            <a:off x="6734175" y="4629150"/>
            <a:ext cx="2876550" cy="838200"/>
          </a:xfrm>
          <a:prstGeom prst="roundRect">
            <a:avLst>
              <a:gd name="adj" fmla="val 9091"/>
            </a:avLst>
          </a:prstGeom>
          <a:solidFill>
            <a:srgbClr val="FFF0EE"/>
          </a:solidFill>
          <a:ln w="0">
            <a:solidFill>
              <a:srgbClr val="FFF0EE"/>
            </a:solidFill>
            <a:prstDash val="solid"/>
          </a:ln>
        </p:spPr>
        <p:txBody>
          <a:bodyPr/>
          <a:lstStyle/>
          <a:p>
            <a:endParaRPr lang="en-FR"/>
          </a:p>
        </p:txBody>
      </p:sp>
      <p:pic>
        <p:nvPicPr>
          <p:cNvPr id="193" name="Picture 192"/>
          <p:cNvPicPr>
            <a:picLocks noChangeAspect="1"/>
          </p:cNvPicPr>
          <p:nvPr/>
        </p:nvPicPr>
        <p:blipFill>
          <a:blip r:embed="rId24"/>
          <a:stretch/>
        </p:blipFill>
        <p:spPr>
          <a:xfrm>
            <a:off x="6886575" y="4760051"/>
            <a:ext cx="398656" cy="419100"/>
          </a:xfrm>
          <a:prstGeom prst="rect">
            <a:avLst/>
          </a:prstGeom>
        </p:spPr>
      </p:pic>
      <p:sp>
        <p:nvSpPr>
          <p:cNvPr id="82" name="Rectangle 81">
            <a:extLst>
              <a:ext uri="{FF2B5EF4-FFF2-40B4-BE49-F238E27FC236}">
                <a16:creationId xmlns:a16="http://schemas.microsoft.com/office/drawing/2014/main" id="{7AF957E3-5766-431A-9B71-8BB2D80C35BF}"/>
              </a:ext>
            </a:extLst>
          </p:cNvPr>
          <p:cNvSpPr>
            <a:spLocks noGrp="1"/>
          </p:cNvSpPr>
          <p:nvPr/>
        </p:nvSpPr>
        <p:spPr>
          <a:xfrm>
            <a:off x="7324725" y="4762500"/>
            <a:ext cx="2028825" cy="190500"/>
          </a:xfrm>
          <a:prstGeom prst="rect">
            <a:avLst/>
          </a:prstGeom>
          <a:noFill/>
          <a:ln w="0">
            <a:noFill/>
            <a:prstDash val="solid"/>
          </a:ln>
        </p:spPr>
        <p:txBody>
          <a:bodyPr wrap="none" lIns="0" tIns="0" rIns="0" bIns="0" anchor="t"/>
          <a:lstStyle/>
          <a:p>
            <a:pPr algn="l">
              <a:lnSpc>
                <a:spcPct val="100000"/>
              </a:lnSpc>
              <a:buNone/>
              <a:defRPr sz="975" b="1" i="0">
                <a:solidFill>
                  <a:srgbClr val="111111"/>
                </a:solidFill>
                <a:latin typeface="Arial"/>
                <a:ea typeface="Arial"/>
                <a:cs typeface="Arial"/>
              </a:defRPr>
            </a:pPr>
            <a:r>
              <a:rPr sz="975" b="1" i="0" dirty="0">
                <a:solidFill>
                  <a:srgbClr val="111111"/>
                </a:solidFill>
                <a:latin typeface="Arial"/>
                <a:ea typeface="Arial"/>
                <a:cs typeface="Arial"/>
              </a:rPr>
              <a:t>Unified Management &amp; Security</a:t>
            </a:r>
          </a:p>
        </p:txBody>
      </p:sp>
      <p:sp>
        <p:nvSpPr>
          <p:cNvPr id="83" name="Rectangle 82">
            <a:extLst>
              <a:ext uri="{FF2B5EF4-FFF2-40B4-BE49-F238E27FC236}">
                <a16:creationId xmlns:a16="http://schemas.microsoft.com/office/drawing/2014/main" id="{7820D916-9422-47B1-BEE1-E7EAAA54E6BF}"/>
              </a:ext>
            </a:extLst>
          </p:cNvPr>
          <p:cNvSpPr>
            <a:spLocks noGrp="1"/>
          </p:cNvSpPr>
          <p:nvPr/>
        </p:nvSpPr>
        <p:spPr>
          <a:xfrm>
            <a:off x="7324725" y="4972050"/>
            <a:ext cx="2047875" cy="342900"/>
          </a:xfrm>
          <a:prstGeom prst="rect">
            <a:avLst/>
          </a:prstGeom>
          <a:noFill/>
          <a:ln w="0">
            <a:noFill/>
            <a:prstDash val="solid"/>
          </a:ln>
        </p:spPr>
        <p:txBody>
          <a:bodyPr wrap="square" lIns="0" tIns="0" rIns="0" bIns="0" anchor="t"/>
          <a:lstStyle/>
          <a:p>
            <a:pPr algn="l">
              <a:lnSpc>
                <a:spcPct val="107000"/>
              </a:lnSpc>
              <a:buNone/>
              <a:defRPr sz="863" b="0" i="0">
                <a:solidFill>
                  <a:srgbClr val="111111"/>
                </a:solidFill>
                <a:latin typeface="Arial"/>
                <a:ea typeface="Arial"/>
                <a:cs typeface="Arial"/>
              </a:defRPr>
            </a:pPr>
            <a:r>
              <a:rPr sz="863" b="0" i="0" dirty="0">
                <a:solidFill>
                  <a:srgbClr val="111111"/>
                </a:solidFill>
                <a:latin typeface="Arial"/>
                <a:ea typeface="Arial"/>
                <a:cs typeface="Arial"/>
              </a:rPr>
              <a:t>Consistent security, governance and</a:t>
            </a:r>
          </a:p>
          <a:p>
            <a:pPr algn="l">
              <a:lnSpc>
                <a:spcPct val="107000"/>
              </a:lnSpc>
              <a:buNone/>
              <a:defRPr sz="863" b="0" i="0">
                <a:solidFill>
                  <a:srgbClr val="111111"/>
                </a:solidFill>
                <a:latin typeface="Arial"/>
                <a:ea typeface="Arial"/>
                <a:cs typeface="Arial"/>
              </a:defRPr>
            </a:pPr>
            <a:r>
              <a:rPr sz="863" b="0" i="0" dirty="0">
                <a:solidFill>
                  <a:srgbClr val="111111"/>
                </a:solidFill>
                <a:latin typeface="Arial"/>
                <a:ea typeface="Arial"/>
                <a:cs typeface="Arial"/>
              </a:rPr>
              <a:t>management across all environments.</a:t>
            </a:r>
          </a:p>
        </p:txBody>
      </p:sp>
      <p:sp>
        <p:nvSpPr>
          <p:cNvPr id="84" name="Straight Connector 83">
            <a:extLst>
              <a:ext uri="{FF2B5EF4-FFF2-40B4-BE49-F238E27FC236}">
                <a16:creationId xmlns:a16="http://schemas.microsoft.com/office/drawing/2014/main" id="{B06C777C-FA3D-40E6-910F-C4D668A59718}"/>
              </a:ext>
            </a:extLst>
          </p:cNvPr>
          <p:cNvSpPr>
            <a:spLocks noGrp="1"/>
          </p:cNvSpPr>
          <p:nvPr/>
        </p:nvSpPr>
        <p:spPr>
          <a:xfrm>
            <a:off x="9963150" y="1304925"/>
            <a:ext cx="0" cy="4257675"/>
          </a:xfrm>
          <a:prstGeom prst="line">
            <a:avLst/>
          </a:prstGeom>
          <a:noFill/>
          <a:ln w="9525">
            <a:solidFill>
              <a:srgbClr val="D8DDD9"/>
            </a:solidFill>
            <a:prstDash val="solid"/>
          </a:ln>
        </p:spPr>
        <p:txBody>
          <a:bodyPr/>
          <a:lstStyle/>
          <a:p>
            <a:endParaRPr lang="en-FR"/>
          </a:p>
        </p:txBody>
      </p:sp>
      <p:sp>
        <p:nvSpPr>
          <p:cNvPr id="85" name="Rectangle 84">
            <a:extLst>
              <a:ext uri="{FF2B5EF4-FFF2-40B4-BE49-F238E27FC236}">
                <a16:creationId xmlns:a16="http://schemas.microsoft.com/office/drawing/2014/main" id="{194C3829-C7E3-467C-876A-5C163BD70A80}"/>
              </a:ext>
            </a:extLst>
          </p:cNvPr>
          <p:cNvSpPr>
            <a:spLocks noGrp="1"/>
          </p:cNvSpPr>
          <p:nvPr/>
        </p:nvSpPr>
        <p:spPr>
          <a:xfrm>
            <a:off x="10115550" y="1352550"/>
            <a:ext cx="1714500" cy="190500"/>
          </a:xfrm>
          <a:prstGeom prst="rect">
            <a:avLst/>
          </a:prstGeom>
          <a:noFill/>
          <a:ln w="0">
            <a:noFill/>
            <a:prstDash val="solid"/>
          </a:ln>
        </p:spPr>
        <p:txBody>
          <a:bodyPr wrap="none" lIns="0" tIns="0" rIns="0" bIns="0" anchor="t"/>
          <a:lstStyle/>
          <a:p>
            <a:pPr algn="l">
              <a:lnSpc>
                <a:spcPct val="100000"/>
              </a:lnSpc>
              <a:buNone/>
              <a:defRPr sz="975" b="1" i="0">
                <a:solidFill>
                  <a:srgbClr val="003B25"/>
                </a:solidFill>
                <a:latin typeface="Arial"/>
                <a:ea typeface="Arial"/>
                <a:cs typeface="Arial"/>
              </a:defRPr>
            </a:pPr>
            <a:r>
              <a:rPr sz="975" b="1" i="0">
                <a:solidFill>
                  <a:srgbClr val="003B25"/>
                </a:solidFill>
                <a:latin typeface="Arial"/>
                <a:ea typeface="Arial"/>
                <a:cs typeface="Arial"/>
              </a:rPr>
              <a:t>BUSINESS OUTCOMES</a:t>
            </a:r>
          </a:p>
        </p:txBody>
      </p:sp>
      <p:sp>
        <p:nvSpPr>
          <p:cNvPr id="86" name="Straight Connector 85">
            <a:extLst>
              <a:ext uri="{FF2B5EF4-FFF2-40B4-BE49-F238E27FC236}">
                <a16:creationId xmlns:a16="http://schemas.microsoft.com/office/drawing/2014/main" id="{1FDB18D3-84F9-49EB-99F8-B87FDD626B79}"/>
              </a:ext>
            </a:extLst>
          </p:cNvPr>
          <p:cNvSpPr>
            <a:spLocks noGrp="1"/>
          </p:cNvSpPr>
          <p:nvPr/>
        </p:nvSpPr>
        <p:spPr>
          <a:xfrm>
            <a:off x="10115550" y="1581150"/>
            <a:ext cx="1809750" cy="0"/>
          </a:xfrm>
          <a:prstGeom prst="line">
            <a:avLst/>
          </a:prstGeom>
          <a:noFill/>
          <a:ln w="9525">
            <a:solidFill>
              <a:srgbClr val="1C6745"/>
            </a:solidFill>
            <a:prstDash val="solid"/>
          </a:ln>
        </p:spPr>
        <p:txBody>
          <a:bodyPr/>
          <a:lstStyle/>
          <a:p>
            <a:endParaRPr lang="en-FR"/>
          </a:p>
        </p:txBody>
      </p:sp>
      <p:pic>
        <p:nvPicPr>
          <p:cNvPr id="199" name="Picture 198"/>
          <p:cNvPicPr>
            <a:picLocks noChangeAspect="1"/>
          </p:cNvPicPr>
          <p:nvPr/>
        </p:nvPicPr>
        <p:blipFill>
          <a:blip r:embed="rId25"/>
          <a:stretch/>
        </p:blipFill>
        <p:spPr>
          <a:xfrm>
            <a:off x="10067925" y="1771650"/>
            <a:ext cx="504825" cy="504825"/>
          </a:xfrm>
          <a:prstGeom prst="rect">
            <a:avLst/>
          </a:prstGeom>
        </p:spPr>
      </p:pic>
      <p:sp>
        <p:nvSpPr>
          <p:cNvPr id="88" name="Rectangle 87">
            <a:extLst>
              <a:ext uri="{FF2B5EF4-FFF2-40B4-BE49-F238E27FC236}">
                <a16:creationId xmlns:a16="http://schemas.microsoft.com/office/drawing/2014/main" id="{2C929F64-F04F-462F-8208-5F16B54FD01C}"/>
              </a:ext>
            </a:extLst>
          </p:cNvPr>
          <p:cNvSpPr>
            <a:spLocks noGrp="1"/>
          </p:cNvSpPr>
          <p:nvPr/>
        </p:nvSpPr>
        <p:spPr>
          <a:xfrm>
            <a:off x="10610850" y="1790700"/>
            <a:ext cx="1276350"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Lower Costs</a:t>
            </a:r>
          </a:p>
        </p:txBody>
      </p:sp>
      <p:sp>
        <p:nvSpPr>
          <p:cNvPr id="89" name="Rectangle 88">
            <a:extLst>
              <a:ext uri="{FF2B5EF4-FFF2-40B4-BE49-F238E27FC236}">
                <a16:creationId xmlns:a16="http://schemas.microsoft.com/office/drawing/2014/main" id="{0396E649-791C-4318-B7DD-37414FAB36DE}"/>
              </a:ext>
            </a:extLst>
          </p:cNvPr>
          <p:cNvSpPr>
            <a:spLocks noGrp="1"/>
          </p:cNvSpPr>
          <p:nvPr/>
        </p:nvSpPr>
        <p:spPr>
          <a:xfrm>
            <a:off x="10610850" y="2009775"/>
            <a:ext cx="1371600" cy="361950"/>
          </a:xfrm>
          <a:prstGeom prst="rect">
            <a:avLst/>
          </a:prstGeom>
          <a:noFill/>
          <a:ln w="0">
            <a:noFill/>
            <a:prstDash val="solid"/>
          </a:ln>
        </p:spPr>
        <p:txBody>
          <a:bodyPr wrap="square" lIns="0" tIns="0" rIns="0" bIns="0" anchor="t"/>
          <a:lstStyle/>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Optimize infrastructure and</a:t>
            </a:r>
          </a:p>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reduce operational costs.</a:t>
            </a:r>
          </a:p>
        </p:txBody>
      </p:sp>
      <p:sp>
        <p:nvSpPr>
          <p:cNvPr id="90" name="Straight Connector 89">
            <a:extLst>
              <a:ext uri="{FF2B5EF4-FFF2-40B4-BE49-F238E27FC236}">
                <a16:creationId xmlns:a16="http://schemas.microsoft.com/office/drawing/2014/main" id="{19E87919-1E32-46A9-AD3A-79EF5553DC78}"/>
              </a:ext>
            </a:extLst>
          </p:cNvPr>
          <p:cNvSpPr>
            <a:spLocks noGrp="1"/>
          </p:cNvSpPr>
          <p:nvPr/>
        </p:nvSpPr>
        <p:spPr>
          <a:xfrm>
            <a:off x="10115550" y="2390775"/>
            <a:ext cx="1809750" cy="0"/>
          </a:xfrm>
          <a:prstGeom prst="line">
            <a:avLst/>
          </a:prstGeom>
          <a:noFill/>
          <a:ln w="9525">
            <a:solidFill>
              <a:srgbClr val="D8DDD9"/>
            </a:solidFill>
            <a:prstDash val="solid"/>
          </a:ln>
        </p:spPr>
        <p:txBody>
          <a:bodyPr/>
          <a:lstStyle/>
          <a:p>
            <a:endParaRPr lang="en-FR"/>
          </a:p>
        </p:txBody>
      </p:sp>
      <p:pic>
        <p:nvPicPr>
          <p:cNvPr id="203" name="Picture 202"/>
          <p:cNvPicPr>
            <a:picLocks noChangeAspect="1"/>
          </p:cNvPicPr>
          <p:nvPr/>
        </p:nvPicPr>
        <p:blipFill>
          <a:blip r:embed="rId26"/>
          <a:stretch/>
        </p:blipFill>
        <p:spPr>
          <a:xfrm>
            <a:off x="10067925" y="2552700"/>
            <a:ext cx="504825" cy="504825"/>
          </a:xfrm>
          <a:prstGeom prst="rect">
            <a:avLst/>
          </a:prstGeom>
        </p:spPr>
      </p:pic>
      <p:sp>
        <p:nvSpPr>
          <p:cNvPr id="92" name="Rectangle 91">
            <a:extLst>
              <a:ext uri="{FF2B5EF4-FFF2-40B4-BE49-F238E27FC236}">
                <a16:creationId xmlns:a16="http://schemas.microsoft.com/office/drawing/2014/main" id="{4A084D24-6799-4630-AE61-54B7E4821755}"/>
              </a:ext>
            </a:extLst>
          </p:cNvPr>
          <p:cNvSpPr>
            <a:spLocks noGrp="1"/>
          </p:cNvSpPr>
          <p:nvPr/>
        </p:nvSpPr>
        <p:spPr>
          <a:xfrm>
            <a:off x="10610850" y="2571750"/>
            <a:ext cx="1276350"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Modernize &amp; Innovate</a:t>
            </a:r>
          </a:p>
        </p:txBody>
      </p:sp>
      <p:sp>
        <p:nvSpPr>
          <p:cNvPr id="93" name="Rectangle 92">
            <a:extLst>
              <a:ext uri="{FF2B5EF4-FFF2-40B4-BE49-F238E27FC236}">
                <a16:creationId xmlns:a16="http://schemas.microsoft.com/office/drawing/2014/main" id="{B0325264-8DF1-4AE3-9A35-9AD70A5EEAE7}"/>
              </a:ext>
            </a:extLst>
          </p:cNvPr>
          <p:cNvSpPr>
            <a:spLocks noGrp="1"/>
          </p:cNvSpPr>
          <p:nvPr/>
        </p:nvSpPr>
        <p:spPr>
          <a:xfrm>
            <a:off x="10610850" y="2790825"/>
            <a:ext cx="1371600" cy="361950"/>
          </a:xfrm>
          <a:prstGeom prst="rect">
            <a:avLst/>
          </a:prstGeom>
          <a:noFill/>
          <a:ln w="0">
            <a:noFill/>
            <a:prstDash val="solid"/>
          </a:ln>
        </p:spPr>
        <p:txBody>
          <a:bodyPr wrap="square" lIns="0" tIns="0" rIns="0" bIns="0" anchor="t"/>
          <a:lstStyle/>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Use OCI native services to</a:t>
            </a:r>
          </a:p>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accelerate innovation.</a:t>
            </a:r>
          </a:p>
        </p:txBody>
      </p:sp>
      <p:sp>
        <p:nvSpPr>
          <p:cNvPr id="94" name="Straight Connector 93">
            <a:extLst>
              <a:ext uri="{FF2B5EF4-FFF2-40B4-BE49-F238E27FC236}">
                <a16:creationId xmlns:a16="http://schemas.microsoft.com/office/drawing/2014/main" id="{0A601E8A-EF62-4E0D-8330-2157018DCF5A}"/>
              </a:ext>
            </a:extLst>
          </p:cNvPr>
          <p:cNvSpPr>
            <a:spLocks noGrp="1"/>
          </p:cNvSpPr>
          <p:nvPr/>
        </p:nvSpPr>
        <p:spPr>
          <a:xfrm>
            <a:off x="10115550" y="3171825"/>
            <a:ext cx="1809750" cy="0"/>
          </a:xfrm>
          <a:prstGeom prst="line">
            <a:avLst/>
          </a:prstGeom>
          <a:noFill/>
          <a:ln w="9525">
            <a:solidFill>
              <a:srgbClr val="D8DDD9"/>
            </a:solidFill>
            <a:prstDash val="solid"/>
          </a:ln>
        </p:spPr>
        <p:txBody>
          <a:bodyPr/>
          <a:lstStyle/>
          <a:p>
            <a:endParaRPr lang="en-FR"/>
          </a:p>
        </p:txBody>
      </p:sp>
      <p:pic>
        <p:nvPicPr>
          <p:cNvPr id="207" name="Picture 206"/>
          <p:cNvPicPr>
            <a:picLocks noChangeAspect="1"/>
          </p:cNvPicPr>
          <p:nvPr/>
        </p:nvPicPr>
        <p:blipFill>
          <a:blip r:embed="rId27"/>
          <a:stretch/>
        </p:blipFill>
        <p:spPr>
          <a:xfrm>
            <a:off x="10067925" y="3333750"/>
            <a:ext cx="504825" cy="504825"/>
          </a:xfrm>
          <a:prstGeom prst="rect">
            <a:avLst/>
          </a:prstGeom>
        </p:spPr>
      </p:pic>
      <p:sp>
        <p:nvSpPr>
          <p:cNvPr id="96" name="Rectangle 95">
            <a:extLst>
              <a:ext uri="{FF2B5EF4-FFF2-40B4-BE49-F238E27FC236}">
                <a16:creationId xmlns:a16="http://schemas.microsoft.com/office/drawing/2014/main" id="{94C75A87-ECBE-4C7E-8540-49E7ABA3886E}"/>
              </a:ext>
            </a:extLst>
          </p:cNvPr>
          <p:cNvSpPr>
            <a:spLocks noGrp="1"/>
          </p:cNvSpPr>
          <p:nvPr/>
        </p:nvSpPr>
        <p:spPr>
          <a:xfrm>
            <a:off x="10610850" y="3352800"/>
            <a:ext cx="1276350"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Flexible &amp; Scalable</a:t>
            </a:r>
          </a:p>
        </p:txBody>
      </p:sp>
      <p:sp>
        <p:nvSpPr>
          <p:cNvPr id="97" name="Rectangle 96">
            <a:extLst>
              <a:ext uri="{FF2B5EF4-FFF2-40B4-BE49-F238E27FC236}">
                <a16:creationId xmlns:a16="http://schemas.microsoft.com/office/drawing/2014/main" id="{3AD2D020-558F-43A9-984B-09BD3845A10D}"/>
              </a:ext>
            </a:extLst>
          </p:cNvPr>
          <p:cNvSpPr>
            <a:spLocks noGrp="1"/>
          </p:cNvSpPr>
          <p:nvPr/>
        </p:nvSpPr>
        <p:spPr>
          <a:xfrm>
            <a:off x="10610850" y="3571875"/>
            <a:ext cx="1371600" cy="361950"/>
          </a:xfrm>
          <a:prstGeom prst="rect">
            <a:avLst/>
          </a:prstGeom>
          <a:noFill/>
          <a:ln w="0">
            <a:noFill/>
            <a:prstDash val="solid"/>
          </a:ln>
        </p:spPr>
        <p:txBody>
          <a:bodyPr wrap="square" lIns="0" tIns="0" rIns="0" bIns="0" anchor="t"/>
          <a:lstStyle/>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Scale on demand across</a:t>
            </a:r>
          </a:p>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OCVS and OCI.</a:t>
            </a:r>
          </a:p>
        </p:txBody>
      </p:sp>
      <p:sp>
        <p:nvSpPr>
          <p:cNvPr id="98" name="Straight Connector 97">
            <a:extLst>
              <a:ext uri="{FF2B5EF4-FFF2-40B4-BE49-F238E27FC236}">
                <a16:creationId xmlns:a16="http://schemas.microsoft.com/office/drawing/2014/main" id="{52D4440A-6C25-4149-B1CF-99D53DE476D9}"/>
              </a:ext>
            </a:extLst>
          </p:cNvPr>
          <p:cNvSpPr>
            <a:spLocks noGrp="1"/>
          </p:cNvSpPr>
          <p:nvPr/>
        </p:nvSpPr>
        <p:spPr>
          <a:xfrm>
            <a:off x="10115550" y="3952875"/>
            <a:ext cx="1809750" cy="0"/>
          </a:xfrm>
          <a:prstGeom prst="line">
            <a:avLst/>
          </a:prstGeom>
          <a:noFill/>
          <a:ln w="9525">
            <a:solidFill>
              <a:srgbClr val="D8DDD9"/>
            </a:solidFill>
            <a:prstDash val="solid"/>
          </a:ln>
        </p:spPr>
        <p:txBody>
          <a:bodyPr/>
          <a:lstStyle/>
          <a:p>
            <a:endParaRPr lang="en-FR"/>
          </a:p>
        </p:txBody>
      </p:sp>
      <p:pic>
        <p:nvPicPr>
          <p:cNvPr id="211" name="Picture 210"/>
          <p:cNvPicPr>
            <a:picLocks noChangeAspect="1"/>
          </p:cNvPicPr>
          <p:nvPr/>
        </p:nvPicPr>
        <p:blipFill>
          <a:blip r:embed="rId28"/>
          <a:stretch/>
        </p:blipFill>
        <p:spPr>
          <a:xfrm>
            <a:off x="10067925" y="4114800"/>
            <a:ext cx="504825" cy="504825"/>
          </a:xfrm>
          <a:prstGeom prst="rect">
            <a:avLst/>
          </a:prstGeom>
        </p:spPr>
      </p:pic>
      <p:sp>
        <p:nvSpPr>
          <p:cNvPr id="100" name="Rectangle 99">
            <a:extLst>
              <a:ext uri="{FF2B5EF4-FFF2-40B4-BE49-F238E27FC236}">
                <a16:creationId xmlns:a16="http://schemas.microsoft.com/office/drawing/2014/main" id="{C4C5FD16-4E9F-4B23-B71E-4F994881E4AA}"/>
              </a:ext>
            </a:extLst>
          </p:cNvPr>
          <p:cNvSpPr>
            <a:spLocks noGrp="1"/>
          </p:cNvSpPr>
          <p:nvPr/>
        </p:nvSpPr>
        <p:spPr>
          <a:xfrm>
            <a:off x="10610850" y="4133850"/>
            <a:ext cx="1276350"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Secure &amp; Reliable</a:t>
            </a:r>
          </a:p>
        </p:txBody>
      </p:sp>
      <p:sp>
        <p:nvSpPr>
          <p:cNvPr id="101" name="Rectangle 100">
            <a:extLst>
              <a:ext uri="{FF2B5EF4-FFF2-40B4-BE49-F238E27FC236}">
                <a16:creationId xmlns:a16="http://schemas.microsoft.com/office/drawing/2014/main" id="{A5722576-E67C-41A6-848F-F42130789151}"/>
              </a:ext>
            </a:extLst>
          </p:cNvPr>
          <p:cNvSpPr>
            <a:spLocks noGrp="1"/>
          </p:cNvSpPr>
          <p:nvPr/>
        </p:nvSpPr>
        <p:spPr>
          <a:xfrm>
            <a:off x="10610850" y="4352925"/>
            <a:ext cx="1371600" cy="361950"/>
          </a:xfrm>
          <a:prstGeom prst="rect">
            <a:avLst/>
          </a:prstGeom>
          <a:noFill/>
          <a:ln w="0">
            <a:noFill/>
            <a:prstDash val="solid"/>
          </a:ln>
        </p:spPr>
        <p:txBody>
          <a:bodyPr wrap="square" lIns="0" tIns="0" rIns="0" bIns="0" anchor="t"/>
          <a:lstStyle/>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Enterprise-grade security</a:t>
            </a:r>
          </a:p>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and high availability.</a:t>
            </a:r>
          </a:p>
        </p:txBody>
      </p:sp>
      <p:sp>
        <p:nvSpPr>
          <p:cNvPr id="102" name="Straight Connector 101">
            <a:extLst>
              <a:ext uri="{FF2B5EF4-FFF2-40B4-BE49-F238E27FC236}">
                <a16:creationId xmlns:a16="http://schemas.microsoft.com/office/drawing/2014/main" id="{7E275AB9-6E12-46AB-AF7C-E0AECB32B900}"/>
              </a:ext>
            </a:extLst>
          </p:cNvPr>
          <p:cNvSpPr>
            <a:spLocks noGrp="1"/>
          </p:cNvSpPr>
          <p:nvPr/>
        </p:nvSpPr>
        <p:spPr>
          <a:xfrm>
            <a:off x="10115550" y="4733925"/>
            <a:ext cx="1809750" cy="0"/>
          </a:xfrm>
          <a:prstGeom prst="line">
            <a:avLst/>
          </a:prstGeom>
          <a:noFill/>
          <a:ln w="9525">
            <a:solidFill>
              <a:srgbClr val="D8DDD9"/>
            </a:solidFill>
            <a:prstDash val="solid"/>
          </a:ln>
        </p:spPr>
        <p:txBody>
          <a:bodyPr/>
          <a:lstStyle/>
          <a:p>
            <a:endParaRPr lang="en-FR"/>
          </a:p>
        </p:txBody>
      </p:sp>
      <p:pic>
        <p:nvPicPr>
          <p:cNvPr id="215" name="Picture 214"/>
          <p:cNvPicPr>
            <a:picLocks noChangeAspect="1"/>
          </p:cNvPicPr>
          <p:nvPr/>
        </p:nvPicPr>
        <p:blipFill>
          <a:blip r:embed="rId29"/>
          <a:stretch/>
        </p:blipFill>
        <p:spPr>
          <a:xfrm>
            <a:off x="10067925" y="4895850"/>
            <a:ext cx="504825" cy="504825"/>
          </a:xfrm>
          <a:prstGeom prst="rect">
            <a:avLst/>
          </a:prstGeom>
        </p:spPr>
      </p:pic>
      <p:sp>
        <p:nvSpPr>
          <p:cNvPr id="104" name="Rectangle 103">
            <a:extLst>
              <a:ext uri="{FF2B5EF4-FFF2-40B4-BE49-F238E27FC236}">
                <a16:creationId xmlns:a16="http://schemas.microsoft.com/office/drawing/2014/main" id="{B3ACEA2B-3278-461D-B2A6-DD55507C16F7}"/>
              </a:ext>
            </a:extLst>
          </p:cNvPr>
          <p:cNvSpPr>
            <a:spLocks noGrp="1"/>
          </p:cNvSpPr>
          <p:nvPr/>
        </p:nvSpPr>
        <p:spPr>
          <a:xfrm>
            <a:off x="10610850" y="4914900"/>
            <a:ext cx="1276350"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Future Ready</a:t>
            </a:r>
          </a:p>
        </p:txBody>
      </p:sp>
      <p:sp>
        <p:nvSpPr>
          <p:cNvPr id="105" name="Rectangle 104">
            <a:extLst>
              <a:ext uri="{FF2B5EF4-FFF2-40B4-BE49-F238E27FC236}">
                <a16:creationId xmlns:a16="http://schemas.microsoft.com/office/drawing/2014/main" id="{60EC2853-4AC1-4472-852F-AB67D021DF1C}"/>
              </a:ext>
            </a:extLst>
          </p:cNvPr>
          <p:cNvSpPr>
            <a:spLocks noGrp="1"/>
          </p:cNvSpPr>
          <p:nvPr/>
        </p:nvSpPr>
        <p:spPr>
          <a:xfrm>
            <a:off x="10610850" y="5133975"/>
            <a:ext cx="1371600" cy="361950"/>
          </a:xfrm>
          <a:prstGeom prst="rect">
            <a:avLst/>
          </a:prstGeom>
          <a:noFill/>
          <a:ln w="0">
            <a:noFill/>
            <a:prstDash val="solid"/>
          </a:ln>
        </p:spPr>
        <p:txBody>
          <a:bodyPr wrap="square" lIns="0" tIns="0" rIns="0" bIns="0" anchor="t"/>
          <a:lstStyle/>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Build a modern, agile</a:t>
            </a:r>
          </a:p>
          <a:p>
            <a:pPr algn="l">
              <a:lnSpc>
                <a:spcPct val="108000"/>
              </a:lnSpc>
              <a:buNone/>
              <a:defRPr sz="788" b="0" i="0">
                <a:solidFill>
                  <a:srgbClr val="111111"/>
                </a:solidFill>
                <a:latin typeface="Arial"/>
                <a:ea typeface="Arial"/>
                <a:cs typeface="Arial"/>
              </a:defRPr>
            </a:pPr>
            <a:r>
              <a:rPr sz="788" b="0" i="0">
                <a:solidFill>
                  <a:srgbClr val="111111"/>
                </a:solidFill>
                <a:latin typeface="Arial"/>
                <a:ea typeface="Arial"/>
                <a:cs typeface="Arial"/>
              </a:rPr>
              <a:t>foundation for the future.</a:t>
            </a:r>
          </a:p>
        </p:txBody>
      </p:sp>
      <p:sp>
        <p:nvSpPr>
          <p:cNvPr id="106" name="Rounded Rectangle 105">
            <a:extLst>
              <a:ext uri="{FF2B5EF4-FFF2-40B4-BE49-F238E27FC236}">
                <a16:creationId xmlns:a16="http://schemas.microsoft.com/office/drawing/2014/main" id="{BE999163-D28A-4C4E-A8DA-0F644015818E}"/>
              </a:ext>
            </a:extLst>
          </p:cNvPr>
          <p:cNvSpPr>
            <a:spLocks noGrp="1"/>
          </p:cNvSpPr>
          <p:nvPr/>
        </p:nvSpPr>
        <p:spPr>
          <a:xfrm>
            <a:off x="295275" y="5705475"/>
            <a:ext cx="9467850" cy="714375"/>
          </a:xfrm>
          <a:prstGeom prst="roundRect">
            <a:avLst>
              <a:gd name="adj" fmla="val 10667"/>
            </a:avLst>
          </a:prstGeom>
          <a:gradFill>
            <a:gsLst>
              <a:gs pos="0">
                <a:srgbClr val="00351F"/>
              </a:gs>
              <a:gs pos="100000">
                <a:srgbClr val="00643E"/>
              </a:gs>
            </a:gsLst>
            <a:lin ang="0"/>
          </a:gradFill>
          <a:ln w="9525">
            <a:solidFill>
              <a:srgbClr val="003B25"/>
            </a:solidFill>
            <a:prstDash val="solid"/>
          </a:ln>
        </p:spPr>
        <p:style>
          <a:lnRef idx="0">
            <a:scrgbClr r="0" g="0" b="0"/>
          </a:lnRef>
          <a:fillRef idx="0">
            <a:scrgbClr r="0" g="0" b="0"/>
          </a:fillRef>
          <a:effectRef idx="4">
            <a:scrgbClr r="0" g="0" b="0"/>
          </a:effectRef>
          <a:fontRef idx="major"/>
        </p:style>
        <p:txBody>
          <a:bodyPr/>
          <a:lstStyle/>
          <a:p>
            <a:endParaRPr lang="en-FR"/>
          </a:p>
        </p:txBody>
      </p:sp>
      <p:pic>
        <p:nvPicPr>
          <p:cNvPr id="219" name="Picture 218"/>
          <p:cNvPicPr>
            <a:picLocks noChangeAspect="1"/>
          </p:cNvPicPr>
          <p:nvPr/>
        </p:nvPicPr>
        <p:blipFill>
          <a:blip r:embed="rId30"/>
          <a:stretch/>
        </p:blipFill>
        <p:spPr>
          <a:xfrm>
            <a:off x="432515" y="5810250"/>
            <a:ext cx="544669" cy="552450"/>
          </a:xfrm>
          <a:prstGeom prst="rect">
            <a:avLst/>
          </a:prstGeom>
        </p:spPr>
      </p:pic>
      <p:sp>
        <p:nvSpPr>
          <p:cNvPr id="108" name="Rectangle 107">
            <a:extLst>
              <a:ext uri="{FF2B5EF4-FFF2-40B4-BE49-F238E27FC236}">
                <a16:creationId xmlns:a16="http://schemas.microsoft.com/office/drawing/2014/main" id="{1805E65A-5F4F-41A1-999B-F92AF9419098}"/>
              </a:ext>
            </a:extLst>
          </p:cNvPr>
          <p:cNvSpPr>
            <a:spLocks noGrp="1"/>
          </p:cNvSpPr>
          <p:nvPr/>
        </p:nvSpPr>
        <p:spPr>
          <a:xfrm>
            <a:off x="1123950" y="5829300"/>
            <a:ext cx="8172450" cy="514350"/>
          </a:xfrm>
          <a:prstGeom prst="rect">
            <a:avLst/>
          </a:prstGeom>
          <a:noFill/>
          <a:ln w="0">
            <a:noFill/>
            <a:prstDash val="solid"/>
          </a:ln>
        </p:spPr>
        <p:txBody>
          <a:bodyPr wrap="square" lIns="0" tIns="0" rIns="0" bIns="0" anchor="t"/>
          <a:lstStyle/>
          <a:p>
            <a:pPr algn="l">
              <a:lnSpc>
                <a:spcPct val="105000"/>
              </a:lnSpc>
              <a:buNone/>
              <a:defRPr sz="1650" b="1" i="0">
                <a:solidFill>
                  <a:srgbClr val="FFFFFF"/>
                </a:solidFill>
                <a:latin typeface="Arial"/>
                <a:ea typeface="Arial"/>
                <a:cs typeface="Arial"/>
              </a:defRPr>
            </a:pPr>
            <a:r>
              <a:rPr sz="1650" b="1" i="0" dirty="0">
                <a:solidFill>
                  <a:srgbClr val="FFFFFF"/>
                </a:solidFill>
                <a:latin typeface="Arial"/>
                <a:ea typeface="Arial"/>
                <a:cs typeface="Arial"/>
              </a:rPr>
              <a:t>Modernize at your own pace by combining Oracle Cloud VMware Solution</a:t>
            </a:r>
          </a:p>
          <a:p>
            <a:pPr algn="l">
              <a:lnSpc>
                <a:spcPct val="105000"/>
              </a:lnSpc>
              <a:buNone/>
              <a:defRPr sz="1650" b="1" i="0">
                <a:solidFill>
                  <a:srgbClr val="FFFFFF"/>
                </a:solidFill>
                <a:latin typeface="Arial"/>
                <a:ea typeface="Arial"/>
                <a:cs typeface="Arial"/>
              </a:defRPr>
            </a:pPr>
            <a:r>
              <a:rPr sz="1650" b="1" i="0" dirty="0">
                <a:solidFill>
                  <a:srgbClr val="FFFFFF"/>
                </a:solidFill>
                <a:latin typeface="Arial"/>
                <a:ea typeface="Arial"/>
                <a:cs typeface="Arial"/>
              </a:rPr>
              <a:t>and OCI Compute in a unified cloud architecture.</a:t>
            </a:r>
          </a:p>
        </p:txBody>
      </p:sp>
      <p:sp>
        <p:nvSpPr>
          <p:cNvPr id="109" name="Rectangle 108">
            <a:extLst>
              <a:ext uri="{FF2B5EF4-FFF2-40B4-BE49-F238E27FC236}">
                <a16:creationId xmlns:a16="http://schemas.microsoft.com/office/drawing/2014/main" id="{5D1E25F5-163B-4090-8006-47F817447BAD}"/>
              </a:ext>
            </a:extLst>
          </p:cNvPr>
          <p:cNvSpPr>
            <a:spLocks noGrp="1"/>
          </p:cNvSpPr>
          <p:nvPr/>
        </p:nvSpPr>
        <p:spPr>
          <a:xfrm>
            <a:off x="304800" y="6572250"/>
            <a:ext cx="2190750" cy="171450"/>
          </a:xfrm>
          <a:prstGeom prst="rect">
            <a:avLst/>
          </a:prstGeom>
          <a:noFill/>
          <a:ln w="0">
            <a:noFill/>
            <a:prstDash val="solid"/>
          </a:ln>
        </p:spPr>
        <p:txBody>
          <a:bodyPr wrap="none" lIns="0" tIns="0" rIns="0" bIns="0" anchor="t"/>
          <a:lstStyle/>
          <a:p>
            <a:pPr algn="l">
              <a:lnSpc>
                <a:spcPct val="100000"/>
              </a:lnSpc>
              <a:buNone/>
              <a:defRPr sz="675" b="0" i="0">
                <a:solidFill>
                  <a:srgbClr val="444444"/>
                </a:solidFill>
                <a:latin typeface="Arial"/>
                <a:ea typeface="Arial"/>
                <a:cs typeface="Arial"/>
              </a:defRPr>
            </a:pPr>
            <a:r>
              <a:rPr sz="675" b="0" i="0" dirty="0">
                <a:solidFill>
                  <a:srgbClr val="444444"/>
                </a:solidFill>
                <a:latin typeface="Arial"/>
                <a:ea typeface="Arial"/>
                <a:cs typeface="Arial"/>
              </a:rPr>
              <a:t>Copyright © 2026, Oracle and/or its affiliates</a:t>
            </a:r>
          </a:p>
        </p:txBody>
      </p:sp>
      <p:sp>
        <p:nvSpPr>
          <p:cNvPr id="110" name="Straight Connector 109">
            <a:extLst>
              <a:ext uri="{FF2B5EF4-FFF2-40B4-BE49-F238E27FC236}">
                <a16:creationId xmlns:a16="http://schemas.microsoft.com/office/drawing/2014/main" id="{80AD5F84-CDD6-48EA-8EE4-74BE40C65B86}"/>
              </a:ext>
            </a:extLst>
          </p:cNvPr>
          <p:cNvSpPr>
            <a:spLocks noGrp="1"/>
          </p:cNvSpPr>
          <p:nvPr/>
        </p:nvSpPr>
        <p:spPr>
          <a:xfrm>
            <a:off x="2552700" y="6572250"/>
            <a:ext cx="0" cy="142875"/>
          </a:xfrm>
          <a:prstGeom prst="line">
            <a:avLst/>
          </a:prstGeom>
          <a:noFill/>
          <a:ln w="9525">
            <a:solidFill>
              <a:srgbClr val="8B8B8B"/>
            </a:solidFill>
            <a:prstDash val="solid"/>
          </a:ln>
        </p:spPr>
        <p:txBody>
          <a:bodyPr/>
          <a:lstStyle/>
          <a:p>
            <a:endParaRPr lang="en-FR"/>
          </a:p>
        </p:txBody>
      </p:sp>
      <p:sp>
        <p:nvSpPr>
          <p:cNvPr id="111" name="Rectangle 110">
            <a:extLst>
              <a:ext uri="{FF2B5EF4-FFF2-40B4-BE49-F238E27FC236}">
                <a16:creationId xmlns:a16="http://schemas.microsoft.com/office/drawing/2014/main" id="{44546D48-808B-4322-A863-EB4D84823AA8}"/>
              </a:ext>
            </a:extLst>
          </p:cNvPr>
          <p:cNvSpPr>
            <a:spLocks noGrp="1"/>
          </p:cNvSpPr>
          <p:nvPr/>
        </p:nvSpPr>
        <p:spPr>
          <a:xfrm>
            <a:off x="2705100" y="6572250"/>
            <a:ext cx="3238500" cy="171450"/>
          </a:xfrm>
          <a:prstGeom prst="rect">
            <a:avLst/>
          </a:prstGeom>
          <a:noFill/>
          <a:ln w="0">
            <a:noFill/>
            <a:prstDash val="solid"/>
          </a:ln>
        </p:spPr>
        <p:txBody>
          <a:bodyPr wrap="none" lIns="0" tIns="0" rIns="0" bIns="0" anchor="t"/>
          <a:lstStyle/>
          <a:p>
            <a:pPr algn="l">
              <a:lnSpc>
                <a:spcPct val="100000"/>
              </a:lnSpc>
              <a:buNone/>
              <a:defRPr sz="675" b="0" i="0">
                <a:solidFill>
                  <a:srgbClr val="E00000"/>
                </a:solidFill>
                <a:latin typeface="Arial"/>
                <a:ea typeface="Arial"/>
                <a:cs typeface="Arial"/>
              </a:defRPr>
            </a:pPr>
            <a:r>
              <a:rPr sz="675" b="0" i="0" dirty="0">
                <a:solidFill>
                  <a:srgbClr val="E00000"/>
                </a:solidFill>
                <a:latin typeface="Arial"/>
                <a:ea typeface="Arial"/>
                <a:cs typeface="Arial"/>
              </a:rPr>
              <a:t>Confidential: Internal/Restricted/Highly Restricted</a:t>
            </a:r>
          </a:p>
        </p:txBody>
      </p:sp>
      <p:pic>
        <p:nvPicPr>
          <p:cNvPr id="224" name="Picture 223"/>
          <p:cNvPicPr>
            <a:picLocks noChangeAspect="1"/>
          </p:cNvPicPr>
          <p:nvPr/>
        </p:nvPicPr>
        <p:blipFill>
          <a:blip r:embed="rId31"/>
          <a:stretch/>
        </p:blipFill>
        <p:spPr>
          <a:xfrm>
            <a:off x="11430840" y="6219825"/>
            <a:ext cx="484094" cy="514350"/>
          </a:xfrm>
          <a:prstGeom prst="rect">
            <a:avLst/>
          </a:prstGeom>
        </p:spPr>
      </p:pic>
      <p:pic>
        <p:nvPicPr>
          <p:cNvPr id="11" name="Picture 10">
            <a:extLst>
              <a:ext uri="{FF2B5EF4-FFF2-40B4-BE49-F238E27FC236}">
                <a16:creationId xmlns:a16="http://schemas.microsoft.com/office/drawing/2014/main" id="{13AC7F57-619D-B7E2-BF5D-3527F695652F}"/>
              </a:ext>
            </a:extLst>
          </p:cNvPr>
          <p:cNvPicPr>
            <a:picLocks noChangeAspect="1"/>
          </p:cNvPicPr>
          <p:nvPr/>
        </p:nvPicPr>
        <p:blipFill>
          <a:blip r:embed="rId14"/>
          <a:stretch/>
        </p:blipFill>
        <p:spPr>
          <a:xfrm>
            <a:off x="7106875" y="3302644"/>
            <a:ext cx="553914" cy="544834"/>
          </a:xfrm>
          <a:prstGeom prst="rect">
            <a:avLst/>
          </a:prstGeom>
        </p:spPr>
      </p:pic>
    </p:spTree>
    <p:extLst>
      <p:ext uri="{BB962C8B-B14F-4D97-AF65-F5344CB8AC3E}">
        <p14:creationId xmlns:p14="http://schemas.microsoft.com/office/powerpoint/2010/main" val="15764639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8"/>
        </a:solidFill>
        <a:effectLst/>
      </p:bgPr>
    </p:bg>
    <p:spTree>
      <p:nvGrpSpPr>
        <p:cNvPr id="1" name=""/>
        <p:cNvGrpSpPr/>
        <p:nvPr/>
      </p:nvGrpSpPr>
      <p:grpSpPr>
        <a:xfrm>
          <a:off x="0" y="0"/>
          <a:ext cx="0" cy="0"/>
          <a:chOff x="0" y="0"/>
          <a:chExt cx="0" cy="0"/>
        </a:xfrm>
      </p:grpSpPr>
      <p:sp>
        <p:nvSpPr>
          <p:cNvPr id="51" name="Oval 50">
            <a:extLst>
              <a:ext uri="{FF2B5EF4-FFF2-40B4-BE49-F238E27FC236}">
                <a16:creationId xmlns:a16="http://schemas.microsoft.com/office/drawing/2014/main" id="{73A5942D-D23C-45E6-ACE1-2F77352B9317}"/>
              </a:ext>
            </a:extLst>
          </p:cNvPr>
          <p:cNvSpPr>
            <a:spLocks noGrp="1"/>
          </p:cNvSpPr>
          <p:nvPr/>
        </p:nvSpPr>
        <p:spPr>
          <a:xfrm>
            <a:off x="5133975" y="657225"/>
            <a:ext cx="38100" cy="38100"/>
          </a:xfrm>
          <a:prstGeom prst="ellipse">
            <a:avLst/>
          </a:prstGeom>
          <a:solidFill>
            <a:srgbClr val="E6E9E7"/>
          </a:solidFill>
          <a:ln w="0">
            <a:noFill/>
            <a:prstDash val="solid"/>
          </a:ln>
        </p:spPr>
        <p:txBody>
          <a:bodyPr/>
          <a:lstStyle/>
          <a:p>
            <a:endParaRPr lang="en-FR"/>
          </a:p>
        </p:txBody>
      </p:sp>
      <p:sp>
        <p:nvSpPr>
          <p:cNvPr id="2" name="Oval 1">
            <a:extLst>
              <a:ext uri="{FF2B5EF4-FFF2-40B4-BE49-F238E27FC236}">
                <a16:creationId xmlns:a16="http://schemas.microsoft.com/office/drawing/2014/main" id="{73088BEA-17DF-442D-9BC7-02155DD5C445}"/>
              </a:ext>
            </a:extLst>
          </p:cNvPr>
          <p:cNvSpPr>
            <a:spLocks noGrp="1"/>
          </p:cNvSpPr>
          <p:nvPr/>
        </p:nvSpPr>
        <p:spPr>
          <a:xfrm>
            <a:off x="6181725" y="685800"/>
            <a:ext cx="28575" cy="28575"/>
          </a:xfrm>
          <a:prstGeom prst="ellipse">
            <a:avLst/>
          </a:prstGeom>
          <a:solidFill>
            <a:srgbClr val="E6E9E7"/>
          </a:solidFill>
          <a:ln w="0">
            <a:noFill/>
            <a:prstDash val="solid"/>
          </a:ln>
        </p:spPr>
        <p:txBody>
          <a:bodyPr/>
          <a:lstStyle/>
          <a:p>
            <a:endParaRPr lang="en-FR"/>
          </a:p>
        </p:txBody>
      </p:sp>
      <p:sp>
        <p:nvSpPr>
          <p:cNvPr id="3" name="Oval 2">
            <a:extLst>
              <a:ext uri="{FF2B5EF4-FFF2-40B4-BE49-F238E27FC236}">
                <a16:creationId xmlns:a16="http://schemas.microsoft.com/office/drawing/2014/main" id="{FF40793F-68B7-4A09-857E-9B1E1E9D9BCF}"/>
              </a:ext>
            </a:extLst>
          </p:cNvPr>
          <p:cNvSpPr>
            <a:spLocks noGrp="1"/>
          </p:cNvSpPr>
          <p:nvPr/>
        </p:nvSpPr>
        <p:spPr>
          <a:xfrm>
            <a:off x="7239000" y="504825"/>
            <a:ext cx="57150" cy="57150"/>
          </a:xfrm>
          <a:prstGeom prst="ellipse">
            <a:avLst/>
          </a:prstGeom>
          <a:solidFill>
            <a:srgbClr val="E6E9E7"/>
          </a:solidFill>
          <a:ln w="0">
            <a:noFill/>
            <a:prstDash val="solid"/>
          </a:ln>
        </p:spPr>
        <p:txBody>
          <a:bodyPr/>
          <a:lstStyle/>
          <a:p>
            <a:endParaRPr lang="en-FR"/>
          </a:p>
        </p:txBody>
      </p:sp>
      <p:sp>
        <p:nvSpPr>
          <p:cNvPr id="4" name="Oval 3">
            <a:extLst>
              <a:ext uri="{FF2B5EF4-FFF2-40B4-BE49-F238E27FC236}">
                <a16:creationId xmlns:a16="http://schemas.microsoft.com/office/drawing/2014/main" id="{674B1F8E-B96D-4B16-B046-787E8702A629}"/>
              </a:ext>
            </a:extLst>
          </p:cNvPr>
          <p:cNvSpPr>
            <a:spLocks noGrp="1"/>
          </p:cNvSpPr>
          <p:nvPr/>
        </p:nvSpPr>
        <p:spPr>
          <a:xfrm>
            <a:off x="11010900" y="1123950"/>
            <a:ext cx="19050" cy="19050"/>
          </a:xfrm>
          <a:prstGeom prst="ellipse">
            <a:avLst/>
          </a:prstGeom>
          <a:solidFill>
            <a:srgbClr val="E6E9E7"/>
          </a:solidFill>
          <a:ln w="0">
            <a:noFill/>
            <a:prstDash val="solid"/>
          </a:ln>
        </p:spPr>
        <p:txBody>
          <a:bodyPr/>
          <a:lstStyle/>
          <a:p>
            <a:endParaRPr lang="en-FR"/>
          </a:p>
        </p:txBody>
      </p:sp>
      <p:sp>
        <p:nvSpPr>
          <p:cNvPr id="5" name="Oval 4">
            <a:extLst>
              <a:ext uri="{FF2B5EF4-FFF2-40B4-BE49-F238E27FC236}">
                <a16:creationId xmlns:a16="http://schemas.microsoft.com/office/drawing/2014/main" id="{ECE320BA-C63B-4BBF-94C5-92BE5192DC61}"/>
              </a:ext>
            </a:extLst>
          </p:cNvPr>
          <p:cNvSpPr>
            <a:spLocks noGrp="1"/>
          </p:cNvSpPr>
          <p:nvPr/>
        </p:nvSpPr>
        <p:spPr>
          <a:xfrm>
            <a:off x="9220200" y="1581150"/>
            <a:ext cx="38100" cy="38100"/>
          </a:xfrm>
          <a:prstGeom prst="ellipse">
            <a:avLst/>
          </a:prstGeom>
          <a:solidFill>
            <a:srgbClr val="E6E9E7"/>
          </a:solidFill>
          <a:ln w="0">
            <a:noFill/>
            <a:prstDash val="solid"/>
          </a:ln>
        </p:spPr>
        <p:txBody>
          <a:bodyPr/>
          <a:lstStyle/>
          <a:p>
            <a:endParaRPr lang="en-FR"/>
          </a:p>
        </p:txBody>
      </p:sp>
      <p:sp>
        <p:nvSpPr>
          <p:cNvPr id="6" name="Oval 5">
            <a:extLst>
              <a:ext uri="{FF2B5EF4-FFF2-40B4-BE49-F238E27FC236}">
                <a16:creationId xmlns:a16="http://schemas.microsoft.com/office/drawing/2014/main" id="{AF232F3B-1324-4364-BD60-137FAF1990F8}"/>
              </a:ext>
            </a:extLst>
          </p:cNvPr>
          <p:cNvSpPr>
            <a:spLocks noGrp="1"/>
          </p:cNvSpPr>
          <p:nvPr/>
        </p:nvSpPr>
        <p:spPr>
          <a:xfrm>
            <a:off x="11410950" y="1647825"/>
            <a:ext cx="28575" cy="28575"/>
          </a:xfrm>
          <a:prstGeom prst="ellipse">
            <a:avLst/>
          </a:prstGeom>
          <a:solidFill>
            <a:srgbClr val="E6E9E7"/>
          </a:solidFill>
          <a:ln w="0">
            <a:noFill/>
            <a:prstDash val="solid"/>
          </a:ln>
        </p:spPr>
        <p:txBody>
          <a:bodyPr/>
          <a:lstStyle/>
          <a:p>
            <a:endParaRPr lang="en-FR"/>
          </a:p>
        </p:txBody>
      </p:sp>
      <p:sp>
        <p:nvSpPr>
          <p:cNvPr id="7" name="Oval 6">
            <a:extLst>
              <a:ext uri="{FF2B5EF4-FFF2-40B4-BE49-F238E27FC236}">
                <a16:creationId xmlns:a16="http://schemas.microsoft.com/office/drawing/2014/main" id="{12DA0ADF-18D5-4143-BAFB-C1D4E0322D43}"/>
              </a:ext>
            </a:extLst>
          </p:cNvPr>
          <p:cNvSpPr>
            <a:spLocks noGrp="1"/>
          </p:cNvSpPr>
          <p:nvPr/>
        </p:nvSpPr>
        <p:spPr>
          <a:xfrm>
            <a:off x="9982200" y="3000375"/>
            <a:ext cx="28575" cy="28575"/>
          </a:xfrm>
          <a:prstGeom prst="ellipse">
            <a:avLst/>
          </a:prstGeom>
          <a:solidFill>
            <a:srgbClr val="E6E9E7"/>
          </a:solidFill>
          <a:ln w="0">
            <a:noFill/>
            <a:prstDash val="solid"/>
          </a:ln>
        </p:spPr>
        <p:txBody>
          <a:bodyPr/>
          <a:lstStyle/>
          <a:p>
            <a:endParaRPr lang="en-FR"/>
          </a:p>
        </p:txBody>
      </p:sp>
      <p:sp>
        <p:nvSpPr>
          <p:cNvPr id="8" name="Oval 7">
            <a:extLst>
              <a:ext uri="{FF2B5EF4-FFF2-40B4-BE49-F238E27FC236}">
                <a16:creationId xmlns:a16="http://schemas.microsoft.com/office/drawing/2014/main" id="{8EF1F3FD-6495-4F9F-8163-4CEB685C76C1}"/>
              </a:ext>
            </a:extLst>
          </p:cNvPr>
          <p:cNvSpPr>
            <a:spLocks noGrp="1"/>
          </p:cNvSpPr>
          <p:nvPr/>
        </p:nvSpPr>
        <p:spPr>
          <a:xfrm>
            <a:off x="9344025" y="4781550"/>
            <a:ext cx="47625" cy="47625"/>
          </a:xfrm>
          <a:prstGeom prst="ellipse">
            <a:avLst/>
          </a:prstGeom>
          <a:solidFill>
            <a:srgbClr val="E6E9E7"/>
          </a:solidFill>
          <a:ln w="0">
            <a:noFill/>
            <a:prstDash val="solid"/>
          </a:ln>
        </p:spPr>
        <p:txBody>
          <a:bodyPr/>
          <a:lstStyle/>
          <a:p>
            <a:endParaRPr lang="en-FR"/>
          </a:p>
        </p:txBody>
      </p:sp>
      <p:sp>
        <p:nvSpPr>
          <p:cNvPr id="9" name="Oval 8">
            <a:extLst>
              <a:ext uri="{FF2B5EF4-FFF2-40B4-BE49-F238E27FC236}">
                <a16:creationId xmlns:a16="http://schemas.microsoft.com/office/drawing/2014/main" id="{B3A8DECC-6222-4521-82D5-B349CA05389D}"/>
              </a:ext>
            </a:extLst>
          </p:cNvPr>
          <p:cNvSpPr>
            <a:spLocks noGrp="1"/>
          </p:cNvSpPr>
          <p:nvPr/>
        </p:nvSpPr>
        <p:spPr>
          <a:xfrm>
            <a:off x="11658600" y="5848350"/>
            <a:ext cx="38100" cy="38100"/>
          </a:xfrm>
          <a:prstGeom prst="ellipse">
            <a:avLst/>
          </a:prstGeom>
          <a:solidFill>
            <a:srgbClr val="E6E9E7"/>
          </a:solidFill>
          <a:ln w="0">
            <a:noFill/>
            <a:prstDash val="solid"/>
          </a:ln>
        </p:spPr>
        <p:txBody>
          <a:bodyPr/>
          <a:lstStyle/>
          <a:p>
            <a:endParaRPr lang="en-FR"/>
          </a:p>
        </p:txBody>
      </p:sp>
      <p:pic>
        <p:nvPicPr>
          <p:cNvPr id="61" name="Picture 60"/>
          <p:cNvPicPr>
            <a:picLocks noChangeAspect="1"/>
          </p:cNvPicPr>
          <p:nvPr/>
        </p:nvPicPr>
        <p:blipFill>
          <a:blip r:embed="rId3"/>
          <a:stretch/>
        </p:blipFill>
        <p:spPr>
          <a:xfrm>
            <a:off x="361950" y="357187"/>
            <a:ext cx="1927741" cy="600075"/>
          </a:xfrm>
          <a:prstGeom prst="rect">
            <a:avLst/>
          </a:prstGeom>
        </p:spPr>
      </p:pic>
      <p:sp>
        <p:nvSpPr>
          <p:cNvPr id="12" name="Rectangle 11">
            <a:extLst>
              <a:ext uri="{FF2B5EF4-FFF2-40B4-BE49-F238E27FC236}">
                <a16:creationId xmlns:a16="http://schemas.microsoft.com/office/drawing/2014/main" id="{181FA5E6-65B3-42DA-A23A-AE93E6720CB2}"/>
              </a:ext>
            </a:extLst>
          </p:cNvPr>
          <p:cNvSpPr>
            <a:spLocks noGrp="1"/>
          </p:cNvSpPr>
          <p:nvPr/>
        </p:nvSpPr>
        <p:spPr>
          <a:xfrm>
            <a:off x="361950" y="1133475"/>
            <a:ext cx="6286500" cy="523875"/>
          </a:xfrm>
          <a:prstGeom prst="rect">
            <a:avLst/>
          </a:prstGeom>
          <a:noFill/>
          <a:ln w="0">
            <a:noFill/>
            <a:prstDash val="solid"/>
          </a:ln>
        </p:spPr>
        <p:txBody>
          <a:bodyPr wrap="none" lIns="0" tIns="0" rIns="0" bIns="0" anchor="t"/>
          <a:lstStyle/>
          <a:p>
            <a:pPr algn="l">
              <a:lnSpc>
                <a:spcPct val="100000"/>
              </a:lnSpc>
              <a:buNone/>
              <a:defRPr sz="3150" b="1" i="0">
                <a:solidFill>
                  <a:srgbClr val="003B25"/>
                </a:solidFill>
                <a:latin typeface="Arial"/>
                <a:ea typeface="Arial"/>
                <a:cs typeface="Arial"/>
              </a:defRPr>
            </a:pPr>
            <a:r>
              <a:rPr sz="3150" b="1" i="0">
                <a:solidFill>
                  <a:srgbClr val="003B25"/>
                </a:solidFill>
                <a:latin typeface="Arial"/>
                <a:ea typeface="Arial"/>
                <a:cs typeface="Arial"/>
              </a:rPr>
              <a:t>Assumptions &amp; Methodology</a:t>
            </a:r>
          </a:p>
        </p:txBody>
      </p:sp>
      <p:sp>
        <p:nvSpPr>
          <p:cNvPr id="13" name="Rectangle 12">
            <a:extLst>
              <a:ext uri="{FF2B5EF4-FFF2-40B4-BE49-F238E27FC236}">
                <a16:creationId xmlns:a16="http://schemas.microsoft.com/office/drawing/2014/main" id="{B629860D-8183-4AA2-8F53-EEB151589651}"/>
              </a:ext>
            </a:extLst>
          </p:cNvPr>
          <p:cNvSpPr>
            <a:spLocks noGrp="1"/>
          </p:cNvSpPr>
          <p:nvPr/>
        </p:nvSpPr>
        <p:spPr>
          <a:xfrm>
            <a:off x="371475" y="1676400"/>
            <a:ext cx="381000" cy="38100"/>
          </a:xfrm>
          <a:prstGeom prst="rect">
            <a:avLst/>
          </a:prstGeom>
          <a:solidFill>
            <a:srgbClr val="F00000"/>
          </a:solidFill>
          <a:ln w="0">
            <a:noFill/>
            <a:prstDash val="solid"/>
          </a:ln>
        </p:spPr>
        <p:txBody>
          <a:bodyPr/>
          <a:lstStyle/>
          <a:p>
            <a:endParaRPr lang="en-FR"/>
          </a:p>
        </p:txBody>
      </p:sp>
      <p:sp>
        <p:nvSpPr>
          <p:cNvPr id="14" name="Rectangle 13">
            <a:extLst>
              <a:ext uri="{FF2B5EF4-FFF2-40B4-BE49-F238E27FC236}">
                <a16:creationId xmlns:a16="http://schemas.microsoft.com/office/drawing/2014/main" id="{3E173982-393B-42AC-A28E-FA0B0948FCC0}"/>
              </a:ext>
            </a:extLst>
          </p:cNvPr>
          <p:cNvSpPr>
            <a:spLocks noGrp="1"/>
          </p:cNvSpPr>
          <p:nvPr/>
        </p:nvSpPr>
        <p:spPr>
          <a:xfrm>
            <a:off x="390525" y="1838325"/>
            <a:ext cx="6096000" cy="457200"/>
          </a:xfrm>
          <a:prstGeom prst="rect">
            <a:avLst/>
          </a:prstGeom>
          <a:noFill/>
          <a:ln w="0">
            <a:noFill/>
            <a:prstDash val="solid"/>
          </a:ln>
        </p:spPr>
        <p:txBody>
          <a:bodyPr wrap="square" lIns="0" tIns="0" rIns="0" bIns="0" anchor="t"/>
          <a:lstStyle/>
          <a:p>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The proposed sizing is based on the information provided by the customer</a:t>
            </a:r>
          </a:p>
          <a:p>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and the following assumptions and methodology.</a:t>
            </a:r>
          </a:p>
        </p:txBody>
      </p:sp>
      <p:sp>
        <p:nvSpPr>
          <p:cNvPr id="15" name="Rounded Rectangle 14">
            <a:extLst>
              <a:ext uri="{FF2B5EF4-FFF2-40B4-BE49-F238E27FC236}">
                <a16:creationId xmlns:a16="http://schemas.microsoft.com/office/drawing/2014/main" id="{D05FD567-6830-4B7C-A6B4-1C17F3F5C538}"/>
              </a:ext>
            </a:extLst>
          </p:cNvPr>
          <p:cNvSpPr>
            <a:spLocks noGrp="1"/>
          </p:cNvSpPr>
          <p:nvPr/>
        </p:nvSpPr>
        <p:spPr>
          <a:xfrm>
            <a:off x="381000" y="2343150"/>
            <a:ext cx="7391400" cy="3676650"/>
          </a:xfrm>
          <a:prstGeom prst="roundRect">
            <a:avLst>
              <a:gd name="adj" fmla="val 1813"/>
            </a:avLst>
          </a:prstGeom>
          <a:solidFill>
            <a:srgbClr val="FFFFFF"/>
          </a:solidFill>
          <a:ln w="9525">
            <a:solidFill>
              <a:srgbClr val="CED6D1"/>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16" name="Rounded Rectangle 15">
            <a:extLst>
              <a:ext uri="{FF2B5EF4-FFF2-40B4-BE49-F238E27FC236}">
                <a16:creationId xmlns:a16="http://schemas.microsoft.com/office/drawing/2014/main" id="{7E7120EA-B371-422A-9F44-F023B4B89BD2}"/>
              </a:ext>
            </a:extLst>
          </p:cNvPr>
          <p:cNvSpPr>
            <a:spLocks noGrp="1"/>
          </p:cNvSpPr>
          <p:nvPr/>
        </p:nvSpPr>
        <p:spPr>
          <a:xfrm>
            <a:off x="381000" y="2343150"/>
            <a:ext cx="7391400" cy="361950"/>
          </a:xfrm>
          <a:prstGeom prst="roundRect">
            <a:avLst>
              <a:gd name="adj" fmla="val 18421"/>
            </a:avLst>
          </a:prstGeom>
          <a:gradFill>
            <a:gsLst>
              <a:gs pos="0">
                <a:srgbClr val="00351F"/>
              </a:gs>
              <a:gs pos="100000">
                <a:srgbClr val="075431"/>
              </a:gs>
            </a:gsLst>
            <a:lin ang="0"/>
          </a:gradFill>
          <a:ln w="0">
            <a:noFill/>
            <a:prstDash val="solid"/>
          </a:ln>
        </p:spPr>
        <p:txBody>
          <a:bodyPr/>
          <a:lstStyle/>
          <a:p>
            <a:endParaRPr lang="en-FR"/>
          </a:p>
        </p:txBody>
      </p:sp>
      <p:pic>
        <p:nvPicPr>
          <p:cNvPr id="67" name="Picture 66"/>
          <p:cNvPicPr>
            <a:picLocks noChangeAspect="1"/>
          </p:cNvPicPr>
          <p:nvPr/>
        </p:nvPicPr>
        <p:blipFill>
          <a:blip r:embed="rId4"/>
          <a:stretch/>
        </p:blipFill>
        <p:spPr>
          <a:xfrm>
            <a:off x="617492" y="2390775"/>
            <a:ext cx="260441" cy="276225"/>
          </a:xfrm>
          <a:prstGeom prst="rect">
            <a:avLst/>
          </a:prstGeom>
        </p:spPr>
      </p:pic>
      <p:sp>
        <p:nvSpPr>
          <p:cNvPr id="18" name="Rectangle 17">
            <a:extLst>
              <a:ext uri="{FF2B5EF4-FFF2-40B4-BE49-F238E27FC236}">
                <a16:creationId xmlns:a16="http://schemas.microsoft.com/office/drawing/2014/main" id="{E91505E6-4E87-4F2F-9412-FA897C3D79C8}"/>
              </a:ext>
            </a:extLst>
          </p:cNvPr>
          <p:cNvSpPr>
            <a:spLocks noGrp="1"/>
          </p:cNvSpPr>
          <p:nvPr/>
        </p:nvSpPr>
        <p:spPr>
          <a:xfrm>
            <a:off x="1019175" y="2438400"/>
            <a:ext cx="2095500" cy="209550"/>
          </a:xfrm>
          <a:prstGeom prst="rect">
            <a:avLst/>
          </a:prstGeom>
          <a:noFill/>
          <a:ln w="0">
            <a:noFill/>
            <a:prstDash val="solid"/>
          </a:ln>
        </p:spPr>
        <p:txBody>
          <a:bodyPr wrap="none" lIns="0" tIns="0" rIns="0" bIns="0" anchor="t"/>
          <a:lstStyle/>
          <a:p>
            <a:pPr algn="l">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Sizing Methodology</a:t>
            </a:r>
          </a:p>
        </p:txBody>
      </p:sp>
      <p:pic>
        <p:nvPicPr>
          <p:cNvPr id="69" name="Picture 68"/>
          <p:cNvPicPr>
            <a:picLocks noChangeAspect="1"/>
          </p:cNvPicPr>
          <p:nvPr/>
        </p:nvPicPr>
        <p:blipFill>
          <a:blip r:embed="rId5"/>
          <a:stretch/>
        </p:blipFill>
        <p:spPr>
          <a:xfrm>
            <a:off x="600075" y="2779303"/>
            <a:ext cx="466725" cy="451669"/>
          </a:xfrm>
          <a:prstGeom prst="rect">
            <a:avLst/>
          </a:prstGeom>
        </p:spPr>
      </p:pic>
      <p:sp>
        <p:nvSpPr>
          <p:cNvPr id="20" name="Rectangle 19">
            <a:extLst>
              <a:ext uri="{FF2B5EF4-FFF2-40B4-BE49-F238E27FC236}">
                <a16:creationId xmlns:a16="http://schemas.microsoft.com/office/drawing/2014/main" id="{42908386-5A93-4A58-A462-83A24A156EB4}"/>
              </a:ext>
            </a:extLst>
          </p:cNvPr>
          <p:cNvSpPr>
            <a:spLocks noGrp="1"/>
          </p:cNvSpPr>
          <p:nvPr/>
        </p:nvSpPr>
        <p:spPr>
          <a:xfrm>
            <a:off x="1333500" y="2914650"/>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Data Source</a:t>
            </a:r>
          </a:p>
        </p:txBody>
      </p:sp>
      <p:sp>
        <p:nvSpPr>
          <p:cNvPr id="21" name="Straight Connector 20">
            <a:extLst>
              <a:ext uri="{FF2B5EF4-FFF2-40B4-BE49-F238E27FC236}">
                <a16:creationId xmlns:a16="http://schemas.microsoft.com/office/drawing/2014/main" id="{74A58121-1B16-4F12-92B5-F259AF492CB0}"/>
              </a:ext>
            </a:extLst>
          </p:cNvPr>
          <p:cNvSpPr>
            <a:spLocks noGrp="1"/>
          </p:cNvSpPr>
          <p:nvPr/>
        </p:nvSpPr>
        <p:spPr>
          <a:xfrm>
            <a:off x="3333750" y="2828925"/>
            <a:ext cx="0" cy="314325"/>
          </a:xfrm>
          <a:prstGeom prst="line">
            <a:avLst/>
          </a:prstGeom>
          <a:noFill/>
          <a:ln w="9525">
            <a:solidFill>
              <a:srgbClr val="CBD2CE"/>
            </a:solidFill>
            <a:prstDash val="solid"/>
          </a:ln>
        </p:spPr>
        <p:txBody>
          <a:bodyPr/>
          <a:lstStyle/>
          <a:p>
            <a:endParaRPr lang="en-FR"/>
          </a:p>
        </p:txBody>
      </p:sp>
      <p:sp>
        <p:nvSpPr>
          <p:cNvPr id="22" name="Rectangle 21">
            <a:extLst>
              <a:ext uri="{FF2B5EF4-FFF2-40B4-BE49-F238E27FC236}">
                <a16:creationId xmlns:a16="http://schemas.microsoft.com/office/drawing/2014/main" id="{71D931CB-6DBE-4D20-B729-98885198EFAC}"/>
              </a:ext>
            </a:extLst>
          </p:cNvPr>
          <p:cNvSpPr>
            <a:spLocks noGrp="1"/>
          </p:cNvSpPr>
          <p:nvPr/>
        </p:nvSpPr>
        <p:spPr>
          <a:xfrm>
            <a:off x="3676650" y="2828925"/>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RVTools export provided by the customer</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(Analysis Date: May 08, 2025)</a:t>
            </a:r>
          </a:p>
        </p:txBody>
      </p:sp>
      <p:sp>
        <p:nvSpPr>
          <p:cNvPr id="23" name="Straight Connector 22">
            <a:extLst>
              <a:ext uri="{FF2B5EF4-FFF2-40B4-BE49-F238E27FC236}">
                <a16:creationId xmlns:a16="http://schemas.microsoft.com/office/drawing/2014/main" id="{23397379-0F76-4614-83F5-A13601AE9797}"/>
              </a:ext>
            </a:extLst>
          </p:cNvPr>
          <p:cNvSpPr>
            <a:spLocks noGrp="1"/>
          </p:cNvSpPr>
          <p:nvPr/>
        </p:nvSpPr>
        <p:spPr>
          <a:xfrm>
            <a:off x="600075" y="3264218"/>
            <a:ext cx="6981825" cy="0"/>
          </a:xfrm>
          <a:prstGeom prst="line">
            <a:avLst/>
          </a:prstGeom>
          <a:noFill/>
          <a:ln w="9525">
            <a:solidFill>
              <a:srgbClr val="DDE2DE"/>
            </a:solidFill>
            <a:prstDash val="solid"/>
          </a:ln>
        </p:spPr>
        <p:txBody>
          <a:bodyPr/>
          <a:lstStyle/>
          <a:p>
            <a:endParaRPr lang="en-FR"/>
          </a:p>
        </p:txBody>
      </p:sp>
      <p:pic>
        <p:nvPicPr>
          <p:cNvPr id="74" name="Picture 73"/>
          <p:cNvPicPr>
            <a:picLocks noChangeAspect="1"/>
          </p:cNvPicPr>
          <p:nvPr/>
        </p:nvPicPr>
        <p:blipFill>
          <a:blip r:embed="rId6"/>
          <a:stretch/>
        </p:blipFill>
        <p:spPr>
          <a:xfrm>
            <a:off x="600075" y="3309845"/>
            <a:ext cx="466725" cy="451669"/>
          </a:xfrm>
          <a:prstGeom prst="rect">
            <a:avLst/>
          </a:prstGeom>
        </p:spPr>
      </p:pic>
      <p:sp>
        <p:nvSpPr>
          <p:cNvPr id="25" name="Rectangle 24">
            <a:extLst>
              <a:ext uri="{FF2B5EF4-FFF2-40B4-BE49-F238E27FC236}">
                <a16:creationId xmlns:a16="http://schemas.microsoft.com/office/drawing/2014/main" id="{DE8908F2-D896-472D-AF70-B94F25AE6292}"/>
              </a:ext>
            </a:extLst>
          </p:cNvPr>
          <p:cNvSpPr>
            <a:spLocks noGrp="1"/>
          </p:cNvSpPr>
          <p:nvPr/>
        </p:nvSpPr>
        <p:spPr>
          <a:xfrm>
            <a:off x="1333500" y="3445193"/>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Sizing Approach</a:t>
            </a:r>
          </a:p>
        </p:txBody>
      </p:sp>
      <p:sp>
        <p:nvSpPr>
          <p:cNvPr id="26" name="Straight Connector 25">
            <a:extLst>
              <a:ext uri="{FF2B5EF4-FFF2-40B4-BE49-F238E27FC236}">
                <a16:creationId xmlns:a16="http://schemas.microsoft.com/office/drawing/2014/main" id="{CFDEC23A-6F66-49D5-87D3-62C87F39D16D}"/>
              </a:ext>
            </a:extLst>
          </p:cNvPr>
          <p:cNvSpPr>
            <a:spLocks noGrp="1"/>
          </p:cNvSpPr>
          <p:nvPr/>
        </p:nvSpPr>
        <p:spPr>
          <a:xfrm>
            <a:off x="3333750" y="3359468"/>
            <a:ext cx="0" cy="314325"/>
          </a:xfrm>
          <a:prstGeom prst="line">
            <a:avLst/>
          </a:prstGeom>
          <a:noFill/>
          <a:ln w="9525">
            <a:solidFill>
              <a:srgbClr val="CBD2CE"/>
            </a:solidFill>
            <a:prstDash val="solid"/>
          </a:ln>
        </p:spPr>
        <p:txBody>
          <a:bodyPr/>
          <a:lstStyle/>
          <a:p>
            <a:endParaRPr lang="en-FR"/>
          </a:p>
        </p:txBody>
      </p:sp>
      <p:sp>
        <p:nvSpPr>
          <p:cNvPr id="27" name="Rectangle 26">
            <a:extLst>
              <a:ext uri="{FF2B5EF4-FFF2-40B4-BE49-F238E27FC236}">
                <a16:creationId xmlns:a16="http://schemas.microsoft.com/office/drawing/2014/main" id="{0ECE9441-9ABA-4D86-B0D0-CA3DF1A3EB96}"/>
              </a:ext>
            </a:extLst>
          </p:cNvPr>
          <p:cNvSpPr>
            <a:spLocks noGrp="1"/>
          </p:cNvSpPr>
          <p:nvPr/>
        </p:nvSpPr>
        <p:spPr>
          <a:xfrm>
            <a:off x="3676650" y="3359468"/>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Capacity based on current utilization</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and projected growth</a:t>
            </a:r>
          </a:p>
        </p:txBody>
      </p:sp>
      <p:sp>
        <p:nvSpPr>
          <p:cNvPr id="28" name="Straight Connector 27">
            <a:extLst>
              <a:ext uri="{FF2B5EF4-FFF2-40B4-BE49-F238E27FC236}">
                <a16:creationId xmlns:a16="http://schemas.microsoft.com/office/drawing/2014/main" id="{45CE46C6-B9C0-4849-A834-96BE06538FA8}"/>
              </a:ext>
            </a:extLst>
          </p:cNvPr>
          <p:cNvSpPr>
            <a:spLocks noGrp="1"/>
          </p:cNvSpPr>
          <p:nvPr/>
        </p:nvSpPr>
        <p:spPr>
          <a:xfrm>
            <a:off x="600075" y="3794760"/>
            <a:ext cx="6981825" cy="0"/>
          </a:xfrm>
          <a:prstGeom prst="line">
            <a:avLst/>
          </a:prstGeom>
          <a:noFill/>
          <a:ln w="9525">
            <a:solidFill>
              <a:srgbClr val="DDE2DE"/>
            </a:solidFill>
            <a:prstDash val="solid"/>
          </a:ln>
        </p:spPr>
        <p:txBody>
          <a:bodyPr/>
          <a:lstStyle/>
          <a:p>
            <a:endParaRPr lang="en-FR"/>
          </a:p>
        </p:txBody>
      </p:sp>
      <p:pic>
        <p:nvPicPr>
          <p:cNvPr id="79" name="Picture 78"/>
          <p:cNvPicPr>
            <a:picLocks noChangeAspect="1"/>
          </p:cNvPicPr>
          <p:nvPr/>
        </p:nvPicPr>
        <p:blipFill>
          <a:blip r:embed="rId7"/>
          <a:stretch/>
        </p:blipFill>
        <p:spPr>
          <a:xfrm>
            <a:off x="600075" y="3836686"/>
            <a:ext cx="466725" cy="459074"/>
          </a:xfrm>
          <a:prstGeom prst="rect">
            <a:avLst/>
          </a:prstGeom>
        </p:spPr>
      </p:pic>
      <p:sp>
        <p:nvSpPr>
          <p:cNvPr id="30" name="Rectangle 29">
            <a:extLst>
              <a:ext uri="{FF2B5EF4-FFF2-40B4-BE49-F238E27FC236}">
                <a16:creationId xmlns:a16="http://schemas.microsoft.com/office/drawing/2014/main" id="{78085D01-F2D9-4FF8-AFE8-59DAD7CB0343}"/>
              </a:ext>
            </a:extLst>
          </p:cNvPr>
          <p:cNvSpPr>
            <a:spLocks noGrp="1"/>
          </p:cNvSpPr>
          <p:nvPr/>
        </p:nvSpPr>
        <p:spPr>
          <a:xfrm>
            <a:off x="1333500" y="3975735"/>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CPU Contention Ratio</a:t>
            </a:r>
          </a:p>
        </p:txBody>
      </p:sp>
      <p:sp>
        <p:nvSpPr>
          <p:cNvPr id="31" name="Straight Connector 30">
            <a:extLst>
              <a:ext uri="{FF2B5EF4-FFF2-40B4-BE49-F238E27FC236}">
                <a16:creationId xmlns:a16="http://schemas.microsoft.com/office/drawing/2014/main" id="{72944B4F-936E-4666-BCB5-19428C80B4D4}"/>
              </a:ext>
            </a:extLst>
          </p:cNvPr>
          <p:cNvSpPr>
            <a:spLocks noGrp="1"/>
          </p:cNvSpPr>
          <p:nvPr/>
        </p:nvSpPr>
        <p:spPr>
          <a:xfrm>
            <a:off x="3333750" y="3890010"/>
            <a:ext cx="0" cy="314325"/>
          </a:xfrm>
          <a:prstGeom prst="line">
            <a:avLst/>
          </a:prstGeom>
          <a:noFill/>
          <a:ln w="9525">
            <a:solidFill>
              <a:srgbClr val="CBD2CE"/>
            </a:solidFill>
            <a:prstDash val="solid"/>
          </a:ln>
        </p:spPr>
        <p:txBody>
          <a:bodyPr/>
          <a:lstStyle/>
          <a:p>
            <a:endParaRPr lang="en-FR"/>
          </a:p>
        </p:txBody>
      </p:sp>
      <p:sp>
        <p:nvSpPr>
          <p:cNvPr id="32" name="Rectangle 31">
            <a:extLst>
              <a:ext uri="{FF2B5EF4-FFF2-40B4-BE49-F238E27FC236}">
                <a16:creationId xmlns:a16="http://schemas.microsoft.com/office/drawing/2014/main" id="{4BB2C1F5-D562-49B2-9F9A-0CC0CC218F6B}"/>
              </a:ext>
            </a:extLst>
          </p:cNvPr>
          <p:cNvSpPr>
            <a:spLocks noGrp="1"/>
          </p:cNvSpPr>
          <p:nvPr/>
        </p:nvSpPr>
        <p:spPr>
          <a:xfrm>
            <a:off x="3676650" y="3890010"/>
            <a:ext cx="762000" cy="209550"/>
          </a:xfrm>
          <a:prstGeom prst="rect">
            <a:avLst/>
          </a:prstGeom>
          <a:noFill/>
          <a:ln w="0">
            <a:noFill/>
            <a:prstDash val="solid"/>
          </a:ln>
        </p:spPr>
        <p:txBody>
          <a:bodyPr wrap="none" lIns="0" tIns="0" rIns="0" bIns="0" anchor="t"/>
          <a:lstStyle/>
          <a:p>
            <a:pPr algn="l">
              <a:lnSpc>
                <a:spcPct val="100000"/>
              </a:lnSpc>
              <a:buNone/>
              <a:defRPr sz="1425" b="1" i="0">
                <a:solidFill>
                  <a:srgbClr val="111111"/>
                </a:solidFill>
                <a:latin typeface="Arial"/>
                <a:ea typeface="Arial"/>
                <a:cs typeface="Arial"/>
              </a:defRPr>
            </a:pPr>
            <a:r>
              <a:rPr sz="1425" b="1" i="0">
                <a:solidFill>
                  <a:srgbClr val="111111"/>
                </a:solidFill>
                <a:latin typeface="Arial"/>
                <a:ea typeface="Arial"/>
                <a:cs typeface="Arial"/>
              </a:rPr>
              <a:t>1:6</a:t>
            </a:r>
          </a:p>
        </p:txBody>
      </p:sp>
      <p:sp>
        <p:nvSpPr>
          <p:cNvPr id="33" name="Rectangle 32">
            <a:extLst>
              <a:ext uri="{FF2B5EF4-FFF2-40B4-BE49-F238E27FC236}">
                <a16:creationId xmlns:a16="http://schemas.microsoft.com/office/drawing/2014/main" id="{C1010FD1-CF72-4430-AE27-159930A3A4CD}"/>
              </a:ext>
            </a:extLst>
          </p:cNvPr>
          <p:cNvSpPr>
            <a:spLocks noGrp="1"/>
          </p:cNvSpPr>
          <p:nvPr/>
        </p:nvSpPr>
        <p:spPr>
          <a:xfrm>
            <a:off x="3676650" y="4109085"/>
            <a:ext cx="3714750" cy="171450"/>
          </a:xfrm>
          <a:prstGeom prst="rect">
            <a:avLst/>
          </a:prstGeom>
          <a:noFill/>
          <a:ln w="0">
            <a:noFill/>
            <a:prstDash val="solid"/>
          </a:ln>
        </p:spPr>
        <p:txBody>
          <a:bodyPr wrap="none" lIns="0" tIns="0" rIns="0" bIns="0" anchor="t"/>
          <a:lstStyle/>
          <a:p>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(Industry standard for medium consolidation)</a:t>
            </a:r>
          </a:p>
        </p:txBody>
      </p:sp>
      <p:sp>
        <p:nvSpPr>
          <p:cNvPr id="34" name="Straight Connector 33">
            <a:extLst>
              <a:ext uri="{FF2B5EF4-FFF2-40B4-BE49-F238E27FC236}">
                <a16:creationId xmlns:a16="http://schemas.microsoft.com/office/drawing/2014/main" id="{02CD068C-C8FC-47C9-BB57-3D4C64351CFA}"/>
              </a:ext>
            </a:extLst>
          </p:cNvPr>
          <p:cNvSpPr>
            <a:spLocks noGrp="1"/>
          </p:cNvSpPr>
          <p:nvPr/>
        </p:nvSpPr>
        <p:spPr>
          <a:xfrm>
            <a:off x="600075" y="4325303"/>
            <a:ext cx="6981825" cy="0"/>
          </a:xfrm>
          <a:prstGeom prst="line">
            <a:avLst/>
          </a:prstGeom>
          <a:noFill/>
          <a:ln w="9525">
            <a:solidFill>
              <a:srgbClr val="DDE2DE"/>
            </a:solidFill>
            <a:prstDash val="solid"/>
          </a:ln>
        </p:spPr>
        <p:txBody>
          <a:bodyPr/>
          <a:lstStyle/>
          <a:p>
            <a:endParaRPr lang="en-FR"/>
          </a:p>
        </p:txBody>
      </p:sp>
      <p:pic>
        <p:nvPicPr>
          <p:cNvPr id="85" name="Picture 84"/>
          <p:cNvPicPr>
            <a:picLocks noChangeAspect="1"/>
          </p:cNvPicPr>
          <p:nvPr/>
        </p:nvPicPr>
        <p:blipFill>
          <a:blip r:embed="rId8"/>
          <a:stretch/>
        </p:blipFill>
        <p:spPr>
          <a:xfrm>
            <a:off x="600075" y="4367228"/>
            <a:ext cx="466725" cy="459074"/>
          </a:xfrm>
          <a:prstGeom prst="rect">
            <a:avLst/>
          </a:prstGeom>
        </p:spPr>
      </p:pic>
      <p:sp>
        <p:nvSpPr>
          <p:cNvPr id="36" name="Rectangle 35">
            <a:extLst>
              <a:ext uri="{FF2B5EF4-FFF2-40B4-BE49-F238E27FC236}">
                <a16:creationId xmlns:a16="http://schemas.microsoft.com/office/drawing/2014/main" id="{35B0B338-2A00-4402-837C-6832FD369235}"/>
              </a:ext>
            </a:extLst>
          </p:cNvPr>
          <p:cNvSpPr>
            <a:spLocks noGrp="1"/>
          </p:cNvSpPr>
          <p:nvPr/>
        </p:nvSpPr>
        <p:spPr>
          <a:xfrm>
            <a:off x="1333500" y="4506278"/>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Average Utilization</a:t>
            </a:r>
          </a:p>
        </p:txBody>
      </p:sp>
      <p:sp>
        <p:nvSpPr>
          <p:cNvPr id="37" name="Straight Connector 36">
            <a:extLst>
              <a:ext uri="{FF2B5EF4-FFF2-40B4-BE49-F238E27FC236}">
                <a16:creationId xmlns:a16="http://schemas.microsoft.com/office/drawing/2014/main" id="{0004D49C-3CEF-4D64-8EE4-5C2EF19B65F0}"/>
              </a:ext>
            </a:extLst>
          </p:cNvPr>
          <p:cNvSpPr>
            <a:spLocks noGrp="1"/>
          </p:cNvSpPr>
          <p:nvPr/>
        </p:nvSpPr>
        <p:spPr>
          <a:xfrm>
            <a:off x="3333750" y="4420553"/>
            <a:ext cx="0" cy="314325"/>
          </a:xfrm>
          <a:prstGeom prst="line">
            <a:avLst/>
          </a:prstGeom>
          <a:noFill/>
          <a:ln w="9525">
            <a:solidFill>
              <a:srgbClr val="CBD2CE"/>
            </a:solidFill>
            <a:prstDash val="solid"/>
          </a:ln>
        </p:spPr>
        <p:txBody>
          <a:bodyPr/>
          <a:lstStyle/>
          <a:p>
            <a:endParaRPr lang="en-FR"/>
          </a:p>
        </p:txBody>
      </p:sp>
      <p:sp>
        <p:nvSpPr>
          <p:cNvPr id="38" name="Rectangle 37">
            <a:extLst>
              <a:ext uri="{FF2B5EF4-FFF2-40B4-BE49-F238E27FC236}">
                <a16:creationId xmlns:a16="http://schemas.microsoft.com/office/drawing/2014/main" id="{B09B219E-B635-42E5-8711-6CCAA05CC5BA}"/>
              </a:ext>
            </a:extLst>
          </p:cNvPr>
          <p:cNvSpPr>
            <a:spLocks noGrp="1"/>
          </p:cNvSpPr>
          <p:nvPr/>
        </p:nvSpPr>
        <p:spPr>
          <a:xfrm>
            <a:off x="3676650" y="4420553"/>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vCPU: 50%</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vMEM: 60%</a:t>
            </a:r>
          </a:p>
        </p:txBody>
      </p:sp>
      <p:sp>
        <p:nvSpPr>
          <p:cNvPr id="39" name="Straight Connector 38">
            <a:extLst>
              <a:ext uri="{FF2B5EF4-FFF2-40B4-BE49-F238E27FC236}">
                <a16:creationId xmlns:a16="http://schemas.microsoft.com/office/drawing/2014/main" id="{B5294845-2E5B-41F1-8CD4-A4D7AFAA9406}"/>
              </a:ext>
            </a:extLst>
          </p:cNvPr>
          <p:cNvSpPr>
            <a:spLocks noGrp="1"/>
          </p:cNvSpPr>
          <p:nvPr/>
        </p:nvSpPr>
        <p:spPr>
          <a:xfrm>
            <a:off x="600075" y="4855845"/>
            <a:ext cx="6981825" cy="0"/>
          </a:xfrm>
          <a:prstGeom prst="line">
            <a:avLst/>
          </a:prstGeom>
          <a:noFill/>
          <a:ln w="9525">
            <a:solidFill>
              <a:srgbClr val="DDE2DE"/>
            </a:solidFill>
            <a:prstDash val="solid"/>
          </a:ln>
        </p:spPr>
        <p:txBody>
          <a:bodyPr/>
          <a:lstStyle/>
          <a:p>
            <a:endParaRPr lang="en-FR"/>
          </a:p>
        </p:txBody>
      </p:sp>
      <p:pic>
        <p:nvPicPr>
          <p:cNvPr id="90" name="Picture 89"/>
          <p:cNvPicPr>
            <a:picLocks noChangeAspect="1"/>
          </p:cNvPicPr>
          <p:nvPr/>
        </p:nvPicPr>
        <p:blipFill>
          <a:blip r:embed="rId9"/>
          <a:stretch/>
        </p:blipFill>
        <p:spPr>
          <a:xfrm>
            <a:off x="600075" y="4897771"/>
            <a:ext cx="466725" cy="459074"/>
          </a:xfrm>
          <a:prstGeom prst="rect">
            <a:avLst/>
          </a:prstGeom>
        </p:spPr>
      </p:pic>
      <p:sp>
        <p:nvSpPr>
          <p:cNvPr id="41" name="Rectangle 40">
            <a:extLst>
              <a:ext uri="{FF2B5EF4-FFF2-40B4-BE49-F238E27FC236}">
                <a16:creationId xmlns:a16="http://schemas.microsoft.com/office/drawing/2014/main" id="{3237AD7F-4836-4176-AF9D-C45EBA307DA5}"/>
              </a:ext>
            </a:extLst>
          </p:cNvPr>
          <p:cNvSpPr>
            <a:spLocks noGrp="1"/>
          </p:cNvSpPr>
          <p:nvPr/>
        </p:nvSpPr>
        <p:spPr>
          <a:xfrm>
            <a:off x="1333500" y="5036820"/>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Target Utilization</a:t>
            </a:r>
          </a:p>
        </p:txBody>
      </p:sp>
      <p:sp>
        <p:nvSpPr>
          <p:cNvPr id="42" name="Straight Connector 41">
            <a:extLst>
              <a:ext uri="{FF2B5EF4-FFF2-40B4-BE49-F238E27FC236}">
                <a16:creationId xmlns:a16="http://schemas.microsoft.com/office/drawing/2014/main" id="{4D9346C3-2665-41B0-99E5-1FA2EBA0C533}"/>
              </a:ext>
            </a:extLst>
          </p:cNvPr>
          <p:cNvSpPr>
            <a:spLocks noGrp="1"/>
          </p:cNvSpPr>
          <p:nvPr/>
        </p:nvSpPr>
        <p:spPr>
          <a:xfrm>
            <a:off x="3333750" y="4951095"/>
            <a:ext cx="0" cy="314325"/>
          </a:xfrm>
          <a:prstGeom prst="line">
            <a:avLst/>
          </a:prstGeom>
          <a:noFill/>
          <a:ln w="9525">
            <a:solidFill>
              <a:srgbClr val="CBD2CE"/>
            </a:solidFill>
            <a:prstDash val="solid"/>
          </a:ln>
        </p:spPr>
        <p:txBody>
          <a:bodyPr/>
          <a:lstStyle/>
          <a:p>
            <a:endParaRPr lang="en-FR"/>
          </a:p>
        </p:txBody>
      </p:sp>
      <p:sp>
        <p:nvSpPr>
          <p:cNvPr id="43" name="Rectangle 42">
            <a:extLst>
              <a:ext uri="{FF2B5EF4-FFF2-40B4-BE49-F238E27FC236}">
                <a16:creationId xmlns:a16="http://schemas.microsoft.com/office/drawing/2014/main" id="{DBC0D906-17E6-4658-8738-8B3675430291}"/>
              </a:ext>
            </a:extLst>
          </p:cNvPr>
          <p:cNvSpPr>
            <a:spLocks noGrp="1"/>
          </p:cNvSpPr>
          <p:nvPr/>
        </p:nvSpPr>
        <p:spPr>
          <a:xfrm>
            <a:off x="3676650" y="4951095"/>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80%</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(For both vCPU and vMEM)</a:t>
            </a:r>
          </a:p>
        </p:txBody>
      </p:sp>
      <p:sp>
        <p:nvSpPr>
          <p:cNvPr id="44" name="Straight Connector 43">
            <a:extLst>
              <a:ext uri="{FF2B5EF4-FFF2-40B4-BE49-F238E27FC236}">
                <a16:creationId xmlns:a16="http://schemas.microsoft.com/office/drawing/2014/main" id="{76C190DA-7557-4EF8-A3B4-C1CD1D532610}"/>
              </a:ext>
            </a:extLst>
          </p:cNvPr>
          <p:cNvSpPr>
            <a:spLocks noGrp="1"/>
          </p:cNvSpPr>
          <p:nvPr/>
        </p:nvSpPr>
        <p:spPr>
          <a:xfrm>
            <a:off x="600075" y="5386388"/>
            <a:ext cx="6981825" cy="0"/>
          </a:xfrm>
          <a:prstGeom prst="line">
            <a:avLst/>
          </a:prstGeom>
          <a:noFill/>
          <a:ln w="9525">
            <a:solidFill>
              <a:srgbClr val="DDE2DE"/>
            </a:solidFill>
            <a:prstDash val="solid"/>
          </a:ln>
        </p:spPr>
        <p:txBody>
          <a:bodyPr/>
          <a:lstStyle/>
          <a:p>
            <a:endParaRPr lang="en-FR"/>
          </a:p>
        </p:txBody>
      </p:sp>
      <p:pic>
        <p:nvPicPr>
          <p:cNvPr id="95" name="Picture 94"/>
          <p:cNvPicPr>
            <a:picLocks noChangeAspect="1"/>
          </p:cNvPicPr>
          <p:nvPr/>
        </p:nvPicPr>
        <p:blipFill>
          <a:blip r:embed="rId10"/>
          <a:stretch/>
        </p:blipFill>
        <p:spPr>
          <a:xfrm>
            <a:off x="600075" y="5424488"/>
            <a:ext cx="466725" cy="466725"/>
          </a:xfrm>
          <a:prstGeom prst="rect">
            <a:avLst/>
          </a:prstGeom>
        </p:spPr>
      </p:pic>
      <p:sp>
        <p:nvSpPr>
          <p:cNvPr id="46" name="Rectangle 45">
            <a:extLst>
              <a:ext uri="{FF2B5EF4-FFF2-40B4-BE49-F238E27FC236}">
                <a16:creationId xmlns:a16="http://schemas.microsoft.com/office/drawing/2014/main" id="{1AAF8FDE-50FC-4C3F-9F81-15310F8F98EE}"/>
              </a:ext>
            </a:extLst>
          </p:cNvPr>
          <p:cNvSpPr>
            <a:spLocks noGrp="1"/>
          </p:cNvSpPr>
          <p:nvPr/>
        </p:nvSpPr>
        <p:spPr>
          <a:xfrm>
            <a:off x="1333500" y="5567363"/>
            <a:ext cx="2047875" cy="209550"/>
          </a:xfrm>
          <a:prstGeom prst="rect">
            <a:avLst/>
          </a:prstGeom>
          <a:noFill/>
          <a:ln w="0">
            <a:noFill/>
            <a:prstDash val="solid"/>
          </a:ln>
        </p:spPr>
        <p:txBody>
          <a:bodyPr wrap="none" lIns="0" tIns="0" rIns="0" bIns="0" anchor="t"/>
          <a:lstStyle/>
          <a:p>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Storage Type</a:t>
            </a:r>
          </a:p>
        </p:txBody>
      </p:sp>
      <p:sp>
        <p:nvSpPr>
          <p:cNvPr id="47" name="Straight Connector 46">
            <a:extLst>
              <a:ext uri="{FF2B5EF4-FFF2-40B4-BE49-F238E27FC236}">
                <a16:creationId xmlns:a16="http://schemas.microsoft.com/office/drawing/2014/main" id="{FFEF831B-5985-4EBD-83C8-50668461DF24}"/>
              </a:ext>
            </a:extLst>
          </p:cNvPr>
          <p:cNvSpPr>
            <a:spLocks noGrp="1"/>
          </p:cNvSpPr>
          <p:nvPr/>
        </p:nvSpPr>
        <p:spPr>
          <a:xfrm>
            <a:off x="3333750" y="5481638"/>
            <a:ext cx="0" cy="314325"/>
          </a:xfrm>
          <a:prstGeom prst="line">
            <a:avLst/>
          </a:prstGeom>
          <a:noFill/>
          <a:ln w="9525">
            <a:solidFill>
              <a:srgbClr val="CBD2CE"/>
            </a:solidFill>
            <a:prstDash val="solid"/>
          </a:ln>
        </p:spPr>
        <p:txBody>
          <a:bodyPr/>
          <a:lstStyle/>
          <a:p>
            <a:endParaRPr lang="en-FR"/>
          </a:p>
        </p:txBody>
      </p:sp>
      <p:sp>
        <p:nvSpPr>
          <p:cNvPr id="48" name="Rectangle 47">
            <a:extLst>
              <a:ext uri="{FF2B5EF4-FFF2-40B4-BE49-F238E27FC236}">
                <a16:creationId xmlns:a16="http://schemas.microsoft.com/office/drawing/2014/main" id="{FCCC5123-50EE-49F7-9C4E-AD8B5F15572B}"/>
              </a:ext>
            </a:extLst>
          </p:cNvPr>
          <p:cNvSpPr>
            <a:spLocks noGrp="1"/>
          </p:cNvSpPr>
          <p:nvPr/>
        </p:nvSpPr>
        <p:spPr>
          <a:xfrm>
            <a:off x="3676650" y="5481638"/>
            <a:ext cx="3714750" cy="400050"/>
          </a:xfrm>
          <a:prstGeom prst="rect">
            <a:avLst/>
          </a:prstGeom>
          <a:noFill/>
          <a:ln w="0">
            <a:noFill/>
            <a:prstDash val="solid"/>
          </a:ln>
        </p:spPr>
        <p:txBody>
          <a:bodyPr wrap="square" lIns="0" tIns="0" rIns="0" bIns="0" anchor="t"/>
          <a:lstStyle/>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OCI Block Volume</a:t>
            </a:r>
          </a:p>
          <a:p>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(Block Storage)</a:t>
            </a:r>
          </a:p>
        </p:txBody>
      </p:sp>
      <p:sp>
        <p:nvSpPr>
          <p:cNvPr id="49" name="Rectangle 48">
            <a:extLst>
              <a:ext uri="{FF2B5EF4-FFF2-40B4-BE49-F238E27FC236}">
                <a16:creationId xmlns:a16="http://schemas.microsoft.com/office/drawing/2014/main" id="{16E4D860-FD45-4FE4-BDF9-3E6C0A6C9676}"/>
              </a:ext>
            </a:extLst>
          </p:cNvPr>
          <p:cNvSpPr>
            <a:spLocks noGrp="1"/>
          </p:cNvSpPr>
          <p:nvPr/>
        </p:nvSpPr>
        <p:spPr>
          <a:xfrm>
            <a:off x="1133475" y="6553200"/>
            <a:ext cx="5143500" cy="171450"/>
          </a:xfrm>
          <a:prstGeom prst="rect">
            <a:avLst/>
          </a:prstGeom>
          <a:noFill/>
          <a:ln w="0">
            <a:noFill/>
            <a:prstDash val="solid"/>
          </a:ln>
        </p:spPr>
        <p:txBody>
          <a:bodyPr wrap="none" lIns="0" tIns="0" rIns="0" bIns="0" anchor="t"/>
          <a:lstStyle/>
          <a:p>
            <a:pPr algn="l">
              <a:lnSpc>
                <a:spcPct val="100000"/>
              </a:lnSpc>
              <a:buNone/>
              <a:defRPr sz="675" b="0" i="0">
                <a:solidFill>
                  <a:srgbClr val="555555"/>
                </a:solidFill>
                <a:latin typeface="Arial"/>
                <a:ea typeface="Arial"/>
                <a:cs typeface="Arial"/>
              </a:defRPr>
            </a:pPr>
            <a:r>
              <a:rPr sz="675" b="0" i="0">
                <a:solidFill>
                  <a:srgbClr val="555555"/>
                </a:solidFill>
                <a:latin typeface="Arial"/>
                <a:ea typeface="Arial"/>
                <a:cs typeface="Arial"/>
              </a:rPr>
              <a:t>Copyright © 2026, Oracle and/or its affiliates | Confidential: Internal/Restricted/Highly Restricted</a:t>
            </a:r>
          </a:p>
        </p:txBody>
      </p:sp>
      <p:pic>
        <p:nvPicPr>
          <p:cNvPr id="100" name="Picture 99"/>
          <p:cNvPicPr>
            <a:picLocks noChangeAspect="1"/>
          </p:cNvPicPr>
          <p:nvPr/>
        </p:nvPicPr>
        <p:blipFill>
          <a:blip r:embed="rId11"/>
          <a:stretch/>
        </p:blipFill>
        <p:spPr>
          <a:xfrm>
            <a:off x="11391900" y="6479151"/>
            <a:ext cx="400050" cy="329073"/>
          </a:xfrm>
          <a:prstGeom prst="rect">
            <a:avLst/>
          </a:prstGeom>
        </p:spPr>
      </p:pic>
    </p:spTree>
    <p:extLst>
      <p:ext uri="{BB962C8B-B14F-4D97-AF65-F5344CB8AC3E}">
        <p14:creationId xmlns:p14="http://schemas.microsoft.com/office/powerpoint/2010/main" val="9483572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BFA"/>
        </a:solidFill>
        <a:effectLst/>
      </p:bgPr>
    </p:bg>
    <p:spTree>
      <p:nvGrpSpPr>
        <p:cNvPr id="1" name=""/>
        <p:cNvGrpSpPr/>
        <p:nvPr/>
      </p:nvGrpSpPr>
      <p:grpSpPr>
        <a:xfrm>
          <a:off x="0" y="0"/>
          <a:ext cx="0" cy="0"/>
          <a:chOff x="0" y="0"/>
          <a:chExt cx="0" cy="0"/>
        </a:xfrm>
      </p:grpSpPr>
      <p:sp>
        <p:nvSpPr>
          <p:cNvPr id="75" name="Oval 74">
            <a:extLst>
              <a:ext uri="{FF2B5EF4-FFF2-40B4-BE49-F238E27FC236}">
                <a16:creationId xmlns:a16="http://schemas.microsoft.com/office/drawing/2014/main" id="{21F0DC85-8080-41CB-9F08-90BF24F47782}"/>
              </a:ext>
            </a:extLst>
          </p:cNvPr>
          <p:cNvSpPr>
            <a:spLocks noGrp="1"/>
          </p:cNvSpPr>
          <p:nvPr/>
        </p:nvSpPr>
        <p:spPr>
          <a:xfrm>
            <a:off x="219075" y="2838450"/>
            <a:ext cx="47625" cy="47625"/>
          </a:xfrm>
          <a:prstGeom prst="ellipse">
            <a:avLst/>
          </a:prstGeom>
          <a:solidFill>
            <a:srgbClr val="E6E8E6"/>
          </a:solidFill>
          <a:ln w="0">
            <a:noFill/>
            <a:prstDash val="solid"/>
          </a:ln>
        </p:spPr>
        <p:txBody>
          <a:bodyPr/>
          <a:lstStyle/>
          <a:p>
            <a:endParaRPr lang="en-FR"/>
          </a:p>
        </p:txBody>
      </p:sp>
      <p:sp>
        <p:nvSpPr>
          <p:cNvPr id="2" name="Oval 1">
            <a:extLst>
              <a:ext uri="{FF2B5EF4-FFF2-40B4-BE49-F238E27FC236}">
                <a16:creationId xmlns:a16="http://schemas.microsoft.com/office/drawing/2014/main" id="{2F83E7F2-4739-496D-AEA1-9C7E9AF7442A}"/>
              </a:ext>
            </a:extLst>
          </p:cNvPr>
          <p:cNvSpPr>
            <a:spLocks noGrp="1"/>
          </p:cNvSpPr>
          <p:nvPr/>
        </p:nvSpPr>
        <p:spPr>
          <a:xfrm>
            <a:off x="5133975" y="552450"/>
            <a:ext cx="38100" cy="38100"/>
          </a:xfrm>
          <a:prstGeom prst="ellipse">
            <a:avLst/>
          </a:prstGeom>
          <a:solidFill>
            <a:srgbClr val="E6E8E6"/>
          </a:solidFill>
          <a:ln w="0">
            <a:noFill/>
            <a:prstDash val="solid"/>
          </a:ln>
        </p:spPr>
        <p:txBody>
          <a:bodyPr/>
          <a:lstStyle/>
          <a:p>
            <a:endParaRPr lang="en-FR"/>
          </a:p>
        </p:txBody>
      </p:sp>
      <p:sp>
        <p:nvSpPr>
          <p:cNvPr id="3" name="Oval 2">
            <a:extLst>
              <a:ext uri="{FF2B5EF4-FFF2-40B4-BE49-F238E27FC236}">
                <a16:creationId xmlns:a16="http://schemas.microsoft.com/office/drawing/2014/main" id="{50365660-F790-4395-BCCA-A1B5A74443CB}"/>
              </a:ext>
            </a:extLst>
          </p:cNvPr>
          <p:cNvSpPr>
            <a:spLocks noGrp="1"/>
          </p:cNvSpPr>
          <p:nvPr/>
        </p:nvSpPr>
        <p:spPr>
          <a:xfrm>
            <a:off x="5638800" y="933450"/>
            <a:ext cx="38100" cy="38100"/>
          </a:xfrm>
          <a:prstGeom prst="ellipse">
            <a:avLst/>
          </a:prstGeom>
          <a:solidFill>
            <a:srgbClr val="E6E8E6"/>
          </a:solidFill>
          <a:ln w="0">
            <a:noFill/>
            <a:prstDash val="solid"/>
          </a:ln>
        </p:spPr>
        <p:txBody>
          <a:bodyPr/>
          <a:lstStyle/>
          <a:p>
            <a:endParaRPr lang="en-FR"/>
          </a:p>
        </p:txBody>
      </p:sp>
      <p:sp>
        <p:nvSpPr>
          <p:cNvPr id="4" name="Oval 3">
            <a:extLst>
              <a:ext uri="{FF2B5EF4-FFF2-40B4-BE49-F238E27FC236}">
                <a16:creationId xmlns:a16="http://schemas.microsoft.com/office/drawing/2014/main" id="{9375D8DC-CA5F-40B0-B7BF-056CF93CA4C9}"/>
              </a:ext>
            </a:extLst>
          </p:cNvPr>
          <p:cNvSpPr>
            <a:spLocks noGrp="1"/>
          </p:cNvSpPr>
          <p:nvPr/>
        </p:nvSpPr>
        <p:spPr>
          <a:xfrm>
            <a:off x="5810250" y="552450"/>
            <a:ext cx="28575" cy="28575"/>
          </a:xfrm>
          <a:prstGeom prst="ellipse">
            <a:avLst/>
          </a:prstGeom>
          <a:solidFill>
            <a:srgbClr val="E6E8E6"/>
          </a:solidFill>
          <a:ln w="0">
            <a:noFill/>
            <a:prstDash val="solid"/>
          </a:ln>
        </p:spPr>
        <p:txBody>
          <a:bodyPr/>
          <a:lstStyle/>
          <a:p>
            <a:endParaRPr lang="en-FR"/>
          </a:p>
        </p:txBody>
      </p:sp>
      <p:sp>
        <p:nvSpPr>
          <p:cNvPr id="5" name="Oval 4">
            <a:extLst>
              <a:ext uri="{FF2B5EF4-FFF2-40B4-BE49-F238E27FC236}">
                <a16:creationId xmlns:a16="http://schemas.microsoft.com/office/drawing/2014/main" id="{9B4636DC-97BE-46CA-BEB6-6BF5B65A7B74}"/>
              </a:ext>
            </a:extLst>
          </p:cNvPr>
          <p:cNvSpPr>
            <a:spLocks noGrp="1"/>
          </p:cNvSpPr>
          <p:nvPr/>
        </p:nvSpPr>
        <p:spPr>
          <a:xfrm>
            <a:off x="4505325" y="981075"/>
            <a:ext cx="57150" cy="57150"/>
          </a:xfrm>
          <a:prstGeom prst="ellipse">
            <a:avLst/>
          </a:prstGeom>
          <a:solidFill>
            <a:srgbClr val="E6E8E6"/>
          </a:solidFill>
          <a:ln w="0">
            <a:noFill/>
            <a:prstDash val="solid"/>
          </a:ln>
        </p:spPr>
        <p:txBody>
          <a:bodyPr/>
          <a:lstStyle/>
          <a:p>
            <a:endParaRPr lang="en-FR"/>
          </a:p>
        </p:txBody>
      </p:sp>
      <p:sp>
        <p:nvSpPr>
          <p:cNvPr id="6" name="Oval 5">
            <a:extLst>
              <a:ext uri="{FF2B5EF4-FFF2-40B4-BE49-F238E27FC236}">
                <a16:creationId xmlns:a16="http://schemas.microsoft.com/office/drawing/2014/main" id="{567805AE-F6C9-426B-897E-D76835211245}"/>
              </a:ext>
            </a:extLst>
          </p:cNvPr>
          <p:cNvSpPr>
            <a:spLocks noGrp="1"/>
          </p:cNvSpPr>
          <p:nvPr/>
        </p:nvSpPr>
        <p:spPr>
          <a:xfrm>
            <a:off x="5705475" y="990600"/>
            <a:ext cx="38100" cy="38100"/>
          </a:xfrm>
          <a:prstGeom prst="ellipse">
            <a:avLst/>
          </a:prstGeom>
          <a:solidFill>
            <a:srgbClr val="E6E8E6"/>
          </a:solidFill>
          <a:ln w="0">
            <a:noFill/>
            <a:prstDash val="solid"/>
          </a:ln>
        </p:spPr>
        <p:txBody>
          <a:bodyPr/>
          <a:lstStyle/>
          <a:p>
            <a:endParaRPr lang="en-FR"/>
          </a:p>
        </p:txBody>
      </p:sp>
      <p:sp>
        <p:nvSpPr>
          <p:cNvPr id="7" name="Oval 6">
            <a:extLst>
              <a:ext uri="{FF2B5EF4-FFF2-40B4-BE49-F238E27FC236}">
                <a16:creationId xmlns:a16="http://schemas.microsoft.com/office/drawing/2014/main" id="{B71CAA8A-0646-4E30-A41C-31D47C1744F5}"/>
              </a:ext>
            </a:extLst>
          </p:cNvPr>
          <p:cNvSpPr>
            <a:spLocks noGrp="1"/>
          </p:cNvSpPr>
          <p:nvPr/>
        </p:nvSpPr>
        <p:spPr>
          <a:xfrm>
            <a:off x="6096000" y="1162050"/>
            <a:ext cx="38100" cy="38100"/>
          </a:xfrm>
          <a:prstGeom prst="ellipse">
            <a:avLst/>
          </a:prstGeom>
          <a:solidFill>
            <a:srgbClr val="E6E8E6"/>
          </a:solidFill>
          <a:ln w="0">
            <a:noFill/>
            <a:prstDash val="solid"/>
          </a:ln>
        </p:spPr>
        <p:txBody>
          <a:bodyPr/>
          <a:lstStyle/>
          <a:p>
            <a:endParaRPr lang="en-FR"/>
          </a:p>
        </p:txBody>
      </p:sp>
      <p:sp>
        <p:nvSpPr>
          <p:cNvPr id="8" name="Oval 7">
            <a:extLst>
              <a:ext uri="{FF2B5EF4-FFF2-40B4-BE49-F238E27FC236}">
                <a16:creationId xmlns:a16="http://schemas.microsoft.com/office/drawing/2014/main" id="{8004BEBF-6AFB-4C2C-929C-BF89C0BEE4CC}"/>
              </a:ext>
            </a:extLst>
          </p:cNvPr>
          <p:cNvSpPr>
            <a:spLocks noGrp="1"/>
          </p:cNvSpPr>
          <p:nvPr/>
        </p:nvSpPr>
        <p:spPr>
          <a:xfrm>
            <a:off x="6753225" y="1304925"/>
            <a:ext cx="28575" cy="28575"/>
          </a:xfrm>
          <a:prstGeom prst="ellipse">
            <a:avLst/>
          </a:prstGeom>
          <a:solidFill>
            <a:srgbClr val="E6E8E6"/>
          </a:solidFill>
          <a:ln w="0">
            <a:noFill/>
            <a:prstDash val="solid"/>
          </a:ln>
        </p:spPr>
        <p:txBody>
          <a:bodyPr/>
          <a:lstStyle/>
          <a:p>
            <a:endParaRPr lang="en-FR"/>
          </a:p>
        </p:txBody>
      </p:sp>
      <p:sp>
        <p:nvSpPr>
          <p:cNvPr id="9" name="Oval 8">
            <a:extLst>
              <a:ext uri="{FF2B5EF4-FFF2-40B4-BE49-F238E27FC236}">
                <a16:creationId xmlns:a16="http://schemas.microsoft.com/office/drawing/2014/main" id="{971687F6-47A9-4150-89D4-7D270B8B3DC6}"/>
              </a:ext>
            </a:extLst>
          </p:cNvPr>
          <p:cNvSpPr>
            <a:spLocks noGrp="1"/>
          </p:cNvSpPr>
          <p:nvPr/>
        </p:nvSpPr>
        <p:spPr>
          <a:xfrm>
            <a:off x="7239000" y="381000"/>
            <a:ext cx="66675" cy="66675"/>
          </a:xfrm>
          <a:prstGeom prst="ellipse">
            <a:avLst/>
          </a:prstGeom>
          <a:solidFill>
            <a:srgbClr val="E6E8E6"/>
          </a:solidFill>
          <a:ln w="0">
            <a:noFill/>
            <a:prstDash val="solid"/>
          </a:ln>
        </p:spPr>
        <p:txBody>
          <a:bodyPr/>
          <a:lstStyle/>
          <a:p>
            <a:endParaRPr lang="en-FR"/>
          </a:p>
        </p:txBody>
      </p:sp>
      <p:sp>
        <p:nvSpPr>
          <p:cNvPr id="10" name="Oval 9">
            <a:extLst>
              <a:ext uri="{FF2B5EF4-FFF2-40B4-BE49-F238E27FC236}">
                <a16:creationId xmlns:a16="http://schemas.microsoft.com/office/drawing/2014/main" id="{22DB11DC-8AE3-4708-B895-9DCF02DCCDCD}"/>
              </a:ext>
            </a:extLst>
          </p:cNvPr>
          <p:cNvSpPr>
            <a:spLocks noGrp="1"/>
          </p:cNvSpPr>
          <p:nvPr/>
        </p:nvSpPr>
        <p:spPr>
          <a:xfrm>
            <a:off x="8839200" y="790575"/>
            <a:ext cx="28575" cy="28575"/>
          </a:xfrm>
          <a:prstGeom prst="ellipse">
            <a:avLst/>
          </a:prstGeom>
          <a:solidFill>
            <a:srgbClr val="E6E8E6"/>
          </a:solidFill>
          <a:ln w="0">
            <a:noFill/>
            <a:prstDash val="solid"/>
          </a:ln>
        </p:spPr>
        <p:txBody>
          <a:bodyPr/>
          <a:lstStyle/>
          <a:p>
            <a:endParaRPr lang="en-FR"/>
          </a:p>
        </p:txBody>
      </p:sp>
      <p:sp>
        <p:nvSpPr>
          <p:cNvPr id="11" name="Oval 10">
            <a:extLst>
              <a:ext uri="{FF2B5EF4-FFF2-40B4-BE49-F238E27FC236}">
                <a16:creationId xmlns:a16="http://schemas.microsoft.com/office/drawing/2014/main" id="{4170C531-2321-40E2-8044-BC5E8CA5BB58}"/>
              </a:ext>
            </a:extLst>
          </p:cNvPr>
          <p:cNvSpPr>
            <a:spLocks noGrp="1"/>
          </p:cNvSpPr>
          <p:nvPr/>
        </p:nvSpPr>
        <p:spPr>
          <a:xfrm>
            <a:off x="9048750" y="1495425"/>
            <a:ext cx="28575" cy="28575"/>
          </a:xfrm>
          <a:prstGeom prst="ellipse">
            <a:avLst/>
          </a:prstGeom>
          <a:solidFill>
            <a:srgbClr val="E6E8E6"/>
          </a:solidFill>
          <a:ln w="0">
            <a:noFill/>
            <a:prstDash val="solid"/>
          </a:ln>
        </p:spPr>
        <p:txBody>
          <a:bodyPr/>
          <a:lstStyle/>
          <a:p>
            <a:endParaRPr lang="en-FR"/>
          </a:p>
        </p:txBody>
      </p:sp>
      <p:sp>
        <p:nvSpPr>
          <p:cNvPr id="12" name="Oval 11">
            <a:extLst>
              <a:ext uri="{FF2B5EF4-FFF2-40B4-BE49-F238E27FC236}">
                <a16:creationId xmlns:a16="http://schemas.microsoft.com/office/drawing/2014/main" id="{7A4DA6F0-0E7F-4975-91FC-B8833E1EF25E}"/>
              </a:ext>
            </a:extLst>
          </p:cNvPr>
          <p:cNvSpPr>
            <a:spLocks noGrp="1"/>
          </p:cNvSpPr>
          <p:nvPr/>
        </p:nvSpPr>
        <p:spPr>
          <a:xfrm>
            <a:off x="9239250" y="1647825"/>
            <a:ext cx="28575" cy="28575"/>
          </a:xfrm>
          <a:prstGeom prst="ellipse">
            <a:avLst/>
          </a:prstGeom>
          <a:solidFill>
            <a:srgbClr val="E6E8E6"/>
          </a:solidFill>
          <a:ln w="0">
            <a:noFill/>
            <a:prstDash val="solid"/>
          </a:ln>
        </p:spPr>
        <p:txBody>
          <a:bodyPr/>
          <a:lstStyle/>
          <a:p>
            <a:endParaRPr lang="en-FR"/>
          </a:p>
        </p:txBody>
      </p:sp>
      <p:sp>
        <p:nvSpPr>
          <p:cNvPr id="13" name="Oval 12">
            <a:extLst>
              <a:ext uri="{FF2B5EF4-FFF2-40B4-BE49-F238E27FC236}">
                <a16:creationId xmlns:a16="http://schemas.microsoft.com/office/drawing/2014/main" id="{30D3E989-E565-43CA-B47B-51F6E2E6D5A5}"/>
              </a:ext>
            </a:extLst>
          </p:cNvPr>
          <p:cNvSpPr>
            <a:spLocks noGrp="1"/>
          </p:cNvSpPr>
          <p:nvPr/>
        </p:nvSpPr>
        <p:spPr>
          <a:xfrm>
            <a:off x="9944100" y="2076450"/>
            <a:ext cx="47625" cy="47625"/>
          </a:xfrm>
          <a:prstGeom prst="ellipse">
            <a:avLst/>
          </a:prstGeom>
          <a:solidFill>
            <a:srgbClr val="E6E8E6"/>
          </a:solidFill>
          <a:ln w="0">
            <a:noFill/>
            <a:prstDash val="solid"/>
          </a:ln>
        </p:spPr>
        <p:txBody>
          <a:bodyPr/>
          <a:lstStyle/>
          <a:p>
            <a:endParaRPr lang="en-FR"/>
          </a:p>
        </p:txBody>
      </p:sp>
      <p:sp>
        <p:nvSpPr>
          <p:cNvPr id="14" name="Oval 13">
            <a:extLst>
              <a:ext uri="{FF2B5EF4-FFF2-40B4-BE49-F238E27FC236}">
                <a16:creationId xmlns:a16="http://schemas.microsoft.com/office/drawing/2014/main" id="{E90AC5F6-AD11-4372-9904-82389EC0DDD8}"/>
              </a:ext>
            </a:extLst>
          </p:cNvPr>
          <p:cNvSpPr>
            <a:spLocks noGrp="1"/>
          </p:cNvSpPr>
          <p:nvPr/>
        </p:nvSpPr>
        <p:spPr>
          <a:xfrm>
            <a:off x="11258550" y="228600"/>
            <a:ext cx="28575" cy="28575"/>
          </a:xfrm>
          <a:prstGeom prst="ellipse">
            <a:avLst/>
          </a:prstGeom>
          <a:solidFill>
            <a:srgbClr val="E6E8E6"/>
          </a:solidFill>
          <a:ln w="0">
            <a:noFill/>
            <a:prstDash val="solid"/>
          </a:ln>
        </p:spPr>
        <p:txBody>
          <a:bodyPr/>
          <a:lstStyle/>
          <a:p>
            <a:endParaRPr lang="en-FR"/>
          </a:p>
        </p:txBody>
      </p:sp>
      <p:sp>
        <p:nvSpPr>
          <p:cNvPr id="15" name="Oval 14">
            <a:extLst>
              <a:ext uri="{FF2B5EF4-FFF2-40B4-BE49-F238E27FC236}">
                <a16:creationId xmlns:a16="http://schemas.microsoft.com/office/drawing/2014/main" id="{7B52B2D8-D6B9-4D4D-B2A5-2C8D8AA80805}"/>
              </a:ext>
            </a:extLst>
          </p:cNvPr>
          <p:cNvSpPr>
            <a:spLocks noGrp="1"/>
          </p:cNvSpPr>
          <p:nvPr/>
        </p:nvSpPr>
        <p:spPr>
          <a:xfrm>
            <a:off x="11306175" y="466725"/>
            <a:ext cx="38100" cy="38100"/>
          </a:xfrm>
          <a:prstGeom prst="ellipse">
            <a:avLst/>
          </a:prstGeom>
          <a:solidFill>
            <a:srgbClr val="E6E8E6"/>
          </a:solidFill>
          <a:ln w="0">
            <a:noFill/>
            <a:prstDash val="solid"/>
          </a:ln>
        </p:spPr>
        <p:txBody>
          <a:bodyPr/>
          <a:lstStyle/>
          <a:p>
            <a:endParaRPr lang="en-FR"/>
          </a:p>
        </p:txBody>
      </p:sp>
      <p:sp>
        <p:nvSpPr>
          <p:cNvPr id="16" name="Oval 15">
            <a:extLst>
              <a:ext uri="{FF2B5EF4-FFF2-40B4-BE49-F238E27FC236}">
                <a16:creationId xmlns:a16="http://schemas.microsoft.com/office/drawing/2014/main" id="{69CE3ABD-20CA-492A-A395-49E29EFAB399}"/>
              </a:ext>
            </a:extLst>
          </p:cNvPr>
          <p:cNvSpPr>
            <a:spLocks noGrp="1"/>
          </p:cNvSpPr>
          <p:nvPr/>
        </p:nvSpPr>
        <p:spPr>
          <a:xfrm>
            <a:off x="11811000" y="723900"/>
            <a:ext cx="38100" cy="38100"/>
          </a:xfrm>
          <a:prstGeom prst="ellipse">
            <a:avLst/>
          </a:prstGeom>
          <a:solidFill>
            <a:srgbClr val="E6E8E6"/>
          </a:solidFill>
          <a:ln w="0">
            <a:noFill/>
            <a:prstDash val="solid"/>
          </a:ln>
        </p:spPr>
        <p:txBody>
          <a:bodyPr/>
          <a:lstStyle/>
          <a:p>
            <a:endParaRPr lang="en-FR"/>
          </a:p>
        </p:txBody>
      </p:sp>
      <p:sp>
        <p:nvSpPr>
          <p:cNvPr id="17" name="Oval 16">
            <a:extLst>
              <a:ext uri="{FF2B5EF4-FFF2-40B4-BE49-F238E27FC236}">
                <a16:creationId xmlns:a16="http://schemas.microsoft.com/office/drawing/2014/main" id="{B88F33C5-401C-4533-ABE2-633CA7C878A6}"/>
              </a:ext>
            </a:extLst>
          </p:cNvPr>
          <p:cNvSpPr>
            <a:spLocks noGrp="1"/>
          </p:cNvSpPr>
          <p:nvPr/>
        </p:nvSpPr>
        <p:spPr>
          <a:xfrm>
            <a:off x="11991975" y="1181100"/>
            <a:ext cx="47625" cy="47625"/>
          </a:xfrm>
          <a:prstGeom prst="ellipse">
            <a:avLst/>
          </a:prstGeom>
          <a:solidFill>
            <a:srgbClr val="E6E8E6"/>
          </a:solidFill>
          <a:ln w="0">
            <a:noFill/>
            <a:prstDash val="solid"/>
          </a:ln>
        </p:spPr>
        <p:txBody>
          <a:bodyPr/>
          <a:lstStyle/>
          <a:p>
            <a:endParaRPr lang="en-FR"/>
          </a:p>
        </p:txBody>
      </p:sp>
      <p:sp>
        <p:nvSpPr>
          <p:cNvPr id="18" name="Oval 17">
            <a:extLst>
              <a:ext uri="{FF2B5EF4-FFF2-40B4-BE49-F238E27FC236}">
                <a16:creationId xmlns:a16="http://schemas.microsoft.com/office/drawing/2014/main" id="{81912CAD-A491-40CB-BE59-97E8CE401F65}"/>
              </a:ext>
            </a:extLst>
          </p:cNvPr>
          <p:cNvSpPr>
            <a:spLocks noGrp="1"/>
          </p:cNvSpPr>
          <p:nvPr/>
        </p:nvSpPr>
        <p:spPr>
          <a:xfrm>
            <a:off x="0" y="3028950"/>
            <a:ext cx="1381125" cy="1219200"/>
          </a:xfrm>
          <a:prstGeom prst="ellipse">
            <a:avLst/>
          </a:prstGeom>
          <a:solidFill>
            <a:srgbClr val="F5F8F6"/>
          </a:solidFill>
          <a:ln w="9525">
            <a:solidFill>
              <a:srgbClr val="E3E8E5"/>
            </a:solidFill>
            <a:prstDash val="dot"/>
          </a:ln>
        </p:spPr>
        <p:txBody>
          <a:bodyPr/>
          <a:lstStyle/>
          <a:p>
            <a:endParaRPr lang="en-FR"/>
          </a:p>
        </p:txBody>
      </p:sp>
      <p:pic>
        <p:nvPicPr>
          <p:cNvPr id="94" name="Picture 93"/>
          <p:cNvPicPr>
            <a:picLocks noChangeAspect="1"/>
          </p:cNvPicPr>
          <p:nvPr/>
        </p:nvPicPr>
        <p:blipFill>
          <a:blip r:embed="rId3"/>
          <a:stretch/>
        </p:blipFill>
        <p:spPr>
          <a:xfrm>
            <a:off x="426149" y="276225"/>
            <a:ext cx="1824228" cy="542925"/>
          </a:xfrm>
          <a:prstGeom prst="rect">
            <a:avLst/>
          </a:prstGeom>
        </p:spPr>
      </p:pic>
      <p:sp>
        <p:nvSpPr>
          <p:cNvPr id="21" name="Rectangle 20">
            <a:extLst>
              <a:ext uri="{FF2B5EF4-FFF2-40B4-BE49-F238E27FC236}">
                <a16:creationId xmlns:a16="http://schemas.microsoft.com/office/drawing/2014/main" id="{C287F6CF-5BDC-4BBA-BB60-B25AA48793ED}"/>
              </a:ext>
            </a:extLst>
          </p:cNvPr>
          <p:cNvSpPr>
            <a:spLocks noGrp="1"/>
          </p:cNvSpPr>
          <p:nvPr/>
        </p:nvSpPr>
        <p:spPr>
          <a:xfrm>
            <a:off x="400050" y="1118185"/>
            <a:ext cx="4953000" cy="495300"/>
          </a:xfrm>
          <a:prstGeom prst="rect">
            <a:avLst/>
          </a:prstGeom>
          <a:noFill/>
          <a:ln w="0">
            <a:noFill/>
            <a:prstDash val="solid"/>
          </a:ln>
        </p:spPr>
        <p:txBody>
          <a:bodyPr wrap="none" lIns="0" tIns="0" rIns="0" bIns="0" anchor="t"/>
          <a:lstStyle/>
          <a:p>
            <a:pPr algn="l">
              <a:lnSpc>
                <a:spcPct val="100000"/>
              </a:lnSpc>
              <a:buNone/>
              <a:defRPr sz="3150" b="1" i="0">
                <a:solidFill>
                  <a:srgbClr val="003B25"/>
                </a:solidFill>
                <a:latin typeface="Arial"/>
                <a:ea typeface="Arial"/>
                <a:cs typeface="Arial"/>
              </a:defRPr>
            </a:pPr>
            <a:r>
              <a:rPr sz="3150" b="1" i="0" dirty="0">
                <a:solidFill>
                  <a:srgbClr val="003B25"/>
                </a:solidFill>
                <a:latin typeface="Arial"/>
                <a:ea typeface="Arial"/>
                <a:cs typeface="Arial"/>
              </a:rPr>
              <a:t>Current Environment</a:t>
            </a:r>
          </a:p>
        </p:txBody>
      </p:sp>
      <p:sp>
        <p:nvSpPr>
          <p:cNvPr id="22" name="Rectangle 21">
            <a:extLst>
              <a:ext uri="{FF2B5EF4-FFF2-40B4-BE49-F238E27FC236}">
                <a16:creationId xmlns:a16="http://schemas.microsoft.com/office/drawing/2014/main" id="{7181C17D-13DF-4692-BC64-FC2AD05459C9}"/>
              </a:ext>
            </a:extLst>
          </p:cNvPr>
          <p:cNvSpPr>
            <a:spLocks noGrp="1"/>
          </p:cNvSpPr>
          <p:nvPr/>
        </p:nvSpPr>
        <p:spPr>
          <a:xfrm>
            <a:off x="400050" y="1704975"/>
            <a:ext cx="371475" cy="38100"/>
          </a:xfrm>
          <a:prstGeom prst="rect">
            <a:avLst/>
          </a:prstGeom>
          <a:solidFill>
            <a:srgbClr val="F00000"/>
          </a:solidFill>
          <a:ln w="0">
            <a:noFill/>
            <a:prstDash val="solid"/>
          </a:ln>
        </p:spPr>
        <p:txBody>
          <a:bodyPr/>
          <a:lstStyle/>
          <a:p>
            <a:endParaRPr lang="en-FR"/>
          </a:p>
        </p:txBody>
      </p:sp>
      <p:sp>
        <p:nvSpPr>
          <p:cNvPr id="23" name="Rectangle 22">
            <a:extLst>
              <a:ext uri="{FF2B5EF4-FFF2-40B4-BE49-F238E27FC236}">
                <a16:creationId xmlns:a16="http://schemas.microsoft.com/office/drawing/2014/main" id="{CF1157D8-7FA6-44EE-9ABA-8C1B2D76EB92}"/>
              </a:ext>
            </a:extLst>
          </p:cNvPr>
          <p:cNvSpPr>
            <a:spLocks noGrp="1"/>
          </p:cNvSpPr>
          <p:nvPr/>
        </p:nvSpPr>
        <p:spPr>
          <a:xfrm>
            <a:off x="400050" y="1885950"/>
            <a:ext cx="5334000" cy="209550"/>
          </a:xfrm>
          <a:prstGeom prst="rect">
            <a:avLst/>
          </a:prstGeom>
          <a:noFill/>
          <a:ln w="0">
            <a:noFill/>
            <a:prstDash val="solid"/>
          </a:ln>
        </p:spPr>
        <p:txBody>
          <a:bodyPr wrap="none" lIns="0" tIns="0" rIns="0" bIns="0" anchor="t"/>
          <a:lstStyle/>
          <a:p>
            <a:pPr algn="l">
              <a:lnSpc>
                <a:spcPct val="100000"/>
              </a:lnSpc>
              <a:buNone/>
              <a:defRPr sz="1200" b="0" i="0">
                <a:solidFill>
                  <a:srgbClr val="111111"/>
                </a:solidFill>
                <a:latin typeface="Arial"/>
                <a:ea typeface="Arial"/>
                <a:cs typeface="Arial"/>
              </a:defRPr>
            </a:pPr>
            <a:r>
              <a:rPr sz="1200" b="0" i="0">
                <a:solidFill>
                  <a:srgbClr val="111111"/>
                </a:solidFill>
                <a:latin typeface="Arial"/>
                <a:ea typeface="Arial"/>
                <a:cs typeface="Arial"/>
              </a:rPr>
              <a:t>Analysis based on RVTools data shared by the customer.</a:t>
            </a:r>
          </a:p>
        </p:txBody>
      </p:sp>
      <p:sp>
        <p:nvSpPr>
          <p:cNvPr id="24" name="Rounded Rectangle 23">
            <a:extLst>
              <a:ext uri="{FF2B5EF4-FFF2-40B4-BE49-F238E27FC236}">
                <a16:creationId xmlns:a16="http://schemas.microsoft.com/office/drawing/2014/main" id="{7742F759-7FA3-4F04-BD5F-BC22AB94CD82}"/>
              </a:ext>
            </a:extLst>
          </p:cNvPr>
          <p:cNvSpPr>
            <a:spLocks noGrp="1"/>
          </p:cNvSpPr>
          <p:nvPr/>
        </p:nvSpPr>
        <p:spPr>
          <a:xfrm>
            <a:off x="400050" y="2181225"/>
            <a:ext cx="11334750" cy="2152650"/>
          </a:xfrm>
          <a:prstGeom prst="roundRect">
            <a:avLst>
              <a:gd name="adj" fmla="val 3097"/>
            </a:avLst>
          </a:prstGeom>
          <a:solidFill>
            <a:srgbClr val="FFFFFF"/>
          </a:solidFill>
          <a:ln w="9525">
            <a:solidFill>
              <a:srgbClr val="D9DE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25" name="Rounded Rectangle 24">
            <a:extLst>
              <a:ext uri="{FF2B5EF4-FFF2-40B4-BE49-F238E27FC236}">
                <a16:creationId xmlns:a16="http://schemas.microsoft.com/office/drawing/2014/main" id="{B404DBE3-517A-4268-99D5-24CDE97D5A55}"/>
              </a:ext>
            </a:extLst>
          </p:cNvPr>
          <p:cNvSpPr>
            <a:spLocks noGrp="1"/>
          </p:cNvSpPr>
          <p:nvPr/>
        </p:nvSpPr>
        <p:spPr>
          <a:xfrm>
            <a:off x="400050" y="2181225"/>
            <a:ext cx="11334750" cy="419100"/>
          </a:xfrm>
          <a:prstGeom prst="roundRect">
            <a:avLst>
              <a:gd name="adj" fmla="val 15909"/>
            </a:avLst>
          </a:prstGeom>
          <a:gradFill>
            <a:gsLst>
              <a:gs pos="0">
                <a:srgbClr val="003B25"/>
              </a:gs>
              <a:gs pos="100000">
                <a:srgbClr val="0A4B30"/>
              </a:gs>
            </a:gsLst>
            <a:lin ang="5400000"/>
          </a:gradFill>
          <a:ln w="0">
            <a:noFill/>
            <a:prstDash val="solid"/>
          </a:ln>
        </p:spPr>
        <p:txBody>
          <a:bodyPr/>
          <a:lstStyle/>
          <a:p>
            <a:endParaRPr lang="en-FR"/>
          </a:p>
        </p:txBody>
      </p:sp>
      <p:sp>
        <p:nvSpPr>
          <p:cNvPr id="26" name="Rectangle 25">
            <a:extLst>
              <a:ext uri="{FF2B5EF4-FFF2-40B4-BE49-F238E27FC236}">
                <a16:creationId xmlns:a16="http://schemas.microsoft.com/office/drawing/2014/main" id="{F149E187-8D0C-45BD-B937-45018F857AE1}"/>
              </a:ext>
            </a:extLst>
          </p:cNvPr>
          <p:cNvSpPr>
            <a:spLocks noGrp="1"/>
          </p:cNvSpPr>
          <p:nvPr/>
        </p:nvSpPr>
        <p:spPr>
          <a:xfrm>
            <a:off x="400050" y="2514600"/>
            <a:ext cx="11334750" cy="85725"/>
          </a:xfrm>
          <a:prstGeom prst="rect">
            <a:avLst/>
          </a:prstGeom>
          <a:gradFill>
            <a:gsLst>
              <a:gs pos="0">
                <a:srgbClr val="003B25"/>
              </a:gs>
              <a:gs pos="100000">
                <a:srgbClr val="0A4B30"/>
              </a:gs>
            </a:gsLst>
            <a:lin ang="5400000"/>
          </a:gradFill>
          <a:ln w="0">
            <a:noFill/>
            <a:prstDash val="solid"/>
          </a:ln>
        </p:spPr>
        <p:txBody>
          <a:bodyPr/>
          <a:lstStyle/>
          <a:p>
            <a:endParaRPr lang="en-FR"/>
          </a:p>
        </p:txBody>
      </p:sp>
      <p:pic>
        <p:nvPicPr>
          <p:cNvPr id="101" name="Picture 100"/>
          <p:cNvPicPr>
            <a:picLocks noChangeAspect="1"/>
          </p:cNvPicPr>
          <p:nvPr/>
        </p:nvPicPr>
        <p:blipFill>
          <a:blip r:embed="rId4"/>
          <a:stretch/>
        </p:blipFill>
        <p:spPr>
          <a:xfrm>
            <a:off x="600075" y="2261185"/>
            <a:ext cx="285750" cy="278230"/>
          </a:xfrm>
          <a:prstGeom prst="rect">
            <a:avLst/>
          </a:prstGeom>
        </p:spPr>
      </p:pic>
      <p:sp>
        <p:nvSpPr>
          <p:cNvPr id="28" name="Rectangle 27">
            <a:extLst>
              <a:ext uri="{FF2B5EF4-FFF2-40B4-BE49-F238E27FC236}">
                <a16:creationId xmlns:a16="http://schemas.microsoft.com/office/drawing/2014/main" id="{1FCDE930-188D-4EA2-8394-918FC60EA432}"/>
              </a:ext>
            </a:extLst>
          </p:cNvPr>
          <p:cNvSpPr>
            <a:spLocks noGrp="1"/>
          </p:cNvSpPr>
          <p:nvPr/>
        </p:nvSpPr>
        <p:spPr>
          <a:xfrm>
            <a:off x="981075" y="2333625"/>
            <a:ext cx="2381250" cy="209550"/>
          </a:xfrm>
          <a:prstGeom prst="rect">
            <a:avLst/>
          </a:prstGeom>
          <a:noFill/>
          <a:ln w="0">
            <a:noFill/>
            <a:prstDash val="solid"/>
          </a:ln>
        </p:spPr>
        <p:txBody>
          <a:bodyPr wrap="none" lIns="0" tIns="0" rIns="0" bIns="0" anchor="t"/>
          <a:lstStyle/>
          <a:p>
            <a:pPr algn="l">
              <a:lnSpc>
                <a:spcPct val="100000"/>
              </a:lnSpc>
              <a:buNone/>
              <a:defRPr sz="1350" b="1" i="0">
                <a:solidFill>
                  <a:srgbClr val="FFFFFF"/>
                </a:solidFill>
                <a:latin typeface="Arial"/>
                <a:ea typeface="Arial"/>
                <a:cs typeface="Arial"/>
              </a:defRPr>
            </a:pPr>
            <a:r>
              <a:rPr sz="1350" b="1" i="0">
                <a:solidFill>
                  <a:srgbClr val="FFFFFF"/>
                </a:solidFill>
                <a:latin typeface="Arial"/>
                <a:ea typeface="Arial"/>
                <a:cs typeface="Arial"/>
              </a:rPr>
              <a:t>Datacenter 1 – CLIENT</a:t>
            </a:r>
          </a:p>
        </p:txBody>
      </p:sp>
      <p:sp>
        <p:nvSpPr>
          <p:cNvPr id="29" name="Straight Connector 28">
            <a:extLst>
              <a:ext uri="{FF2B5EF4-FFF2-40B4-BE49-F238E27FC236}">
                <a16:creationId xmlns:a16="http://schemas.microsoft.com/office/drawing/2014/main" id="{073F4B3D-A689-436F-BCE6-8235406074F8}"/>
              </a:ext>
            </a:extLst>
          </p:cNvPr>
          <p:cNvSpPr>
            <a:spLocks noGrp="1"/>
          </p:cNvSpPr>
          <p:nvPr/>
        </p:nvSpPr>
        <p:spPr>
          <a:xfrm>
            <a:off x="3200400" y="2857500"/>
            <a:ext cx="0" cy="1028700"/>
          </a:xfrm>
          <a:prstGeom prst="line">
            <a:avLst/>
          </a:prstGeom>
          <a:noFill/>
          <a:ln w="9525">
            <a:solidFill>
              <a:srgbClr val="C9CECA"/>
            </a:solidFill>
            <a:prstDash val="solid"/>
          </a:ln>
        </p:spPr>
        <p:txBody>
          <a:bodyPr/>
          <a:lstStyle/>
          <a:p>
            <a:endParaRPr lang="en-FR"/>
          </a:p>
        </p:txBody>
      </p:sp>
      <p:sp>
        <p:nvSpPr>
          <p:cNvPr id="30" name="Straight Connector 29">
            <a:extLst>
              <a:ext uri="{FF2B5EF4-FFF2-40B4-BE49-F238E27FC236}">
                <a16:creationId xmlns:a16="http://schemas.microsoft.com/office/drawing/2014/main" id="{FB60119E-4550-4C62-A1C7-2490DD52390F}"/>
              </a:ext>
            </a:extLst>
          </p:cNvPr>
          <p:cNvSpPr>
            <a:spLocks noGrp="1"/>
          </p:cNvSpPr>
          <p:nvPr/>
        </p:nvSpPr>
        <p:spPr>
          <a:xfrm>
            <a:off x="5981700" y="2857500"/>
            <a:ext cx="0" cy="1028700"/>
          </a:xfrm>
          <a:prstGeom prst="line">
            <a:avLst/>
          </a:prstGeom>
          <a:noFill/>
          <a:ln w="9525">
            <a:solidFill>
              <a:srgbClr val="C9CECA"/>
            </a:solidFill>
            <a:prstDash val="solid"/>
          </a:ln>
        </p:spPr>
        <p:txBody>
          <a:bodyPr/>
          <a:lstStyle/>
          <a:p>
            <a:endParaRPr lang="en-FR"/>
          </a:p>
        </p:txBody>
      </p:sp>
      <p:sp>
        <p:nvSpPr>
          <p:cNvPr id="31" name="Straight Connector 30">
            <a:extLst>
              <a:ext uri="{FF2B5EF4-FFF2-40B4-BE49-F238E27FC236}">
                <a16:creationId xmlns:a16="http://schemas.microsoft.com/office/drawing/2014/main" id="{635B3C01-9C5E-4AA0-AC7B-F394D0687E36}"/>
              </a:ext>
            </a:extLst>
          </p:cNvPr>
          <p:cNvSpPr>
            <a:spLocks noGrp="1"/>
          </p:cNvSpPr>
          <p:nvPr/>
        </p:nvSpPr>
        <p:spPr>
          <a:xfrm>
            <a:off x="8724900" y="2857500"/>
            <a:ext cx="0" cy="1028700"/>
          </a:xfrm>
          <a:prstGeom prst="line">
            <a:avLst/>
          </a:prstGeom>
          <a:noFill/>
          <a:ln w="9525">
            <a:solidFill>
              <a:srgbClr val="C9CECA"/>
            </a:solidFill>
            <a:prstDash val="solid"/>
          </a:ln>
        </p:spPr>
        <p:txBody>
          <a:bodyPr/>
          <a:lstStyle/>
          <a:p>
            <a:endParaRPr lang="en-FR"/>
          </a:p>
        </p:txBody>
      </p:sp>
      <p:sp>
        <p:nvSpPr>
          <p:cNvPr id="32" name="Rectangle 31">
            <a:extLst>
              <a:ext uri="{FF2B5EF4-FFF2-40B4-BE49-F238E27FC236}">
                <a16:creationId xmlns:a16="http://schemas.microsoft.com/office/drawing/2014/main" id="{B59BC397-1AED-455B-BFE0-6D1460C9CD8C}"/>
              </a:ext>
            </a:extLst>
          </p:cNvPr>
          <p:cNvSpPr>
            <a:spLocks noGrp="1"/>
          </p:cNvSpPr>
          <p:nvPr/>
        </p:nvSpPr>
        <p:spPr>
          <a:xfrm>
            <a:off x="1171575"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VMs</a:t>
            </a:r>
          </a:p>
        </p:txBody>
      </p:sp>
      <p:sp>
        <p:nvSpPr>
          <p:cNvPr id="33" name="Rectangle 32">
            <a:extLst>
              <a:ext uri="{FF2B5EF4-FFF2-40B4-BE49-F238E27FC236}">
                <a16:creationId xmlns:a16="http://schemas.microsoft.com/office/drawing/2014/main" id="{127C50D5-D813-45E0-8A65-C431BD0456FE}"/>
              </a:ext>
            </a:extLst>
          </p:cNvPr>
          <p:cNvSpPr>
            <a:spLocks noGrp="1"/>
          </p:cNvSpPr>
          <p:nvPr/>
        </p:nvSpPr>
        <p:spPr>
          <a:xfrm>
            <a:off x="1171575"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20,100</a:t>
            </a:r>
          </a:p>
        </p:txBody>
      </p:sp>
      <p:pic>
        <p:nvPicPr>
          <p:cNvPr id="108" name="Picture 107"/>
          <p:cNvPicPr>
            <a:picLocks noChangeAspect="1"/>
          </p:cNvPicPr>
          <p:nvPr/>
        </p:nvPicPr>
        <p:blipFill>
          <a:blip r:embed="rId5"/>
          <a:stretch/>
        </p:blipFill>
        <p:spPr>
          <a:xfrm>
            <a:off x="1590675" y="2781300"/>
            <a:ext cx="495300" cy="495300"/>
          </a:xfrm>
          <a:prstGeom prst="rect">
            <a:avLst/>
          </a:prstGeom>
        </p:spPr>
      </p:pic>
      <p:sp>
        <p:nvSpPr>
          <p:cNvPr id="35" name="Rectangle 34">
            <a:extLst>
              <a:ext uri="{FF2B5EF4-FFF2-40B4-BE49-F238E27FC236}">
                <a16:creationId xmlns:a16="http://schemas.microsoft.com/office/drawing/2014/main" id="{CCA77633-015F-457C-984D-6673C096DB92}"/>
              </a:ext>
            </a:extLst>
          </p:cNvPr>
          <p:cNvSpPr>
            <a:spLocks noGrp="1"/>
          </p:cNvSpPr>
          <p:nvPr/>
        </p:nvSpPr>
        <p:spPr>
          <a:xfrm>
            <a:off x="3952875"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vCPUs</a:t>
            </a:r>
          </a:p>
        </p:txBody>
      </p:sp>
      <p:sp>
        <p:nvSpPr>
          <p:cNvPr id="36" name="Rectangle 35">
            <a:extLst>
              <a:ext uri="{FF2B5EF4-FFF2-40B4-BE49-F238E27FC236}">
                <a16:creationId xmlns:a16="http://schemas.microsoft.com/office/drawing/2014/main" id="{D3349B43-D610-4795-98E9-37BED54D9ECE}"/>
              </a:ext>
            </a:extLst>
          </p:cNvPr>
          <p:cNvSpPr>
            <a:spLocks noGrp="1"/>
          </p:cNvSpPr>
          <p:nvPr/>
        </p:nvSpPr>
        <p:spPr>
          <a:xfrm>
            <a:off x="3952875"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a:t>
            </a:r>
          </a:p>
        </p:txBody>
      </p:sp>
      <p:pic>
        <p:nvPicPr>
          <p:cNvPr id="111" name="Picture 110"/>
          <p:cNvPicPr>
            <a:picLocks noChangeAspect="1"/>
          </p:cNvPicPr>
          <p:nvPr/>
        </p:nvPicPr>
        <p:blipFill>
          <a:blip r:embed="rId6"/>
          <a:stretch/>
        </p:blipFill>
        <p:spPr>
          <a:xfrm>
            <a:off x="4371975" y="2781300"/>
            <a:ext cx="495300" cy="495300"/>
          </a:xfrm>
          <a:prstGeom prst="rect">
            <a:avLst/>
          </a:prstGeom>
        </p:spPr>
      </p:pic>
      <p:sp>
        <p:nvSpPr>
          <p:cNvPr id="38" name="Rectangle 37">
            <a:extLst>
              <a:ext uri="{FF2B5EF4-FFF2-40B4-BE49-F238E27FC236}">
                <a16:creationId xmlns:a16="http://schemas.microsoft.com/office/drawing/2014/main" id="{52A61E4A-8FF4-4FA2-BD1B-74AD7A47DE93}"/>
              </a:ext>
            </a:extLst>
          </p:cNvPr>
          <p:cNvSpPr>
            <a:spLocks noGrp="1"/>
          </p:cNvSpPr>
          <p:nvPr/>
        </p:nvSpPr>
        <p:spPr>
          <a:xfrm>
            <a:off x="6696075"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vRAM (GB)</a:t>
            </a:r>
          </a:p>
        </p:txBody>
      </p:sp>
      <p:sp>
        <p:nvSpPr>
          <p:cNvPr id="39" name="Rectangle 38">
            <a:extLst>
              <a:ext uri="{FF2B5EF4-FFF2-40B4-BE49-F238E27FC236}">
                <a16:creationId xmlns:a16="http://schemas.microsoft.com/office/drawing/2014/main" id="{90A624D4-C31B-42AE-A588-376259BB8A49}"/>
              </a:ext>
            </a:extLst>
          </p:cNvPr>
          <p:cNvSpPr>
            <a:spLocks noGrp="1"/>
          </p:cNvSpPr>
          <p:nvPr/>
        </p:nvSpPr>
        <p:spPr>
          <a:xfrm>
            <a:off x="6696075"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30,000</a:t>
            </a:r>
          </a:p>
        </p:txBody>
      </p:sp>
      <p:pic>
        <p:nvPicPr>
          <p:cNvPr id="114" name="Picture 113"/>
          <p:cNvPicPr>
            <a:picLocks noChangeAspect="1"/>
          </p:cNvPicPr>
          <p:nvPr/>
        </p:nvPicPr>
        <p:blipFill>
          <a:blip r:embed="rId7"/>
          <a:stretch/>
        </p:blipFill>
        <p:spPr>
          <a:xfrm>
            <a:off x="7115175" y="2781300"/>
            <a:ext cx="495300" cy="495300"/>
          </a:xfrm>
          <a:prstGeom prst="rect">
            <a:avLst/>
          </a:prstGeom>
        </p:spPr>
      </p:pic>
      <p:sp>
        <p:nvSpPr>
          <p:cNvPr id="41" name="Rectangle 40">
            <a:extLst>
              <a:ext uri="{FF2B5EF4-FFF2-40B4-BE49-F238E27FC236}">
                <a16:creationId xmlns:a16="http://schemas.microsoft.com/office/drawing/2014/main" id="{8F1EB62F-0498-4D60-9534-8F4AE5E5A7C5}"/>
              </a:ext>
            </a:extLst>
          </p:cNvPr>
          <p:cNvSpPr>
            <a:spLocks noGrp="1"/>
          </p:cNvSpPr>
          <p:nvPr/>
        </p:nvSpPr>
        <p:spPr>
          <a:xfrm>
            <a:off x="9448800" y="3362325"/>
            <a:ext cx="1333500" cy="190500"/>
          </a:xfrm>
          <a:prstGeom prst="rect">
            <a:avLst/>
          </a:prstGeom>
          <a:noFill/>
          <a:ln w="0">
            <a:noFill/>
            <a:prstDash val="solid"/>
          </a:ln>
        </p:spPr>
        <p:txBody>
          <a:bodyPr wrap="none" lIns="0" tIns="0" rIns="0" bIns="0" anchor="t"/>
          <a:lstStyle/>
          <a:p>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Storage (TB)</a:t>
            </a:r>
          </a:p>
        </p:txBody>
      </p:sp>
      <p:sp>
        <p:nvSpPr>
          <p:cNvPr id="42" name="Rectangle 41">
            <a:extLst>
              <a:ext uri="{FF2B5EF4-FFF2-40B4-BE49-F238E27FC236}">
                <a16:creationId xmlns:a16="http://schemas.microsoft.com/office/drawing/2014/main" id="{84830E81-2535-4FE2-8239-D8779C43C1A8}"/>
              </a:ext>
            </a:extLst>
          </p:cNvPr>
          <p:cNvSpPr>
            <a:spLocks noGrp="1"/>
          </p:cNvSpPr>
          <p:nvPr/>
        </p:nvSpPr>
        <p:spPr>
          <a:xfrm>
            <a:off x="9448800" y="3609975"/>
            <a:ext cx="1333500" cy="247650"/>
          </a:xfrm>
          <a:prstGeom prst="rect">
            <a:avLst/>
          </a:prstGeom>
          <a:noFill/>
          <a:ln w="0">
            <a:noFill/>
            <a:prstDash val="solid"/>
          </a:ln>
        </p:spPr>
        <p:txBody>
          <a:bodyPr wrap="none" lIns="0" tIns="0" rIns="0" bIns="0" anchor="t"/>
          <a:lstStyle/>
          <a:p>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210</a:t>
            </a:r>
          </a:p>
        </p:txBody>
      </p:sp>
      <p:pic>
        <p:nvPicPr>
          <p:cNvPr id="117" name="Picture 116"/>
          <p:cNvPicPr>
            <a:picLocks noChangeAspect="1"/>
          </p:cNvPicPr>
          <p:nvPr/>
        </p:nvPicPr>
        <p:blipFill>
          <a:blip r:embed="rId8"/>
          <a:stretch/>
        </p:blipFill>
        <p:spPr>
          <a:xfrm>
            <a:off x="9867900" y="2781300"/>
            <a:ext cx="495300" cy="495300"/>
          </a:xfrm>
          <a:prstGeom prst="rect">
            <a:avLst/>
          </a:prstGeom>
        </p:spPr>
      </p:pic>
      <p:sp>
        <p:nvSpPr>
          <p:cNvPr id="44" name="Rectangle 43">
            <a:extLst>
              <a:ext uri="{FF2B5EF4-FFF2-40B4-BE49-F238E27FC236}">
                <a16:creationId xmlns:a16="http://schemas.microsoft.com/office/drawing/2014/main" id="{40B2A91E-AAE2-4FEB-AD52-D18E23D0EC0B}"/>
              </a:ext>
            </a:extLst>
          </p:cNvPr>
          <p:cNvSpPr>
            <a:spLocks noGrp="1"/>
          </p:cNvSpPr>
          <p:nvPr/>
        </p:nvSpPr>
        <p:spPr>
          <a:xfrm>
            <a:off x="1323975" y="3876675"/>
            <a:ext cx="428625" cy="171450"/>
          </a:xfrm>
          <a:prstGeom prst="rect">
            <a:avLst/>
          </a:prstGeom>
          <a:noFill/>
          <a:ln w="0">
            <a:noFill/>
            <a:prstDash val="solid"/>
          </a:ln>
        </p:spPr>
        <p:txBody>
          <a:bodyPr wrap="none" lIns="0" tIns="0" rIns="0" bIns="0" anchor="t"/>
          <a:lstStyle/>
          <a:p>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18,400</a:t>
            </a:r>
          </a:p>
        </p:txBody>
      </p:sp>
      <p:sp>
        <p:nvSpPr>
          <p:cNvPr id="45" name="Rectangle 44">
            <a:extLst>
              <a:ext uri="{FF2B5EF4-FFF2-40B4-BE49-F238E27FC236}">
                <a16:creationId xmlns:a16="http://schemas.microsoft.com/office/drawing/2014/main" id="{277AB89B-0977-4880-A97D-D7648C371A3B}"/>
              </a:ext>
            </a:extLst>
          </p:cNvPr>
          <p:cNvSpPr>
            <a:spLocks noGrp="1"/>
          </p:cNvSpPr>
          <p:nvPr/>
        </p:nvSpPr>
        <p:spPr>
          <a:xfrm>
            <a:off x="1800225" y="3876675"/>
            <a:ext cx="809625"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On</a:t>
            </a:r>
          </a:p>
        </p:txBody>
      </p:sp>
      <p:sp>
        <p:nvSpPr>
          <p:cNvPr id="46" name="Rectangle 45">
            <a:extLst>
              <a:ext uri="{FF2B5EF4-FFF2-40B4-BE49-F238E27FC236}">
                <a16:creationId xmlns:a16="http://schemas.microsoft.com/office/drawing/2014/main" id="{F7F48385-3BC4-475A-A935-67C101D814FB}"/>
              </a:ext>
            </a:extLst>
          </p:cNvPr>
          <p:cNvSpPr>
            <a:spLocks noGrp="1"/>
          </p:cNvSpPr>
          <p:nvPr/>
        </p:nvSpPr>
        <p:spPr>
          <a:xfrm>
            <a:off x="1323975" y="4067175"/>
            <a:ext cx="428625" cy="171450"/>
          </a:xfrm>
          <a:prstGeom prst="rect">
            <a:avLst/>
          </a:prstGeom>
          <a:noFill/>
          <a:ln w="0">
            <a:noFill/>
            <a:prstDash val="solid"/>
          </a:ln>
        </p:spPr>
        <p:txBody>
          <a:bodyPr wrap="none" lIns="0" tIns="0" rIns="0" bIns="0" anchor="t"/>
          <a:lstStyle/>
          <a:p>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1,700</a:t>
            </a:r>
          </a:p>
        </p:txBody>
      </p:sp>
      <p:sp>
        <p:nvSpPr>
          <p:cNvPr id="47" name="Rectangle 46">
            <a:extLst>
              <a:ext uri="{FF2B5EF4-FFF2-40B4-BE49-F238E27FC236}">
                <a16:creationId xmlns:a16="http://schemas.microsoft.com/office/drawing/2014/main" id="{4F72CCE0-CF33-447A-9A99-12F0DB96E23B}"/>
              </a:ext>
            </a:extLst>
          </p:cNvPr>
          <p:cNvSpPr>
            <a:spLocks noGrp="1"/>
          </p:cNvSpPr>
          <p:nvPr/>
        </p:nvSpPr>
        <p:spPr>
          <a:xfrm>
            <a:off x="1800225" y="4067175"/>
            <a:ext cx="876300" cy="171450"/>
          </a:xfrm>
          <a:prstGeom prst="rect">
            <a:avLst/>
          </a:prstGeom>
          <a:noFill/>
          <a:ln w="0">
            <a:noFill/>
            <a:prstDash val="solid"/>
          </a:ln>
        </p:spPr>
        <p:txBody>
          <a:bodyPr wrap="none" lIns="0" tIns="0" rIns="0" bIns="0" anchor="t"/>
          <a:lstStyle/>
          <a:p>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Off</a:t>
            </a:r>
          </a:p>
        </p:txBody>
      </p:sp>
      <p:sp>
        <p:nvSpPr>
          <p:cNvPr id="48" name="Rounded Rectangle 47">
            <a:extLst>
              <a:ext uri="{FF2B5EF4-FFF2-40B4-BE49-F238E27FC236}">
                <a16:creationId xmlns:a16="http://schemas.microsoft.com/office/drawing/2014/main" id="{298F7E7A-D055-437F-B62D-B044692E6F88}"/>
              </a:ext>
            </a:extLst>
          </p:cNvPr>
          <p:cNvSpPr>
            <a:spLocks noGrp="1"/>
          </p:cNvSpPr>
          <p:nvPr/>
        </p:nvSpPr>
        <p:spPr>
          <a:xfrm>
            <a:off x="400050" y="4486275"/>
            <a:ext cx="11334750" cy="1009650"/>
          </a:xfrm>
          <a:prstGeom prst="roundRect">
            <a:avLst>
              <a:gd name="adj" fmla="val 6604"/>
            </a:avLst>
          </a:prstGeom>
          <a:solidFill>
            <a:srgbClr val="F3F7F5"/>
          </a:solidFill>
          <a:ln w="9525">
            <a:solidFill>
              <a:srgbClr val="D9DE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49" name="Rounded Rectangle 48">
            <a:extLst>
              <a:ext uri="{FF2B5EF4-FFF2-40B4-BE49-F238E27FC236}">
                <a16:creationId xmlns:a16="http://schemas.microsoft.com/office/drawing/2014/main" id="{F92C2AB9-B877-4DDB-BCDD-C92BBFD94A50}"/>
              </a:ext>
            </a:extLst>
          </p:cNvPr>
          <p:cNvSpPr>
            <a:spLocks noGrp="1"/>
          </p:cNvSpPr>
          <p:nvPr/>
        </p:nvSpPr>
        <p:spPr>
          <a:xfrm>
            <a:off x="400050" y="4486275"/>
            <a:ext cx="1819275" cy="1009650"/>
          </a:xfrm>
          <a:prstGeom prst="roundRect">
            <a:avLst>
              <a:gd name="adj" fmla="val 6604"/>
            </a:avLst>
          </a:prstGeom>
          <a:gradFill>
            <a:gsLst>
              <a:gs pos="0">
                <a:srgbClr val="003B25"/>
              </a:gs>
              <a:gs pos="100000">
                <a:srgbClr val="0A4B30"/>
              </a:gs>
            </a:gsLst>
            <a:lin ang="5400000"/>
          </a:gradFill>
          <a:ln w="0">
            <a:noFill/>
            <a:prstDash val="solid"/>
          </a:ln>
        </p:spPr>
        <p:txBody>
          <a:bodyPr/>
          <a:lstStyle/>
          <a:p>
            <a:endParaRPr lang="en-FR"/>
          </a:p>
        </p:txBody>
      </p:sp>
      <p:sp>
        <p:nvSpPr>
          <p:cNvPr id="50" name="Rectangle 49">
            <a:extLst>
              <a:ext uri="{FF2B5EF4-FFF2-40B4-BE49-F238E27FC236}">
                <a16:creationId xmlns:a16="http://schemas.microsoft.com/office/drawing/2014/main" id="{47D07B68-7D3B-4636-AEC8-6CB4A4FC4595}"/>
              </a:ext>
            </a:extLst>
          </p:cNvPr>
          <p:cNvSpPr>
            <a:spLocks noGrp="1"/>
          </p:cNvSpPr>
          <p:nvPr/>
        </p:nvSpPr>
        <p:spPr>
          <a:xfrm>
            <a:off x="1447800" y="4486275"/>
            <a:ext cx="771525" cy="1009650"/>
          </a:xfrm>
          <a:prstGeom prst="rect">
            <a:avLst/>
          </a:prstGeom>
          <a:gradFill>
            <a:gsLst>
              <a:gs pos="0">
                <a:srgbClr val="003B25"/>
              </a:gs>
              <a:gs pos="100000">
                <a:srgbClr val="0A4B30"/>
              </a:gs>
            </a:gsLst>
            <a:lin ang="5400000"/>
          </a:gradFill>
          <a:ln w="0">
            <a:noFill/>
            <a:prstDash val="solid"/>
          </a:ln>
        </p:spPr>
        <p:txBody>
          <a:bodyPr/>
          <a:lstStyle/>
          <a:p>
            <a:endParaRPr lang="en-FR"/>
          </a:p>
        </p:txBody>
      </p:sp>
      <p:pic>
        <p:nvPicPr>
          <p:cNvPr id="125" name="Picture 124"/>
          <p:cNvPicPr>
            <a:picLocks noChangeAspect="1"/>
          </p:cNvPicPr>
          <p:nvPr/>
        </p:nvPicPr>
        <p:blipFill>
          <a:blip r:embed="rId9"/>
          <a:stretch/>
        </p:blipFill>
        <p:spPr>
          <a:xfrm>
            <a:off x="1076325" y="4671030"/>
            <a:ext cx="476250" cy="468690"/>
          </a:xfrm>
          <a:prstGeom prst="rect">
            <a:avLst/>
          </a:prstGeom>
        </p:spPr>
      </p:pic>
      <p:sp>
        <p:nvSpPr>
          <p:cNvPr id="52" name="Rectangle 51">
            <a:extLst>
              <a:ext uri="{FF2B5EF4-FFF2-40B4-BE49-F238E27FC236}">
                <a16:creationId xmlns:a16="http://schemas.microsoft.com/office/drawing/2014/main" id="{7135EB0C-DEDC-471B-8F07-A8F41F1E2D6A}"/>
              </a:ext>
            </a:extLst>
          </p:cNvPr>
          <p:cNvSpPr>
            <a:spLocks noGrp="1"/>
          </p:cNvSpPr>
          <p:nvPr/>
        </p:nvSpPr>
        <p:spPr>
          <a:xfrm>
            <a:off x="666750" y="5162550"/>
            <a:ext cx="1257300" cy="209550"/>
          </a:xfrm>
          <a:prstGeom prst="rect">
            <a:avLst/>
          </a:prstGeom>
          <a:noFill/>
          <a:ln w="0">
            <a:noFill/>
            <a:prstDash val="solid"/>
          </a:ln>
        </p:spPr>
        <p:txBody>
          <a:bodyPr wrap="none" lIns="0" tIns="0" rIns="0" bIns="0" anchor="t"/>
          <a:lstStyle/>
          <a:p>
            <a:pPr algn="ctr">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Total Environment</a:t>
            </a:r>
          </a:p>
        </p:txBody>
      </p:sp>
      <p:sp>
        <p:nvSpPr>
          <p:cNvPr id="53" name="Straight Connector 52">
            <a:extLst>
              <a:ext uri="{FF2B5EF4-FFF2-40B4-BE49-F238E27FC236}">
                <a16:creationId xmlns:a16="http://schemas.microsoft.com/office/drawing/2014/main" id="{6A04919F-C898-4046-9165-502C7FD7BAF0}"/>
              </a:ext>
            </a:extLst>
          </p:cNvPr>
          <p:cNvSpPr>
            <a:spLocks noGrp="1"/>
          </p:cNvSpPr>
          <p:nvPr/>
        </p:nvSpPr>
        <p:spPr>
          <a:xfrm>
            <a:off x="4686300" y="4714875"/>
            <a:ext cx="0" cy="590550"/>
          </a:xfrm>
          <a:prstGeom prst="line">
            <a:avLst/>
          </a:prstGeom>
          <a:noFill/>
          <a:ln w="9525">
            <a:solidFill>
              <a:srgbClr val="C9CECA"/>
            </a:solidFill>
            <a:prstDash val="solid"/>
          </a:ln>
        </p:spPr>
        <p:txBody>
          <a:bodyPr/>
          <a:lstStyle/>
          <a:p>
            <a:endParaRPr lang="en-FR"/>
          </a:p>
        </p:txBody>
      </p:sp>
      <p:sp>
        <p:nvSpPr>
          <p:cNvPr id="54" name="Straight Connector 53">
            <a:extLst>
              <a:ext uri="{FF2B5EF4-FFF2-40B4-BE49-F238E27FC236}">
                <a16:creationId xmlns:a16="http://schemas.microsoft.com/office/drawing/2014/main" id="{279DB36C-681C-4FD2-A588-9A4BF85211F2}"/>
              </a:ext>
            </a:extLst>
          </p:cNvPr>
          <p:cNvSpPr>
            <a:spLocks noGrp="1"/>
          </p:cNvSpPr>
          <p:nvPr/>
        </p:nvSpPr>
        <p:spPr>
          <a:xfrm>
            <a:off x="7029450" y="4714875"/>
            <a:ext cx="0" cy="590550"/>
          </a:xfrm>
          <a:prstGeom prst="line">
            <a:avLst/>
          </a:prstGeom>
          <a:noFill/>
          <a:ln w="9525">
            <a:solidFill>
              <a:srgbClr val="C9CECA"/>
            </a:solidFill>
            <a:prstDash val="solid"/>
          </a:ln>
        </p:spPr>
        <p:txBody>
          <a:bodyPr/>
          <a:lstStyle/>
          <a:p>
            <a:endParaRPr lang="en-FR"/>
          </a:p>
        </p:txBody>
      </p:sp>
      <p:sp>
        <p:nvSpPr>
          <p:cNvPr id="55" name="Straight Connector 54">
            <a:extLst>
              <a:ext uri="{FF2B5EF4-FFF2-40B4-BE49-F238E27FC236}">
                <a16:creationId xmlns:a16="http://schemas.microsoft.com/office/drawing/2014/main" id="{C8F92710-B721-4F19-B1ED-A9D5B1B54C85}"/>
              </a:ext>
            </a:extLst>
          </p:cNvPr>
          <p:cNvSpPr>
            <a:spLocks noGrp="1"/>
          </p:cNvSpPr>
          <p:nvPr/>
        </p:nvSpPr>
        <p:spPr>
          <a:xfrm>
            <a:off x="9486900" y="4714875"/>
            <a:ext cx="0" cy="590550"/>
          </a:xfrm>
          <a:prstGeom prst="line">
            <a:avLst/>
          </a:prstGeom>
          <a:noFill/>
          <a:ln w="9525">
            <a:solidFill>
              <a:srgbClr val="C9CECA"/>
            </a:solidFill>
            <a:prstDash val="solid"/>
          </a:ln>
        </p:spPr>
        <p:txBody>
          <a:bodyPr/>
          <a:lstStyle/>
          <a:p>
            <a:endParaRPr lang="en-FR"/>
          </a:p>
        </p:txBody>
      </p:sp>
      <p:sp>
        <p:nvSpPr>
          <p:cNvPr id="56" name="Rectangle 55">
            <a:extLst>
              <a:ext uri="{FF2B5EF4-FFF2-40B4-BE49-F238E27FC236}">
                <a16:creationId xmlns:a16="http://schemas.microsoft.com/office/drawing/2014/main" id="{347AE0DB-5FC1-4C08-A3B9-5D2E17AF0014}"/>
              </a:ext>
            </a:extLst>
          </p:cNvPr>
          <p:cNvSpPr>
            <a:spLocks noGrp="1"/>
          </p:cNvSpPr>
          <p:nvPr/>
        </p:nvSpPr>
        <p:spPr>
          <a:xfrm>
            <a:off x="3343275" y="4714875"/>
            <a:ext cx="114300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VMs</a:t>
            </a:r>
          </a:p>
        </p:txBody>
      </p:sp>
      <p:sp>
        <p:nvSpPr>
          <p:cNvPr id="57" name="Rectangle 56">
            <a:extLst>
              <a:ext uri="{FF2B5EF4-FFF2-40B4-BE49-F238E27FC236}">
                <a16:creationId xmlns:a16="http://schemas.microsoft.com/office/drawing/2014/main" id="{51D8B33B-988C-462B-91B7-386F22B8BCA6}"/>
              </a:ext>
            </a:extLst>
          </p:cNvPr>
          <p:cNvSpPr>
            <a:spLocks noGrp="1"/>
          </p:cNvSpPr>
          <p:nvPr/>
        </p:nvSpPr>
        <p:spPr>
          <a:xfrm>
            <a:off x="3343275" y="4972050"/>
            <a:ext cx="114300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20,100</a:t>
            </a:r>
          </a:p>
        </p:txBody>
      </p:sp>
      <p:pic>
        <p:nvPicPr>
          <p:cNvPr id="132" name="Picture 131"/>
          <p:cNvPicPr>
            <a:picLocks noChangeAspect="1"/>
          </p:cNvPicPr>
          <p:nvPr/>
        </p:nvPicPr>
        <p:blipFill>
          <a:blip r:embed="rId10"/>
          <a:stretch/>
        </p:blipFill>
        <p:spPr>
          <a:xfrm>
            <a:off x="2887742" y="4905375"/>
            <a:ext cx="396716" cy="323850"/>
          </a:xfrm>
          <a:prstGeom prst="rect">
            <a:avLst/>
          </a:prstGeom>
        </p:spPr>
      </p:pic>
      <p:sp>
        <p:nvSpPr>
          <p:cNvPr id="59" name="Rectangle 58">
            <a:extLst>
              <a:ext uri="{FF2B5EF4-FFF2-40B4-BE49-F238E27FC236}">
                <a16:creationId xmlns:a16="http://schemas.microsoft.com/office/drawing/2014/main" id="{8DF81488-E310-4D2F-9D0F-A65D6E2C5976}"/>
              </a:ext>
            </a:extLst>
          </p:cNvPr>
          <p:cNvSpPr>
            <a:spLocks noGrp="1"/>
          </p:cNvSpPr>
          <p:nvPr/>
        </p:nvSpPr>
        <p:spPr>
          <a:xfrm>
            <a:off x="3286125" y="5229225"/>
            <a:ext cx="1285875" cy="171450"/>
          </a:xfrm>
          <a:prstGeom prst="rect">
            <a:avLst/>
          </a:prstGeom>
          <a:noFill/>
          <a:ln w="0">
            <a:noFill/>
            <a:prstDash val="solid"/>
          </a:ln>
        </p:spPr>
        <p:txBody>
          <a:bodyPr wrap="none" lIns="0" tIns="0" rIns="0" bIns="0" anchor="t"/>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18,400 Powered On</a:t>
            </a:r>
          </a:p>
        </p:txBody>
      </p:sp>
      <p:sp>
        <p:nvSpPr>
          <p:cNvPr id="60" name="Rectangle 59">
            <a:extLst>
              <a:ext uri="{FF2B5EF4-FFF2-40B4-BE49-F238E27FC236}">
                <a16:creationId xmlns:a16="http://schemas.microsoft.com/office/drawing/2014/main" id="{51FD95D0-64F2-4723-B4EF-3731265C852D}"/>
              </a:ext>
            </a:extLst>
          </p:cNvPr>
          <p:cNvSpPr>
            <a:spLocks noGrp="1"/>
          </p:cNvSpPr>
          <p:nvPr/>
        </p:nvSpPr>
        <p:spPr>
          <a:xfrm>
            <a:off x="3286125" y="5391150"/>
            <a:ext cx="1285875" cy="171450"/>
          </a:xfrm>
          <a:prstGeom prst="rect">
            <a:avLst/>
          </a:prstGeom>
          <a:noFill/>
          <a:ln w="0">
            <a:noFill/>
            <a:prstDash val="solid"/>
          </a:ln>
        </p:spPr>
        <p:txBody>
          <a:bodyPr wrap="none" lIns="0" tIns="0" rIns="0" bIns="0" anchor="t"/>
          <a:lstStyle/>
          <a:p>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1,700 Powered Off</a:t>
            </a:r>
          </a:p>
        </p:txBody>
      </p:sp>
      <p:sp>
        <p:nvSpPr>
          <p:cNvPr id="61" name="Rectangle 60">
            <a:extLst>
              <a:ext uri="{FF2B5EF4-FFF2-40B4-BE49-F238E27FC236}">
                <a16:creationId xmlns:a16="http://schemas.microsoft.com/office/drawing/2014/main" id="{9F4CC3CC-C30D-4DD3-B648-2B2F6B76145C}"/>
              </a:ext>
            </a:extLst>
          </p:cNvPr>
          <p:cNvSpPr>
            <a:spLocks noGrp="1"/>
          </p:cNvSpPr>
          <p:nvPr/>
        </p:nvSpPr>
        <p:spPr>
          <a:xfrm>
            <a:off x="5743575" y="4714875"/>
            <a:ext cx="114300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vCPUs</a:t>
            </a:r>
          </a:p>
        </p:txBody>
      </p:sp>
      <p:sp>
        <p:nvSpPr>
          <p:cNvPr id="62" name="Rectangle 61">
            <a:extLst>
              <a:ext uri="{FF2B5EF4-FFF2-40B4-BE49-F238E27FC236}">
                <a16:creationId xmlns:a16="http://schemas.microsoft.com/office/drawing/2014/main" id="{E325BBAA-CE89-47A2-A7F4-5A715EE06FCB}"/>
              </a:ext>
            </a:extLst>
          </p:cNvPr>
          <p:cNvSpPr>
            <a:spLocks noGrp="1"/>
          </p:cNvSpPr>
          <p:nvPr/>
        </p:nvSpPr>
        <p:spPr>
          <a:xfrm>
            <a:off x="5743575" y="4972050"/>
            <a:ext cx="114300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a:t>
            </a:r>
          </a:p>
        </p:txBody>
      </p:sp>
      <p:pic>
        <p:nvPicPr>
          <p:cNvPr id="137" name="Picture 136"/>
          <p:cNvPicPr>
            <a:picLocks noChangeAspect="1"/>
          </p:cNvPicPr>
          <p:nvPr/>
        </p:nvPicPr>
        <p:blipFill>
          <a:blip r:embed="rId11"/>
          <a:stretch/>
        </p:blipFill>
        <p:spPr>
          <a:xfrm>
            <a:off x="5190898" y="4905375"/>
            <a:ext cx="362404" cy="323850"/>
          </a:xfrm>
          <a:prstGeom prst="rect">
            <a:avLst/>
          </a:prstGeom>
        </p:spPr>
      </p:pic>
      <p:sp>
        <p:nvSpPr>
          <p:cNvPr id="64" name="Rectangle 63">
            <a:extLst>
              <a:ext uri="{FF2B5EF4-FFF2-40B4-BE49-F238E27FC236}">
                <a16:creationId xmlns:a16="http://schemas.microsoft.com/office/drawing/2014/main" id="{E2B940B4-7B6B-4837-992C-0BD50611487D}"/>
              </a:ext>
            </a:extLst>
          </p:cNvPr>
          <p:cNvSpPr>
            <a:spLocks noGrp="1"/>
          </p:cNvSpPr>
          <p:nvPr/>
        </p:nvSpPr>
        <p:spPr>
          <a:xfrm>
            <a:off x="8048625" y="4714875"/>
            <a:ext cx="142875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vRAM (GB)</a:t>
            </a:r>
          </a:p>
        </p:txBody>
      </p:sp>
      <p:sp>
        <p:nvSpPr>
          <p:cNvPr id="65" name="Rectangle 64">
            <a:extLst>
              <a:ext uri="{FF2B5EF4-FFF2-40B4-BE49-F238E27FC236}">
                <a16:creationId xmlns:a16="http://schemas.microsoft.com/office/drawing/2014/main" id="{56B58190-EEA5-42BC-BCEE-C9F09864DABB}"/>
              </a:ext>
            </a:extLst>
          </p:cNvPr>
          <p:cNvSpPr>
            <a:spLocks noGrp="1"/>
          </p:cNvSpPr>
          <p:nvPr/>
        </p:nvSpPr>
        <p:spPr>
          <a:xfrm>
            <a:off x="8048625" y="4972050"/>
            <a:ext cx="142875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30,000</a:t>
            </a:r>
          </a:p>
        </p:txBody>
      </p:sp>
      <p:pic>
        <p:nvPicPr>
          <p:cNvPr id="140" name="Picture 139"/>
          <p:cNvPicPr>
            <a:picLocks noChangeAspect="1"/>
          </p:cNvPicPr>
          <p:nvPr/>
        </p:nvPicPr>
        <p:blipFill>
          <a:blip r:embed="rId12"/>
          <a:stretch/>
        </p:blipFill>
        <p:spPr>
          <a:xfrm>
            <a:off x="7477125" y="4907280"/>
            <a:ext cx="400050" cy="320040"/>
          </a:xfrm>
          <a:prstGeom prst="rect">
            <a:avLst/>
          </a:prstGeom>
        </p:spPr>
      </p:pic>
      <p:sp>
        <p:nvSpPr>
          <p:cNvPr id="67" name="Rectangle 66">
            <a:extLst>
              <a:ext uri="{FF2B5EF4-FFF2-40B4-BE49-F238E27FC236}">
                <a16:creationId xmlns:a16="http://schemas.microsoft.com/office/drawing/2014/main" id="{BA2E8F4D-19EC-4045-BD00-D33C490582FA}"/>
              </a:ext>
            </a:extLst>
          </p:cNvPr>
          <p:cNvSpPr>
            <a:spLocks noGrp="1"/>
          </p:cNvSpPr>
          <p:nvPr/>
        </p:nvSpPr>
        <p:spPr>
          <a:xfrm>
            <a:off x="10306050" y="4714875"/>
            <a:ext cx="1504950" cy="171450"/>
          </a:xfrm>
          <a:prstGeom prst="rect">
            <a:avLst/>
          </a:prstGeom>
          <a:noFill/>
          <a:ln w="0">
            <a:noFill/>
            <a:prstDash val="solid"/>
          </a:ln>
        </p:spPr>
        <p:txBody>
          <a:bodyPr wrap="none" lIns="0" tIns="0" rIns="0" bIns="0" anchor="t"/>
          <a:lstStyle/>
          <a:p>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Storage (TB)</a:t>
            </a:r>
          </a:p>
        </p:txBody>
      </p:sp>
      <p:sp>
        <p:nvSpPr>
          <p:cNvPr id="68" name="Rectangle 67">
            <a:extLst>
              <a:ext uri="{FF2B5EF4-FFF2-40B4-BE49-F238E27FC236}">
                <a16:creationId xmlns:a16="http://schemas.microsoft.com/office/drawing/2014/main" id="{53CE7ECC-6CED-4750-B06E-332986EBDB45}"/>
              </a:ext>
            </a:extLst>
          </p:cNvPr>
          <p:cNvSpPr>
            <a:spLocks noGrp="1"/>
          </p:cNvSpPr>
          <p:nvPr/>
        </p:nvSpPr>
        <p:spPr>
          <a:xfrm>
            <a:off x="10306050" y="4972050"/>
            <a:ext cx="1504950" cy="257175"/>
          </a:xfrm>
          <a:prstGeom prst="rect">
            <a:avLst/>
          </a:prstGeom>
          <a:noFill/>
          <a:ln w="0">
            <a:noFill/>
            <a:prstDash val="solid"/>
          </a:ln>
        </p:spPr>
        <p:txBody>
          <a:bodyPr wrap="none" lIns="0" tIns="0" rIns="0" bIns="0" anchor="t"/>
          <a:lstStyle/>
          <a:p>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210</a:t>
            </a:r>
          </a:p>
        </p:txBody>
      </p:sp>
      <p:pic>
        <p:nvPicPr>
          <p:cNvPr id="143" name="Picture 142"/>
          <p:cNvPicPr>
            <a:picLocks noChangeAspect="1"/>
          </p:cNvPicPr>
          <p:nvPr/>
        </p:nvPicPr>
        <p:blipFill>
          <a:blip r:embed="rId13"/>
          <a:stretch/>
        </p:blipFill>
        <p:spPr>
          <a:xfrm>
            <a:off x="9960531" y="4905375"/>
            <a:ext cx="348139" cy="323850"/>
          </a:xfrm>
          <a:prstGeom prst="rect">
            <a:avLst/>
          </a:prstGeom>
        </p:spPr>
      </p:pic>
      <p:sp>
        <p:nvSpPr>
          <p:cNvPr id="70" name="Rounded Rectangle 69">
            <a:extLst>
              <a:ext uri="{FF2B5EF4-FFF2-40B4-BE49-F238E27FC236}">
                <a16:creationId xmlns:a16="http://schemas.microsoft.com/office/drawing/2014/main" id="{B6E9607F-C2EC-477A-BAF6-C5E067CAF87D}"/>
              </a:ext>
            </a:extLst>
          </p:cNvPr>
          <p:cNvSpPr>
            <a:spLocks noGrp="1"/>
          </p:cNvSpPr>
          <p:nvPr/>
        </p:nvSpPr>
        <p:spPr>
          <a:xfrm>
            <a:off x="400050" y="5734050"/>
            <a:ext cx="11334750" cy="476250"/>
          </a:xfrm>
          <a:prstGeom prst="roundRect">
            <a:avLst>
              <a:gd name="adj" fmla="val 12000"/>
            </a:avLst>
          </a:prstGeom>
          <a:solidFill>
            <a:srgbClr val="FFFFFF"/>
          </a:solidFill>
          <a:ln w="9525">
            <a:solidFill>
              <a:srgbClr val="D9DEDA"/>
            </a:solidFill>
            <a:prstDash val="solid"/>
          </a:ln>
        </p:spPr>
        <p:txBody>
          <a:bodyPr/>
          <a:lstStyle/>
          <a:p>
            <a:endParaRPr lang="en-FR"/>
          </a:p>
        </p:txBody>
      </p:sp>
      <p:pic>
        <p:nvPicPr>
          <p:cNvPr id="145" name="Picture 144"/>
          <p:cNvPicPr>
            <a:picLocks noChangeAspect="1"/>
          </p:cNvPicPr>
          <p:nvPr/>
        </p:nvPicPr>
        <p:blipFill>
          <a:blip r:embed="rId14"/>
          <a:stretch/>
        </p:blipFill>
        <p:spPr>
          <a:xfrm>
            <a:off x="632416" y="5838825"/>
            <a:ext cx="316319" cy="323850"/>
          </a:xfrm>
          <a:prstGeom prst="rect">
            <a:avLst/>
          </a:prstGeom>
        </p:spPr>
      </p:pic>
      <p:sp>
        <p:nvSpPr>
          <p:cNvPr id="72" name="Rectangle 71">
            <a:extLst>
              <a:ext uri="{FF2B5EF4-FFF2-40B4-BE49-F238E27FC236}">
                <a16:creationId xmlns:a16="http://schemas.microsoft.com/office/drawing/2014/main" id="{C928459C-9AA2-4970-83C9-66B7F0DEE5BA}"/>
              </a:ext>
            </a:extLst>
          </p:cNvPr>
          <p:cNvSpPr>
            <a:spLocks noGrp="1"/>
          </p:cNvSpPr>
          <p:nvPr/>
        </p:nvSpPr>
        <p:spPr>
          <a:xfrm>
            <a:off x="1085850" y="5934075"/>
            <a:ext cx="9334500" cy="209550"/>
          </a:xfrm>
          <a:prstGeom prst="rect">
            <a:avLst/>
          </a:prstGeom>
          <a:noFill/>
          <a:ln w="0">
            <a:noFill/>
            <a:prstDash val="solid"/>
          </a:ln>
        </p:spPr>
        <p:txBody>
          <a:bodyPr wrap="none" lIns="0" tIns="0" rIns="0" bIns="0" anchor="t"/>
          <a:lstStyle/>
          <a:p>
            <a:pPr algn="l">
              <a:lnSpc>
                <a:spcPct val="100000"/>
              </a:lnSpc>
              <a:buNone/>
              <a:defRPr sz="1050" b="0" i="0">
                <a:solidFill>
                  <a:srgbClr val="111111"/>
                </a:solidFill>
                <a:latin typeface="Arial"/>
                <a:ea typeface="Arial"/>
                <a:cs typeface="Arial"/>
              </a:defRPr>
            </a:pPr>
            <a:r>
              <a:rPr sz="1050" b="0" i="0">
                <a:solidFill>
                  <a:srgbClr val="111111"/>
                </a:solidFill>
                <a:latin typeface="Arial"/>
                <a:ea typeface="Arial"/>
                <a:cs typeface="Arial"/>
              </a:rPr>
              <a:t>This sizing is based on the information available at the time of analysis and should be validated during the detailed design phase.</a:t>
            </a:r>
          </a:p>
        </p:txBody>
      </p:sp>
      <p:sp>
        <p:nvSpPr>
          <p:cNvPr id="73" name="Rectangle 72">
            <a:extLst>
              <a:ext uri="{FF2B5EF4-FFF2-40B4-BE49-F238E27FC236}">
                <a16:creationId xmlns:a16="http://schemas.microsoft.com/office/drawing/2014/main" id="{B0FDF0E8-75F0-4E20-AB65-98949A664606}"/>
              </a:ext>
            </a:extLst>
          </p:cNvPr>
          <p:cNvSpPr>
            <a:spLocks noGrp="1"/>
          </p:cNvSpPr>
          <p:nvPr/>
        </p:nvSpPr>
        <p:spPr>
          <a:xfrm>
            <a:off x="1133475" y="6553200"/>
            <a:ext cx="5334000" cy="152400"/>
          </a:xfrm>
          <a:prstGeom prst="rect">
            <a:avLst/>
          </a:prstGeom>
          <a:noFill/>
          <a:ln w="0">
            <a:noFill/>
            <a:prstDash val="solid"/>
          </a:ln>
        </p:spPr>
        <p:txBody>
          <a:bodyPr wrap="none" lIns="0" tIns="0" rIns="0" bIns="0" anchor="t"/>
          <a:lstStyle/>
          <a:p>
            <a:pPr algn="l">
              <a:lnSpc>
                <a:spcPct val="100000"/>
              </a:lnSpc>
              <a:buNone/>
              <a:defRPr sz="675" b="0" i="0">
                <a:solidFill>
                  <a:srgbClr val="5E5E5E"/>
                </a:solidFill>
                <a:latin typeface="Arial"/>
                <a:ea typeface="Arial"/>
                <a:cs typeface="Arial"/>
              </a:defRPr>
            </a:pPr>
            <a:r>
              <a:rPr sz="675" b="0" i="0">
                <a:solidFill>
                  <a:srgbClr val="5E5E5E"/>
                </a:solidFill>
                <a:latin typeface="Arial"/>
                <a:ea typeface="Arial"/>
                <a:cs typeface="Arial"/>
              </a:rPr>
              <a:t>Copyright © 2026, Oracle and/or its affiliates | Confidential: Internal/Restricted/Highly Restricted</a:t>
            </a:r>
          </a:p>
        </p:txBody>
      </p:sp>
      <p:pic>
        <p:nvPicPr>
          <p:cNvPr id="148" name="Picture 147"/>
          <p:cNvPicPr>
            <a:picLocks noChangeAspect="1"/>
          </p:cNvPicPr>
          <p:nvPr/>
        </p:nvPicPr>
        <p:blipFill>
          <a:blip r:embed="rId15"/>
          <a:stretch/>
        </p:blipFill>
        <p:spPr>
          <a:xfrm>
            <a:off x="11382375" y="6459855"/>
            <a:ext cx="419100" cy="396240"/>
          </a:xfrm>
          <a:prstGeom prst="rect">
            <a:avLst/>
          </a:prstGeom>
        </p:spPr>
      </p:pic>
    </p:spTree>
    <p:extLst>
      <p:ext uri="{BB962C8B-B14F-4D97-AF65-F5344CB8AC3E}">
        <p14:creationId xmlns:p14="http://schemas.microsoft.com/office/powerpoint/2010/main" val="1621222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C">
            <a:alpha val="96863"/>
          </a:srgbClr>
        </a:solidFill>
        <a:effectLst/>
      </p:bgPr>
    </p:bg>
    <p:spTree>
      <p:nvGrpSpPr>
        <p:cNvPr id="1" name=""/>
        <p:cNvGrpSpPr/>
        <p:nvPr/>
      </p:nvGrpSpPr>
      <p:grpSpPr>
        <a:xfrm>
          <a:off x="0" y="0"/>
          <a:ext cx="0" cy="0"/>
          <a:chOff x="0" y="0"/>
          <a:chExt cx="0" cy="0"/>
        </a:xfrm>
      </p:grpSpPr>
      <p:sp>
        <p:nvSpPr>
          <p:cNvPr id="129" name="Oval 128">
            <a:extLst>
              <a:ext uri="{FF2B5EF4-FFF2-40B4-BE49-F238E27FC236}">
                <a16:creationId xmlns:a16="http://schemas.microsoft.com/office/drawing/2014/main" id="{E3383242-23DA-46A6-B69A-C9B194F63597}"/>
              </a:ext>
            </a:extLst>
          </p:cNvPr>
          <p:cNvSpPr>
            <a:spLocks noGrp="1"/>
          </p:cNvSpPr>
          <p:nvPr/>
        </p:nvSpPr>
        <p:spPr>
          <a:xfrm>
            <a:off x="323850" y="1095375"/>
            <a:ext cx="38100" cy="38100"/>
          </a:xfrm>
          <a:prstGeom prst="ellipse">
            <a:avLst/>
          </a:prstGeom>
          <a:solidFill>
            <a:srgbClr val="ECEEEC"/>
          </a:solidFill>
          <a:ln w="0">
            <a:noFill/>
            <a:prstDash val="solid"/>
          </a:ln>
        </p:spPr>
        <p:txBody>
          <a:bodyPr/>
          <a:lstStyle/>
          <a:p>
            <a:endParaRPr lang="en-FR"/>
          </a:p>
        </p:txBody>
      </p:sp>
      <p:sp>
        <p:nvSpPr>
          <p:cNvPr id="2" name="Oval 1">
            <a:extLst>
              <a:ext uri="{FF2B5EF4-FFF2-40B4-BE49-F238E27FC236}">
                <a16:creationId xmlns:a16="http://schemas.microsoft.com/office/drawing/2014/main" id="{D1AA4158-3819-4612-B178-D4C869ABECDD}"/>
              </a:ext>
            </a:extLst>
          </p:cNvPr>
          <p:cNvSpPr>
            <a:spLocks noGrp="1"/>
          </p:cNvSpPr>
          <p:nvPr/>
        </p:nvSpPr>
        <p:spPr>
          <a:xfrm>
            <a:off x="4000500" y="762000"/>
            <a:ext cx="28575" cy="28575"/>
          </a:xfrm>
          <a:prstGeom prst="ellipse">
            <a:avLst/>
          </a:prstGeom>
          <a:solidFill>
            <a:srgbClr val="ECEEEC"/>
          </a:solidFill>
          <a:ln w="0">
            <a:noFill/>
            <a:prstDash val="solid"/>
          </a:ln>
        </p:spPr>
        <p:txBody>
          <a:bodyPr/>
          <a:lstStyle/>
          <a:p>
            <a:endParaRPr lang="en-FR"/>
          </a:p>
        </p:txBody>
      </p:sp>
      <p:sp>
        <p:nvSpPr>
          <p:cNvPr id="3" name="Oval 2">
            <a:extLst>
              <a:ext uri="{FF2B5EF4-FFF2-40B4-BE49-F238E27FC236}">
                <a16:creationId xmlns:a16="http://schemas.microsoft.com/office/drawing/2014/main" id="{1F78BA42-2E01-4C11-94BB-C3EEC896DC7D}"/>
              </a:ext>
            </a:extLst>
          </p:cNvPr>
          <p:cNvSpPr>
            <a:spLocks noGrp="1"/>
          </p:cNvSpPr>
          <p:nvPr/>
        </p:nvSpPr>
        <p:spPr>
          <a:xfrm>
            <a:off x="6191250" y="1076325"/>
            <a:ext cx="28575" cy="28575"/>
          </a:xfrm>
          <a:prstGeom prst="ellipse">
            <a:avLst/>
          </a:prstGeom>
          <a:solidFill>
            <a:srgbClr val="ECEEEC"/>
          </a:solidFill>
          <a:ln w="0">
            <a:noFill/>
            <a:prstDash val="solid"/>
          </a:ln>
        </p:spPr>
        <p:txBody>
          <a:bodyPr/>
          <a:lstStyle/>
          <a:p>
            <a:endParaRPr lang="en-FR"/>
          </a:p>
        </p:txBody>
      </p:sp>
      <p:sp>
        <p:nvSpPr>
          <p:cNvPr id="4" name="Oval 3">
            <a:extLst>
              <a:ext uri="{FF2B5EF4-FFF2-40B4-BE49-F238E27FC236}">
                <a16:creationId xmlns:a16="http://schemas.microsoft.com/office/drawing/2014/main" id="{195BCA4D-76EE-4CB4-9F34-9212444DE05B}"/>
              </a:ext>
            </a:extLst>
          </p:cNvPr>
          <p:cNvSpPr>
            <a:spLocks noGrp="1"/>
          </p:cNvSpPr>
          <p:nvPr/>
        </p:nvSpPr>
        <p:spPr>
          <a:xfrm>
            <a:off x="9382125" y="1133475"/>
            <a:ext cx="38100" cy="38100"/>
          </a:xfrm>
          <a:prstGeom prst="ellipse">
            <a:avLst/>
          </a:prstGeom>
          <a:solidFill>
            <a:srgbClr val="ECEEEC"/>
          </a:solidFill>
          <a:ln w="0">
            <a:noFill/>
            <a:prstDash val="solid"/>
          </a:ln>
        </p:spPr>
        <p:txBody>
          <a:bodyPr/>
          <a:lstStyle/>
          <a:p>
            <a:endParaRPr lang="en-FR"/>
          </a:p>
        </p:txBody>
      </p:sp>
      <p:sp>
        <p:nvSpPr>
          <p:cNvPr id="5" name="Oval 4">
            <a:extLst>
              <a:ext uri="{FF2B5EF4-FFF2-40B4-BE49-F238E27FC236}">
                <a16:creationId xmlns:a16="http://schemas.microsoft.com/office/drawing/2014/main" id="{A7A2BF83-A03F-455D-89F3-946DF6081949}"/>
              </a:ext>
            </a:extLst>
          </p:cNvPr>
          <p:cNvSpPr>
            <a:spLocks noGrp="1"/>
          </p:cNvSpPr>
          <p:nvPr/>
        </p:nvSpPr>
        <p:spPr>
          <a:xfrm>
            <a:off x="11258550" y="762000"/>
            <a:ext cx="28575" cy="28575"/>
          </a:xfrm>
          <a:prstGeom prst="ellipse">
            <a:avLst/>
          </a:prstGeom>
          <a:solidFill>
            <a:srgbClr val="ECEEEC"/>
          </a:solidFill>
          <a:ln w="0">
            <a:noFill/>
            <a:prstDash val="solid"/>
          </a:ln>
        </p:spPr>
        <p:txBody>
          <a:bodyPr/>
          <a:lstStyle/>
          <a:p>
            <a:endParaRPr lang="en-FR"/>
          </a:p>
        </p:txBody>
      </p:sp>
      <p:sp>
        <p:nvSpPr>
          <p:cNvPr id="6" name="Oval 5">
            <a:extLst>
              <a:ext uri="{FF2B5EF4-FFF2-40B4-BE49-F238E27FC236}">
                <a16:creationId xmlns:a16="http://schemas.microsoft.com/office/drawing/2014/main" id="{C00AC448-2219-42D9-9279-8BA1776AA44D}"/>
              </a:ext>
            </a:extLst>
          </p:cNvPr>
          <p:cNvSpPr>
            <a:spLocks noGrp="1"/>
          </p:cNvSpPr>
          <p:nvPr/>
        </p:nvSpPr>
        <p:spPr>
          <a:xfrm>
            <a:off x="11944350" y="1257300"/>
            <a:ext cx="38100" cy="38100"/>
          </a:xfrm>
          <a:prstGeom prst="ellipse">
            <a:avLst/>
          </a:prstGeom>
          <a:solidFill>
            <a:srgbClr val="ECEEEC"/>
          </a:solidFill>
          <a:ln w="0">
            <a:noFill/>
            <a:prstDash val="solid"/>
          </a:ln>
        </p:spPr>
        <p:txBody>
          <a:bodyPr/>
          <a:lstStyle/>
          <a:p>
            <a:endParaRPr lang="en-FR"/>
          </a:p>
        </p:txBody>
      </p:sp>
      <p:sp>
        <p:nvSpPr>
          <p:cNvPr id="7" name="Oval 6">
            <a:extLst>
              <a:ext uri="{FF2B5EF4-FFF2-40B4-BE49-F238E27FC236}">
                <a16:creationId xmlns:a16="http://schemas.microsoft.com/office/drawing/2014/main" id="{20708F08-7166-4CD8-BA7D-2CD39983DE39}"/>
              </a:ext>
            </a:extLst>
          </p:cNvPr>
          <p:cNvSpPr>
            <a:spLocks noGrp="1"/>
          </p:cNvSpPr>
          <p:nvPr/>
        </p:nvSpPr>
        <p:spPr>
          <a:xfrm>
            <a:off x="12068175" y="5295900"/>
            <a:ext cx="28575" cy="28575"/>
          </a:xfrm>
          <a:prstGeom prst="ellipse">
            <a:avLst/>
          </a:prstGeom>
          <a:solidFill>
            <a:srgbClr val="ECEEEC"/>
          </a:solidFill>
          <a:ln w="0">
            <a:noFill/>
            <a:prstDash val="solid"/>
          </a:ln>
        </p:spPr>
        <p:txBody>
          <a:bodyPr/>
          <a:lstStyle/>
          <a:p>
            <a:endParaRPr lang="en-FR"/>
          </a:p>
        </p:txBody>
      </p:sp>
      <p:sp>
        <p:nvSpPr>
          <p:cNvPr id="8" name="Rectangle 7">
            <a:extLst>
              <a:ext uri="{FF2B5EF4-FFF2-40B4-BE49-F238E27FC236}">
                <a16:creationId xmlns:a16="http://schemas.microsoft.com/office/drawing/2014/main" id="{4DDA9D78-00AF-4A50-8213-78720BD73522}"/>
              </a:ext>
            </a:extLst>
          </p:cNvPr>
          <p:cNvSpPr>
            <a:spLocks noGrp="1"/>
          </p:cNvSpPr>
          <p:nvPr/>
        </p:nvSpPr>
        <p:spPr>
          <a:xfrm>
            <a:off x="276225" y="409575"/>
            <a:ext cx="6858000" cy="495300"/>
          </a:xfrm>
          <a:prstGeom prst="rect">
            <a:avLst/>
          </a:prstGeom>
          <a:noFill/>
          <a:ln w="0">
            <a:noFill/>
            <a:prstDash val="solid"/>
          </a:ln>
        </p:spPr>
        <p:txBody>
          <a:bodyPr wrap="none" lIns="0" tIns="0" rIns="0" bIns="0" anchor="t"/>
          <a:lstStyle/>
          <a:p>
            <a:pPr algn="l">
              <a:lnSpc>
                <a:spcPct val="100000"/>
              </a:lnSpc>
              <a:buNone/>
              <a:defRPr sz="3225" b="1" i="0">
                <a:solidFill>
                  <a:srgbClr val="003B25"/>
                </a:solidFill>
                <a:latin typeface="Arial"/>
                <a:ea typeface="Arial"/>
                <a:cs typeface="Arial"/>
              </a:defRPr>
            </a:pPr>
            <a:r>
              <a:rPr sz="3225" b="1" i="0">
                <a:solidFill>
                  <a:srgbClr val="003B25"/>
                </a:solidFill>
                <a:latin typeface="Arial"/>
                <a:ea typeface="Arial"/>
                <a:cs typeface="Arial"/>
              </a:rPr>
              <a:t>Infrastructure Sizing Summary</a:t>
            </a:r>
          </a:p>
        </p:txBody>
      </p:sp>
      <p:sp>
        <p:nvSpPr>
          <p:cNvPr id="9" name="Rectangle 8">
            <a:extLst>
              <a:ext uri="{FF2B5EF4-FFF2-40B4-BE49-F238E27FC236}">
                <a16:creationId xmlns:a16="http://schemas.microsoft.com/office/drawing/2014/main" id="{48D6B209-7E38-46B6-BCC3-9C9317B3DF18}"/>
              </a:ext>
            </a:extLst>
          </p:cNvPr>
          <p:cNvSpPr>
            <a:spLocks noGrp="1"/>
          </p:cNvSpPr>
          <p:nvPr/>
        </p:nvSpPr>
        <p:spPr>
          <a:xfrm>
            <a:off x="257175" y="933450"/>
            <a:ext cx="428625" cy="38100"/>
          </a:xfrm>
          <a:prstGeom prst="rect">
            <a:avLst/>
          </a:prstGeom>
          <a:solidFill>
            <a:srgbClr val="F00000"/>
          </a:solidFill>
          <a:ln w="0">
            <a:noFill/>
            <a:prstDash val="solid"/>
          </a:ln>
        </p:spPr>
        <p:txBody>
          <a:bodyPr/>
          <a:lstStyle/>
          <a:p>
            <a:endParaRPr lang="en-FR"/>
          </a:p>
        </p:txBody>
      </p:sp>
      <p:pic>
        <p:nvPicPr>
          <p:cNvPr id="138" name="Picture 137"/>
          <p:cNvPicPr>
            <a:picLocks noChangeAspect="1"/>
          </p:cNvPicPr>
          <p:nvPr/>
        </p:nvPicPr>
        <p:blipFill>
          <a:blip r:embed="rId3"/>
          <a:stretch/>
        </p:blipFill>
        <p:spPr>
          <a:xfrm>
            <a:off x="9662432" y="333375"/>
            <a:ext cx="2334986" cy="209550"/>
          </a:xfrm>
          <a:prstGeom prst="rect">
            <a:avLst/>
          </a:prstGeom>
        </p:spPr>
      </p:pic>
      <p:sp>
        <p:nvSpPr>
          <p:cNvPr id="11" name="Rounded Rectangle 10">
            <a:extLst>
              <a:ext uri="{FF2B5EF4-FFF2-40B4-BE49-F238E27FC236}">
                <a16:creationId xmlns:a16="http://schemas.microsoft.com/office/drawing/2014/main" id="{B69065D6-8CB3-4402-8FBE-F2A2518B05C7}"/>
              </a:ext>
            </a:extLst>
          </p:cNvPr>
          <p:cNvSpPr>
            <a:spLocks noGrp="1"/>
          </p:cNvSpPr>
          <p:nvPr/>
        </p:nvSpPr>
        <p:spPr>
          <a:xfrm>
            <a:off x="257175" y="1266825"/>
            <a:ext cx="4648200" cy="3638550"/>
          </a:xfrm>
          <a:prstGeom prst="roundRect">
            <a:avLst>
              <a:gd name="adj" fmla="val 1832"/>
            </a:avLst>
          </a:prstGeom>
          <a:solidFill>
            <a:srgbClr val="FFFFFF"/>
          </a:solidFill>
          <a:ln w="9525">
            <a:solidFill>
              <a:srgbClr val="DADF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12" name="Rounded Rectangle 11">
            <a:extLst>
              <a:ext uri="{FF2B5EF4-FFF2-40B4-BE49-F238E27FC236}">
                <a16:creationId xmlns:a16="http://schemas.microsoft.com/office/drawing/2014/main" id="{21F971BB-E25C-4381-8570-9230EFB629A9}"/>
              </a:ext>
            </a:extLst>
          </p:cNvPr>
          <p:cNvSpPr>
            <a:spLocks noGrp="1"/>
          </p:cNvSpPr>
          <p:nvPr/>
        </p:nvSpPr>
        <p:spPr>
          <a:xfrm>
            <a:off x="257175" y="1266825"/>
            <a:ext cx="4648200" cy="381000"/>
          </a:xfrm>
          <a:prstGeom prst="roundRect">
            <a:avLst>
              <a:gd name="adj" fmla="val 17500"/>
            </a:avLst>
          </a:prstGeom>
          <a:gradFill>
            <a:gsLst>
              <a:gs pos="0">
                <a:srgbClr val="003B25"/>
              </a:gs>
              <a:gs pos="100000">
                <a:srgbClr val="0B4B30"/>
              </a:gs>
            </a:gsLst>
            <a:lin ang="5400000"/>
          </a:gradFill>
          <a:ln w="0">
            <a:noFill/>
            <a:prstDash val="solid"/>
          </a:ln>
        </p:spPr>
        <p:txBody>
          <a:bodyPr/>
          <a:lstStyle/>
          <a:p>
            <a:endParaRPr lang="en-FR"/>
          </a:p>
        </p:txBody>
      </p:sp>
      <p:sp>
        <p:nvSpPr>
          <p:cNvPr id="13" name="Rectangle 12">
            <a:extLst>
              <a:ext uri="{FF2B5EF4-FFF2-40B4-BE49-F238E27FC236}">
                <a16:creationId xmlns:a16="http://schemas.microsoft.com/office/drawing/2014/main" id="{2B6A5798-28A6-4413-942A-4467D978F9C7}"/>
              </a:ext>
            </a:extLst>
          </p:cNvPr>
          <p:cNvSpPr>
            <a:spLocks noGrp="1"/>
          </p:cNvSpPr>
          <p:nvPr/>
        </p:nvSpPr>
        <p:spPr>
          <a:xfrm>
            <a:off x="257175" y="1571625"/>
            <a:ext cx="4648200" cy="76200"/>
          </a:xfrm>
          <a:prstGeom prst="rect">
            <a:avLst/>
          </a:prstGeom>
          <a:gradFill>
            <a:gsLst>
              <a:gs pos="0">
                <a:srgbClr val="003B25"/>
              </a:gs>
              <a:gs pos="100000">
                <a:srgbClr val="0B4B30"/>
              </a:gs>
            </a:gsLst>
            <a:lin ang="5400000"/>
          </a:gradFill>
          <a:ln w="0">
            <a:noFill/>
            <a:prstDash val="solid"/>
          </a:ln>
        </p:spPr>
        <p:txBody>
          <a:bodyPr/>
          <a:lstStyle/>
          <a:p>
            <a:endParaRPr lang="en-FR"/>
          </a:p>
        </p:txBody>
      </p:sp>
      <p:sp>
        <p:nvSpPr>
          <p:cNvPr id="14" name="Oval 13">
            <a:extLst>
              <a:ext uri="{FF2B5EF4-FFF2-40B4-BE49-F238E27FC236}">
                <a16:creationId xmlns:a16="http://schemas.microsoft.com/office/drawing/2014/main" id="{3A0CFA90-F275-4D04-8EA8-E9AFF77CDC5A}"/>
              </a:ext>
            </a:extLst>
          </p:cNvPr>
          <p:cNvSpPr>
            <a:spLocks noGrp="1"/>
          </p:cNvSpPr>
          <p:nvPr/>
        </p:nvSpPr>
        <p:spPr>
          <a:xfrm>
            <a:off x="419100" y="1343025"/>
            <a:ext cx="238125" cy="238125"/>
          </a:xfrm>
          <a:prstGeom prst="ellipse">
            <a:avLst/>
          </a:prstGeom>
          <a:solidFill>
            <a:srgbClr val="FFFFFF"/>
          </a:solidFill>
          <a:ln w="0">
            <a:noFill/>
            <a:prstDash val="solid"/>
          </a:ln>
        </p:spPr>
        <p:txBody>
          <a:bodyPr/>
          <a:lstStyle/>
          <a:p>
            <a:endParaRPr lang="en-FR"/>
          </a:p>
        </p:txBody>
      </p:sp>
      <p:sp>
        <p:nvSpPr>
          <p:cNvPr id="15" name="Rectangle 14">
            <a:extLst>
              <a:ext uri="{FF2B5EF4-FFF2-40B4-BE49-F238E27FC236}">
                <a16:creationId xmlns:a16="http://schemas.microsoft.com/office/drawing/2014/main" id="{A2B78E39-37AC-42D5-9E98-C853A9A0CCEA}"/>
              </a:ext>
            </a:extLst>
          </p:cNvPr>
          <p:cNvSpPr>
            <a:spLocks noGrp="1"/>
          </p:cNvSpPr>
          <p:nvPr/>
        </p:nvSpPr>
        <p:spPr>
          <a:xfrm>
            <a:off x="476250" y="1371600"/>
            <a:ext cx="123825" cy="161925"/>
          </a:xfrm>
          <a:prstGeom prst="rect">
            <a:avLst/>
          </a:prstGeom>
          <a:noFill/>
          <a:ln w="0">
            <a:noFill/>
            <a:prstDash val="solid"/>
          </a:ln>
        </p:spPr>
        <p:txBody>
          <a:bodyPr wrap="none" lIns="0" tIns="0" rIns="0" bIns="0" anchor="t"/>
          <a:lstStyle/>
          <a:p>
            <a:pPr algn="ctr">
              <a:lnSpc>
                <a:spcPct val="100000"/>
              </a:lnSpc>
              <a:buNone/>
              <a:defRPr sz="1050" b="1" i="0">
                <a:solidFill>
                  <a:srgbClr val="003B25"/>
                </a:solidFill>
                <a:latin typeface="Arial"/>
                <a:ea typeface="Arial"/>
                <a:cs typeface="Arial"/>
              </a:defRPr>
            </a:pPr>
            <a:r>
              <a:rPr sz="1050" b="1" i="0">
                <a:solidFill>
                  <a:srgbClr val="003B25"/>
                </a:solidFill>
                <a:latin typeface="Arial"/>
                <a:ea typeface="Arial"/>
                <a:cs typeface="Arial"/>
              </a:rPr>
              <a:t>1</a:t>
            </a:r>
          </a:p>
        </p:txBody>
      </p:sp>
      <p:sp>
        <p:nvSpPr>
          <p:cNvPr id="16" name="Rectangle 15">
            <a:extLst>
              <a:ext uri="{FF2B5EF4-FFF2-40B4-BE49-F238E27FC236}">
                <a16:creationId xmlns:a16="http://schemas.microsoft.com/office/drawing/2014/main" id="{CC08DF18-6DE6-4FCA-A0C0-0C82C0B7F802}"/>
              </a:ext>
            </a:extLst>
          </p:cNvPr>
          <p:cNvSpPr>
            <a:spLocks noGrp="1"/>
          </p:cNvSpPr>
          <p:nvPr/>
        </p:nvSpPr>
        <p:spPr>
          <a:xfrm>
            <a:off x="771525" y="1390650"/>
            <a:ext cx="3810000" cy="209550"/>
          </a:xfrm>
          <a:prstGeom prst="rect">
            <a:avLst/>
          </a:prstGeom>
          <a:noFill/>
          <a:ln w="0">
            <a:noFill/>
            <a:prstDash val="solid"/>
          </a:ln>
        </p:spPr>
        <p:txBody>
          <a:bodyPr wrap="none" lIns="0" tIns="0" rIns="0" bIns="0" anchor="t"/>
          <a:lstStyle/>
          <a:p>
            <a:pPr algn="l">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ORACLE CLOUD VMWARE SOLUTION (OCVS)</a:t>
            </a:r>
          </a:p>
        </p:txBody>
      </p:sp>
      <p:pic>
        <p:nvPicPr>
          <p:cNvPr id="145" name="Picture 144"/>
          <p:cNvPicPr>
            <a:picLocks noChangeAspect="1"/>
          </p:cNvPicPr>
          <p:nvPr/>
        </p:nvPicPr>
        <p:blipFill>
          <a:blip r:embed="rId4"/>
          <a:stretch/>
        </p:blipFill>
        <p:spPr>
          <a:xfrm>
            <a:off x="473242" y="1885950"/>
            <a:ext cx="272716" cy="304800"/>
          </a:xfrm>
          <a:prstGeom prst="rect">
            <a:avLst/>
          </a:prstGeom>
        </p:spPr>
      </p:pic>
      <p:sp>
        <p:nvSpPr>
          <p:cNvPr id="18" name="Rectangle 17">
            <a:extLst>
              <a:ext uri="{FF2B5EF4-FFF2-40B4-BE49-F238E27FC236}">
                <a16:creationId xmlns:a16="http://schemas.microsoft.com/office/drawing/2014/main" id="{4A5BA3EA-A339-462A-B284-EFB9B5A22B56}"/>
              </a:ext>
            </a:extLst>
          </p:cNvPr>
          <p:cNvSpPr>
            <a:spLocks noGrp="1"/>
          </p:cNvSpPr>
          <p:nvPr/>
        </p:nvSpPr>
        <p:spPr>
          <a:xfrm>
            <a:off x="885825" y="1952625"/>
            <a:ext cx="1238250" cy="200025"/>
          </a:xfrm>
          <a:prstGeom prst="rect">
            <a:avLst/>
          </a:prstGeom>
          <a:noFill/>
          <a:ln w="0">
            <a:noFill/>
            <a:prstDash val="solid"/>
          </a:ln>
        </p:spPr>
        <p:txBody>
          <a:bodyPr wrap="none" lIns="0" tIns="0" rIns="0" bIns="0" anchor="t"/>
          <a:lstStyle/>
          <a:p>
            <a:pPr algn="l">
              <a:lnSpc>
                <a:spcPct val="100000"/>
              </a:lnSpc>
              <a:buNone/>
              <a:defRPr sz="1200" b="1" i="0">
                <a:solidFill>
                  <a:srgbClr val="111111"/>
                </a:solidFill>
                <a:latin typeface="Arial"/>
                <a:ea typeface="Arial"/>
                <a:cs typeface="Arial"/>
              </a:defRPr>
            </a:pPr>
            <a:r>
              <a:rPr sz="1200" b="1" i="0">
                <a:solidFill>
                  <a:srgbClr val="111111"/>
                </a:solidFill>
                <a:latin typeface="Arial"/>
                <a:ea typeface="Arial"/>
                <a:cs typeface="Arial"/>
              </a:rPr>
              <a:t>SDDCs</a:t>
            </a:r>
          </a:p>
        </p:txBody>
      </p:sp>
      <p:sp>
        <p:nvSpPr>
          <p:cNvPr id="19" name="Rectangle 18">
            <a:extLst>
              <a:ext uri="{FF2B5EF4-FFF2-40B4-BE49-F238E27FC236}">
                <a16:creationId xmlns:a16="http://schemas.microsoft.com/office/drawing/2014/main" id="{108ACD2F-EA65-448D-A447-C5A15E3D9F27}"/>
              </a:ext>
            </a:extLst>
          </p:cNvPr>
          <p:cNvSpPr>
            <a:spLocks noGrp="1"/>
          </p:cNvSpPr>
          <p:nvPr/>
        </p:nvSpPr>
        <p:spPr>
          <a:xfrm>
            <a:off x="2000250" y="1952625"/>
            <a:ext cx="666750" cy="200025"/>
          </a:xfrm>
          <a:prstGeom prst="rect">
            <a:avLst/>
          </a:prstGeom>
          <a:noFill/>
          <a:ln w="0">
            <a:noFill/>
            <a:prstDash val="solid"/>
          </a:ln>
        </p:spPr>
        <p:txBody>
          <a:bodyPr wrap="none" lIns="0" tIns="0" rIns="0" bIns="0" anchor="t"/>
          <a:lstStyle/>
          <a:p>
            <a:pPr algn="l">
              <a:lnSpc>
                <a:spcPct val="100000"/>
              </a:lnSpc>
              <a:buNone/>
              <a:defRPr sz="1125" b="1" i="0">
                <a:solidFill>
                  <a:srgbClr val="111111"/>
                </a:solidFill>
                <a:latin typeface="Arial"/>
                <a:ea typeface="Arial"/>
                <a:cs typeface="Arial"/>
              </a:defRPr>
            </a:pPr>
            <a:r>
              <a:rPr sz="1125" b="1" i="0">
                <a:solidFill>
                  <a:srgbClr val="111111"/>
                </a:solidFill>
                <a:latin typeface="Arial"/>
                <a:ea typeface="Arial"/>
                <a:cs typeface="Arial"/>
              </a:rPr>
              <a:t>1</a:t>
            </a:r>
          </a:p>
        </p:txBody>
      </p:sp>
      <p:pic>
        <p:nvPicPr>
          <p:cNvPr id="148" name="Picture 147"/>
          <p:cNvPicPr>
            <a:picLocks noChangeAspect="1"/>
          </p:cNvPicPr>
          <p:nvPr/>
        </p:nvPicPr>
        <p:blipFill>
          <a:blip r:embed="rId5"/>
          <a:stretch/>
        </p:blipFill>
        <p:spPr>
          <a:xfrm>
            <a:off x="457200" y="2402807"/>
            <a:ext cx="304800" cy="280737"/>
          </a:xfrm>
          <a:prstGeom prst="rect">
            <a:avLst/>
          </a:prstGeom>
        </p:spPr>
      </p:pic>
      <p:sp>
        <p:nvSpPr>
          <p:cNvPr id="21" name="Rectangle 20">
            <a:extLst>
              <a:ext uri="{FF2B5EF4-FFF2-40B4-BE49-F238E27FC236}">
                <a16:creationId xmlns:a16="http://schemas.microsoft.com/office/drawing/2014/main" id="{AB32466A-E288-4430-A88B-C54CD9CC05E7}"/>
              </a:ext>
            </a:extLst>
          </p:cNvPr>
          <p:cNvSpPr>
            <a:spLocks noGrp="1"/>
          </p:cNvSpPr>
          <p:nvPr/>
        </p:nvSpPr>
        <p:spPr>
          <a:xfrm>
            <a:off x="885825" y="2457450"/>
            <a:ext cx="1238250" cy="200025"/>
          </a:xfrm>
          <a:prstGeom prst="rect">
            <a:avLst/>
          </a:prstGeom>
          <a:noFill/>
          <a:ln w="0">
            <a:noFill/>
            <a:prstDash val="solid"/>
          </a:ln>
        </p:spPr>
        <p:txBody>
          <a:bodyPr wrap="none" lIns="0" tIns="0" rIns="0" bIns="0" anchor="t"/>
          <a:lstStyle/>
          <a:p>
            <a:pPr algn="l">
              <a:lnSpc>
                <a:spcPct val="100000"/>
              </a:lnSpc>
              <a:buNone/>
              <a:defRPr sz="1200" b="1" i="0">
                <a:solidFill>
                  <a:srgbClr val="111111"/>
                </a:solidFill>
                <a:latin typeface="Arial"/>
                <a:ea typeface="Arial"/>
                <a:cs typeface="Arial"/>
              </a:defRPr>
            </a:pPr>
            <a:r>
              <a:rPr sz="1200" b="1" i="0">
                <a:solidFill>
                  <a:srgbClr val="111111"/>
                </a:solidFill>
                <a:latin typeface="Arial"/>
                <a:ea typeface="Arial"/>
                <a:cs typeface="Arial"/>
              </a:rPr>
              <a:t>Clusters</a:t>
            </a:r>
          </a:p>
        </p:txBody>
      </p:sp>
      <p:sp>
        <p:nvSpPr>
          <p:cNvPr id="22" name="Rectangle 21">
            <a:extLst>
              <a:ext uri="{FF2B5EF4-FFF2-40B4-BE49-F238E27FC236}">
                <a16:creationId xmlns:a16="http://schemas.microsoft.com/office/drawing/2014/main" id="{B4977F52-CA26-412B-BC66-C11945AE22E1}"/>
              </a:ext>
            </a:extLst>
          </p:cNvPr>
          <p:cNvSpPr>
            <a:spLocks noGrp="1"/>
          </p:cNvSpPr>
          <p:nvPr/>
        </p:nvSpPr>
        <p:spPr>
          <a:xfrm>
            <a:off x="2000250" y="2457450"/>
            <a:ext cx="666750" cy="200025"/>
          </a:xfrm>
          <a:prstGeom prst="rect">
            <a:avLst/>
          </a:prstGeom>
          <a:noFill/>
          <a:ln w="0">
            <a:noFill/>
            <a:prstDash val="solid"/>
          </a:ln>
        </p:spPr>
        <p:txBody>
          <a:bodyPr wrap="none" lIns="0" tIns="0" rIns="0" bIns="0" anchor="t"/>
          <a:lstStyle/>
          <a:p>
            <a:pPr algn="l">
              <a:lnSpc>
                <a:spcPct val="100000"/>
              </a:lnSpc>
              <a:buNone/>
              <a:defRPr sz="1125" b="1" i="0">
                <a:solidFill>
                  <a:srgbClr val="111111"/>
                </a:solidFill>
                <a:latin typeface="Arial"/>
                <a:ea typeface="Arial"/>
                <a:cs typeface="Arial"/>
              </a:defRPr>
            </a:pPr>
            <a:r>
              <a:rPr sz="1125" b="1" i="0">
                <a:solidFill>
                  <a:srgbClr val="111111"/>
                </a:solidFill>
                <a:latin typeface="Arial"/>
                <a:ea typeface="Arial"/>
                <a:cs typeface="Arial"/>
              </a:rPr>
              <a:t>1</a:t>
            </a:r>
          </a:p>
        </p:txBody>
      </p:sp>
      <p:pic>
        <p:nvPicPr>
          <p:cNvPr id="151" name="Picture 150"/>
          <p:cNvPicPr>
            <a:picLocks noChangeAspect="1"/>
          </p:cNvPicPr>
          <p:nvPr/>
        </p:nvPicPr>
        <p:blipFill>
          <a:blip r:embed="rId6"/>
          <a:stretch/>
        </p:blipFill>
        <p:spPr>
          <a:xfrm>
            <a:off x="457200" y="2908300"/>
            <a:ext cx="304800" cy="279400"/>
          </a:xfrm>
          <a:prstGeom prst="rect">
            <a:avLst/>
          </a:prstGeom>
        </p:spPr>
      </p:pic>
      <p:sp>
        <p:nvSpPr>
          <p:cNvPr id="24" name="Rectangle 23">
            <a:extLst>
              <a:ext uri="{FF2B5EF4-FFF2-40B4-BE49-F238E27FC236}">
                <a16:creationId xmlns:a16="http://schemas.microsoft.com/office/drawing/2014/main" id="{36988E29-D073-4DB8-86EF-131BF3B43367}"/>
              </a:ext>
            </a:extLst>
          </p:cNvPr>
          <p:cNvSpPr>
            <a:spLocks noGrp="1"/>
          </p:cNvSpPr>
          <p:nvPr/>
        </p:nvSpPr>
        <p:spPr>
          <a:xfrm>
            <a:off x="885825" y="2962275"/>
            <a:ext cx="1238250" cy="200025"/>
          </a:xfrm>
          <a:prstGeom prst="rect">
            <a:avLst/>
          </a:prstGeom>
          <a:noFill/>
          <a:ln w="0">
            <a:noFill/>
            <a:prstDash val="solid"/>
          </a:ln>
        </p:spPr>
        <p:txBody>
          <a:bodyPr wrap="none" lIns="0" tIns="0" rIns="0" bIns="0" anchor="t"/>
          <a:lstStyle/>
          <a:p>
            <a:pPr algn="l">
              <a:lnSpc>
                <a:spcPct val="100000"/>
              </a:lnSpc>
              <a:buNone/>
              <a:defRPr sz="1200" b="1" i="0">
                <a:solidFill>
                  <a:srgbClr val="111111"/>
                </a:solidFill>
                <a:latin typeface="Arial"/>
                <a:ea typeface="Arial"/>
                <a:cs typeface="Arial"/>
              </a:defRPr>
            </a:pPr>
            <a:r>
              <a:rPr sz="1200" b="1" i="0">
                <a:solidFill>
                  <a:srgbClr val="111111"/>
                </a:solidFill>
                <a:latin typeface="Arial"/>
                <a:ea typeface="Arial"/>
                <a:cs typeface="Arial"/>
              </a:rPr>
              <a:t>Hosts</a:t>
            </a:r>
          </a:p>
        </p:txBody>
      </p:sp>
      <p:sp>
        <p:nvSpPr>
          <p:cNvPr id="25" name="Rectangle 24">
            <a:extLst>
              <a:ext uri="{FF2B5EF4-FFF2-40B4-BE49-F238E27FC236}">
                <a16:creationId xmlns:a16="http://schemas.microsoft.com/office/drawing/2014/main" id="{97429B91-1412-4346-BB3D-53706DDC1642}"/>
              </a:ext>
            </a:extLst>
          </p:cNvPr>
          <p:cNvSpPr>
            <a:spLocks noGrp="1"/>
          </p:cNvSpPr>
          <p:nvPr/>
        </p:nvSpPr>
        <p:spPr>
          <a:xfrm>
            <a:off x="2000250" y="2962275"/>
            <a:ext cx="666750" cy="200025"/>
          </a:xfrm>
          <a:prstGeom prst="rect">
            <a:avLst/>
          </a:prstGeom>
          <a:noFill/>
          <a:ln w="0">
            <a:noFill/>
            <a:prstDash val="solid"/>
          </a:ln>
        </p:spPr>
        <p:txBody>
          <a:bodyPr wrap="none" lIns="0" tIns="0" rIns="0" bIns="0" anchor="t"/>
          <a:lstStyle/>
          <a:p>
            <a:pPr algn="l">
              <a:lnSpc>
                <a:spcPct val="100000"/>
              </a:lnSpc>
              <a:buNone/>
              <a:defRPr sz="1125" b="1" i="0">
                <a:solidFill>
                  <a:srgbClr val="111111"/>
                </a:solidFill>
                <a:latin typeface="Arial"/>
                <a:ea typeface="Arial"/>
                <a:cs typeface="Arial"/>
              </a:defRPr>
            </a:pPr>
            <a:r>
              <a:rPr sz="1125" b="1" i="0">
                <a:solidFill>
                  <a:srgbClr val="111111"/>
                </a:solidFill>
                <a:latin typeface="Arial"/>
                <a:ea typeface="Arial"/>
                <a:cs typeface="Arial"/>
              </a:rPr>
              <a:t>4</a:t>
            </a:r>
          </a:p>
        </p:txBody>
      </p:sp>
      <p:pic>
        <p:nvPicPr>
          <p:cNvPr id="154" name="Picture 153"/>
          <p:cNvPicPr>
            <a:picLocks noChangeAspect="1"/>
          </p:cNvPicPr>
          <p:nvPr/>
        </p:nvPicPr>
        <p:blipFill>
          <a:blip r:embed="rId7"/>
          <a:stretch/>
        </p:blipFill>
        <p:spPr>
          <a:xfrm>
            <a:off x="481263" y="3381375"/>
            <a:ext cx="256674" cy="304800"/>
          </a:xfrm>
          <a:prstGeom prst="rect">
            <a:avLst/>
          </a:prstGeom>
        </p:spPr>
      </p:pic>
      <p:sp>
        <p:nvSpPr>
          <p:cNvPr id="27" name="Rectangle 26">
            <a:extLst>
              <a:ext uri="{FF2B5EF4-FFF2-40B4-BE49-F238E27FC236}">
                <a16:creationId xmlns:a16="http://schemas.microsoft.com/office/drawing/2014/main" id="{E3ACB4E7-0CE8-4B20-98F7-6BDA6BB1797B}"/>
              </a:ext>
            </a:extLst>
          </p:cNvPr>
          <p:cNvSpPr>
            <a:spLocks noGrp="1"/>
          </p:cNvSpPr>
          <p:nvPr/>
        </p:nvSpPr>
        <p:spPr>
          <a:xfrm>
            <a:off x="885825" y="3448050"/>
            <a:ext cx="1238250" cy="200025"/>
          </a:xfrm>
          <a:prstGeom prst="rect">
            <a:avLst/>
          </a:prstGeom>
          <a:noFill/>
          <a:ln w="0">
            <a:noFill/>
            <a:prstDash val="solid"/>
          </a:ln>
        </p:spPr>
        <p:txBody>
          <a:bodyPr wrap="none" lIns="0" tIns="0" rIns="0" bIns="0" anchor="t"/>
          <a:lstStyle/>
          <a:p>
            <a:pPr algn="l">
              <a:lnSpc>
                <a:spcPct val="100000"/>
              </a:lnSpc>
              <a:buNone/>
              <a:defRPr sz="1200" b="1" i="0">
                <a:solidFill>
                  <a:srgbClr val="111111"/>
                </a:solidFill>
                <a:latin typeface="Arial"/>
                <a:ea typeface="Arial"/>
                <a:cs typeface="Arial"/>
              </a:defRPr>
            </a:pPr>
            <a:r>
              <a:rPr sz="1200" b="1" i="0">
                <a:solidFill>
                  <a:srgbClr val="111111"/>
                </a:solidFill>
                <a:latin typeface="Arial"/>
                <a:ea typeface="Arial"/>
                <a:cs typeface="Arial"/>
              </a:rPr>
              <a:t>Shape</a:t>
            </a:r>
          </a:p>
        </p:txBody>
      </p:sp>
      <p:sp>
        <p:nvSpPr>
          <p:cNvPr id="28" name="Rectangle 27">
            <a:extLst>
              <a:ext uri="{FF2B5EF4-FFF2-40B4-BE49-F238E27FC236}">
                <a16:creationId xmlns:a16="http://schemas.microsoft.com/office/drawing/2014/main" id="{9D8CC9D9-1807-4F26-8DA1-415E07951845}"/>
              </a:ext>
            </a:extLst>
          </p:cNvPr>
          <p:cNvSpPr>
            <a:spLocks noGrp="1"/>
          </p:cNvSpPr>
          <p:nvPr/>
        </p:nvSpPr>
        <p:spPr>
          <a:xfrm>
            <a:off x="2000250" y="3448050"/>
            <a:ext cx="666750" cy="200025"/>
          </a:xfrm>
          <a:prstGeom prst="rect">
            <a:avLst/>
          </a:prstGeom>
          <a:noFill/>
          <a:ln w="0">
            <a:noFill/>
            <a:prstDash val="solid"/>
          </a:ln>
        </p:spPr>
        <p:txBody>
          <a:bodyPr wrap="none" lIns="0" tIns="0" rIns="0" bIns="0" anchor="t"/>
          <a:lstStyle/>
          <a:p>
            <a:pPr algn="l">
              <a:lnSpc>
                <a:spcPct val="100000"/>
              </a:lnSpc>
              <a:buNone/>
              <a:defRPr sz="1125" b="1" i="0">
                <a:solidFill>
                  <a:srgbClr val="111111"/>
                </a:solidFill>
                <a:latin typeface="Arial"/>
                <a:ea typeface="Arial"/>
                <a:cs typeface="Arial"/>
              </a:defRPr>
            </a:pPr>
            <a:r>
              <a:rPr sz="1125" b="1" i="0">
                <a:solidFill>
                  <a:srgbClr val="111111"/>
                </a:solidFill>
                <a:latin typeface="Arial"/>
                <a:ea typeface="Arial"/>
                <a:cs typeface="Arial"/>
              </a:rPr>
              <a:t>AMD E4</a:t>
            </a:r>
          </a:p>
        </p:txBody>
      </p:sp>
      <p:pic>
        <p:nvPicPr>
          <p:cNvPr id="157" name="Picture 156"/>
          <p:cNvPicPr>
            <a:picLocks noChangeAspect="1"/>
          </p:cNvPicPr>
          <p:nvPr/>
        </p:nvPicPr>
        <p:blipFill>
          <a:blip r:embed="rId8"/>
          <a:stretch/>
        </p:blipFill>
        <p:spPr>
          <a:xfrm>
            <a:off x="476738" y="3886200"/>
            <a:ext cx="265723" cy="304800"/>
          </a:xfrm>
          <a:prstGeom prst="rect">
            <a:avLst/>
          </a:prstGeom>
        </p:spPr>
      </p:pic>
      <p:sp>
        <p:nvSpPr>
          <p:cNvPr id="30" name="Rectangle 29">
            <a:extLst>
              <a:ext uri="{FF2B5EF4-FFF2-40B4-BE49-F238E27FC236}">
                <a16:creationId xmlns:a16="http://schemas.microsoft.com/office/drawing/2014/main" id="{EC6FC190-6BB8-4C0B-BAF8-7BB7B70C669D}"/>
              </a:ext>
            </a:extLst>
          </p:cNvPr>
          <p:cNvSpPr>
            <a:spLocks noGrp="1"/>
          </p:cNvSpPr>
          <p:nvPr/>
        </p:nvSpPr>
        <p:spPr>
          <a:xfrm>
            <a:off x="885825" y="3952875"/>
            <a:ext cx="1238250" cy="200025"/>
          </a:xfrm>
          <a:prstGeom prst="rect">
            <a:avLst/>
          </a:prstGeom>
          <a:noFill/>
          <a:ln w="0">
            <a:noFill/>
            <a:prstDash val="solid"/>
          </a:ln>
        </p:spPr>
        <p:txBody>
          <a:bodyPr wrap="none" lIns="0" tIns="0" rIns="0" bIns="0" anchor="t"/>
          <a:lstStyle/>
          <a:p>
            <a:pPr algn="l">
              <a:lnSpc>
                <a:spcPct val="100000"/>
              </a:lnSpc>
              <a:buNone/>
              <a:defRPr sz="1200" b="1" i="0">
                <a:solidFill>
                  <a:srgbClr val="111111"/>
                </a:solidFill>
                <a:latin typeface="Arial"/>
                <a:ea typeface="Arial"/>
                <a:cs typeface="Arial"/>
              </a:defRPr>
            </a:pPr>
            <a:r>
              <a:rPr sz="1200" b="1" i="0">
                <a:solidFill>
                  <a:srgbClr val="111111"/>
                </a:solidFill>
                <a:latin typeface="Arial"/>
                <a:ea typeface="Arial"/>
                <a:cs typeface="Arial"/>
              </a:rPr>
              <a:t>Storage</a:t>
            </a:r>
          </a:p>
        </p:txBody>
      </p:sp>
      <p:sp>
        <p:nvSpPr>
          <p:cNvPr id="31" name="Rectangle 30">
            <a:extLst>
              <a:ext uri="{FF2B5EF4-FFF2-40B4-BE49-F238E27FC236}">
                <a16:creationId xmlns:a16="http://schemas.microsoft.com/office/drawing/2014/main" id="{264E04E7-218E-483C-9381-5207BBDC43F8}"/>
              </a:ext>
            </a:extLst>
          </p:cNvPr>
          <p:cNvSpPr>
            <a:spLocks noGrp="1"/>
          </p:cNvSpPr>
          <p:nvPr/>
        </p:nvSpPr>
        <p:spPr>
          <a:xfrm>
            <a:off x="2000250" y="3952875"/>
            <a:ext cx="666750" cy="200025"/>
          </a:xfrm>
          <a:prstGeom prst="rect">
            <a:avLst/>
          </a:prstGeom>
          <a:noFill/>
          <a:ln w="0">
            <a:noFill/>
            <a:prstDash val="solid"/>
          </a:ln>
        </p:spPr>
        <p:txBody>
          <a:bodyPr wrap="none" lIns="0" tIns="0" rIns="0" bIns="0" anchor="t"/>
          <a:lstStyle/>
          <a:p>
            <a:pPr algn="l">
              <a:lnSpc>
                <a:spcPct val="100000"/>
              </a:lnSpc>
              <a:buNone/>
              <a:defRPr sz="1125" b="1" i="0">
                <a:solidFill>
                  <a:srgbClr val="111111"/>
                </a:solidFill>
                <a:latin typeface="Arial"/>
                <a:ea typeface="Arial"/>
                <a:cs typeface="Arial"/>
              </a:defRPr>
            </a:pPr>
            <a:r>
              <a:rPr sz="1125" b="1" i="0">
                <a:solidFill>
                  <a:srgbClr val="111111"/>
                </a:solidFill>
                <a:latin typeface="Arial"/>
                <a:ea typeface="Arial"/>
                <a:cs typeface="Arial"/>
              </a:rPr>
              <a:t>200 TB</a:t>
            </a:r>
          </a:p>
        </p:txBody>
      </p:sp>
      <p:pic>
        <p:nvPicPr>
          <p:cNvPr id="160" name="Picture 159"/>
          <p:cNvPicPr>
            <a:picLocks noChangeAspect="1"/>
          </p:cNvPicPr>
          <p:nvPr/>
        </p:nvPicPr>
        <p:blipFill>
          <a:blip r:embed="rId9"/>
          <a:stretch/>
        </p:blipFill>
        <p:spPr>
          <a:xfrm>
            <a:off x="457200" y="4429125"/>
            <a:ext cx="304800" cy="228600"/>
          </a:xfrm>
          <a:prstGeom prst="rect">
            <a:avLst/>
          </a:prstGeom>
        </p:spPr>
      </p:pic>
      <p:sp>
        <p:nvSpPr>
          <p:cNvPr id="33" name="Rectangle 32">
            <a:extLst>
              <a:ext uri="{FF2B5EF4-FFF2-40B4-BE49-F238E27FC236}">
                <a16:creationId xmlns:a16="http://schemas.microsoft.com/office/drawing/2014/main" id="{F6E44B37-31DD-462F-A08C-A4F05588620E}"/>
              </a:ext>
            </a:extLst>
          </p:cNvPr>
          <p:cNvSpPr>
            <a:spLocks noGrp="1"/>
          </p:cNvSpPr>
          <p:nvPr/>
        </p:nvSpPr>
        <p:spPr>
          <a:xfrm>
            <a:off x="885825" y="4457700"/>
            <a:ext cx="1238250" cy="200025"/>
          </a:xfrm>
          <a:prstGeom prst="rect">
            <a:avLst/>
          </a:prstGeom>
          <a:noFill/>
          <a:ln w="0">
            <a:noFill/>
            <a:prstDash val="solid"/>
          </a:ln>
        </p:spPr>
        <p:txBody>
          <a:bodyPr wrap="none" lIns="0" tIns="0" rIns="0" bIns="0" anchor="t"/>
          <a:lstStyle/>
          <a:p>
            <a:pPr algn="l">
              <a:lnSpc>
                <a:spcPct val="100000"/>
              </a:lnSpc>
              <a:buNone/>
              <a:defRPr sz="1200" b="1" i="0">
                <a:solidFill>
                  <a:srgbClr val="111111"/>
                </a:solidFill>
                <a:latin typeface="Arial"/>
                <a:ea typeface="Arial"/>
                <a:cs typeface="Arial"/>
              </a:defRPr>
            </a:pPr>
            <a:r>
              <a:rPr sz="1200" b="1" i="0">
                <a:solidFill>
                  <a:srgbClr val="111111"/>
                </a:solidFill>
                <a:latin typeface="Arial"/>
                <a:ea typeface="Arial"/>
                <a:cs typeface="Arial"/>
              </a:rPr>
              <a:t>Storage Type</a:t>
            </a:r>
          </a:p>
        </p:txBody>
      </p:sp>
      <p:sp>
        <p:nvSpPr>
          <p:cNvPr id="34" name="Rectangle 33">
            <a:extLst>
              <a:ext uri="{FF2B5EF4-FFF2-40B4-BE49-F238E27FC236}">
                <a16:creationId xmlns:a16="http://schemas.microsoft.com/office/drawing/2014/main" id="{79F817C3-62F6-4BF8-BAC5-06DF7F72BFCA}"/>
              </a:ext>
            </a:extLst>
          </p:cNvPr>
          <p:cNvSpPr>
            <a:spLocks noGrp="1"/>
          </p:cNvSpPr>
          <p:nvPr/>
        </p:nvSpPr>
        <p:spPr>
          <a:xfrm>
            <a:off x="1914525" y="4457700"/>
            <a:ext cx="914400" cy="200025"/>
          </a:xfrm>
          <a:prstGeom prst="rect">
            <a:avLst/>
          </a:prstGeom>
          <a:noFill/>
          <a:ln w="0">
            <a:noFill/>
            <a:prstDash val="solid"/>
          </a:ln>
        </p:spPr>
        <p:txBody>
          <a:bodyPr wrap="none" lIns="0" tIns="0" rIns="0" bIns="0" anchor="t"/>
          <a:lstStyle/>
          <a:p>
            <a:pPr algn="l">
              <a:lnSpc>
                <a:spcPct val="100000"/>
              </a:lnSpc>
              <a:buNone/>
              <a:defRPr sz="788" b="1" i="0">
                <a:solidFill>
                  <a:srgbClr val="111111"/>
                </a:solidFill>
                <a:latin typeface="Arial"/>
                <a:ea typeface="Arial"/>
                <a:cs typeface="Arial"/>
              </a:defRPr>
            </a:pPr>
            <a:r>
              <a:rPr sz="788" b="1" i="0">
                <a:solidFill>
                  <a:srgbClr val="111111"/>
                </a:solidFill>
                <a:latin typeface="Arial"/>
                <a:ea typeface="Arial"/>
                <a:cs typeface="Arial"/>
              </a:rPr>
              <a:t>OCI Block Volume</a:t>
            </a:r>
          </a:p>
        </p:txBody>
      </p:sp>
      <p:sp>
        <p:nvSpPr>
          <p:cNvPr id="35" name="Straight Connector 34">
            <a:extLst>
              <a:ext uri="{FF2B5EF4-FFF2-40B4-BE49-F238E27FC236}">
                <a16:creationId xmlns:a16="http://schemas.microsoft.com/office/drawing/2014/main" id="{C197FF50-63FB-4B6D-B77D-6204FCE76B21}"/>
              </a:ext>
            </a:extLst>
          </p:cNvPr>
          <p:cNvSpPr>
            <a:spLocks noGrp="1"/>
          </p:cNvSpPr>
          <p:nvPr/>
        </p:nvSpPr>
        <p:spPr>
          <a:xfrm>
            <a:off x="390525" y="2257425"/>
            <a:ext cx="2181225" cy="0"/>
          </a:xfrm>
          <a:prstGeom prst="line">
            <a:avLst/>
          </a:prstGeom>
          <a:noFill/>
          <a:ln w="9525">
            <a:solidFill>
              <a:srgbClr val="D9DCD9"/>
            </a:solidFill>
            <a:prstDash val="solid"/>
          </a:ln>
        </p:spPr>
        <p:txBody>
          <a:bodyPr/>
          <a:lstStyle/>
          <a:p>
            <a:endParaRPr lang="en-FR"/>
          </a:p>
        </p:txBody>
      </p:sp>
      <p:sp>
        <p:nvSpPr>
          <p:cNvPr id="36" name="Straight Connector 35">
            <a:extLst>
              <a:ext uri="{FF2B5EF4-FFF2-40B4-BE49-F238E27FC236}">
                <a16:creationId xmlns:a16="http://schemas.microsoft.com/office/drawing/2014/main" id="{B28D0112-A8AB-4A99-B93E-872754D4FA88}"/>
              </a:ext>
            </a:extLst>
          </p:cNvPr>
          <p:cNvSpPr>
            <a:spLocks noGrp="1"/>
          </p:cNvSpPr>
          <p:nvPr/>
        </p:nvSpPr>
        <p:spPr>
          <a:xfrm>
            <a:off x="390525" y="2771775"/>
            <a:ext cx="2181225" cy="0"/>
          </a:xfrm>
          <a:prstGeom prst="line">
            <a:avLst/>
          </a:prstGeom>
          <a:noFill/>
          <a:ln w="9525">
            <a:solidFill>
              <a:srgbClr val="D9DCD9"/>
            </a:solidFill>
            <a:prstDash val="solid"/>
          </a:ln>
        </p:spPr>
        <p:txBody>
          <a:bodyPr/>
          <a:lstStyle/>
          <a:p>
            <a:endParaRPr lang="en-FR"/>
          </a:p>
        </p:txBody>
      </p:sp>
      <p:sp>
        <p:nvSpPr>
          <p:cNvPr id="37" name="Straight Connector 36">
            <a:extLst>
              <a:ext uri="{FF2B5EF4-FFF2-40B4-BE49-F238E27FC236}">
                <a16:creationId xmlns:a16="http://schemas.microsoft.com/office/drawing/2014/main" id="{9961825F-CA09-40FD-9CD8-AAB82DC5F340}"/>
              </a:ext>
            </a:extLst>
          </p:cNvPr>
          <p:cNvSpPr>
            <a:spLocks noGrp="1"/>
          </p:cNvSpPr>
          <p:nvPr/>
        </p:nvSpPr>
        <p:spPr>
          <a:xfrm>
            <a:off x="390525" y="3257550"/>
            <a:ext cx="2181225" cy="0"/>
          </a:xfrm>
          <a:prstGeom prst="line">
            <a:avLst/>
          </a:prstGeom>
          <a:noFill/>
          <a:ln w="9525">
            <a:solidFill>
              <a:srgbClr val="D9DCD9"/>
            </a:solidFill>
            <a:prstDash val="solid"/>
          </a:ln>
        </p:spPr>
        <p:txBody>
          <a:bodyPr/>
          <a:lstStyle/>
          <a:p>
            <a:endParaRPr lang="en-FR"/>
          </a:p>
        </p:txBody>
      </p:sp>
      <p:sp>
        <p:nvSpPr>
          <p:cNvPr id="38" name="Straight Connector 37">
            <a:extLst>
              <a:ext uri="{FF2B5EF4-FFF2-40B4-BE49-F238E27FC236}">
                <a16:creationId xmlns:a16="http://schemas.microsoft.com/office/drawing/2014/main" id="{B72F7F8F-3A5A-466B-B5F8-A65543CCB43E}"/>
              </a:ext>
            </a:extLst>
          </p:cNvPr>
          <p:cNvSpPr>
            <a:spLocks noGrp="1"/>
          </p:cNvSpPr>
          <p:nvPr/>
        </p:nvSpPr>
        <p:spPr>
          <a:xfrm>
            <a:off x="390525" y="3752850"/>
            <a:ext cx="2181225" cy="0"/>
          </a:xfrm>
          <a:prstGeom prst="line">
            <a:avLst/>
          </a:prstGeom>
          <a:noFill/>
          <a:ln w="9525">
            <a:solidFill>
              <a:srgbClr val="D9DCD9"/>
            </a:solidFill>
            <a:prstDash val="solid"/>
          </a:ln>
        </p:spPr>
        <p:txBody>
          <a:bodyPr/>
          <a:lstStyle/>
          <a:p>
            <a:endParaRPr lang="en-FR"/>
          </a:p>
        </p:txBody>
      </p:sp>
      <p:sp>
        <p:nvSpPr>
          <p:cNvPr id="39" name="Straight Connector 38">
            <a:extLst>
              <a:ext uri="{FF2B5EF4-FFF2-40B4-BE49-F238E27FC236}">
                <a16:creationId xmlns:a16="http://schemas.microsoft.com/office/drawing/2014/main" id="{5E16E59D-882D-43E4-819A-56C8F12F8556}"/>
              </a:ext>
            </a:extLst>
          </p:cNvPr>
          <p:cNvSpPr>
            <a:spLocks noGrp="1"/>
          </p:cNvSpPr>
          <p:nvPr/>
        </p:nvSpPr>
        <p:spPr>
          <a:xfrm>
            <a:off x="390525" y="4248150"/>
            <a:ext cx="2181225" cy="0"/>
          </a:xfrm>
          <a:prstGeom prst="line">
            <a:avLst/>
          </a:prstGeom>
          <a:noFill/>
          <a:ln w="9525">
            <a:solidFill>
              <a:srgbClr val="D9DCD9"/>
            </a:solidFill>
            <a:prstDash val="solid"/>
          </a:ln>
        </p:spPr>
        <p:txBody>
          <a:bodyPr/>
          <a:lstStyle/>
          <a:p>
            <a:endParaRPr lang="en-FR"/>
          </a:p>
        </p:txBody>
      </p:sp>
      <p:sp>
        <p:nvSpPr>
          <p:cNvPr id="40" name="Straight Connector 39">
            <a:extLst>
              <a:ext uri="{FF2B5EF4-FFF2-40B4-BE49-F238E27FC236}">
                <a16:creationId xmlns:a16="http://schemas.microsoft.com/office/drawing/2014/main" id="{3FC90F95-5B03-46B4-845E-024322625A9B}"/>
              </a:ext>
            </a:extLst>
          </p:cNvPr>
          <p:cNvSpPr>
            <a:spLocks noGrp="1"/>
          </p:cNvSpPr>
          <p:nvPr/>
        </p:nvSpPr>
        <p:spPr>
          <a:xfrm>
            <a:off x="2714625" y="1838325"/>
            <a:ext cx="0" cy="2438400"/>
          </a:xfrm>
          <a:prstGeom prst="line">
            <a:avLst/>
          </a:prstGeom>
          <a:noFill/>
          <a:ln w="9525">
            <a:solidFill>
              <a:srgbClr val="D9DCD9"/>
            </a:solidFill>
            <a:prstDash val="solid"/>
          </a:ln>
        </p:spPr>
        <p:txBody>
          <a:bodyPr/>
          <a:lstStyle/>
          <a:p>
            <a:endParaRPr lang="en-FR"/>
          </a:p>
        </p:txBody>
      </p:sp>
      <p:sp>
        <p:nvSpPr>
          <p:cNvPr id="41" name="Rounded Rectangle 40">
            <a:extLst>
              <a:ext uri="{FF2B5EF4-FFF2-40B4-BE49-F238E27FC236}">
                <a16:creationId xmlns:a16="http://schemas.microsoft.com/office/drawing/2014/main" id="{F6CE366C-D087-43B3-90C5-DAD72FE37A9B}"/>
              </a:ext>
            </a:extLst>
          </p:cNvPr>
          <p:cNvSpPr>
            <a:spLocks noGrp="1"/>
          </p:cNvSpPr>
          <p:nvPr/>
        </p:nvSpPr>
        <p:spPr>
          <a:xfrm>
            <a:off x="2838450" y="2076450"/>
            <a:ext cx="1914525" cy="2571750"/>
          </a:xfrm>
          <a:prstGeom prst="roundRect">
            <a:avLst>
              <a:gd name="adj" fmla="val 3483"/>
            </a:avLst>
          </a:prstGeom>
          <a:solidFill>
            <a:srgbClr val="FFFFFF"/>
          </a:solidFill>
          <a:ln w="9525">
            <a:solidFill>
              <a:srgbClr val="DADF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42" name="Rectangle 41">
            <a:extLst>
              <a:ext uri="{FF2B5EF4-FFF2-40B4-BE49-F238E27FC236}">
                <a16:creationId xmlns:a16="http://schemas.microsoft.com/office/drawing/2014/main" id="{9161F9CC-7F5C-48DB-B4A8-3A4D3F7FD66D}"/>
              </a:ext>
            </a:extLst>
          </p:cNvPr>
          <p:cNvSpPr>
            <a:spLocks noGrp="1"/>
          </p:cNvSpPr>
          <p:nvPr/>
        </p:nvSpPr>
        <p:spPr>
          <a:xfrm>
            <a:off x="2838450" y="2076450"/>
            <a:ext cx="1914525" cy="752475"/>
          </a:xfrm>
          <a:prstGeom prst="rect">
            <a:avLst/>
          </a:prstGeom>
          <a:solidFill>
            <a:srgbClr val="F5F8F6"/>
          </a:solidFill>
          <a:ln w="0">
            <a:noFill/>
            <a:prstDash val="solid"/>
          </a:ln>
        </p:spPr>
        <p:txBody>
          <a:bodyPr/>
          <a:lstStyle/>
          <a:p>
            <a:endParaRPr lang="en-FR"/>
          </a:p>
        </p:txBody>
      </p:sp>
      <p:pic>
        <p:nvPicPr>
          <p:cNvPr id="171" name="Picture 170"/>
          <p:cNvPicPr>
            <a:picLocks noChangeAspect="1"/>
          </p:cNvPicPr>
          <p:nvPr/>
        </p:nvPicPr>
        <p:blipFill>
          <a:blip r:embed="rId10"/>
          <a:stretch/>
        </p:blipFill>
        <p:spPr>
          <a:xfrm>
            <a:off x="3067050" y="2267177"/>
            <a:ext cx="485775" cy="447221"/>
          </a:xfrm>
          <a:prstGeom prst="rect">
            <a:avLst/>
          </a:prstGeom>
        </p:spPr>
      </p:pic>
      <p:sp>
        <p:nvSpPr>
          <p:cNvPr id="44" name="Rectangle 43">
            <a:extLst>
              <a:ext uri="{FF2B5EF4-FFF2-40B4-BE49-F238E27FC236}">
                <a16:creationId xmlns:a16="http://schemas.microsoft.com/office/drawing/2014/main" id="{DD75D5C0-715E-494B-ABEC-61EC7FD8939D}"/>
              </a:ext>
            </a:extLst>
          </p:cNvPr>
          <p:cNvSpPr>
            <a:spLocks noGrp="1"/>
          </p:cNvSpPr>
          <p:nvPr/>
        </p:nvSpPr>
        <p:spPr>
          <a:xfrm>
            <a:off x="3590925" y="2371725"/>
            <a:ext cx="1047750" cy="295275"/>
          </a:xfrm>
          <a:prstGeom prst="rect">
            <a:avLst/>
          </a:prstGeom>
          <a:noFill/>
          <a:ln w="0">
            <a:noFill/>
            <a:prstDash val="solid"/>
          </a:ln>
        </p:spPr>
        <p:txBody>
          <a:bodyPr wrap="none" lIns="0" tIns="0" rIns="0" bIns="0" anchor="t"/>
          <a:lstStyle/>
          <a:p>
            <a:pPr algn="l">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Production</a:t>
            </a:r>
          </a:p>
        </p:txBody>
      </p:sp>
      <p:sp>
        <p:nvSpPr>
          <p:cNvPr id="45" name="Straight Connector 44">
            <a:extLst>
              <a:ext uri="{FF2B5EF4-FFF2-40B4-BE49-F238E27FC236}">
                <a16:creationId xmlns:a16="http://schemas.microsoft.com/office/drawing/2014/main" id="{CD778414-D3CC-4345-BF48-350750048399}"/>
              </a:ext>
            </a:extLst>
          </p:cNvPr>
          <p:cNvSpPr>
            <a:spLocks noGrp="1"/>
          </p:cNvSpPr>
          <p:nvPr/>
        </p:nvSpPr>
        <p:spPr>
          <a:xfrm>
            <a:off x="2990850" y="3638550"/>
            <a:ext cx="1619250" cy="0"/>
          </a:xfrm>
          <a:prstGeom prst="line">
            <a:avLst/>
          </a:prstGeom>
          <a:noFill/>
          <a:ln w="9525">
            <a:solidFill>
              <a:srgbClr val="D9DCD9"/>
            </a:solidFill>
            <a:prstDash val="solid"/>
          </a:ln>
        </p:spPr>
        <p:txBody>
          <a:bodyPr/>
          <a:lstStyle/>
          <a:p>
            <a:endParaRPr lang="en-FR"/>
          </a:p>
        </p:txBody>
      </p:sp>
      <p:pic>
        <p:nvPicPr>
          <p:cNvPr id="174" name="Picture 173"/>
          <p:cNvPicPr>
            <a:picLocks noChangeAspect="1"/>
          </p:cNvPicPr>
          <p:nvPr/>
        </p:nvPicPr>
        <p:blipFill>
          <a:blip r:embed="rId11"/>
          <a:stretch/>
        </p:blipFill>
        <p:spPr>
          <a:xfrm>
            <a:off x="3104523" y="3124200"/>
            <a:ext cx="306053" cy="314325"/>
          </a:xfrm>
          <a:prstGeom prst="rect">
            <a:avLst/>
          </a:prstGeom>
        </p:spPr>
      </p:pic>
      <p:sp>
        <p:nvSpPr>
          <p:cNvPr id="47" name="Rectangle 46">
            <a:extLst>
              <a:ext uri="{FF2B5EF4-FFF2-40B4-BE49-F238E27FC236}">
                <a16:creationId xmlns:a16="http://schemas.microsoft.com/office/drawing/2014/main" id="{153739E1-D282-4997-8700-0644C2EE1628}"/>
              </a:ext>
            </a:extLst>
          </p:cNvPr>
          <p:cNvSpPr>
            <a:spLocks noGrp="1"/>
          </p:cNvSpPr>
          <p:nvPr/>
        </p:nvSpPr>
        <p:spPr>
          <a:xfrm>
            <a:off x="3581400" y="3114675"/>
            <a:ext cx="285750" cy="361950"/>
          </a:xfrm>
          <a:prstGeom prst="rect">
            <a:avLst/>
          </a:prstGeom>
          <a:noFill/>
          <a:ln w="0">
            <a:noFill/>
            <a:prstDash val="solid"/>
          </a:ln>
        </p:spPr>
        <p:txBody>
          <a:bodyPr wrap="none" lIns="0" tIns="0" rIns="0" bIns="0" anchor="t"/>
          <a:lstStyle/>
          <a:p>
            <a:pPr algn="l">
              <a:lnSpc>
                <a:spcPct val="100000"/>
              </a:lnSpc>
              <a:buNone/>
              <a:defRPr sz="2400" b="1" i="0">
                <a:solidFill>
                  <a:srgbClr val="003B25"/>
                </a:solidFill>
                <a:latin typeface="Arial"/>
                <a:ea typeface="Arial"/>
                <a:cs typeface="Arial"/>
              </a:defRPr>
            </a:pPr>
            <a:r>
              <a:rPr sz="2400" b="1" i="0">
                <a:solidFill>
                  <a:srgbClr val="003B25"/>
                </a:solidFill>
                <a:latin typeface="Arial"/>
                <a:ea typeface="Arial"/>
                <a:cs typeface="Arial"/>
              </a:rPr>
              <a:t>4</a:t>
            </a:r>
          </a:p>
        </p:txBody>
      </p:sp>
      <p:sp>
        <p:nvSpPr>
          <p:cNvPr id="48" name="Rectangle 47">
            <a:extLst>
              <a:ext uri="{FF2B5EF4-FFF2-40B4-BE49-F238E27FC236}">
                <a16:creationId xmlns:a16="http://schemas.microsoft.com/office/drawing/2014/main" id="{2D752749-72B7-4308-9C2E-6221F3185F24}"/>
              </a:ext>
            </a:extLst>
          </p:cNvPr>
          <p:cNvSpPr>
            <a:spLocks noGrp="1"/>
          </p:cNvSpPr>
          <p:nvPr/>
        </p:nvSpPr>
        <p:spPr>
          <a:xfrm>
            <a:off x="3857625" y="3219450"/>
            <a:ext cx="742950" cy="219075"/>
          </a:xfrm>
          <a:prstGeom prst="rect">
            <a:avLst/>
          </a:prstGeom>
          <a:noFill/>
          <a:ln w="0">
            <a:noFill/>
            <a:prstDash val="solid"/>
          </a:ln>
        </p:spPr>
        <p:txBody>
          <a:bodyPr wrap="none" lIns="0" tIns="0" rIns="0" bIns="0" anchor="t"/>
          <a:lstStyle/>
          <a:p>
            <a:pPr algn="l">
              <a:lnSpc>
                <a:spcPct val="100000"/>
              </a:lnSpc>
              <a:buNone/>
              <a:defRPr sz="1275" b="1" i="0">
                <a:solidFill>
                  <a:srgbClr val="111111"/>
                </a:solidFill>
                <a:latin typeface="Arial"/>
                <a:ea typeface="Arial"/>
                <a:cs typeface="Arial"/>
              </a:defRPr>
            </a:pPr>
            <a:r>
              <a:rPr sz="1275" b="1" i="0">
                <a:solidFill>
                  <a:srgbClr val="111111"/>
                </a:solidFill>
                <a:latin typeface="Arial"/>
                <a:ea typeface="Arial"/>
                <a:cs typeface="Arial"/>
              </a:rPr>
              <a:t>x AMD E4</a:t>
            </a:r>
          </a:p>
        </p:txBody>
      </p:sp>
      <p:pic>
        <p:nvPicPr>
          <p:cNvPr id="177" name="Picture 176"/>
          <p:cNvPicPr>
            <a:picLocks noChangeAspect="1"/>
          </p:cNvPicPr>
          <p:nvPr/>
        </p:nvPicPr>
        <p:blipFill>
          <a:blip r:embed="rId12"/>
          <a:stretch/>
        </p:blipFill>
        <p:spPr>
          <a:xfrm>
            <a:off x="3102429" y="3838575"/>
            <a:ext cx="310243" cy="342900"/>
          </a:xfrm>
          <a:prstGeom prst="rect">
            <a:avLst/>
          </a:prstGeom>
        </p:spPr>
      </p:pic>
      <p:sp>
        <p:nvSpPr>
          <p:cNvPr id="50" name="Rectangle 49">
            <a:extLst>
              <a:ext uri="{FF2B5EF4-FFF2-40B4-BE49-F238E27FC236}">
                <a16:creationId xmlns:a16="http://schemas.microsoft.com/office/drawing/2014/main" id="{B08E00B8-C961-4DB8-8F94-7798E5E36E4B}"/>
              </a:ext>
            </a:extLst>
          </p:cNvPr>
          <p:cNvSpPr>
            <a:spLocks noGrp="1"/>
          </p:cNvSpPr>
          <p:nvPr/>
        </p:nvSpPr>
        <p:spPr>
          <a:xfrm>
            <a:off x="3581400" y="3876675"/>
            <a:ext cx="609600" cy="371475"/>
          </a:xfrm>
          <a:prstGeom prst="rect">
            <a:avLst/>
          </a:prstGeom>
          <a:noFill/>
          <a:ln w="0">
            <a:noFill/>
            <a:prstDash val="solid"/>
          </a:ln>
        </p:spPr>
        <p:txBody>
          <a:bodyPr wrap="none" lIns="0" tIns="0" rIns="0" bIns="0" anchor="t"/>
          <a:lstStyle/>
          <a:p>
            <a:pPr algn="l">
              <a:lnSpc>
                <a:spcPct val="100000"/>
              </a:lnSpc>
              <a:buNone/>
              <a:defRPr sz="2325" b="1" i="0">
                <a:solidFill>
                  <a:srgbClr val="003B25"/>
                </a:solidFill>
                <a:latin typeface="Arial"/>
                <a:ea typeface="Arial"/>
                <a:cs typeface="Arial"/>
              </a:defRPr>
            </a:pPr>
            <a:r>
              <a:rPr sz="2325" b="1" i="0">
                <a:solidFill>
                  <a:srgbClr val="003B25"/>
                </a:solidFill>
                <a:latin typeface="Arial"/>
                <a:ea typeface="Arial"/>
                <a:cs typeface="Arial"/>
              </a:rPr>
              <a:t>200</a:t>
            </a:r>
          </a:p>
        </p:txBody>
      </p:sp>
      <p:sp>
        <p:nvSpPr>
          <p:cNvPr id="51" name="Rectangle 50">
            <a:extLst>
              <a:ext uri="{FF2B5EF4-FFF2-40B4-BE49-F238E27FC236}">
                <a16:creationId xmlns:a16="http://schemas.microsoft.com/office/drawing/2014/main" id="{89559894-4175-4B25-B193-6D9AFE70F6A6}"/>
              </a:ext>
            </a:extLst>
          </p:cNvPr>
          <p:cNvSpPr>
            <a:spLocks noGrp="1"/>
          </p:cNvSpPr>
          <p:nvPr/>
        </p:nvSpPr>
        <p:spPr>
          <a:xfrm>
            <a:off x="4171950" y="4000500"/>
            <a:ext cx="333375" cy="209550"/>
          </a:xfrm>
          <a:prstGeom prst="rect">
            <a:avLst/>
          </a:prstGeom>
          <a:noFill/>
          <a:ln w="0">
            <a:noFill/>
            <a:prstDash val="solid"/>
          </a:ln>
        </p:spPr>
        <p:txBody>
          <a:bodyPr wrap="none" lIns="0" tIns="0" rIns="0" bIns="0" anchor="t"/>
          <a:lstStyle/>
          <a:p>
            <a:pPr algn="l">
              <a:lnSpc>
                <a:spcPct val="100000"/>
              </a:lnSpc>
              <a:buNone/>
              <a:defRPr sz="1200" b="1" i="0">
                <a:solidFill>
                  <a:srgbClr val="111111"/>
                </a:solidFill>
                <a:latin typeface="Arial"/>
                <a:ea typeface="Arial"/>
                <a:cs typeface="Arial"/>
              </a:defRPr>
            </a:pPr>
            <a:r>
              <a:rPr sz="1200" b="1" i="0">
                <a:solidFill>
                  <a:srgbClr val="111111"/>
                </a:solidFill>
                <a:latin typeface="Arial"/>
                <a:ea typeface="Arial"/>
                <a:cs typeface="Arial"/>
              </a:rPr>
              <a:t>TB</a:t>
            </a:r>
          </a:p>
        </p:txBody>
      </p:sp>
      <p:sp>
        <p:nvSpPr>
          <p:cNvPr id="52" name="Rounded Rectangle 51">
            <a:extLst>
              <a:ext uri="{FF2B5EF4-FFF2-40B4-BE49-F238E27FC236}">
                <a16:creationId xmlns:a16="http://schemas.microsoft.com/office/drawing/2014/main" id="{D644F21A-4920-4D9F-A1B5-31F0394B5AC0}"/>
              </a:ext>
            </a:extLst>
          </p:cNvPr>
          <p:cNvSpPr>
            <a:spLocks noGrp="1"/>
          </p:cNvSpPr>
          <p:nvPr/>
        </p:nvSpPr>
        <p:spPr>
          <a:xfrm>
            <a:off x="5086350" y="1266825"/>
            <a:ext cx="6858000" cy="3638550"/>
          </a:xfrm>
          <a:prstGeom prst="roundRect">
            <a:avLst>
              <a:gd name="adj" fmla="val 1832"/>
            </a:avLst>
          </a:prstGeom>
          <a:solidFill>
            <a:srgbClr val="FFFFFF"/>
          </a:solidFill>
          <a:ln w="9525">
            <a:solidFill>
              <a:srgbClr val="DADFDA"/>
            </a:solidFill>
            <a:prstDash val="solid"/>
          </a:ln>
        </p:spPr>
        <p:style>
          <a:lnRef idx="0">
            <a:scrgbClr r="0" g="0" b="0"/>
          </a:lnRef>
          <a:fillRef idx="0">
            <a:scrgbClr r="0" g="0" b="0"/>
          </a:fillRef>
          <a:effectRef idx="4">
            <a:scrgbClr r="0" g="0" b="0"/>
          </a:effectRef>
          <a:fontRef idx="major"/>
        </p:style>
        <p:txBody>
          <a:bodyPr/>
          <a:lstStyle/>
          <a:p>
            <a:endParaRPr lang="en-FR"/>
          </a:p>
        </p:txBody>
      </p:sp>
      <p:sp>
        <p:nvSpPr>
          <p:cNvPr id="53" name="Rounded Rectangle 52">
            <a:extLst>
              <a:ext uri="{FF2B5EF4-FFF2-40B4-BE49-F238E27FC236}">
                <a16:creationId xmlns:a16="http://schemas.microsoft.com/office/drawing/2014/main" id="{0C997474-1DF4-460F-8BF0-7A008FE3B30A}"/>
              </a:ext>
            </a:extLst>
          </p:cNvPr>
          <p:cNvSpPr>
            <a:spLocks noGrp="1"/>
          </p:cNvSpPr>
          <p:nvPr/>
        </p:nvSpPr>
        <p:spPr>
          <a:xfrm>
            <a:off x="5086350" y="1266825"/>
            <a:ext cx="6858000" cy="381000"/>
          </a:xfrm>
          <a:prstGeom prst="roundRect">
            <a:avLst>
              <a:gd name="adj" fmla="val 17500"/>
            </a:avLst>
          </a:prstGeom>
          <a:gradFill>
            <a:gsLst>
              <a:gs pos="0">
                <a:srgbClr val="A02D00"/>
              </a:gs>
              <a:gs pos="100000">
                <a:srgbClr val="B13A06"/>
              </a:gs>
            </a:gsLst>
            <a:lin ang="5400000"/>
          </a:gradFill>
          <a:ln w="0">
            <a:noFill/>
            <a:prstDash val="solid"/>
          </a:ln>
        </p:spPr>
        <p:txBody>
          <a:bodyPr/>
          <a:lstStyle/>
          <a:p>
            <a:endParaRPr lang="en-FR"/>
          </a:p>
        </p:txBody>
      </p:sp>
      <p:sp>
        <p:nvSpPr>
          <p:cNvPr id="54" name="Rectangle 53">
            <a:extLst>
              <a:ext uri="{FF2B5EF4-FFF2-40B4-BE49-F238E27FC236}">
                <a16:creationId xmlns:a16="http://schemas.microsoft.com/office/drawing/2014/main" id="{696DEA9E-E988-48BA-9993-599F32A7448B}"/>
              </a:ext>
            </a:extLst>
          </p:cNvPr>
          <p:cNvSpPr>
            <a:spLocks noGrp="1"/>
          </p:cNvSpPr>
          <p:nvPr/>
        </p:nvSpPr>
        <p:spPr>
          <a:xfrm>
            <a:off x="5086350" y="1571625"/>
            <a:ext cx="6858000" cy="76200"/>
          </a:xfrm>
          <a:prstGeom prst="rect">
            <a:avLst/>
          </a:prstGeom>
          <a:gradFill>
            <a:gsLst>
              <a:gs pos="0">
                <a:srgbClr val="A02D00"/>
              </a:gs>
              <a:gs pos="100000">
                <a:srgbClr val="B13A06"/>
              </a:gs>
            </a:gsLst>
            <a:lin ang="5400000"/>
          </a:gradFill>
          <a:ln w="0">
            <a:noFill/>
            <a:prstDash val="solid"/>
          </a:ln>
        </p:spPr>
        <p:txBody>
          <a:bodyPr/>
          <a:lstStyle/>
          <a:p>
            <a:endParaRPr lang="en-FR"/>
          </a:p>
        </p:txBody>
      </p:sp>
      <p:sp>
        <p:nvSpPr>
          <p:cNvPr id="55" name="Oval 54">
            <a:extLst>
              <a:ext uri="{FF2B5EF4-FFF2-40B4-BE49-F238E27FC236}">
                <a16:creationId xmlns:a16="http://schemas.microsoft.com/office/drawing/2014/main" id="{74AF5286-CDB5-4473-BF3C-D19AE3E6C2AA}"/>
              </a:ext>
            </a:extLst>
          </p:cNvPr>
          <p:cNvSpPr>
            <a:spLocks noGrp="1"/>
          </p:cNvSpPr>
          <p:nvPr/>
        </p:nvSpPr>
        <p:spPr>
          <a:xfrm>
            <a:off x="5248275" y="1343025"/>
            <a:ext cx="238125" cy="238125"/>
          </a:xfrm>
          <a:prstGeom prst="ellipse">
            <a:avLst/>
          </a:prstGeom>
          <a:solidFill>
            <a:srgbClr val="FFFFFF"/>
          </a:solidFill>
          <a:ln w="0">
            <a:noFill/>
            <a:prstDash val="solid"/>
          </a:ln>
        </p:spPr>
        <p:txBody>
          <a:bodyPr/>
          <a:lstStyle/>
          <a:p>
            <a:endParaRPr lang="en-FR"/>
          </a:p>
        </p:txBody>
      </p:sp>
      <p:sp>
        <p:nvSpPr>
          <p:cNvPr id="56" name="Rectangle 55">
            <a:extLst>
              <a:ext uri="{FF2B5EF4-FFF2-40B4-BE49-F238E27FC236}">
                <a16:creationId xmlns:a16="http://schemas.microsoft.com/office/drawing/2014/main" id="{6DE92BEA-1F17-4E47-AEED-6432F8DF4EB1}"/>
              </a:ext>
            </a:extLst>
          </p:cNvPr>
          <p:cNvSpPr>
            <a:spLocks noGrp="1"/>
          </p:cNvSpPr>
          <p:nvPr/>
        </p:nvSpPr>
        <p:spPr>
          <a:xfrm>
            <a:off x="5305425" y="1371600"/>
            <a:ext cx="123825" cy="161925"/>
          </a:xfrm>
          <a:prstGeom prst="rect">
            <a:avLst/>
          </a:prstGeom>
          <a:noFill/>
          <a:ln w="0">
            <a:noFill/>
            <a:prstDash val="solid"/>
          </a:ln>
        </p:spPr>
        <p:txBody>
          <a:bodyPr wrap="none" lIns="0" tIns="0" rIns="0" bIns="0" anchor="t"/>
          <a:lstStyle/>
          <a:p>
            <a:pPr algn="ctr">
              <a:lnSpc>
                <a:spcPct val="100000"/>
              </a:lnSpc>
              <a:buNone/>
              <a:defRPr sz="1050" b="1" i="0">
                <a:solidFill>
                  <a:srgbClr val="E5430A"/>
                </a:solidFill>
                <a:latin typeface="Arial"/>
                <a:ea typeface="Arial"/>
                <a:cs typeface="Arial"/>
              </a:defRPr>
            </a:pPr>
            <a:r>
              <a:rPr sz="1050" b="1" i="0">
                <a:solidFill>
                  <a:srgbClr val="E5430A"/>
                </a:solidFill>
                <a:latin typeface="Arial"/>
                <a:ea typeface="Arial"/>
                <a:cs typeface="Arial"/>
              </a:rPr>
              <a:t>2</a:t>
            </a:r>
          </a:p>
        </p:txBody>
      </p:sp>
      <p:sp>
        <p:nvSpPr>
          <p:cNvPr id="57" name="Rectangle 56">
            <a:extLst>
              <a:ext uri="{FF2B5EF4-FFF2-40B4-BE49-F238E27FC236}">
                <a16:creationId xmlns:a16="http://schemas.microsoft.com/office/drawing/2014/main" id="{3E814451-93A6-48E5-ABEA-3C84883478AF}"/>
              </a:ext>
            </a:extLst>
          </p:cNvPr>
          <p:cNvSpPr>
            <a:spLocks noGrp="1"/>
          </p:cNvSpPr>
          <p:nvPr/>
        </p:nvSpPr>
        <p:spPr>
          <a:xfrm>
            <a:off x="5619750" y="1390650"/>
            <a:ext cx="6019800" cy="209550"/>
          </a:xfrm>
          <a:prstGeom prst="rect">
            <a:avLst/>
          </a:prstGeom>
          <a:noFill/>
          <a:ln w="0">
            <a:noFill/>
            <a:prstDash val="solid"/>
          </a:ln>
        </p:spPr>
        <p:txBody>
          <a:bodyPr wrap="none" lIns="0" tIns="0" rIns="0" bIns="0" anchor="t"/>
          <a:lstStyle/>
          <a:p>
            <a:pPr algn="l">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OCI COMPUTE</a:t>
            </a:r>
          </a:p>
        </p:txBody>
      </p:sp>
      <p:sp>
        <p:nvSpPr>
          <p:cNvPr id="58" name="Rounded Rectangle 57">
            <a:extLst>
              <a:ext uri="{FF2B5EF4-FFF2-40B4-BE49-F238E27FC236}">
                <a16:creationId xmlns:a16="http://schemas.microsoft.com/office/drawing/2014/main" id="{5FF01164-FED5-4456-B43B-3F9E13A8E2DE}"/>
              </a:ext>
            </a:extLst>
          </p:cNvPr>
          <p:cNvSpPr>
            <a:spLocks noGrp="1"/>
          </p:cNvSpPr>
          <p:nvPr/>
        </p:nvSpPr>
        <p:spPr>
          <a:xfrm>
            <a:off x="5143500" y="2076450"/>
            <a:ext cx="2762250" cy="2590800"/>
          </a:xfrm>
          <a:prstGeom prst="roundRect">
            <a:avLst>
              <a:gd name="adj" fmla="val 2206"/>
            </a:avLst>
          </a:prstGeom>
          <a:solidFill>
            <a:srgbClr val="FFFFFF"/>
          </a:solidFill>
          <a:ln w="9525">
            <a:solidFill>
              <a:srgbClr val="EAECEA"/>
            </a:solidFill>
            <a:prstDash val="solid"/>
          </a:ln>
        </p:spPr>
        <p:style>
          <a:lnRef idx="0">
            <a:scrgbClr r="0" g="0" b="0"/>
          </a:lnRef>
          <a:fillRef idx="0">
            <a:scrgbClr r="0" g="0" b="0"/>
          </a:fillRef>
          <a:effectRef idx="4">
            <a:scrgbClr r="0" g="0" b="0"/>
          </a:effectRef>
          <a:fontRef idx="major"/>
        </p:style>
        <p:txBody>
          <a:bodyPr/>
          <a:lstStyle/>
          <a:p>
            <a:endParaRPr lang="en-FR"/>
          </a:p>
        </p:txBody>
      </p:sp>
      <p:pic>
        <p:nvPicPr>
          <p:cNvPr id="187" name="Picture 186"/>
          <p:cNvPicPr>
            <a:picLocks noChangeAspect="1"/>
          </p:cNvPicPr>
          <p:nvPr/>
        </p:nvPicPr>
        <p:blipFill>
          <a:blip r:embed="rId13"/>
          <a:stretch/>
        </p:blipFill>
        <p:spPr>
          <a:xfrm>
            <a:off x="5279448" y="1895475"/>
            <a:ext cx="242455" cy="266700"/>
          </a:xfrm>
          <a:prstGeom prst="rect">
            <a:avLst/>
          </a:prstGeom>
        </p:spPr>
      </p:pic>
      <p:sp>
        <p:nvSpPr>
          <p:cNvPr id="60" name="Rectangle 59">
            <a:extLst>
              <a:ext uri="{FF2B5EF4-FFF2-40B4-BE49-F238E27FC236}">
                <a16:creationId xmlns:a16="http://schemas.microsoft.com/office/drawing/2014/main" id="{DBEB7FE6-B4C5-4DA3-AEF0-C7FC0E2B0937}"/>
              </a:ext>
            </a:extLst>
          </p:cNvPr>
          <p:cNvSpPr>
            <a:spLocks noGrp="1"/>
          </p:cNvSpPr>
          <p:nvPr/>
        </p:nvSpPr>
        <p:spPr>
          <a:xfrm>
            <a:off x="5629275" y="1971675"/>
            <a:ext cx="1809750" cy="209550"/>
          </a:xfrm>
          <a:prstGeom prst="rect">
            <a:avLst/>
          </a:prstGeom>
          <a:noFill/>
          <a:ln w="0">
            <a:noFill/>
            <a:prstDash val="solid"/>
          </a:ln>
        </p:spPr>
        <p:txBody>
          <a:bodyPr wrap="none" lIns="0" tIns="0" rIns="0" bIns="0" anchor="t"/>
          <a:lstStyle/>
          <a:p>
            <a:pPr algn="l">
              <a:lnSpc>
                <a:spcPct val="100000"/>
              </a:lnSpc>
              <a:buNone/>
              <a:defRPr sz="1050" b="1" i="0">
                <a:solidFill>
                  <a:srgbClr val="E5430A"/>
                </a:solidFill>
                <a:latin typeface="Arial"/>
                <a:ea typeface="Arial"/>
                <a:cs typeface="Arial"/>
              </a:defRPr>
            </a:pPr>
            <a:r>
              <a:rPr sz="1050" b="1" i="0">
                <a:solidFill>
                  <a:srgbClr val="E5430A"/>
                </a:solidFill>
                <a:latin typeface="Arial"/>
                <a:ea typeface="Arial"/>
                <a:cs typeface="Arial"/>
              </a:rPr>
              <a:t>Compute Mix (by Shape)</a:t>
            </a:r>
          </a:p>
        </p:txBody>
      </p:sp>
      <p:sp>
        <p:nvSpPr>
          <p:cNvPr id="61" name="Rectangle 60">
            <a:extLst>
              <a:ext uri="{FF2B5EF4-FFF2-40B4-BE49-F238E27FC236}">
                <a16:creationId xmlns:a16="http://schemas.microsoft.com/office/drawing/2014/main" id="{1CCCE576-D07F-4F28-85A8-A33E41C52407}"/>
              </a:ext>
            </a:extLst>
          </p:cNvPr>
          <p:cNvSpPr>
            <a:spLocks noGrp="1"/>
          </p:cNvSpPr>
          <p:nvPr/>
        </p:nvSpPr>
        <p:spPr>
          <a:xfrm>
            <a:off x="5257800" y="2476500"/>
            <a:ext cx="1123950" cy="190500"/>
          </a:xfrm>
          <a:prstGeom prst="rect">
            <a:avLst/>
          </a:prstGeom>
          <a:noFill/>
          <a:ln w="0">
            <a:noFill/>
            <a:prstDash val="solid"/>
          </a:ln>
        </p:spPr>
        <p:txBody>
          <a:bodyPr wrap="square" lIns="0" tIns="0" rIns="0" bIns="0" anchor="t"/>
          <a:lstStyle/>
          <a:p>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Compute Shape</a:t>
            </a:r>
          </a:p>
        </p:txBody>
      </p:sp>
      <p:sp>
        <p:nvSpPr>
          <p:cNvPr id="62" name="Rectangle 61">
            <a:extLst>
              <a:ext uri="{FF2B5EF4-FFF2-40B4-BE49-F238E27FC236}">
                <a16:creationId xmlns:a16="http://schemas.microsoft.com/office/drawing/2014/main" id="{E6CB4E4C-6DD5-44D7-A895-77CDC75CF42E}"/>
              </a:ext>
            </a:extLst>
          </p:cNvPr>
          <p:cNvSpPr>
            <a:spLocks noGrp="1"/>
          </p:cNvSpPr>
          <p:nvPr/>
        </p:nvSpPr>
        <p:spPr>
          <a:xfrm>
            <a:off x="6572250" y="2476500"/>
            <a:ext cx="361950" cy="1905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VMs</a:t>
            </a:r>
          </a:p>
        </p:txBody>
      </p:sp>
      <p:sp>
        <p:nvSpPr>
          <p:cNvPr id="63" name="Rectangle 62">
            <a:extLst>
              <a:ext uri="{FF2B5EF4-FFF2-40B4-BE49-F238E27FC236}">
                <a16:creationId xmlns:a16="http://schemas.microsoft.com/office/drawing/2014/main" id="{7B3D3916-5537-4E10-AEC7-D7E1D47D5235}"/>
              </a:ext>
            </a:extLst>
          </p:cNvPr>
          <p:cNvSpPr>
            <a:spLocks noGrp="1"/>
          </p:cNvSpPr>
          <p:nvPr/>
        </p:nvSpPr>
        <p:spPr>
          <a:xfrm>
            <a:off x="7000875" y="2476500"/>
            <a:ext cx="400050" cy="1905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OCPU</a:t>
            </a:r>
          </a:p>
        </p:txBody>
      </p:sp>
      <p:sp>
        <p:nvSpPr>
          <p:cNvPr id="64" name="Rectangle 63">
            <a:extLst>
              <a:ext uri="{FF2B5EF4-FFF2-40B4-BE49-F238E27FC236}">
                <a16:creationId xmlns:a16="http://schemas.microsoft.com/office/drawing/2014/main" id="{E6759F27-75F5-4FE8-BFFB-331FEFF14815}"/>
              </a:ext>
            </a:extLst>
          </p:cNvPr>
          <p:cNvSpPr>
            <a:spLocks noGrp="1"/>
          </p:cNvSpPr>
          <p:nvPr/>
        </p:nvSpPr>
        <p:spPr>
          <a:xfrm>
            <a:off x="7429500" y="2476500"/>
            <a:ext cx="419100" cy="1905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RAM</a:t>
            </a:r>
          </a:p>
        </p:txBody>
      </p:sp>
      <p:sp>
        <p:nvSpPr>
          <p:cNvPr id="65" name="Straight Connector 64">
            <a:extLst>
              <a:ext uri="{FF2B5EF4-FFF2-40B4-BE49-F238E27FC236}">
                <a16:creationId xmlns:a16="http://schemas.microsoft.com/office/drawing/2014/main" id="{3838E4EC-B6EC-4304-8775-C12B43ACFF71}"/>
              </a:ext>
            </a:extLst>
          </p:cNvPr>
          <p:cNvSpPr>
            <a:spLocks noGrp="1"/>
          </p:cNvSpPr>
          <p:nvPr/>
        </p:nvSpPr>
        <p:spPr>
          <a:xfrm>
            <a:off x="5238750" y="2743200"/>
            <a:ext cx="2571750" cy="0"/>
          </a:xfrm>
          <a:prstGeom prst="line">
            <a:avLst/>
          </a:prstGeom>
          <a:noFill/>
          <a:ln w="9525">
            <a:solidFill>
              <a:srgbClr val="D9DCD9"/>
            </a:solidFill>
            <a:prstDash val="solid"/>
          </a:ln>
        </p:spPr>
        <p:txBody>
          <a:bodyPr/>
          <a:lstStyle/>
          <a:p>
            <a:endParaRPr lang="en-FR"/>
          </a:p>
        </p:txBody>
      </p:sp>
      <p:sp>
        <p:nvSpPr>
          <p:cNvPr id="66" name="Straight Connector 65">
            <a:extLst>
              <a:ext uri="{FF2B5EF4-FFF2-40B4-BE49-F238E27FC236}">
                <a16:creationId xmlns:a16="http://schemas.microsoft.com/office/drawing/2014/main" id="{25F80F50-3B5C-4B5C-8FC6-337C4F742160}"/>
              </a:ext>
            </a:extLst>
          </p:cNvPr>
          <p:cNvSpPr>
            <a:spLocks noGrp="1"/>
          </p:cNvSpPr>
          <p:nvPr/>
        </p:nvSpPr>
        <p:spPr>
          <a:xfrm>
            <a:off x="5238750" y="3228975"/>
            <a:ext cx="2571750" cy="0"/>
          </a:xfrm>
          <a:prstGeom prst="line">
            <a:avLst/>
          </a:prstGeom>
          <a:noFill/>
          <a:ln w="9525">
            <a:solidFill>
              <a:srgbClr val="D9DCD9"/>
            </a:solidFill>
            <a:prstDash val="solid"/>
          </a:ln>
        </p:spPr>
        <p:txBody>
          <a:bodyPr/>
          <a:lstStyle/>
          <a:p>
            <a:endParaRPr lang="en-FR"/>
          </a:p>
        </p:txBody>
      </p:sp>
      <p:sp>
        <p:nvSpPr>
          <p:cNvPr id="67" name="Straight Connector 66">
            <a:extLst>
              <a:ext uri="{FF2B5EF4-FFF2-40B4-BE49-F238E27FC236}">
                <a16:creationId xmlns:a16="http://schemas.microsoft.com/office/drawing/2014/main" id="{0BB0F498-31CD-4C5C-9878-AC29D650265E}"/>
              </a:ext>
            </a:extLst>
          </p:cNvPr>
          <p:cNvSpPr>
            <a:spLocks noGrp="1"/>
          </p:cNvSpPr>
          <p:nvPr/>
        </p:nvSpPr>
        <p:spPr>
          <a:xfrm>
            <a:off x="5238750" y="3724275"/>
            <a:ext cx="2571750" cy="0"/>
          </a:xfrm>
          <a:prstGeom prst="line">
            <a:avLst/>
          </a:prstGeom>
          <a:noFill/>
          <a:ln w="9525">
            <a:solidFill>
              <a:srgbClr val="D9DCD9"/>
            </a:solidFill>
            <a:prstDash val="solid"/>
          </a:ln>
        </p:spPr>
        <p:txBody>
          <a:bodyPr/>
          <a:lstStyle/>
          <a:p>
            <a:endParaRPr lang="en-FR"/>
          </a:p>
        </p:txBody>
      </p:sp>
      <p:sp>
        <p:nvSpPr>
          <p:cNvPr id="68" name="Straight Connector 67">
            <a:extLst>
              <a:ext uri="{FF2B5EF4-FFF2-40B4-BE49-F238E27FC236}">
                <a16:creationId xmlns:a16="http://schemas.microsoft.com/office/drawing/2014/main" id="{20C5CAFF-42CE-4024-AF7C-6D4CA9EC54E5}"/>
              </a:ext>
            </a:extLst>
          </p:cNvPr>
          <p:cNvSpPr>
            <a:spLocks noGrp="1"/>
          </p:cNvSpPr>
          <p:nvPr/>
        </p:nvSpPr>
        <p:spPr>
          <a:xfrm>
            <a:off x="5238750" y="4210050"/>
            <a:ext cx="2571750" cy="0"/>
          </a:xfrm>
          <a:prstGeom prst="line">
            <a:avLst/>
          </a:prstGeom>
          <a:noFill/>
          <a:ln w="9525">
            <a:solidFill>
              <a:srgbClr val="D9DCD9"/>
            </a:solidFill>
            <a:prstDash val="solid"/>
          </a:ln>
        </p:spPr>
        <p:txBody>
          <a:bodyPr/>
          <a:lstStyle/>
          <a:p>
            <a:endParaRPr lang="en-FR"/>
          </a:p>
        </p:txBody>
      </p:sp>
      <p:sp>
        <p:nvSpPr>
          <p:cNvPr id="69" name="Rectangle 68">
            <a:extLst>
              <a:ext uri="{FF2B5EF4-FFF2-40B4-BE49-F238E27FC236}">
                <a16:creationId xmlns:a16="http://schemas.microsoft.com/office/drawing/2014/main" id="{9803761B-9BD8-4445-B776-EC460DCD1ABC}"/>
              </a:ext>
            </a:extLst>
          </p:cNvPr>
          <p:cNvSpPr>
            <a:spLocks noGrp="1"/>
          </p:cNvSpPr>
          <p:nvPr/>
        </p:nvSpPr>
        <p:spPr>
          <a:xfrm>
            <a:off x="5257800" y="2952750"/>
            <a:ext cx="1238250" cy="228600"/>
          </a:xfrm>
          <a:prstGeom prst="rect">
            <a:avLst/>
          </a:prstGeom>
          <a:noFill/>
          <a:ln w="0">
            <a:noFill/>
            <a:prstDash val="solid"/>
          </a:ln>
        </p:spPr>
        <p:txBody>
          <a:bodyPr wrap="none" lIns="0" tIns="0" rIns="0" bIns="0" anchor="t"/>
          <a:lstStyle/>
          <a:p>
            <a:pPr algn="l">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VM.Standard.E5.Flex</a:t>
            </a:r>
          </a:p>
        </p:txBody>
      </p:sp>
      <p:sp>
        <p:nvSpPr>
          <p:cNvPr id="70" name="Rectangle 69">
            <a:extLst>
              <a:ext uri="{FF2B5EF4-FFF2-40B4-BE49-F238E27FC236}">
                <a16:creationId xmlns:a16="http://schemas.microsoft.com/office/drawing/2014/main" id="{3AFB897A-6A66-4C93-B2BD-69832F2FC989}"/>
              </a:ext>
            </a:extLst>
          </p:cNvPr>
          <p:cNvSpPr>
            <a:spLocks noGrp="1"/>
          </p:cNvSpPr>
          <p:nvPr/>
        </p:nvSpPr>
        <p:spPr>
          <a:xfrm>
            <a:off x="6572250" y="2952750"/>
            <a:ext cx="361950" cy="228600"/>
          </a:xfrm>
          <a:prstGeom prst="rect">
            <a:avLst/>
          </a:prstGeom>
          <a:noFill/>
          <a:ln w="0">
            <a:noFill/>
            <a:prstDash val="solid"/>
          </a:ln>
        </p:spPr>
        <p:txBody>
          <a:bodyPr wrap="squar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32</a:t>
            </a:r>
          </a:p>
        </p:txBody>
      </p:sp>
      <p:sp>
        <p:nvSpPr>
          <p:cNvPr id="71" name="Rectangle 70">
            <a:extLst>
              <a:ext uri="{FF2B5EF4-FFF2-40B4-BE49-F238E27FC236}">
                <a16:creationId xmlns:a16="http://schemas.microsoft.com/office/drawing/2014/main" id="{9AE49294-204D-4E6A-A9DD-7817CD6761F9}"/>
              </a:ext>
            </a:extLst>
          </p:cNvPr>
          <p:cNvSpPr>
            <a:spLocks noGrp="1"/>
          </p:cNvSpPr>
          <p:nvPr/>
        </p:nvSpPr>
        <p:spPr>
          <a:xfrm>
            <a:off x="7000875" y="2952750"/>
            <a:ext cx="400050" cy="228600"/>
          </a:xfrm>
          <a:prstGeom prst="rect">
            <a:avLst/>
          </a:prstGeom>
          <a:noFill/>
          <a:ln w="0">
            <a:noFill/>
            <a:prstDash val="solid"/>
          </a:ln>
        </p:spPr>
        <p:txBody>
          <a:bodyPr wrap="squar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128</a:t>
            </a:r>
          </a:p>
        </p:txBody>
      </p:sp>
      <p:sp>
        <p:nvSpPr>
          <p:cNvPr id="72" name="Rectangle 71">
            <a:extLst>
              <a:ext uri="{FF2B5EF4-FFF2-40B4-BE49-F238E27FC236}">
                <a16:creationId xmlns:a16="http://schemas.microsoft.com/office/drawing/2014/main" id="{145695A3-AF09-4C91-B1EE-E1AC33A98B07}"/>
              </a:ext>
            </a:extLst>
          </p:cNvPr>
          <p:cNvSpPr>
            <a:spLocks noGrp="1"/>
          </p:cNvSpPr>
          <p:nvPr/>
        </p:nvSpPr>
        <p:spPr>
          <a:xfrm>
            <a:off x="7429500" y="2952750"/>
            <a:ext cx="419100" cy="228600"/>
          </a:xfrm>
          <a:prstGeom prst="rect">
            <a:avLst/>
          </a:prstGeom>
          <a:noFill/>
          <a:ln w="0">
            <a:noFill/>
            <a:prstDash val="solid"/>
          </a:ln>
        </p:spPr>
        <p:txBody>
          <a:bodyPr wrap="non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512 GB</a:t>
            </a:r>
          </a:p>
        </p:txBody>
      </p:sp>
      <p:sp>
        <p:nvSpPr>
          <p:cNvPr id="73" name="Rectangle 72">
            <a:extLst>
              <a:ext uri="{FF2B5EF4-FFF2-40B4-BE49-F238E27FC236}">
                <a16:creationId xmlns:a16="http://schemas.microsoft.com/office/drawing/2014/main" id="{3057996B-8CB8-4B54-A528-F56135DF9E4A}"/>
              </a:ext>
            </a:extLst>
          </p:cNvPr>
          <p:cNvSpPr>
            <a:spLocks noGrp="1"/>
          </p:cNvSpPr>
          <p:nvPr/>
        </p:nvSpPr>
        <p:spPr>
          <a:xfrm>
            <a:off x="5257800" y="3448050"/>
            <a:ext cx="1238250" cy="228600"/>
          </a:xfrm>
          <a:prstGeom prst="rect">
            <a:avLst/>
          </a:prstGeom>
          <a:noFill/>
          <a:ln w="0">
            <a:noFill/>
            <a:prstDash val="solid"/>
          </a:ln>
        </p:spPr>
        <p:txBody>
          <a:bodyPr wrap="none" lIns="0" tIns="0" rIns="0" bIns="0" anchor="t"/>
          <a:lstStyle/>
          <a:p>
            <a:pPr algn="l">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VM.Standard.E6.Flex</a:t>
            </a:r>
          </a:p>
        </p:txBody>
      </p:sp>
      <p:sp>
        <p:nvSpPr>
          <p:cNvPr id="74" name="Rectangle 73">
            <a:extLst>
              <a:ext uri="{FF2B5EF4-FFF2-40B4-BE49-F238E27FC236}">
                <a16:creationId xmlns:a16="http://schemas.microsoft.com/office/drawing/2014/main" id="{3A488583-839A-4E85-8825-D065C1BC9E7E}"/>
              </a:ext>
            </a:extLst>
          </p:cNvPr>
          <p:cNvSpPr>
            <a:spLocks noGrp="1"/>
          </p:cNvSpPr>
          <p:nvPr/>
        </p:nvSpPr>
        <p:spPr>
          <a:xfrm>
            <a:off x="6572250" y="3448050"/>
            <a:ext cx="361950" cy="228600"/>
          </a:xfrm>
          <a:prstGeom prst="rect">
            <a:avLst/>
          </a:prstGeom>
          <a:noFill/>
          <a:ln w="0">
            <a:noFill/>
            <a:prstDash val="solid"/>
          </a:ln>
        </p:spPr>
        <p:txBody>
          <a:bodyPr wrap="squar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24</a:t>
            </a:r>
          </a:p>
        </p:txBody>
      </p:sp>
      <p:sp>
        <p:nvSpPr>
          <p:cNvPr id="75" name="Rectangle 74">
            <a:extLst>
              <a:ext uri="{FF2B5EF4-FFF2-40B4-BE49-F238E27FC236}">
                <a16:creationId xmlns:a16="http://schemas.microsoft.com/office/drawing/2014/main" id="{9E7C63A7-253C-4398-AFDB-640B0EB85CD9}"/>
              </a:ext>
            </a:extLst>
          </p:cNvPr>
          <p:cNvSpPr>
            <a:spLocks noGrp="1"/>
          </p:cNvSpPr>
          <p:nvPr/>
        </p:nvSpPr>
        <p:spPr>
          <a:xfrm>
            <a:off x="7000875" y="3448050"/>
            <a:ext cx="400050" cy="228600"/>
          </a:xfrm>
          <a:prstGeom prst="rect">
            <a:avLst/>
          </a:prstGeom>
          <a:noFill/>
          <a:ln w="0">
            <a:noFill/>
            <a:prstDash val="solid"/>
          </a:ln>
        </p:spPr>
        <p:txBody>
          <a:bodyPr wrap="squar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96</a:t>
            </a:r>
          </a:p>
        </p:txBody>
      </p:sp>
      <p:sp>
        <p:nvSpPr>
          <p:cNvPr id="76" name="Rectangle 75">
            <a:extLst>
              <a:ext uri="{FF2B5EF4-FFF2-40B4-BE49-F238E27FC236}">
                <a16:creationId xmlns:a16="http://schemas.microsoft.com/office/drawing/2014/main" id="{FEB50766-AC2F-4AEA-BA42-AC95B400FFFD}"/>
              </a:ext>
            </a:extLst>
          </p:cNvPr>
          <p:cNvSpPr>
            <a:spLocks noGrp="1"/>
          </p:cNvSpPr>
          <p:nvPr/>
        </p:nvSpPr>
        <p:spPr>
          <a:xfrm>
            <a:off x="7429500" y="3448050"/>
            <a:ext cx="419100" cy="228600"/>
          </a:xfrm>
          <a:prstGeom prst="rect">
            <a:avLst/>
          </a:prstGeom>
          <a:noFill/>
          <a:ln w="0">
            <a:noFill/>
            <a:prstDash val="solid"/>
          </a:ln>
        </p:spPr>
        <p:txBody>
          <a:bodyPr wrap="non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384 GB</a:t>
            </a:r>
          </a:p>
        </p:txBody>
      </p:sp>
      <p:sp>
        <p:nvSpPr>
          <p:cNvPr id="77" name="Rectangle 76">
            <a:extLst>
              <a:ext uri="{FF2B5EF4-FFF2-40B4-BE49-F238E27FC236}">
                <a16:creationId xmlns:a16="http://schemas.microsoft.com/office/drawing/2014/main" id="{F23B112C-727A-4A85-8C2A-AC3FB13A0BA8}"/>
              </a:ext>
            </a:extLst>
          </p:cNvPr>
          <p:cNvSpPr>
            <a:spLocks noGrp="1"/>
          </p:cNvSpPr>
          <p:nvPr/>
        </p:nvSpPr>
        <p:spPr>
          <a:xfrm>
            <a:off x="5257800" y="3943350"/>
            <a:ext cx="1238250" cy="228600"/>
          </a:xfrm>
          <a:prstGeom prst="rect">
            <a:avLst/>
          </a:prstGeom>
          <a:noFill/>
          <a:ln w="0">
            <a:noFill/>
            <a:prstDash val="solid"/>
          </a:ln>
        </p:spPr>
        <p:txBody>
          <a:bodyPr wrap="none" lIns="0" tIns="0" rIns="0" bIns="0" anchor="t"/>
          <a:lstStyle/>
          <a:p>
            <a:pPr algn="l">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BM.DenseIO.E5</a:t>
            </a:r>
          </a:p>
        </p:txBody>
      </p:sp>
      <p:sp>
        <p:nvSpPr>
          <p:cNvPr id="78" name="Rectangle 77">
            <a:extLst>
              <a:ext uri="{FF2B5EF4-FFF2-40B4-BE49-F238E27FC236}">
                <a16:creationId xmlns:a16="http://schemas.microsoft.com/office/drawing/2014/main" id="{15335A08-C111-4040-8456-C5F10660EDD2}"/>
              </a:ext>
            </a:extLst>
          </p:cNvPr>
          <p:cNvSpPr>
            <a:spLocks noGrp="1"/>
          </p:cNvSpPr>
          <p:nvPr/>
        </p:nvSpPr>
        <p:spPr>
          <a:xfrm>
            <a:off x="6572250" y="3943350"/>
            <a:ext cx="361950" cy="228600"/>
          </a:xfrm>
          <a:prstGeom prst="rect">
            <a:avLst/>
          </a:prstGeom>
          <a:noFill/>
          <a:ln w="0">
            <a:noFill/>
            <a:prstDash val="solid"/>
          </a:ln>
        </p:spPr>
        <p:txBody>
          <a:bodyPr wrap="squar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14</a:t>
            </a:r>
          </a:p>
        </p:txBody>
      </p:sp>
      <p:sp>
        <p:nvSpPr>
          <p:cNvPr id="79" name="Rectangle 78">
            <a:extLst>
              <a:ext uri="{FF2B5EF4-FFF2-40B4-BE49-F238E27FC236}">
                <a16:creationId xmlns:a16="http://schemas.microsoft.com/office/drawing/2014/main" id="{CA25CCC6-A307-4477-BD08-70EE693F3206}"/>
              </a:ext>
            </a:extLst>
          </p:cNvPr>
          <p:cNvSpPr>
            <a:spLocks noGrp="1"/>
          </p:cNvSpPr>
          <p:nvPr/>
        </p:nvSpPr>
        <p:spPr>
          <a:xfrm>
            <a:off x="7000875" y="3943350"/>
            <a:ext cx="400050" cy="228600"/>
          </a:xfrm>
          <a:prstGeom prst="rect">
            <a:avLst/>
          </a:prstGeom>
          <a:noFill/>
          <a:ln w="0">
            <a:noFill/>
            <a:prstDash val="solid"/>
          </a:ln>
        </p:spPr>
        <p:txBody>
          <a:bodyPr wrap="squar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56</a:t>
            </a:r>
          </a:p>
        </p:txBody>
      </p:sp>
      <p:sp>
        <p:nvSpPr>
          <p:cNvPr id="80" name="Rectangle 79">
            <a:extLst>
              <a:ext uri="{FF2B5EF4-FFF2-40B4-BE49-F238E27FC236}">
                <a16:creationId xmlns:a16="http://schemas.microsoft.com/office/drawing/2014/main" id="{05203F4D-0B89-4BEF-9D71-8D5166313635}"/>
              </a:ext>
            </a:extLst>
          </p:cNvPr>
          <p:cNvSpPr>
            <a:spLocks noGrp="1"/>
          </p:cNvSpPr>
          <p:nvPr/>
        </p:nvSpPr>
        <p:spPr>
          <a:xfrm>
            <a:off x="7429500" y="3943350"/>
            <a:ext cx="419100" cy="228600"/>
          </a:xfrm>
          <a:prstGeom prst="rect">
            <a:avLst/>
          </a:prstGeom>
          <a:noFill/>
          <a:ln w="0">
            <a:noFill/>
            <a:prstDash val="solid"/>
          </a:ln>
        </p:spPr>
        <p:txBody>
          <a:bodyPr wrap="none" lIns="0" tIns="0" rIns="0" bIns="0" anchor="t"/>
          <a:lstStyle/>
          <a:p>
            <a:pPr algn="ctr">
              <a:lnSpc>
                <a:spcPct val="105000"/>
              </a:lnSpc>
              <a:buNone/>
              <a:defRPr sz="825" b="1" i="0">
                <a:solidFill>
                  <a:srgbClr val="111111"/>
                </a:solidFill>
                <a:latin typeface="Arial"/>
                <a:ea typeface="Arial"/>
                <a:cs typeface="Arial"/>
              </a:defRPr>
            </a:pPr>
            <a:r>
              <a:rPr sz="825" b="1" i="0">
                <a:solidFill>
                  <a:srgbClr val="111111"/>
                </a:solidFill>
                <a:latin typeface="Arial"/>
                <a:ea typeface="Arial"/>
                <a:cs typeface="Arial"/>
              </a:rPr>
              <a:t>224 GB</a:t>
            </a:r>
          </a:p>
        </p:txBody>
      </p:sp>
      <p:sp>
        <p:nvSpPr>
          <p:cNvPr id="81" name="Rectangle 80">
            <a:extLst>
              <a:ext uri="{FF2B5EF4-FFF2-40B4-BE49-F238E27FC236}">
                <a16:creationId xmlns:a16="http://schemas.microsoft.com/office/drawing/2014/main" id="{5083A207-E5ED-47FB-B8C8-778F16AD8FB8}"/>
              </a:ext>
            </a:extLst>
          </p:cNvPr>
          <p:cNvSpPr>
            <a:spLocks noGrp="1"/>
          </p:cNvSpPr>
          <p:nvPr/>
        </p:nvSpPr>
        <p:spPr>
          <a:xfrm>
            <a:off x="5143500" y="4276725"/>
            <a:ext cx="2762250" cy="390525"/>
          </a:xfrm>
          <a:prstGeom prst="rect">
            <a:avLst/>
          </a:prstGeom>
          <a:solidFill>
            <a:srgbClr val="FFF0E9"/>
          </a:solidFill>
          <a:ln w="0">
            <a:noFill/>
            <a:prstDash val="solid"/>
          </a:ln>
        </p:spPr>
        <p:txBody>
          <a:bodyPr/>
          <a:lstStyle/>
          <a:p>
            <a:endParaRPr lang="en-FR"/>
          </a:p>
        </p:txBody>
      </p:sp>
      <p:sp>
        <p:nvSpPr>
          <p:cNvPr id="82" name="Rectangle 81">
            <a:extLst>
              <a:ext uri="{FF2B5EF4-FFF2-40B4-BE49-F238E27FC236}">
                <a16:creationId xmlns:a16="http://schemas.microsoft.com/office/drawing/2014/main" id="{273316F4-07C2-4DE9-8EC5-4DF6FFA5A170}"/>
              </a:ext>
            </a:extLst>
          </p:cNvPr>
          <p:cNvSpPr>
            <a:spLocks noGrp="1"/>
          </p:cNvSpPr>
          <p:nvPr/>
        </p:nvSpPr>
        <p:spPr>
          <a:xfrm>
            <a:off x="5257800" y="4429125"/>
            <a:ext cx="704850" cy="209550"/>
          </a:xfrm>
          <a:prstGeom prst="rect">
            <a:avLst/>
          </a:prstGeom>
          <a:noFill/>
          <a:ln w="0">
            <a:noFill/>
            <a:prstDash val="solid"/>
          </a:ln>
        </p:spPr>
        <p:txBody>
          <a:bodyPr wrap="square" lIns="0" tIns="0" rIns="0" bIns="0" anchor="t"/>
          <a:lstStyle/>
          <a:p>
            <a:pPr algn="l">
              <a:lnSpc>
                <a:spcPct val="105000"/>
              </a:lnSpc>
              <a:buNone/>
              <a:defRPr sz="1050" b="1" i="0">
                <a:solidFill>
                  <a:srgbClr val="E5430A"/>
                </a:solidFill>
                <a:latin typeface="Arial"/>
                <a:ea typeface="Arial"/>
                <a:cs typeface="Arial"/>
              </a:defRPr>
            </a:pPr>
            <a:r>
              <a:rPr sz="1050" b="1" i="0">
                <a:solidFill>
                  <a:srgbClr val="E5430A"/>
                </a:solidFill>
                <a:latin typeface="Arial"/>
                <a:ea typeface="Arial"/>
                <a:cs typeface="Arial"/>
              </a:rPr>
              <a:t>TOTAL</a:t>
            </a:r>
          </a:p>
        </p:txBody>
      </p:sp>
      <p:sp>
        <p:nvSpPr>
          <p:cNvPr id="83" name="Rectangle 82">
            <a:extLst>
              <a:ext uri="{FF2B5EF4-FFF2-40B4-BE49-F238E27FC236}">
                <a16:creationId xmlns:a16="http://schemas.microsoft.com/office/drawing/2014/main" id="{44DED275-2C77-4DCE-9E55-A809999377DA}"/>
              </a:ext>
            </a:extLst>
          </p:cNvPr>
          <p:cNvSpPr>
            <a:spLocks noGrp="1"/>
          </p:cNvSpPr>
          <p:nvPr/>
        </p:nvSpPr>
        <p:spPr>
          <a:xfrm>
            <a:off x="6572250" y="4429125"/>
            <a:ext cx="361950" cy="209550"/>
          </a:xfrm>
          <a:prstGeom prst="rect">
            <a:avLst/>
          </a:prstGeom>
          <a:noFill/>
          <a:ln w="0">
            <a:noFill/>
            <a:prstDash val="solid"/>
          </a:ln>
        </p:spPr>
        <p:txBody>
          <a:bodyPr wrap="square" lIns="0" tIns="0" rIns="0" bIns="0" anchor="t"/>
          <a:lstStyle/>
          <a:p>
            <a:pPr algn="ctr">
              <a:lnSpc>
                <a:spcPct val="105000"/>
              </a:lnSpc>
              <a:buNone/>
              <a:defRPr sz="975" b="1" i="0">
                <a:solidFill>
                  <a:srgbClr val="E5430A"/>
                </a:solidFill>
                <a:latin typeface="Arial"/>
                <a:ea typeface="Arial"/>
                <a:cs typeface="Arial"/>
              </a:defRPr>
            </a:pPr>
            <a:r>
              <a:rPr sz="975" b="1" i="0">
                <a:solidFill>
                  <a:srgbClr val="E5430A"/>
                </a:solidFill>
                <a:latin typeface="Arial"/>
                <a:ea typeface="Arial"/>
                <a:cs typeface="Arial"/>
              </a:rPr>
              <a:t>70</a:t>
            </a:r>
          </a:p>
        </p:txBody>
      </p:sp>
      <p:sp>
        <p:nvSpPr>
          <p:cNvPr id="84" name="Rectangle 83">
            <a:extLst>
              <a:ext uri="{FF2B5EF4-FFF2-40B4-BE49-F238E27FC236}">
                <a16:creationId xmlns:a16="http://schemas.microsoft.com/office/drawing/2014/main" id="{DFE3945B-9EF7-4688-8FAF-B6C66131BB2E}"/>
              </a:ext>
            </a:extLst>
          </p:cNvPr>
          <p:cNvSpPr>
            <a:spLocks noGrp="1"/>
          </p:cNvSpPr>
          <p:nvPr/>
        </p:nvSpPr>
        <p:spPr>
          <a:xfrm>
            <a:off x="7000875" y="4429125"/>
            <a:ext cx="400050" cy="209550"/>
          </a:xfrm>
          <a:prstGeom prst="rect">
            <a:avLst/>
          </a:prstGeom>
          <a:noFill/>
          <a:ln w="0">
            <a:noFill/>
            <a:prstDash val="solid"/>
          </a:ln>
        </p:spPr>
        <p:txBody>
          <a:bodyPr wrap="square" lIns="0" tIns="0" rIns="0" bIns="0" anchor="t"/>
          <a:lstStyle/>
          <a:p>
            <a:pPr algn="ctr">
              <a:lnSpc>
                <a:spcPct val="105000"/>
              </a:lnSpc>
              <a:buNone/>
              <a:defRPr sz="975" b="1" i="0">
                <a:solidFill>
                  <a:srgbClr val="E5430A"/>
                </a:solidFill>
                <a:latin typeface="Arial"/>
                <a:ea typeface="Arial"/>
                <a:cs typeface="Arial"/>
              </a:defRPr>
            </a:pPr>
            <a:r>
              <a:rPr sz="975" b="1" i="0">
                <a:solidFill>
                  <a:srgbClr val="E5430A"/>
                </a:solidFill>
                <a:latin typeface="Arial"/>
                <a:ea typeface="Arial"/>
                <a:cs typeface="Arial"/>
              </a:rPr>
              <a:t>280</a:t>
            </a:r>
          </a:p>
        </p:txBody>
      </p:sp>
      <p:sp>
        <p:nvSpPr>
          <p:cNvPr id="85" name="Rectangle 84">
            <a:extLst>
              <a:ext uri="{FF2B5EF4-FFF2-40B4-BE49-F238E27FC236}">
                <a16:creationId xmlns:a16="http://schemas.microsoft.com/office/drawing/2014/main" id="{7F3FE297-47A2-492E-9FF6-D82350488D5D}"/>
              </a:ext>
            </a:extLst>
          </p:cNvPr>
          <p:cNvSpPr>
            <a:spLocks noGrp="1"/>
          </p:cNvSpPr>
          <p:nvPr/>
        </p:nvSpPr>
        <p:spPr>
          <a:xfrm>
            <a:off x="7410450" y="4429125"/>
            <a:ext cx="514350" cy="209550"/>
          </a:xfrm>
          <a:prstGeom prst="rect">
            <a:avLst/>
          </a:prstGeom>
          <a:noFill/>
          <a:ln w="0">
            <a:noFill/>
            <a:prstDash val="solid"/>
          </a:ln>
        </p:spPr>
        <p:txBody>
          <a:bodyPr wrap="none" lIns="0" tIns="0" rIns="0" bIns="0" anchor="t"/>
          <a:lstStyle/>
          <a:p>
            <a:pPr algn="ctr">
              <a:lnSpc>
                <a:spcPct val="105000"/>
              </a:lnSpc>
              <a:buNone/>
              <a:defRPr sz="975" b="1" i="0">
                <a:solidFill>
                  <a:srgbClr val="E5430A"/>
                </a:solidFill>
                <a:latin typeface="Arial"/>
                <a:ea typeface="Arial"/>
                <a:cs typeface="Arial"/>
              </a:defRPr>
            </a:pPr>
            <a:r>
              <a:rPr sz="975" b="1" i="0">
                <a:solidFill>
                  <a:srgbClr val="E5430A"/>
                </a:solidFill>
                <a:latin typeface="Arial"/>
                <a:ea typeface="Arial"/>
                <a:cs typeface="Arial"/>
              </a:rPr>
              <a:t>1.12 TB</a:t>
            </a:r>
          </a:p>
        </p:txBody>
      </p:sp>
      <p:sp>
        <p:nvSpPr>
          <p:cNvPr id="86" name="Rounded Rectangle 85">
            <a:extLst>
              <a:ext uri="{FF2B5EF4-FFF2-40B4-BE49-F238E27FC236}">
                <a16:creationId xmlns:a16="http://schemas.microsoft.com/office/drawing/2014/main" id="{5312FDA9-C15A-4830-833B-38371EE64A72}"/>
              </a:ext>
            </a:extLst>
          </p:cNvPr>
          <p:cNvSpPr>
            <a:spLocks noGrp="1"/>
          </p:cNvSpPr>
          <p:nvPr/>
        </p:nvSpPr>
        <p:spPr>
          <a:xfrm>
            <a:off x="8039100" y="2076450"/>
            <a:ext cx="3857625" cy="2590800"/>
          </a:xfrm>
          <a:prstGeom prst="roundRect">
            <a:avLst>
              <a:gd name="adj" fmla="val 2206"/>
            </a:avLst>
          </a:prstGeom>
          <a:solidFill>
            <a:srgbClr val="FFFFFF"/>
          </a:solidFill>
          <a:ln w="9525">
            <a:solidFill>
              <a:srgbClr val="EAECEA"/>
            </a:solidFill>
            <a:prstDash val="solid"/>
          </a:ln>
        </p:spPr>
        <p:style>
          <a:lnRef idx="0">
            <a:scrgbClr r="0" g="0" b="0"/>
          </a:lnRef>
          <a:fillRef idx="0">
            <a:scrgbClr r="0" g="0" b="0"/>
          </a:fillRef>
          <a:effectRef idx="4">
            <a:scrgbClr r="0" g="0" b="0"/>
          </a:effectRef>
          <a:fontRef idx="major"/>
        </p:style>
        <p:txBody>
          <a:bodyPr/>
          <a:lstStyle/>
          <a:p>
            <a:endParaRPr lang="en-FR"/>
          </a:p>
        </p:txBody>
      </p:sp>
      <p:pic>
        <p:nvPicPr>
          <p:cNvPr id="215" name="Picture 214"/>
          <p:cNvPicPr>
            <a:picLocks noChangeAspect="1"/>
          </p:cNvPicPr>
          <p:nvPr/>
        </p:nvPicPr>
        <p:blipFill>
          <a:blip r:embed="rId14"/>
          <a:stretch/>
        </p:blipFill>
        <p:spPr>
          <a:xfrm>
            <a:off x="8229099" y="1885950"/>
            <a:ext cx="210553" cy="285750"/>
          </a:xfrm>
          <a:prstGeom prst="rect">
            <a:avLst/>
          </a:prstGeom>
        </p:spPr>
      </p:pic>
      <p:sp>
        <p:nvSpPr>
          <p:cNvPr id="88" name="Rectangle 87">
            <a:extLst>
              <a:ext uri="{FF2B5EF4-FFF2-40B4-BE49-F238E27FC236}">
                <a16:creationId xmlns:a16="http://schemas.microsoft.com/office/drawing/2014/main" id="{75D6CD2C-D5FC-4F72-8C37-51E375030357}"/>
              </a:ext>
            </a:extLst>
          </p:cNvPr>
          <p:cNvSpPr>
            <a:spLocks noGrp="1"/>
          </p:cNvSpPr>
          <p:nvPr/>
        </p:nvSpPr>
        <p:spPr>
          <a:xfrm>
            <a:off x="8582025" y="1971675"/>
            <a:ext cx="1714500" cy="209550"/>
          </a:xfrm>
          <a:prstGeom prst="rect">
            <a:avLst/>
          </a:prstGeom>
          <a:noFill/>
          <a:ln w="0">
            <a:noFill/>
            <a:prstDash val="solid"/>
          </a:ln>
        </p:spPr>
        <p:txBody>
          <a:bodyPr wrap="none" lIns="0" tIns="0" rIns="0" bIns="0" anchor="t"/>
          <a:lstStyle/>
          <a:p>
            <a:pPr algn="l">
              <a:lnSpc>
                <a:spcPct val="100000"/>
              </a:lnSpc>
              <a:buNone/>
              <a:defRPr sz="1050" b="1" i="0">
                <a:solidFill>
                  <a:srgbClr val="E5430A"/>
                </a:solidFill>
                <a:latin typeface="Arial"/>
                <a:ea typeface="Arial"/>
                <a:cs typeface="Arial"/>
              </a:defRPr>
            </a:pPr>
            <a:r>
              <a:rPr sz="1050" b="1" i="0">
                <a:solidFill>
                  <a:srgbClr val="E5430A"/>
                </a:solidFill>
                <a:latin typeface="Arial"/>
                <a:ea typeface="Arial"/>
                <a:cs typeface="Arial"/>
              </a:rPr>
              <a:t>Storage Mix (by VPU)</a:t>
            </a:r>
          </a:p>
        </p:txBody>
      </p:sp>
      <p:sp>
        <p:nvSpPr>
          <p:cNvPr id="89" name="Rectangle 88">
            <a:extLst>
              <a:ext uri="{FF2B5EF4-FFF2-40B4-BE49-F238E27FC236}">
                <a16:creationId xmlns:a16="http://schemas.microsoft.com/office/drawing/2014/main" id="{AEE4DA82-5460-46E1-9DC4-AD419C6C4CDE}"/>
              </a:ext>
            </a:extLst>
          </p:cNvPr>
          <p:cNvSpPr>
            <a:spLocks noGrp="1"/>
          </p:cNvSpPr>
          <p:nvPr/>
        </p:nvSpPr>
        <p:spPr>
          <a:xfrm>
            <a:off x="8162925" y="2476500"/>
            <a:ext cx="1095375" cy="209550"/>
          </a:xfrm>
          <a:prstGeom prst="rect">
            <a:avLst/>
          </a:prstGeom>
          <a:noFill/>
          <a:ln w="0">
            <a:noFill/>
            <a:prstDash val="solid"/>
          </a:ln>
        </p:spPr>
        <p:txBody>
          <a:bodyPr wrap="square" lIns="0" tIns="0" rIns="0" bIns="0" anchor="t"/>
          <a:lstStyle/>
          <a:p>
            <a:pPr algn="l">
              <a:lnSpc>
                <a:spcPct val="105000"/>
              </a:lnSpc>
              <a:buNone/>
              <a:defRPr sz="675" b="1" i="0">
                <a:solidFill>
                  <a:srgbClr val="111111"/>
                </a:solidFill>
                <a:latin typeface="Arial"/>
                <a:ea typeface="Arial"/>
                <a:cs typeface="Arial"/>
              </a:defRPr>
            </a:pPr>
            <a:r>
              <a:rPr sz="675" b="1" i="0">
                <a:solidFill>
                  <a:srgbClr val="111111"/>
                </a:solidFill>
                <a:latin typeface="Arial"/>
                <a:ea typeface="Arial"/>
                <a:cs typeface="Arial"/>
              </a:rPr>
              <a:t>VPU Range (per VM)</a:t>
            </a:r>
          </a:p>
        </p:txBody>
      </p:sp>
      <p:sp>
        <p:nvSpPr>
          <p:cNvPr id="90" name="Rectangle 89">
            <a:extLst>
              <a:ext uri="{FF2B5EF4-FFF2-40B4-BE49-F238E27FC236}">
                <a16:creationId xmlns:a16="http://schemas.microsoft.com/office/drawing/2014/main" id="{EBAF7888-3E2E-4270-A0E1-1FC6F2480AE2}"/>
              </a:ext>
            </a:extLst>
          </p:cNvPr>
          <p:cNvSpPr>
            <a:spLocks noGrp="1"/>
          </p:cNvSpPr>
          <p:nvPr/>
        </p:nvSpPr>
        <p:spPr>
          <a:xfrm>
            <a:off x="9296400" y="2371725"/>
            <a:ext cx="952500" cy="323850"/>
          </a:xfrm>
          <a:prstGeom prst="rect">
            <a:avLst/>
          </a:prstGeom>
          <a:noFill/>
          <a:ln w="0">
            <a:noFill/>
            <a:prstDash val="solid"/>
          </a:ln>
        </p:spPr>
        <p:txBody>
          <a:bodyPr wrap="square" lIns="0" tIns="0" rIns="0" bIns="0" anchor="t"/>
          <a:lstStyle/>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Performance Tier</a:t>
            </a:r>
          </a:p>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(IOPS)</a:t>
            </a:r>
          </a:p>
        </p:txBody>
      </p:sp>
      <p:sp>
        <p:nvSpPr>
          <p:cNvPr id="91" name="Rectangle 90">
            <a:extLst>
              <a:ext uri="{FF2B5EF4-FFF2-40B4-BE49-F238E27FC236}">
                <a16:creationId xmlns:a16="http://schemas.microsoft.com/office/drawing/2014/main" id="{DE3D75F0-78B8-46F5-8B52-83F968BF35EB}"/>
              </a:ext>
            </a:extLst>
          </p:cNvPr>
          <p:cNvSpPr>
            <a:spLocks noGrp="1"/>
          </p:cNvSpPr>
          <p:nvPr/>
        </p:nvSpPr>
        <p:spPr>
          <a:xfrm>
            <a:off x="10306050" y="2476500"/>
            <a:ext cx="552450" cy="209550"/>
          </a:xfrm>
          <a:prstGeom prst="rect">
            <a:avLst/>
          </a:prstGeom>
          <a:noFill/>
          <a:ln w="0">
            <a:noFill/>
            <a:prstDash val="solid"/>
          </a:ln>
        </p:spPr>
        <p:txBody>
          <a:bodyPr wrap="square" lIns="0" tIns="0" rIns="0" bIns="0" anchor="t"/>
          <a:lstStyle/>
          <a:p>
            <a:pPr algn="ctr">
              <a:lnSpc>
                <a:spcPct val="105000"/>
              </a:lnSpc>
              <a:buNone/>
              <a:defRPr sz="675" b="1" i="0">
                <a:solidFill>
                  <a:srgbClr val="111111"/>
                </a:solidFill>
                <a:latin typeface="Arial"/>
                <a:ea typeface="Arial"/>
                <a:cs typeface="Arial"/>
              </a:defRPr>
            </a:pPr>
            <a:r>
              <a:rPr sz="675" b="1" i="0">
                <a:solidFill>
                  <a:srgbClr val="111111"/>
                </a:solidFill>
                <a:latin typeface="Arial"/>
                <a:ea typeface="Arial"/>
                <a:cs typeface="Arial"/>
              </a:rPr>
              <a:t>Total VMs</a:t>
            </a:r>
          </a:p>
        </p:txBody>
      </p:sp>
      <p:sp>
        <p:nvSpPr>
          <p:cNvPr id="92" name="Rectangle 91">
            <a:extLst>
              <a:ext uri="{FF2B5EF4-FFF2-40B4-BE49-F238E27FC236}">
                <a16:creationId xmlns:a16="http://schemas.microsoft.com/office/drawing/2014/main" id="{E79ED864-ABA8-4EBF-A835-E44E21D1E335}"/>
              </a:ext>
            </a:extLst>
          </p:cNvPr>
          <p:cNvSpPr>
            <a:spLocks noGrp="1"/>
          </p:cNvSpPr>
          <p:nvPr/>
        </p:nvSpPr>
        <p:spPr>
          <a:xfrm>
            <a:off x="10858500" y="2476500"/>
            <a:ext cx="571500" cy="209550"/>
          </a:xfrm>
          <a:prstGeom prst="rect">
            <a:avLst/>
          </a:prstGeom>
          <a:noFill/>
          <a:ln w="0">
            <a:noFill/>
            <a:prstDash val="solid"/>
          </a:ln>
        </p:spPr>
        <p:txBody>
          <a:bodyPr wrap="square" lIns="0" tIns="0" rIns="0" bIns="0" anchor="t"/>
          <a:lstStyle/>
          <a:p>
            <a:pPr algn="ctr">
              <a:lnSpc>
                <a:spcPct val="105000"/>
              </a:lnSpc>
              <a:buNone/>
              <a:defRPr sz="675" b="1" i="0">
                <a:solidFill>
                  <a:srgbClr val="111111"/>
                </a:solidFill>
                <a:latin typeface="Arial"/>
                <a:ea typeface="Arial"/>
                <a:cs typeface="Arial"/>
              </a:defRPr>
            </a:pPr>
            <a:r>
              <a:rPr sz="675" b="1" i="0">
                <a:solidFill>
                  <a:srgbClr val="111111"/>
                </a:solidFill>
                <a:latin typeface="Arial"/>
                <a:ea typeface="Arial"/>
                <a:cs typeface="Arial"/>
              </a:rPr>
              <a:t>Total VPU</a:t>
            </a:r>
          </a:p>
        </p:txBody>
      </p:sp>
      <p:sp>
        <p:nvSpPr>
          <p:cNvPr id="93" name="Rectangle 92">
            <a:extLst>
              <a:ext uri="{FF2B5EF4-FFF2-40B4-BE49-F238E27FC236}">
                <a16:creationId xmlns:a16="http://schemas.microsoft.com/office/drawing/2014/main" id="{E68EB8E9-A3D5-4C1C-A67B-DEF913B1AC07}"/>
              </a:ext>
            </a:extLst>
          </p:cNvPr>
          <p:cNvSpPr>
            <a:spLocks noGrp="1"/>
          </p:cNvSpPr>
          <p:nvPr/>
        </p:nvSpPr>
        <p:spPr>
          <a:xfrm>
            <a:off x="11420475" y="2476500"/>
            <a:ext cx="476250" cy="209550"/>
          </a:xfrm>
          <a:prstGeom prst="rect">
            <a:avLst/>
          </a:prstGeom>
          <a:noFill/>
          <a:ln w="0">
            <a:noFill/>
            <a:prstDash val="solid"/>
          </a:ln>
        </p:spPr>
        <p:txBody>
          <a:bodyPr wrap="square" lIns="0" tIns="0" rIns="0" bIns="0" anchor="t"/>
          <a:lstStyle/>
          <a:p>
            <a:pPr algn="ctr">
              <a:lnSpc>
                <a:spcPct val="105000"/>
              </a:lnSpc>
              <a:buNone/>
              <a:defRPr sz="675" b="1" i="0">
                <a:solidFill>
                  <a:srgbClr val="111111"/>
                </a:solidFill>
                <a:latin typeface="Arial"/>
                <a:ea typeface="Arial"/>
                <a:cs typeface="Arial"/>
              </a:defRPr>
            </a:pPr>
            <a:r>
              <a:rPr sz="675" b="1" i="0">
                <a:solidFill>
                  <a:srgbClr val="111111"/>
                </a:solidFill>
                <a:latin typeface="Arial"/>
                <a:ea typeface="Arial"/>
                <a:cs typeface="Arial"/>
              </a:rPr>
              <a:t>Capacity</a:t>
            </a:r>
          </a:p>
        </p:txBody>
      </p:sp>
      <p:sp>
        <p:nvSpPr>
          <p:cNvPr id="94" name="Straight Connector 93">
            <a:extLst>
              <a:ext uri="{FF2B5EF4-FFF2-40B4-BE49-F238E27FC236}">
                <a16:creationId xmlns:a16="http://schemas.microsoft.com/office/drawing/2014/main" id="{21686307-8643-43E5-B34D-F876D3170A8F}"/>
              </a:ext>
            </a:extLst>
          </p:cNvPr>
          <p:cNvSpPr>
            <a:spLocks noGrp="1"/>
          </p:cNvSpPr>
          <p:nvPr/>
        </p:nvSpPr>
        <p:spPr>
          <a:xfrm>
            <a:off x="8153400" y="2743200"/>
            <a:ext cx="3629025" cy="0"/>
          </a:xfrm>
          <a:prstGeom prst="line">
            <a:avLst/>
          </a:prstGeom>
          <a:noFill/>
          <a:ln w="9525">
            <a:solidFill>
              <a:srgbClr val="D9DCD9"/>
            </a:solidFill>
            <a:prstDash val="solid"/>
          </a:ln>
        </p:spPr>
        <p:txBody>
          <a:bodyPr/>
          <a:lstStyle/>
          <a:p>
            <a:endParaRPr lang="en-FR"/>
          </a:p>
        </p:txBody>
      </p:sp>
      <p:sp>
        <p:nvSpPr>
          <p:cNvPr id="95" name="Straight Connector 94">
            <a:extLst>
              <a:ext uri="{FF2B5EF4-FFF2-40B4-BE49-F238E27FC236}">
                <a16:creationId xmlns:a16="http://schemas.microsoft.com/office/drawing/2014/main" id="{2ECAE0F2-EF88-4A98-B771-D7BB18971454}"/>
              </a:ext>
            </a:extLst>
          </p:cNvPr>
          <p:cNvSpPr>
            <a:spLocks noGrp="1"/>
          </p:cNvSpPr>
          <p:nvPr/>
        </p:nvSpPr>
        <p:spPr>
          <a:xfrm>
            <a:off x="8153400" y="3228975"/>
            <a:ext cx="3629025" cy="0"/>
          </a:xfrm>
          <a:prstGeom prst="line">
            <a:avLst/>
          </a:prstGeom>
          <a:noFill/>
          <a:ln w="9525">
            <a:solidFill>
              <a:srgbClr val="D9DCD9"/>
            </a:solidFill>
            <a:prstDash val="solid"/>
          </a:ln>
        </p:spPr>
        <p:txBody>
          <a:bodyPr/>
          <a:lstStyle/>
          <a:p>
            <a:endParaRPr lang="en-FR"/>
          </a:p>
        </p:txBody>
      </p:sp>
      <p:sp>
        <p:nvSpPr>
          <p:cNvPr id="96" name="Straight Connector 95">
            <a:extLst>
              <a:ext uri="{FF2B5EF4-FFF2-40B4-BE49-F238E27FC236}">
                <a16:creationId xmlns:a16="http://schemas.microsoft.com/office/drawing/2014/main" id="{404B08FB-074A-48C4-813C-39DFC64DB7B2}"/>
              </a:ext>
            </a:extLst>
          </p:cNvPr>
          <p:cNvSpPr>
            <a:spLocks noGrp="1"/>
          </p:cNvSpPr>
          <p:nvPr/>
        </p:nvSpPr>
        <p:spPr>
          <a:xfrm>
            <a:off x="8153400" y="3724275"/>
            <a:ext cx="3629025" cy="0"/>
          </a:xfrm>
          <a:prstGeom prst="line">
            <a:avLst/>
          </a:prstGeom>
          <a:noFill/>
          <a:ln w="9525">
            <a:solidFill>
              <a:srgbClr val="D9DCD9"/>
            </a:solidFill>
            <a:prstDash val="solid"/>
          </a:ln>
        </p:spPr>
        <p:txBody>
          <a:bodyPr/>
          <a:lstStyle/>
          <a:p>
            <a:endParaRPr lang="en-FR"/>
          </a:p>
        </p:txBody>
      </p:sp>
      <p:sp>
        <p:nvSpPr>
          <p:cNvPr id="97" name="Straight Connector 96">
            <a:extLst>
              <a:ext uri="{FF2B5EF4-FFF2-40B4-BE49-F238E27FC236}">
                <a16:creationId xmlns:a16="http://schemas.microsoft.com/office/drawing/2014/main" id="{C9A607F0-BB33-4318-A9D2-C343406883EE}"/>
              </a:ext>
            </a:extLst>
          </p:cNvPr>
          <p:cNvSpPr>
            <a:spLocks noGrp="1"/>
          </p:cNvSpPr>
          <p:nvPr/>
        </p:nvSpPr>
        <p:spPr>
          <a:xfrm>
            <a:off x="8153400" y="4210050"/>
            <a:ext cx="3629025" cy="0"/>
          </a:xfrm>
          <a:prstGeom prst="line">
            <a:avLst/>
          </a:prstGeom>
          <a:noFill/>
          <a:ln w="9525">
            <a:solidFill>
              <a:srgbClr val="D9DCD9"/>
            </a:solidFill>
            <a:prstDash val="solid"/>
          </a:ln>
        </p:spPr>
        <p:txBody>
          <a:bodyPr/>
          <a:lstStyle/>
          <a:p>
            <a:endParaRPr lang="en-FR"/>
          </a:p>
        </p:txBody>
      </p:sp>
      <p:sp>
        <p:nvSpPr>
          <p:cNvPr id="98" name="Rectangle 97">
            <a:extLst>
              <a:ext uri="{FF2B5EF4-FFF2-40B4-BE49-F238E27FC236}">
                <a16:creationId xmlns:a16="http://schemas.microsoft.com/office/drawing/2014/main" id="{25C3354F-E633-4187-9F32-C65FF7EB7FD1}"/>
              </a:ext>
            </a:extLst>
          </p:cNvPr>
          <p:cNvSpPr>
            <a:spLocks noGrp="1"/>
          </p:cNvSpPr>
          <p:nvPr/>
        </p:nvSpPr>
        <p:spPr>
          <a:xfrm>
            <a:off x="8162925" y="2914650"/>
            <a:ext cx="1000125" cy="314325"/>
          </a:xfrm>
          <a:prstGeom prst="rect">
            <a:avLst/>
          </a:prstGeom>
          <a:noFill/>
          <a:ln w="0">
            <a:noFill/>
            <a:prstDash val="solid"/>
          </a:ln>
        </p:spPr>
        <p:txBody>
          <a:bodyPr wrap="none" lIns="0" tIns="0" rIns="0" bIns="0" anchor="t"/>
          <a:lstStyle/>
          <a:p>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0 - 20 VPU</a:t>
            </a:r>
          </a:p>
        </p:txBody>
      </p:sp>
      <p:sp>
        <p:nvSpPr>
          <p:cNvPr id="99" name="Rectangle 98">
            <a:extLst>
              <a:ext uri="{FF2B5EF4-FFF2-40B4-BE49-F238E27FC236}">
                <a16:creationId xmlns:a16="http://schemas.microsoft.com/office/drawing/2014/main" id="{12FA3CEF-1D61-4241-A05C-2352A195FA48}"/>
              </a:ext>
            </a:extLst>
          </p:cNvPr>
          <p:cNvSpPr>
            <a:spLocks noGrp="1"/>
          </p:cNvSpPr>
          <p:nvPr/>
        </p:nvSpPr>
        <p:spPr>
          <a:xfrm>
            <a:off x="9296400" y="2914650"/>
            <a:ext cx="952500" cy="323850"/>
          </a:xfrm>
          <a:prstGeom prst="rect">
            <a:avLst/>
          </a:prstGeom>
          <a:noFill/>
          <a:ln w="0">
            <a:noFill/>
            <a:prstDash val="solid"/>
          </a:ln>
        </p:spPr>
        <p:txBody>
          <a:bodyPr wrap="square" lIns="0" tIns="0" rIns="0" bIns="0" anchor="t"/>
          <a:lstStyle/>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Balanced</a:t>
            </a:r>
          </a:p>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(10K IOPS)</a:t>
            </a:r>
          </a:p>
        </p:txBody>
      </p:sp>
      <p:sp>
        <p:nvSpPr>
          <p:cNvPr id="100" name="Rectangle 99">
            <a:extLst>
              <a:ext uri="{FF2B5EF4-FFF2-40B4-BE49-F238E27FC236}">
                <a16:creationId xmlns:a16="http://schemas.microsoft.com/office/drawing/2014/main" id="{BF0A28B6-E37E-4C9B-9A16-D2272E8F04EA}"/>
              </a:ext>
            </a:extLst>
          </p:cNvPr>
          <p:cNvSpPr>
            <a:spLocks noGrp="1"/>
          </p:cNvSpPr>
          <p:nvPr/>
        </p:nvSpPr>
        <p:spPr>
          <a:xfrm>
            <a:off x="10306050" y="2952750"/>
            <a:ext cx="552450" cy="2286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30</a:t>
            </a:r>
          </a:p>
        </p:txBody>
      </p:sp>
      <p:sp>
        <p:nvSpPr>
          <p:cNvPr id="101" name="Rectangle 100">
            <a:extLst>
              <a:ext uri="{FF2B5EF4-FFF2-40B4-BE49-F238E27FC236}">
                <a16:creationId xmlns:a16="http://schemas.microsoft.com/office/drawing/2014/main" id="{2708FD68-FBD3-40B5-80FB-F30F340C191C}"/>
              </a:ext>
            </a:extLst>
          </p:cNvPr>
          <p:cNvSpPr>
            <a:spLocks noGrp="1"/>
          </p:cNvSpPr>
          <p:nvPr/>
        </p:nvSpPr>
        <p:spPr>
          <a:xfrm>
            <a:off x="10858500" y="2952750"/>
            <a:ext cx="571500" cy="2286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180</a:t>
            </a:r>
          </a:p>
        </p:txBody>
      </p:sp>
      <p:sp>
        <p:nvSpPr>
          <p:cNvPr id="102" name="Rectangle 101">
            <a:extLst>
              <a:ext uri="{FF2B5EF4-FFF2-40B4-BE49-F238E27FC236}">
                <a16:creationId xmlns:a16="http://schemas.microsoft.com/office/drawing/2014/main" id="{6F30D965-4536-4263-8F7D-B74AA743D96F}"/>
              </a:ext>
            </a:extLst>
          </p:cNvPr>
          <p:cNvSpPr>
            <a:spLocks noGrp="1"/>
          </p:cNvSpPr>
          <p:nvPr/>
        </p:nvSpPr>
        <p:spPr>
          <a:xfrm>
            <a:off x="11420475" y="2952750"/>
            <a:ext cx="476250" cy="228600"/>
          </a:xfrm>
          <a:prstGeom prst="rect">
            <a:avLst/>
          </a:prstGeom>
          <a:noFill/>
          <a:ln w="0">
            <a:noFill/>
            <a:prstDash val="solid"/>
          </a:ln>
        </p:spPr>
        <p:txBody>
          <a:bodyPr wrap="non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5.4 TB</a:t>
            </a:r>
          </a:p>
        </p:txBody>
      </p:sp>
      <p:sp>
        <p:nvSpPr>
          <p:cNvPr id="103" name="Rectangle 102">
            <a:extLst>
              <a:ext uri="{FF2B5EF4-FFF2-40B4-BE49-F238E27FC236}">
                <a16:creationId xmlns:a16="http://schemas.microsoft.com/office/drawing/2014/main" id="{2416F431-22CA-4893-B534-F222A79C2470}"/>
              </a:ext>
            </a:extLst>
          </p:cNvPr>
          <p:cNvSpPr>
            <a:spLocks noGrp="1"/>
          </p:cNvSpPr>
          <p:nvPr/>
        </p:nvSpPr>
        <p:spPr>
          <a:xfrm>
            <a:off x="8162925" y="3409950"/>
            <a:ext cx="1000125" cy="314325"/>
          </a:xfrm>
          <a:prstGeom prst="rect">
            <a:avLst/>
          </a:prstGeom>
          <a:noFill/>
          <a:ln w="0">
            <a:noFill/>
            <a:prstDash val="solid"/>
          </a:ln>
        </p:spPr>
        <p:txBody>
          <a:bodyPr wrap="none" lIns="0" tIns="0" rIns="0" bIns="0" anchor="t"/>
          <a:lstStyle/>
          <a:p>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21 - 80 VPU</a:t>
            </a:r>
          </a:p>
        </p:txBody>
      </p:sp>
      <p:sp>
        <p:nvSpPr>
          <p:cNvPr id="104" name="Rectangle 103">
            <a:extLst>
              <a:ext uri="{FF2B5EF4-FFF2-40B4-BE49-F238E27FC236}">
                <a16:creationId xmlns:a16="http://schemas.microsoft.com/office/drawing/2014/main" id="{B431360A-20A5-4F47-A0EE-97FE502D8527}"/>
              </a:ext>
            </a:extLst>
          </p:cNvPr>
          <p:cNvSpPr>
            <a:spLocks noGrp="1"/>
          </p:cNvSpPr>
          <p:nvPr/>
        </p:nvSpPr>
        <p:spPr>
          <a:xfrm>
            <a:off x="9296400" y="3409950"/>
            <a:ext cx="952500" cy="323850"/>
          </a:xfrm>
          <a:prstGeom prst="rect">
            <a:avLst/>
          </a:prstGeom>
          <a:noFill/>
          <a:ln w="0">
            <a:noFill/>
            <a:prstDash val="solid"/>
          </a:ln>
        </p:spPr>
        <p:txBody>
          <a:bodyPr wrap="square" lIns="0" tIns="0" rIns="0" bIns="0" anchor="t"/>
          <a:lstStyle/>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Balanced</a:t>
            </a:r>
          </a:p>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(20K IOPS)</a:t>
            </a:r>
          </a:p>
        </p:txBody>
      </p:sp>
      <p:sp>
        <p:nvSpPr>
          <p:cNvPr id="105" name="Rectangle 104">
            <a:extLst>
              <a:ext uri="{FF2B5EF4-FFF2-40B4-BE49-F238E27FC236}">
                <a16:creationId xmlns:a16="http://schemas.microsoft.com/office/drawing/2014/main" id="{15CB0212-6134-4E7D-AFEE-62EFB0DF248F}"/>
              </a:ext>
            </a:extLst>
          </p:cNvPr>
          <p:cNvSpPr>
            <a:spLocks noGrp="1"/>
          </p:cNvSpPr>
          <p:nvPr/>
        </p:nvSpPr>
        <p:spPr>
          <a:xfrm>
            <a:off x="10306050" y="3448050"/>
            <a:ext cx="552450" cy="2286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30</a:t>
            </a:r>
          </a:p>
        </p:txBody>
      </p:sp>
      <p:sp>
        <p:nvSpPr>
          <p:cNvPr id="106" name="Rectangle 105">
            <a:extLst>
              <a:ext uri="{FF2B5EF4-FFF2-40B4-BE49-F238E27FC236}">
                <a16:creationId xmlns:a16="http://schemas.microsoft.com/office/drawing/2014/main" id="{BAF4A5E7-8562-4B8B-9E24-6EA59D7E4547}"/>
              </a:ext>
            </a:extLst>
          </p:cNvPr>
          <p:cNvSpPr>
            <a:spLocks noGrp="1"/>
          </p:cNvSpPr>
          <p:nvPr/>
        </p:nvSpPr>
        <p:spPr>
          <a:xfrm>
            <a:off x="10858500" y="3448050"/>
            <a:ext cx="571500" cy="2286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1,200</a:t>
            </a:r>
          </a:p>
        </p:txBody>
      </p:sp>
      <p:sp>
        <p:nvSpPr>
          <p:cNvPr id="107" name="Rectangle 106">
            <a:extLst>
              <a:ext uri="{FF2B5EF4-FFF2-40B4-BE49-F238E27FC236}">
                <a16:creationId xmlns:a16="http://schemas.microsoft.com/office/drawing/2014/main" id="{83308A4F-420E-484D-91FB-ED13DE3A7DD0}"/>
              </a:ext>
            </a:extLst>
          </p:cNvPr>
          <p:cNvSpPr>
            <a:spLocks noGrp="1"/>
          </p:cNvSpPr>
          <p:nvPr/>
        </p:nvSpPr>
        <p:spPr>
          <a:xfrm>
            <a:off x="11420475" y="3448050"/>
            <a:ext cx="476250" cy="228600"/>
          </a:xfrm>
          <a:prstGeom prst="rect">
            <a:avLst/>
          </a:prstGeom>
          <a:noFill/>
          <a:ln w="0">
            <a:noFill/>
            <a:prstDash val="solid"/>
          </a:ln>
        </p:spPr>
        <p:txBody>
          <a:bodyPr wrap="non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12.0 TB</a:t>
            </a:r>
          </a:p>
        </p:txBody>
      </p:sp>
      <p:sp>
        <p:nvSpPr>
          <p:cNvPr id="108" name="Rectangle 107">
            <a:extLst>
              <a:ext uri="{FF2B5EF4-FFF2-40B4-BE49-F238E27FC236}">
                <a16:creationId xmlns:a16="http://schemas.microsoft.com/office/drawing/2014/main" id="{8B0EB316-EEB8-4D16-BB5E-1122D66F4545}"/>
              </a:ext>
            </a:extLst>
          </p:cNvPr>
          <p:cNvSpPr>
            <a:spLocks noGrp="1"/>
          </p:cNvSpPr>
          <p:nvPr/>
        </p:nvSpPr>
        <p:spPr>
          <a:xfrm>
            <a:off x="8162925" y="3905250"/>
            <a:ext cx="1000125" cy="314325"/>
          </a:xfrm>
          <a:prstGeom prst="rect">
            <a:avLst/>
          </a:prstGeom>
          <a:noFill/>
          <a:ln w="0">
            <a:noFill/>
            <a:prstDash val="solid"/>
          </a:ln>
        </p:spPr>
        <p:txBody>
          <a:bodyPr wrap="none" lIns="0" tIns="0" rIns="0" bIns="0" anchor="t"/>
          <a:lstStyle/>
          <a:p>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81 - 1200 VPU</a:t>
            </a:r>
          </a:p>
        </p:txBody>
      </p:sp>
      <p:sp>
        <p:nvSpPr>
          <p:cNvPr id="109" name="Rectangle 108">
            <a:extLst>
              <a:ext uri="{FF2B5EF4-FFF2-40B4-BE49-F238E27FC236}">
                <a16:creationId xmlns:a16="http://schemas.microsoft.com/office/drawing/2014/main" id="{87E70FA7-EFFD-43A8-9258-B23DAA007EC4}"/>
              </a:ext>
            </a:extLst>
          </p:cNvPr>
          <p:cNvSpPr>
            <a:spLocks noGrp="1"/>
          </p:cNvSpPr>
          <p:nvPr/>
        </p:nvSpPr>
        <p:spPr>
          <a:xfrm>
            <a:off x="9296400" y="3905250"/>
            <a:ext cx="952500" cy="323850"/>
          </a:xfrm>
          <a:prstGeom prst="rect">
            <a:avLst/>
          </a:prstGeom>
          <a:noFill/>
          <a:ln w="0">
            <a:noFill/>
            <a:prstDash val="solid"/>
          </a:ln>
        </p:spPr>
        <p:txBody>
          <a:bodyPr wrap="square" lIns="0" tIns="0" rIns="0" bIns="0" anchor="t"/>
          <a:lstStyle/>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High Performance</a:t>
            </a:r>
          </a:p>
          <a:p>
            <a:pPr algn="ctr">
              <a:lnSpc>
                <a:spcPct val="100000"/>
              </a:lnSpc>
              <a:buNone/>
              <a:defRPr sz="675" b="1" i="0">
                <a:solidFill>
                  <a:srgbClr val="111111"/>
                </a:solidFill>
                <a:latin typeface="Arial"/>
                <a:ea typeface="Arial"/>
                <a:cs typeface="Arial"/>
              </a:defRPr>
            </a:pPr>
            <a:r>
              <a:rPr sz="675" b="1" i="0">
                <a:solidFill>
                  <a:srgbClr val="111111"/>
                </a:solidFill>
                <a:latin typeface="Arial"/>
                <a:ea typeface="Arial"/>
                <a:cs typeface="Arial"/>
              </a:rPr>
              <a:t>(60K IOPS)</a:t>
            </a:r>
          </a:p>
        </p:txBody>
      </p:sp>
      <p:sp>
        <p:nvSpPr>
          <p:cNvPr id="110" name="Rectangle 109">
            <a:extLst>
              <a:ext uri="{FF2B5EF4-FFF2-40B4-BE49-F238E27FC236}">
                <a16:creationId xmlns:a16="http://schemas.microsoft.com/office/drawing/2014/main" id="{D20149C7-B506-4F88-A929-31F6366D8F4C}"/>
              </a:ext>
            </a:extLst>
          </p:cNvPr>
          <p:cNvSpPr>
            <a:spLocks noGrp="1"/>
          </p:cNvSpPr>
          <p:nvPr/>
        </p:nvSpPr>
        <p:spPr>
          <a:xfrm>
            <a:off x="10306050" y="3943350"/>
            <a:ext cx="552450" cy="2286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10</a:t>
            </a:r>
          </a:p>
        </p:txBody>
      </p:sp>
      <p:sp>
        <p:nvSpPr>
          <p:cNvPr id="111" name="Rectangle 110">
            <a:extLst>
              <a:ext uri="{FF2B5EF4-FFF2-40B4-BE49-F238E27FC236}">
                <a16:creationId xmlns:a16="http://schemas.microsoft.com/office/drawing/2014/main" id="{4FC60CAE-904B-4957-B2D3-93A265FF4FC5}"/>
              </a:ext>
            </a:extLst>
          </p:cNvPr>
          <p:cNvSpPr>
            <a:spLocks noGrp="1"/>
          </p:cNvSpPr>
          <p:nvPr/>
        </p:nvSpPr>
        <p:spPr>
          <a:xfrm>
            <a:off x="10858500" y="3943350"/>
            <a:ext cx="571500" cy="228600"/>
          </a:xfrm>
          <a:prstGeom prst="rect">
            <a:avLst/>
          </a:prstGeom>
          <a:noFill/>
          <a:ln w="0">
            <a:noFill/>
            <a:prstDash val="solid"/>
          </a:ln>
        </p:spPr>
        <p:txBody>
          <a:bodyPr wrap="squar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600</a:t>
            </a:r>
          </a:p>
        </p:txBody>
      </p:sp>
      <p:sp>
        <p:nvSpPr>
          <p:cNvPr id="112" name="Rectangle 111">
            <a:extLst>
              <a:ext uri="{FF2B5EF4-FFF2-40B4-BE49-F238E27FC236}">
                <a16:creationId xmlns:a16="http://schemas.microsoft.com/office/drawing/2014/main" id="{7254FA70-035F-4BA6-89CD-D5A2870401E4}"/>
              </a:ext>
            </a:extLst>
          </p:cNvPr>
          <p:cNvSpPr>
            <a:spLocks noGrp="1"/>
          </p:cNvSpPr>
          <p:nvPr/>
        </p:nvSpPr>
        <p:spPr>
          <a:xfrm>
            <a:off x="11420475" y="3943350"/>
            <a:ext cx="476250" cy="228600"/>
          </a:xfrm>
          <a:prstGeom prst="rect">
            <a:avLst/>
          </a:prstGeom>
          <a:noFill/>
          <a:ln w="0">
            <a:noFill/>
            <a:prstDash val="solid"/>
          </a:ln>
        </p:spPr>
        <p:txBody>
          <a:bodyPr wrap="none" lIns="0" tIns="0" rIns="0" bIns="0" anchor="t"/>
          <a:lstStyle/>
          <a:p>
            <a:pPr algn="ctr">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6.0 TB</a:t>
            </a:r>
          </a:p>
        </p:txBody>
      </p:sp>
      <p:sp>
        <p:nvSpPr>
          <p:cNvPr id="113" name="Rectangle 112">
            <a:extLst>
              <a:ext uri="{FF2B5EF4-FFF2-40B4-BE49-F238E27FC236}">
                <a16:creationId xmlns:a16="http://schemas.microsoft.com/office/drawing/2014/main" id="{79402B0F-5394-4841-928D-B5977A313F91}"/>
              </a:ext>
            </a:extLst>
          </p:cNvPr>
          <p:cNvSpPr>
            <a:spLocks noGrp="1"/>
          </p:cNvSpPr>
          <p:nvPr/>
        </p:nvSpPr>
        <p:spPr>
          <a:xfrm>
            <a:off x="8039100" y="4276725"/>
            <a:ext cx="3857625" cy="390525"/>
          </a:xfrm>
          <a:prstGeom prst="rect">
            <a:avLst/>
          </a:prstGeom>
          <a:solidFill>
            <a:srgbClr val="FFF0E9"/>
          </a:solidFill>
          <a:ln w="0">
            <a:noFill/>
            <a:prstDash val="solid"/>
          </a:ln>
        </p:spPr>
        <p:txBody>
          <a:bodyPr/>
          <a:lstStyle/>
          <a:p>
            <a:endParaRPr lang="en-FR"/>
          </a:p>
        </p:txBody>
      </p:sp>
      <p:sp>
        <p:nvSpPr>
          <p:cNvPr id="114" name="Rectangle 113">
            <a:extLst>
              <a:ext uri="{FF2B5EF4-FFF2-40B4-BE49-F238E27FC236}">
                <a16:creationId xmlns:a16="http://schemas.microsoft.com/office/drawing/2014/main" id="{FB8DF613-E128-4044-92F1-A7D6288B087E}"/>
              </a:ext>
            </a:extLst>
          </p:cNvPr>
          <p:cNvSpPr>
            <a:spLocks noGrp="1"/>
          </p:cNvSpPr>
          <p:nvPr/>
        </p:nvSpPr>
        <p:spPr>
          <a:xfrm>
            <a:off x="8162925" y="4429125"/>
            <a:ext cx="666750" cy="209550"/>
          </a:xfrm>
          <a:prstGeom prst="rect">
            <a:avLst/>
          </a:prstGeom>
          <a:noFill/>
          <a:ln w="0">
            <a:noFill/>
            <a:prstDash val="solid"/>
          </a:ln>
        </p:spPr>
        <p:txBody>
          <a:bodyPr wrap="square" lIns="0" tIns="0" rIns="0" bIns="0" anchor="t"/>
          <a:lstStyle/>
          <a:p>
            <a:pPr algn="l">
              <a:lnSpc>
                <a:spcPct val="105000"/>
              </a:lnSpc>
              <a:buNone/>
              <a:defRPr sz="1050" b="1" i="0">
                <a:solidFill>
                  <a:srgbClr val="E5430A"/>
                </a:solidFill>
                <a:latin typeface="Arial"/>
                <a:ea typeface="Arial"/>
                <a:cs typeface="Arial"/>
              </a:defRPr>
            </a:pPr>
            <a:r>
              <a:rPr sz="1050" b="1" i="0">
                <a:solidFill>
                  <a:srgbClr val="E5430A"/>
                </a:solidFill>
                <a:latin typeface="Arial"/>
                <a:ea typeface="Arial"/>
                <a:cs typeface="Arial"/>
              </a:rPr>
              <a:t>TOTAL</a:t>
            </a:r>
          </a:p>
        </p:txBody>
      </p:sp>
      <p:sp>
        <p:nvSpPr>
          <p:cNvPr id="115" name="Rectangle 114">
            <a:extLst>
              <a:ext uri="{FF2B5EF4-FFF2-40B4-BE49-F238E27FC236}">
                <a16:creationId xmlns:a16="http://schemas.microsoft.com/office/drawing/2014/main" id="{24F5FD53-9571-4C47-8CA6-45C9DDE34E6B}"/>
              </a:ext>
            </a:extLst>
          </p:cNvPr>
          <p:cNvSpPr>
            <a:spLocks noGrp="1"/>
          </p:cNvSpPr>
          <p:nvPr/>
        </p:nvSpPr>
        <p:spPr>
          <a:xfrm>
            <a:off x="10306050" y="4429125"/>
            <a:ext cx="552450" cy="209550"/>
          </a:xfrm>
          <a:prstGeom prst="rect">
            <a:avLst/>
          </a:prstGeom>
          <a:noFill/>
          <a:ln w="0">
            <a:noFill/>
            <a:prstDash val="solid"/>
          </a:ln>
        </p:spPr>
        <p:txBody>
          <a:bodyPr wrap="square" lIns="0" tIns="0" rIns="0" bIns="0" anchor="t"/>
          <a:lstStyle/>
          <a:p>
            <a:pPr algn="ctr">
              <a:lnSpc>
                <a:spcPct val="105000"/>
              </a:lnSpc>
              <a:buNone/>
              <a:defRPr sz="975" b="1" i="0">
                <a:solidFill>
                  <a:srgbClr val="E5430A"/>
                </a:solidFill>
                <a:latin typeface="Arial"/>
                <a:ea typeface="Arial"/>
                <a:cs typeface="Arial"/>
              </a:defRPr>
            </a:pPr>
            <a:r>
              <a:rPr sz="975" b="1" i="0">
                <a:solidFill>
                  <a:srgbClr val="E5430A"/>
                </a:solidFill>
                <a:latin typeface="Arial"/>
                <a:ea typeface="Arial"/>
                <a:cs typeface="Arial"/>
              </a:rPr>
              <a:t>70</a:t>
            </a:r>
          </a:p>
        </p:txBody>
      </p:sp>
      <p:sp>
        <p:nvSpPr>
          <p:cNvPr id="116" name="Rectangle 115">
            <a:extLst>
              <a:ext uri="{FF2B5EF4-FFF2-40B4-BE49-F238E27FC236}">
                <a16:creationId xmlns:a16="http://schemas.microsoft.com/office/drawing/2014/main" id="{BBFFC1D0-E0C2-4D26-A2BE-51D4A4958B51}"/>
              </a:ext>
            </a:extLst>
          </p:cNvPr>
          <p:cNvSpPr>
            <a:spLocks noGrp="1"/>
          </p:cNvSpPr>
          <p:nvPr/>
        </p:nvSpPr>
        <p:spPr>
          <a:xfrm>
            <a:off x="10858500" y="4429125"/>
            <a:ext cx="571500" cy="209550"/>
          </a:xfrm>
          <a:prstGeom prst="rect">
            <a:avLst/>
          </a:prstGeom>
          <a:noFill/>
          <a:ln w="0">
            <a:noFill/>
            <a:prstDash val="solid"/>
          </a:ln>
        </p:spPr>
        <p:txBody>
          <a:bodyPr wrap="square" lIns="0" tIns="0" rIns="0" bIns="0" anchor="t"/>
          <a:lstStyle/>
          <a:p>
            <a:pPr algn="ctr">
              <a:lnSpc>
                <a:spcPct val="105000"/>
              </a:lnSpc>
              <a:buNone/>
              <a:defRPr sz="975" b="1" i="0">
                <a:solidFill>
                  <a:srgbClr val="E5430A"/>
                </a:solidFill>
                <a:latin typeface="Arial"/>
                <a:ea typeface="Arial"/>
                <a:cs typeface="Arial"/>
              </a:defRPr>
            </a:pPr>
            <a:r>
              <a:rPr sz="975" b="1" i="0">
                <a:solidFill>
                  <a:srgbClr val="E5430A"/>
                </a:solidFill>
                <a:latin typeface="Arial"/>
                <a:ea typeface="Arial"/>
                <a:cs typeface="Arial"/>
              </a:rPr>
              <a:t>1,980</a:t>
            </a:r>
          </a:p>
        </p:txBody>
      </p:sp>
      <p:sp>
        <p:nvSpPr>
          <p:cNvPr id="117" name="Rectangle 116">
            <a:extLst>
              <a:ext uri="{FF2B5EF4-FFF2-40B4-BE49-F238E27FC236}">
                <a16:creationId xmlns:a16="http://schemas.microsoft.com/office/drawing/2014/main" id="{BB6E9373-F627-4B2A-9103-11BB1194A9B6}"/>
              </a:ext>
            </a:extLst>
          </p:cNvPr>
          <p:cNvSpPr>
            <a:spLocks noGrp="1"/>
          </p:cNvSpPr>
          <p:nvPr/>
        </p:nvSpPr>
        <p:spPr>
          <a:xfrm>
            <a:off x="11401425" y="4429125"/>
            <a:ext cx="542925" cy="209550"/>
          </a:xfrm>
          <a:prstGeom prst="rect">
            <a:avLst/>
          </a:prstGeom>
          <a:noFill/>
          <a:ln w="0">
            <a:noFill/>
            <a:prstDash val="solid"/>
          </a:ln>
        </p:spPr>
        <p:txBody>
          <a:bodyPr wrap="none" lIns="0" tIns="0" rIns="0" bIns="0" anchor="t"/>
          <a:lstStyle/>
          <a:p>
            <a:pPr algn="ctr">
              <a:lnSpc>
                <a:spcPct val="105000"/>
              </a:lnSpc>
              <a:buNone/>
              <a:defRPr sz="975" b="1" i="0">
                <a:solidFill>
                  <a:srgbClr val="E5430A"/>
                </a:solidFill>
                <a:latin typeface="Arial"/>
                <a:ea typeface="Arial"/>
                <a:cs typeface="Arial"/>
              </a:defRPr>
            </a:pPr>
            <a:r>
              <a:rPr sz="975" b="1" i="0">
                <a:solidFill>
                  <a:srgbClr val="E5430A"/>
                </a:solidFill>
                <a:latin typeface="Arial"/>
                <a:ea typeface="Arial"/>
                <a:cs typeface="Arial"/>
              </a:rPr>
              <a:t>23.4 TB</a:t>
            </a:r>
          </a:p>
        </p:txBody>
      </p:sp>
      <p:sp>
        <p:nvSpPr>
          <p:cNvPr id="118" name="Rectangle 117">
            <a:extLst>
              <a:ext uri="{FF2B5EF4-FFF2-40B4-BE49-F238E27FC236}">
                <a16:creationId xmlns:a16="http://schemas.microsoft.com/office/drawing/2014/main" id="{091AB91C-E78E-4238-A9A3-6AED6B6AA0EA}"/>
              </a:ext>
            </a:extLst>
          </p:cNvPr>
          <p:cNvSpPr>
            <a:spLocks noGrp="1"/>
          </p:cNvSpPr>
          <p:nvPr/>
        </p:nvSpPr>
        <p:spPr>
          <a:xfrm>
            <a:off x="4905375" y="3248025"/>
            <a:ext cx="361950" cy="409575"/>
          </a:xfrm>
          <a:prstGeom prst="rect">
            <a:avLst/>
          </a:prstGeom>
          <a:noFill/>
          <a:ln w="0">
            <a:noFill/>
            <a:prstDash val="solid"/>
          </a:ln>
        </p:spPr>
        <p:txBody>
          <a:bodyPr wrap="none" lIns="0" tIns="0" rIns="0" bIns="0" anchor="t"/>
          <a:lstStyle/>
          <a:p>
            <a:pPr algn="ctr">
              <a:lnSpc>
                <a:spcPct val="100000"/>
              </a:lnSpc>
              <a:buNone/>
              <a:defRPr sz="2700" b="1" i="0">
                <a:solidFill>
                  <a:srgbClr val="111111"/>
                </a:solidFill>
                <a:latin typeface="Arial"/>
                <a:ea typeface="Arial"/>
                <a:cs typeface="Arial"/>
              </a:defRPr>
            </a:pPr>
            <a:r>
              <a:rPr sz="2700" b="1" i="0">
                <a:solidFill>
                  <a:srgbClr val="111111"/>
                </a:solidFill>
                <a:latin typeface="Arial"/>
                <a:ea typeface="Arial"/>
                <a:cs typeface="Arial"/>
              </a:rPr>
              <a:t>+</a:t>
            </a:r>
          </a:p>
        </p:txBody>
      </p:sp>
      <p:sp>
        <p:nvSpPr>
          <p:cNvPr id="119" name="Rounded Rectangle 118">
            <a:extLst>
              <a:ext uri="{FF2B5EF4-FFF2-40B4-BE49-F238E27FC236}">
                <a16:creationId xmlns:a16="http://schemas.microsoft.com/office/drawing/2014/main" id="{DB9D683C-0A1B-482C-8553-831C7F193AD2}"/>
              </a:ext>
            </a:extLst>
          </p:cNvPr>
          <p:cNvSpPr>
            <a:spLocks noGrp="1"/>
          </p:cNvSpPr>
          <p:nvPr/>
        </p:nvSpPr>
        <p:spPr>
          <a:xfrm>
            <a:off x="257175" y="5095875"/>
            <a:ext cx="11677650" cy="771525"/>
          </a:xfrm>
          <a:prstGeom prst="roundRect">
            <a:avLst>
              <a:gd name="adj" fmla="val 8642"/>
            </a:avLst>
          </a:prstGeom>
          <a:solidFill>
            <a:srgbClr val="FFFFFF"/>
          </a:solidFill>
          <a:ln w="9525">
            <a:solidFill>
              <a:srgbClr val="DADFDA"/>
            </a:solidFill>
            <a:prstDash val="solid"/>
          </a:ln>
        </p:spPr>
        <p:txBody>
          <a:bodyPr/>
          <a:lstStyle/>
          <a:p>
            <a:endParaRPr lang="en-FR"/>
          </a:p>
        </p:txBody>
      </p:sp>
      <p:pic>
        <p:nvPicPr>
          <p:cNvPr id="248" name="Picture 247"/>
          <p:cNvPicPr>
            <a:picLocks noChangeAspect="1"/>
          </p:cNvPicPr>
          <p:nvPr/>
        </p:nvPicPr>
        <p:blipFill>
          <a:blip r:embed="rId15"/>
          <a:stretch/>
        </p:blipFill>
        <p:spPr>
          <a:xfrm>
            <a:off x="504296" y="5191125"/>
            <a:ext cx="582083" cy="476250"/>
          </a:xfrm>
          <a:prstGeom prst="rect">
            <a:avLst/>
          </a:prstGeom>
        </p:spPr>
      </p:pic>
      <p:sp>
        <p:nvSpPr>
          <p:cNvPr id="121" name="Rectangle 120">
            <a:extLst>
              <a:ext uri="{FF2B5EF4-FFF2-40B4-BE49-F238E27FC236}">
                <a16:creationId xmlns:a16="http://schemas.microsoft.com/office/drawing/2014/main" id="{20461CF4-C8D2-435C-AD5B-52510A9B71E1}"/>
              </a:ext>
            </a:extLst>
          </p:cNvPr>
          <p:cNvSpPr>
            <a:spLocks noGrp="1"/>
          </p:cNvSpPr>
          <p:nvPr/>
        </p:nvSpPr>
        <p:spPr>
          <a:xfrm>
            <a:off x="1409700" y="5257800"/>
            <a:ext cx="2076450" cy="238125"/>
          </a:xfrm>
          <a:prstGeom prst="rect">
            <a:avLst/>
          </a:prstGeom>
          <a:noFill/>
          <a:ln w="0">
            <a:noFill/>
            <a:prstDash val="solid"/>
          </a:ln>
        </p:spPr>
        <p:txBody>
          <a:bodyPr wrap="none" lIns="0" tIns="0" rIns="0" bIns="0" anchor="t"/>
          <a:lstStyle/>
          <a:p>
            <a:pPr algn="l">
              <a:lnSpc>
                <a:spcPct val="100000"/>
              </a:lnSpc>
              <a:buNone/>
              <a:defRPr sz="1425" b="0" i="1">
                <a:solidFill>
                  <a:srgbClr val="111111"/>
                </a:solidFill>
                <a:latin typeface="Arial"/>
                <a:ea typeface="Arial"/>
                <a:cs typeface="Arial"/>
              </a:defRPr>
            </a:pPr>
            <a:r>
              <a:rPr sz="1425" b="0" i="1">
                <a:solidFill>
                  <a:srgbClr val="111111"/>
                </a:solidFill>
                <a:latin typeface="Arial"/>
                <a:ea typeface="Arial"/>
                <a:cs typeface="Arial"/>
              </a:rPr>
              <a:t>Run VMware workloads on</a:t>
            </a:r>
          </a:p>
        </p:txBody>
      </p:sp>
      <p:sp>
        <p:nvSpPr>
          <p:cNvPr id="122" name="Rectangle 121">
            <a:extLst>
              <a:ext uri="{FF2B5EF4-FFF2-40B4-BE49-F238E27FC236}">
                <a16:creationId xmlns:a16="http://schemas.microsoft.com/office/drawing/2014/main" id="{02C29380-F970-4094-BD66-949BBD8B616B}"/>
              </a:ext>
            </a:extLst>
          </p:cNvPr>
          <p:cNvSpPr>
            <a:spLocks noGrp="1"/>
          </p:cNvSpPr>
          <p:nvPr/>
        </p:nvSpPr>
        <p:spPr>
          <a:xfrm>
            <a:off x="3638550" y="5257800"/>
            <a:ext cx="523875" cy="238125"/>
          </a:xfrm>
          <a:prstGeom prst="rect">
            <a:avLst/>
          </a:prstGeom>
          <a:noFill/>
          <a:ln w="0">
            <a:noFill/>
            <a:prstDash val="solid"/>
          </a:ln>
        </p:spPr>
        <p:txBody>
          <a:bodyPr wrap="none" lIns="0" tIns="0" rIns="0" bIns="0" anchor="t"/>
          <a:lstStyle/>
          <a:p>
            <a:pPr algn="l">
              <a:lnSpc>
                <a:spcPct val="100000"/>
              </a:lnSpc>
              <a:buNone/>
              <a:defRPr sz="1425" b="1" i="1">
                <a:solidFill>
                  <a:srgbClr val="003B25"/>
                </a:solidFill>
                <a:latin typeface="Arial"/>
                <a:ea typeface="Arial"/>
                <a:cs typeface="Arial"/>
              </a:defRPr>
            </a:pPr>
            <a:r>
              <a:rPr sz="1425" b="1" i="1">
                <a:solidFill>
                  <a:srgbClr val="003B25"/>
                </a:solidFill>
                <a:latin typeface="Arial"/>
                <a:ea typeface="Arial"/>
                <a:cs typeface="Arial"/>
              </a:rPr>
              <a:t>OCVS</a:t>
            </a:r>
          </a:p>
        </p:txBody>
      </p:sp>
      <p:sp>
        <p:nvSpPr>
          <p:cNvPr id="123" name="Rectangle 122">
            <a:extLst>
              <a:ext uri="{FF2B5EF4-FFF2-40B4-BE49-F238E27FC236}">
                <a16:creationId xmlns:a16="http://schemas.microsoft.com/office/drawing/2014/main" id="{26E3A4CB-A191-4116-9E6C-034FF0183445}"/>
              </a:ext>
            </a:extLst>
          </p:cNvPr>
          <p:cNvSpPr>
            <a:spLocks noGrp="1"/>
          </p:cNvSpPr>
          <p:nvPr/>
        </p:nvSpPr>
        <p:spPr>
          <a:xfrm>
            <a:off x="4171950" y="5257800"/>
            <a:ext cx="3143250" cy="238125"/>
          </a:xfrm>
          <a:prstGeom prst="rect">
            <a:avLst/>
          </a:prstGeom>
          <a:noFill/>
          <a:ln w="0">
            <a:noFill/>
            <a:prstDash val="solid"/>
          </a:ln>
        </p:spPr>
        <p:txBody>
          <a:bodyPr wrap="none" lIns="0" tIns="0" rIns="0" bIns="0" anchor="t"/>
          <a:lstStyle/>
          <a:p>
            <a:pPr algn="l">
              <a:lnSpc>
                <a:spcPct val="100000"/>
              </a:lnSpc>
              <a:buNone/>
              <a:defRPr sz="1425" b="0" i="1">
                <a:solidFill>
                  <a:srgbClr val="111111"/>
                </a:solidFill>
                <a:latin typeface="Arial"/>
                <a:ea typeface="Arial"/>
                <a:cs typeface="Arial"/>
              </a:defRPr>
            </a:pPr>
            <a:r>
              <a:rPr sz="1425" b="0" i="1">
                <a:solidFill>
                  <a:srgbClr val="111111"/>
                </a:solidFill>
                <a:latin typeface="Arial"/>
                <a:ea typeface="Arial"/>
                <a:cs typeface="Arial"/>
              </a:rPr>
              <a:t>while modernizing at your own pace with</a:t>
            </a:r>
          </a:p>
        </p:txBody>
      </p:sp>
      <p:sp>
        <p:nvSpPr>
          <p:cNvPr id="124" name="Rectangle 123">
            <a:extLst>
              <a:ext uri="{FF2B5EF4-FFF2-40B4-BE49-F238E27FC236}">
                <a16:creationId xmlns:a16="http://schemas.microsoft.com/office/drawing/2014/main" id="{E3CB548F-20CB-4AE6-95D1-70C28FD67522}"/>
              </a:ext>
            </a:extLst>
          </p:cNvPr>
          <p:cNvSpPr>
            <a:spLocks noGrp="1"/>
          </p:cNvSpPr>
          <p:nvPr/>
        </p:nvSpPr>
        <p:spPr>
          <a:xfrm>
            <a:off x="7524750" y="5257800"/>
            <a:ext cx="1333500" cy="238125"/>
          </a:xfrm>
          <a:prstGeom prst="rect">
            <a:avLst/>
          </a:prstGeom>
          <a:noFill/>
          <a:ln w="0">
            <a:noFill/>
            <a:prstDash val="solid"/>
          </a:ln>
        </p:spPr>
        <p:txBody>
          <a:bodyPr wrap="none" lIns="0" tIns="0" rIns="0" bIns="0" anchor="t"/>
          <a:lstStyle/>
          <a:p>
            <a:pPr algn="l">
              <a:lnSpc>
                <a:spcPct val="100000"/>
              </a:lnSpc>
              <a:buNone/>
              <a:defRPr sz="1425" b="1" i="1">
                <a:solidFill>
                  <a:srgbClr val="E5430A"/>
                </a:solidFill>
                <a:latin typeface="Arial"/>
                <a:ea typeface="Arial"/>
                <a:cs typeface="Arial"/>
              </a:defRPr>
            </a:pPr>
            <a:r>
              <a:rPr sz="1425" b="1" i="1">
                <a:solidFill>
                  <a:srgbClr val="E5430A"/>
                </a:solidFill>
                <a:latin typeface="Arial"/>
                <a:ea typeface="Arial"/>
                <a:cs typeface="Arial"/>
              </a:rPr>
              <a:t>OCI Compute.</a:t>
            </a:r>
          </a:p>
        </p:txBody>
      </p:sp>
      <p:sp>
        <p:nvSpPr>
          <p:cNvPr id="125" name="Rectangle 124">
            <a:extLst>
              <a:ext uri="{FF2B5EF4-FFF2-40B4-BE49-F238E27FC236}">
                <a16:creationId xmlns:a16="http://schemas.microsoft.com/office/drawing/2014/main" id="{BE8F7415-3E16-4AE8-B14C-D74162B1EEAC}"/>
              </a:ext>
            </a:extLst>
          </p:cNvPr>
          <p:cNvSpPr>
            <a:spLocks noGrp="1"/>
          </p:cNvSpPr>
          <p:nvPr/>
        </p:nvSpPr>
        <p:spPr>
          <a:xfrm>
            <a:off x="1409700" y="5524500"/>
            <a:ext cx="6096000" cy="238125"/>
          </a:xfrm>
          <a:prstGeom prst="rect">
            <a:avLst/>
          </a:prstGeom>
          <a:noFill/>
          <a:ln w="0">
            <a:noFill/>
            <a:prstDash val="solid"/>
          </a:ln>
        </p:spPr>
        <p:txBody>
          <a:bodyPr wrap="none" lIns="0" tIns="0" rIns="0" bIns="0" anchor="t"/>
          <a:lstStyle/>
          <a:p>
            <a:pPr algn="l">
              <a:lnSpc>
                <a:spcPct val="100000"/>
              </a:lnSpc>
              <a:buNone/>
              <a:defRPr sz="1350" b="0" i="1">
                <a:solidFill>
                  <a:srgbClr val="111111"/>
                </a:solidFill>
                <a:latin typeface="Arial"/>
                <a:ea typeface="Arial"/>
                <a:cs typeface="Arial"/>
              </a:defRPr>
            </a:pPr>
            <a:r>
              <a:rPr sz="1350" b="0" i="1">
                <a:solidFill>
                  <a:srgbClr val="111111"/>
                </a:solidFill>
                <a:latin typeface="Arial"/>
                <a:ea typeface="Arial"/>
                <a:cs typeface="Arial"/>
              </a:rPr>
              <a:t>A flexible hybrid approach to optimize costs, performance, and innovation.</a:t>
            </a:r>
          </a:p>
        </p:txBody>
      </p:sp>
      <p:sp>
        <p:nvSpPr>
          <p:cNvPr id="126" name="Straight Connector 125">
            <a:extLst>
              <a:ext uri="{FF2B5EF4-FFF2-40B4-BE49-F238E27FC236}">
                <a16:creationId xmlns:a16="http://schemas.microsoft.com/office/drawing/2014/main" id="{C0B2847E-8269-445B-87CC-57F01CEF7D6F}"/>
              </a:ext>
            </a:extLst>
          </p:cNvPr>
          <p:cNvSpPr>
            <a:spLocks noGrp="1"/>
          </p:cNvSpPr>
          <p:nvPr/>
        </p:nvSpPr>
        <p:spPr>
          <a:xfrm>
            <a:off x="257175" y="6096000"/>
            <a:ext cx="11677650" cy="0"/>
          </a:xfrm>
          <a:prstGeom prst="line">
            <a:avLst/>
          </a:prstGeom>
          <a:noFill/>
          <a:ln w="9525">
            <a:solidFill>
              <a:srgbClr val="E52323"/>
            </a:solidFill>
            <a:prstDash val="dot"/>
          </a:ln>
        </p:spPr>
        <p:txBody>
          <a:bodyPr/>
          <a:lstStyle/>
          <a:p>
            <a:endParaRPr lang="en-FR"/>
          </a:p>
        </p:txBody>
      </p:sp>
      <p:sp>
        <p:nvSpPr>
          <p:cNvPr id="127" name="Rectangle 126">
            <a:extLst>
              <a:ext uri="{FF2B5EF4-FFF2-40B4-BE49-F238E27FC236}">
                <a16:creationId xmlns:a16="http://schemas.microsoft.com/office/drawing/2014/main" id="{4885774E-B9A4-4502-AEA1-323DCFF9EB75}"/>
              </a:ext>
            </a:extLst>
          </p:cNvPr>
          <p:cNvSpPr>
            <a:spLocks noGrp="1"/>
          </p:cNvSpPr>
          <p:nvPr/>
        </p:nvSpPr>
        <p:spPr>
          <a:xfrm>
            <a:off x="257175" y="6400800"/>
            <a:ext cx="2667000" cy="171450"/>
          </a:xfrm>
          <a:prstGeom prst="rect">
            <a:avLst/>
          </a:prstGeom>
          <a:noFill/>
          <a:ln w="0">
            <a:noFill/>
            <a:prstDash val="solid"/>
          </a:ln>
        </p:spPr>
        <p:txBody>
          <a:bodyPr wrap="none" lIns="0" tIns="0" rIns="0" bIns="0" anchor="t"/>
          <a:lstStyle/>
          <a:p>
            <a:pPr algn="l">
              <a:lnSpc>
                <a:spcPct val="100000"/>
              </a:lnSpc>
              <a:buNone/>
              <a:defRPr sz="750" b="0" i="0">
                <a:solidFill>
                  <a:srgbClr val="4F4F4F"/>
                </a:solidFill>
                <a:latin typeface="Arial"/>
                <a:ea typeface="Arial"/>
                <a:cs typeface="Arial"/>
              </a:defRPr>
            </a:pPr>
            <a:r>
              <a:rPr sz="750" b="0" i="0">
                <a:solidFill>
                  <a:srgbClr val="4F4F4F"/>
                </a:solidFill>
                <a:latin typeface="Arial"/>
                <a:ea typeface="Arial"/>
                <a:cs typeface="Arial"/>
              </a:rPr>
              <a:t>Copyright © 2026, Oracle and/or its affiliates</a:t>
            </a:r>
          </a:p>
        </p:txBody>
      </p:sp>
      <p:pic>
        <p:nvPicPr>
          <p:cNvPr id="256" name="Picture 255"/>
          <p:cNvPicPr>
            <a:picLocks noChangeAspect="1"/>
          </p:cNvPicPr>
          <p:nvPr/>
        </p:nvPicPr>
        <p:blipFill>
          <a:blip r:embed="rId16"/>
          <a:stretch/>
        </p:blipFill>
        <p:spPr>
          <a:xfrm>
            <a:off x="11410950" y="6204706"/>
            <a:ext cx="476250" cy="506488"/>
          </a:xfrm>
          <a:prstGeom prst="rect">
            <a:avLst/>
          </a:prstGeom>
        </p:spPr>
      </p:pic>
    </p:spTree>
    <p:extLst>
      <p:ext uri="{BB962C8B-B14F-4D97-AF65-F5344CB8AC3E}">
        <p14:creationId xmlns:p14="http://schemas.microsoft.com/office/powerpoint/2010/main" val="133556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75864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825c952f-1947-4719-99e7-7bc5a76060a8}" enabled="1" method="Standard" siteId="{4e2c6054-71cb-48f1-bd6c-3a9705aca71b}" contentBits="3" removed="0"/>
</clbl:labelList>
</file>

<file path=docProps/app.xml><?xml version="1.0" encoding="utf-8"?>
<Properties xmlns="http://schemas.openxmlformats.org/officeDocument/2006/extended-properties" xmlns:vt="http://schemas.openxmlformats.org/officeDocument/2006/docPropsVTypes">
  <TotalTime>57</TotalTime>
  <Words>881</Words>
  <Application>Microsoft Macintosh PowerPoint</Application>
  <DocSecurity>0</DocSecurity>
  <PresentationFormat>Widescreen</PresentationFormat>
  <Paragraphs>214</Paragraphs>
  <Slides>6</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Yoann JOSPITRE</cp:lastModifiedBy>
  <cp:revision>9</cp:revision>
  <dcterms:created xsi:type="dcterms:W3CDTF">2026-08-13T14:02:46Z</dcterms:created>
  <dcterms:modified xsi:type="dcterms:W3CDTF">2026-08-13T15:20:09Z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ChatGPT:5</vt:lpwstr>
  </property>
  <property fmtid="{D5CDD505-2E9C-101B-9397-08002B2CF9AE}" pid="3" name="ClassificationContentMarkingFooterText">
    <vt:lpwstr>Confidential - Oracle Restricted \Employees Only</vt:lpwstr>
  </property>
  <property fmtid="{D5CDD505-2E9C-101B-9397-08002B2CF9AE}" pid="4" name="ClassificationContentMarkingHeaderLocations">
    <vt:lpwstr>ChatGPT:4</vt:lpwstr>
  </property>
  <property fmtid="{D5CDD505-2E9C-101B-9397-08002B2CF9AE}" pid="5" name="ClassificationContentMarkingHeaderText">
    <vt:lpwstr>Confidential - Oracle Restricted \Employees Only</vt:lpwstr>
  </property>
</Properties>
</file>