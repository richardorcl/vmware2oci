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57837f56f24ba1" /><Relationship Type="http://schemas.openxmlformats.org/officeDocument/2006/relationships/extended-properties" Target="/docProps/app.xml" Id="R5d714d56d5c84009" /><Relationship Type="http://schemas.openxmlformats.org/officeDocument/2006/relationships/officeDocument" Target="/ppt/presentation.xml" Id="R16e11957d4bf4547" /></Relationships>
</file>

<file path=ppt/presentation.xml><?xml version="1.0" encoding="utf-8"?>
<p:presentation xmlns:p="http://schemas.openxmlformats.org/presentationml/2006/main">
  <p:sldMasterIdLst>
    <p:sldMasterId xmlns:r="http://schemas.openxmlformats.org/officeDocument/2006/relationships" id="2147483648" r:id="R5c3a67d5ef464e49"/>
  </p:sldMasterIdLst>
  <p:notesMasterIdLst>
    <p:notesMasterId xmlns:r="http://schemas.openxmlformats.org/officeDocument/2006/relationships" r:id="R5e3eb14088544640"/>
  </p:notesMasterIdLst>
  <p:sldIdLst>
    <p:sldId xmlns:r="http://schemas.openxmlformats.org/officeDocument/2006/relationships" id="256" r:id="R0661e0ec9f714780"/>
    <p:sldId xmlns:r="http://schemas.openxmlformats.org/officeDocument/2006/relationships" id="257" r:id="R497f6715acf8444c"/>
    <p:sldId xmlns:r="http://schemas.openxmlformats.org/officeDocument/2006/relationships" id="258" r:id="R9f21be879cfd4f6d"/>
    <p:sldId xmlns:r="http://schemas.openxmlformats.org/officeDocument/2006/relationships" id="259" r:id="R1130b60f57f84535"/>
    <p:sldId xmlns:r="http://schemas.openxmlformats.org/officeDocument/2006/relationships" id="260" r:id="Rf2d64f48c55e425d"/>
    <p:sldId xmlns:r="http://schemas.openxmlformats.org/officeDocument/2006/relationships" id="261" r:id="Rb0f37d15fc7245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c45f3ad76c3496d" /><Relationship Type="http://schemas.openxmlformats.org/officeDocument/2006/relationships/slideMaster" Target="/ppt/slideMasters/slideMaster1.xml" Id="R5c3a67d5ef464e49" /><Relationship Type="http://schemas.openxmlformats.org/officeDocument/2006/relationships/notesMaster" Target="/ppt/notesMasters/notesMaster1.xml" Id="R5e3eb14088544640" /><Relationship Type="http://schemas.openxmlformats.org/officeDocument/2006/relationships/presProps" Target="/ppt/presProps.xml" Id="R8b105b3ed2f24af1" /><Relationship Type="http://schemas.openxmlformats.org/officeDocument/2006/relationships/viewProps" Target="/ppt/viewProps.xml" Id="R388753ee0bc647e2" /><Relationship Type="http://schemas.openxmlformats.org/officeDocument/2006/relationships/tableStyles" Target="/ppt/tableStyles.xml" Id="R93aa40bc76554a46" /><Relationship Type="http://schemas.openxmlformats.org/officeDocument/2006/relationships/slide" Target="/ppt/slides/slide1.xml" Id="R0661e0ec9f714780" /><Relationship Type="http://schemas.openxmlformats.org/officeDocument/2006/relationships/slide" Target="/ppt/slides/slide2.xml" Id="R497f6715acf8444c" /><Relationship Type="http://schemas.openxmlformats.org/officeDocument/2006/relationships/slide" Target="/ppt/slides/slide3.xml" Id="R9f21be879cfd4f6d" /><Relationship Type="http://schemas.openxmlformats.org/officeDocument/2006/relationships/slide" Target="/ppt/slides/slide4.xml" Id="R1130b60f57f84535" /><Relationship Type="http://schemas.openxmlformats.org/officeDocument/2006/relationships/slide" Target="/ppt/slides/slide5.xml" Id="Rf2d64f48c55e425d" /><Relationship Type="http://schemas.openxmlformats.org/officeDocument/2006/relationships/slide" Target="/ppt/slides/slide6.xml" Id="Rb0f37d15fc7245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641b31c6154a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add381cf444456" /><Relationship Type="http://schemas.openxmlformats.org/officeDocument/2006/relationships/notesMaster" Target="/ppt/notesMasters/notesMaster1.xml" Id="R8b999fa5ba354d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e83f69337d4ec6" /><Relationship Type="http://schemas.openxmlformats.org/officeDocument/2006/relationships/notesMaster" Target="/ppt/notesMasters/notesMaster1.xml" Id="R61c8afacd5904d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0368d68e034141" /><Relationship Type="http://schemas.openxmlformats.org/officeDocument/2006/relationships/notesMaster" Target="/ppt/notesMasters/notesMaster1.xml" Id="Rd911d16a9cf443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50790de0fa4715" /><Relationship Type="http://schemas.openxmlformats.org/officeDocument/2006/relationships/notesMaster" Target="/ppt/notesMasters/notesMaster1.xml" Id="Re132930f678f48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c14f1f79a04671" /><Relationship Type="http://schemas.openxmlformats.org/officeDocument/2006/relationships/notesMaster" Target="/ppt/notesMasters/notesMaster1.xml" Id="Rce1d90eb82f74b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fb8ace2fb247ef" /><Relationship Type="http://schemas.openxmlformats.org/officeDocument/2006/relationships/notesMaster" Target="/ppt/notesMasters/notesMaster1.xml" Id="Rf9ca5ace337c4f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1 of the provided PowerPoint. Oracle logo, Oracle mark, row icons, and the right-side Oracle Cloud VMware Solution illustration are kept as cropped image assets from the source. Visible title, sizing label, and customer/date/prepared-by text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2 of the provided PowerPoint. Oracle logo and all icons/pictograms are kept as cropped image assets from the source. Text, panels, arrows, table-like labels, callout, separators, and business-outcome copy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3 of the provided PowerPoint. Oracle logo, Oracle mark, and all metric/panel icons are kept as cropped image assets from the source. Title, explanatory text, architecture table, cluster card, values, callout, footer, panels, and separators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4 of the provided PowerPoint. Oracle logo is kept as a cropped image asset from the source; confidentiality labels and grey background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acd817c46949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f3839afe4642b4" /><Relationship Type="http://schemas.openxmlformats.org/officeDocument/2006/relationships/slideLayout" Target="/ppt/slideLayouts/slideLayout1.xml" Id="Rb1100b34721e4f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100b34721e4f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8e748b660548aa" /><Relationship Type="http://schemas.openxmlformats.org/officeDocument/2006/relationships/image" Target="/ppt/media/image.png" Id="R390a47a10aaa4578" /><Relationship Type="http://schemas.openxmlformats.org/officeDocument/2006/relationships/image" Target="/ppt/media/image2.png" Id="Rb97141df64534ad4" /><Relationship Type="http://schemas.openxmlformats.org/officeDocument/2006/relationships/image" Target="/ppt/media/image3.png" Id="R7702d711405f4f4e" /><Relationship Type="http://schemas.openxmlformats.org/officeDocument/2006/relationships/image" Target="/ppt/media/image4.png" Id="Ra5dfd94dac554dfe" /><Relationship Type="http://schemas.openxmlformats.org/officeDocument/2006/relationships/image" Target="/ppt/media/image5.png" Id="R836ee290ab89440a" /><Relationship Type="http://schemas.openxmlformats.org/officeDocument/2006/relationships/image" Target="/ppt/media/image6.png" Id="Rc340376491844a59" /><Relationship Type="http://schemas.openxmlformats.org/officeDocument/2006/relationships/notesSlide" Target="/ppt/notesSlides/notesSlide1.xml" Id="R19709d3551cf4c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748f5266664c8c" /><Relationship Type="http://schemas.openxmlformats.org/officeDocument/2006/relationships/image" Target="/ppt/media/image7.png" Id="Rb3112608ce744fef" /><Relationship Type="http://schemas.openxmlformats.org/officeDocument/2006/relationships/image" Target="/ppt/media/image8.png" Id="Rde8f8b56ef5d478b" /><Relationship Type="http://schemas.openxmlformats.org/officeDocument/2006/relationships/image" Target="/ppt/media/image9.png" Id="R1b0ea4532727434e" /><Relationship Type="http://schemas.openxmlformats.org/officeDocument/2006/relationships/image" Target="/ppt/media/image10.png" Id="R3e2479ebe2b34cd6" /><Relationship Type="http://schemas.openxmlformats.org/officeDocument/2006/relationships/image" Target="/ppt/media/image11.png" Id="Ra19bd0f97c074438" /><Relationship Type="http://schemas.openxmlformats.org/officeDocument/2006/relationships/image" Target="/ppt/media/image12.png" Id="Rc93a81d671de4b91" /><Relationship Type="http://schemas.openxmlformats.org/officeDocument/2006/relationships/image" Target="/ppt/media/image13.png" Id="Rf90a0b796ede409a" /><Relationship Type="http://schemas.openxmlformats.org/officeDocument/2006/relationships/image" Target="/ppt/media/image14.png" Id="R24c41a38ae544760" /><Relationship Type="http://schemas.openxmlformats.org/officeDocument/2006/relationships/image" Target="/ppt/media/image15.png" Id="R70ff2081d74f4797" /><Relationship Type="http://schemas.openxmlformats.org/officeDocument/2006/relationships/image" Target="/ppt/media/image16.png" Id="R958d3a07852244b8" /><Relationship Type="http://schemas.openxmlformats.org/officeDocument/2006/relationships/image" Target="/ppt/media/image17.png" Id="R7bc2004d16f5441a" /><Relationship Type="http://schemas.openxmlformats.org/officeDocument/2006/relationships/image" Target="/ppt/media/image18.png" Id="Rba9fe86c452a4b4d" /><Relationship Type="http://schemas.openxmlformats.org/officeDocument/2006/relationships/image" Target="/ppt/media/image19.png" Id="R24c22f9f85f94a1c" /><Relationship Type="http://schemas.openxmlformats.org/officeDocument/2006/relationships/image" Target="/ppt/media/image20.png" Id="R71dff2339fa44ca1" /><Relationship Type="http://schemas.openxmlformats.org/officeDocument/2006/relationships/image" Target="/ppt/media/image21.png" Id="Rd775216f79b54792" /><Relationship Type="http://schemas.openxmlformats.org/officeDocument/2006/relationships/image" Target="/ppt/media/image22.png" Id="Rbc158c256e9e4675" /><Relationship Type="http://schemas.openxmlformats.org/officeDocument/2006/relationships/image" Target="/ppt/media/image23.png" Id="R94428057d3f94d8b" /><Relationship Type="http://schemas.openxmlformats.org/officeDocument/2006/relationships/image" Target="/ppt/media/image24.png" Id="R22c4857fb746441c" /><Relationship Type="http://schemas.openxmlformats.org/officeDocument/2006/relationships/image" Target="/ppt/media/image25.png" Id="R84a6baf55bd34cc7" /><Relationship Type="http://schemas.openxmlformats.org/officeDocument/2006/relationships/image" Target="/ppt/media/image26.png" Id="R215b5ea84c734a74" /><Relationship Type="http://schemas.openxmlformats.org/officeDocument/2006/relationships/image" Target="/ppt/media/image27.png" Id="Ra483622170f44c55" /><Relationship Type="http://schemas.openxmlformats.org/officeDocument/2006/relationships/image" Target="/ppt/media/image28.png" Id="R2afb98e73730482d" /><Relationship Type="http://schemas.openxmlformats.org/officeDocument/2006/relationships/image" Target="/ppt/media/image29.png" Id="Rfe1aec93ea86424a" /><Relationship Type="http://schemas.openxmlformats.org/officeDocument/2006/relationships/image" Target="/ppt/media/image30.png" Id="R6271dd0e41b44033" /><Relationship Type="http://schemas.openxmlformats.org/officeDocument/2006/relationships/image" Target="/ppt/media/image31.png" Id="R4bc3a2fc07fb4541" /><Relationship Type="http://schemas.openxmlformats.org/officeDocument/2006/relationships/image" Target="/ppt/media/image32.png" Id="Rd1afe59c81614d88" /><Relationship Type="http://schemas.openxmlformats.org/officeDocument/2006/relationships/notesSlide" Target="/ppt/notesSlides/notesSlide2.xml" Id="R0f6871161e684c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a5b4aa72f7430b" /><Relationship Type="http://schemas.openxmlformats.org/officeDocument/2006/relationships/image" Target="/ppt/media/image33.png" Id="Rfd1c4d0855a04c5b" /><Relationship Type="http://schemas.openxmlformats.org/officeDocument/2006/relationships/image" Target="/ppt/media/image34.png" Id="Rdea34cef8c514255" /><Relationship Type="http://schemas.openxmlformats.org/officeDocument/2006/relationships/image" Target="/ppt/media/image35.png" Id="Rba8e0c05ea7c4bdc" /><Relationship Type="http://schemas.openxmlformats.org/officeDocument/2006/relationships/image" Target="/ppt/media/image36.png" Id="Re7871e782f944fdb" /><Relationship Type="http://schemas.openxmlformats.org/officeDocument/2006/relationships/image" Target="/ppt/media/image37.png" Id="R65312b27ff664e87" /><Relationship Type="http://schemas.openxmlformats.org/officeDocument/2006/relationships/image" Target="/ppt/media/image38.png" Id="Rf6ee1fc101364358" /><Relationship Type="http://schemas.openxmlformats.org/officeDocument/2006/relationships/image" Target="/ppt/media/image39.png" Id="R19ff1d964c774ee4" /><Relationship Type="http://schemas.openxmlformats.org/officeDocument/2006/relationships/image" Target="/ppt/media/image40.png" Id="R3ca423e951ee4210" /><Relationship Type="http://schemas.openxmlformats.org/officeDocument/2006/relationships/image" Target="/ppt/media/image41.png" Id="R5126795b067a48fc" /><Relationship Type="http://schemas.openxmlformats.org/officeDocument/2006/relationships/notesSlide" Target="/ppt/notesSlides/notesSlide3.xml" Id="Rf4ce6f0b235246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85a891e9f94a9a" /><Relationship Type="http://schemas.openxmlformats.org/officeDocument/2006/relationships/image" Target="/ppt/media/image42.png" Id="R50cabb2107e64f0d" /><Relationship Type="http://schemas.openxmlformats.org/officeDocument/2006/relationships/image" Target="/ppt/media/image43.png" Id="R711a1c8b5c8d42a5" /><Relationship Type="http://schemas.openxmlformats.org/officeDocument/2006/relationships/image" Target="/ppt/media/image44.png" Id="Rf494c7f565584434" /><Relationship Type="http://schemas.openxmlformats.org/officeDocument/2006/relationships/image" Target="/ppt/media/image45.png" Id="Rf8661af552f84051" /><Relationship Type="http://schemas.openxmlformats.org/officeDocument/2006/relationships/image" Target="/ppt/media/image46.png" Id="R6a1472f70d0b46a1" /><Relationship Type="http://schemas.openxmlformats.org/officeDocument/2006/relationships/image" Target="/ppt/media/image47.png" Id="R47087a1173374bd7" /><Relationship Type="http://schemas.openxmlformats.org/officeDocument/2006/relationships/image" Target="/ppt/media/image48.png" Id="R3fee820e3672420d" /><Relationship Type="http://schemas.openxmlformats.org/officeDocument/2006/relationships/image" Target="/ppt/media/image49.png" Id="Rab1e09f8d9f64f88" /><Relationship Type="http://schemas.openxmlformats.org/officeDocument/2006/relationships/image" Target="/ppt/media/image50.png" Id="R46b4b6bbed0d4457" /><Relationship Type="http://schemas.openxmlformats.org/officeDocument/2006/relationships/image" Target="/ppt/media/image51.png" Id="Rdc3eca1e357c4a04" /><Relationship Type="http://schemas.openxmlformats.org/officeDocument/2006/relationships/image" Target="/ppt/media/image52.png" Id="R1792f9e5af024163" /><Relationship Type="http://schemas.openxmlformats.org/officeDocument/2006/relationships/image" Target="/ppt/media/image53.png" Id="R42d036f9283d4dec" /><Relationship Type="http://schemas.openxmlformats.org/officeDocument/2006/relationships/image" Target="/ppt/media/image54.png" Id="R60c3d57624494957" /><Relationship Type="http://schemas.openxmlformats.org/officeDocument/2006/relationships/notesSlide" Target="/ppt/notesSlides/notesSlide4.xml" Id="R731d7014bc6946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f419b31d3242e7" /><Relationship Type="http://schemas.openxmlformats.org/officeDocument/2006/relationships/image" Target="/ppt/media/image55.png" Id="R6e81db66924e4b2a" /><Relationship Type="http://schemas.openxmlformats.org/officeDocument/2006/relationships/image" Target="/ppt/media/image56.png" Id="Re69ff2b4db8e4c84" /><Relationship Type="http://schemas.openxmlformats.org/officeDocument/2006/relationships/image" Target="/ppt/media/image57.png" Id="Re1fb9c925e3c4268" /><Relationship Type="http://schemas.openxmlformats.org/officeDocument/2006/relationships/image" Target="/ppt/media/image58.png" Id="Rdee431b61df54ed4" /><Relationship Type="http://schemas.openxmlformats.org/officeDocument/2006/relationships/image" Target="/ppt/media/image59.png" Id="Ra7a6addba783413c" /><Relationship Type="http://schemas.openxmlformats.org/officeDocument/2006/relationships/image" Target="/ppt/media/image60.png" Id="Ree66ecd990dc4597" /><Relationship Type="http://schemas.openxmlformats.org/officeDocument/2006/relationships/image" Target="/ppt/media/image61.png" Id="R12ca3386eec345d3" /><Relationship Type="http://schemas.openxmlformats.org/officeDocument/2006/relationships/image" Target="/ppt/media/image62.png" Id="R6dd565a9a5fa42d7" /><Relationship Type="http://schemas.openxmlformats.org/officeDocument/2006/relationships/image" Target="/ppt/media/image63.png" Id="R39a1d3a02767447e" /><Relationship Type="http://schemas.openxmlformats.org/officeDocument/2006/relationships/image" Target="/ppt/media/image64.png" Id="Re7a7a9bf441a4daa" /><Relationship Type="http://schemas.openxmlformats.org/officeDocument/2006/relationships/image" Target="/ppt/media/image65.png" Id="R3548406ba33b48d7" /><Relationship Type="http://schemas.openxmlformats.org/officeDocument/2006/relationships/image" Target="/ppt/media/image66.png" Id="Rb6f1498922954ca7" /><Relationship Type="http://schemas.openxmlformats.org/officeDocument/2006/relationships/image" Target="/ppt/media/image67.png" Id="R44bcae6f3c314399" /><Relationship Type="http://schemas.openxmlformats.org/officeDocument/2006/relationships/image" Target="/ppt/media/image6.png" Id="R7b03c7c0337a4989" /><Relationship Type="http://schemas.openxmlformats.org/officeDocument/2006/relationships/notesSlide" Target="/ppt/notesSlides/notesSlide5.xml" Id="Rda6406a4c04e4f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e36ba592dd4577" /><Relationship Type="http://schemas.openxmlformats.org/officeDocument/2006/relationships/image" Target="/ppt/media/image68.png" Id="R3cff8b9321084c5b" /><Relationship Type="http://schemas.openxmlformats.org/officeDocument/2006/relationships/notesSlide" Target="/ppt/notesSlides/notesSlide6.xml" Id="Rab10f6e9ac0c4a75" /></Relationships>
</file>

<file path=ppt/slides/slide1.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4696C5B5-BCFA-4425-B931-C6A2F4CF4A25}"/>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375AA658-C774-489C-98AA-71460C4C75DC}"/>
              </a:ext>
            </a:extLst>
          </p:cNvPr>
          <p:cNvSpPr>
            <a:spLocks xmlns:a="http://schemas.openxmlformats.org/drawingml/2006/main" noGrp="1"/>
          </p:cNvSpPr>
          <p:nvPr/>
        </p:nvSpPr>
        <p:spPr>
          <a:xfrm xmlns:a="http://schemas.openxmlformats.org/drawingml/2006/main">
            <a:off x="4486275"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F6E5068-3122-4247-9AB7-38EBFA209EEF}"/>
              </a:ext>
            </a:extLst>
          </p:cNvPr>
          <p:cNvSpPr>
            <a:spLocks xmlns:a="http://schemas.openxmlformats.org/drawingml/2006/main" noGrp="1"/>
          </p:cNvSpPr>
          <p:nvPr/>
        </p:nvSpPr>
        <p:spPr>
          <a:xfrm xmlns:a="http://schemas.openxmlformats.org/drawingml/2006/main">
            <a:off x="5143500" y="56197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7BF01C8E-6137-4231-8D77-A754E49C2571}"/>
              </a:ext>
            </a:extLst>
          </p:cNvPr>
          <p:cNvSpPr>
            <a:spLocks xmlns:a="http://schemas.openxmlformats.org/drawingml/2006/main" noGrp="1"/>
          </p:cNvSpPr>
          <p:nvPr/>
        </p:nvSpPr>
        <p:spPr>
          <a:xfrm xmlns:a="http://schemas.openxmlformats.org/drawingml/2006/main">
            <a:off x="6210300" y="3714750"/>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F10343F5-2252-4F30-81D6-73B33763131E}"/>
              </a:ext>
            </a:extLst>
          </p:cNvPr>
          <p:cNvSpPr>
            <a:spLocks xmlns:a="http://schemas.openxmlformats.org/drawingml/2006/main" noGrp="1"/>
          </p:cNvSpPr>
          <p:nvPr/>
        </p:nvSpPr>
        <p:spPr>
          <a:xfrm xmlns:a="http://schemas.openxmlformats.org/drawingml/2006/main">
            <a:off x="113157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6BA590D-5274-475F-AEBD-A987F53BBD38}"/>
              </a:ext>
            </a:extLst>
          </p:cNvPr>
          <p:cNvSpPr>
            <a:spLocks xmlns:a="http://schemas.openxmlformats.org/drawingml/2006/main" noGrp="1"/>
          </p:cNvSpPr>
          <p:nvPr/>
        </p:nvSpPr>
        <p:spPr>
          <a:xfrm xmlns:a="http://schemas.openxmlformats.org/drawingml/2006/main">
            <a:off x="118110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2F11CAD1-90ED-4491-A3BE-A83AEE7C6506}"/>
              </a:ext>
            </a:extLst>
          </p:cNvPr>
          <p:cNvSpPr>
            <a:spLocks xmlns:a="http://schemas.openxmlformats.org/drawingml/2006/main" noGrp="1"/>
          </p:cNvSpPr>
          <p:nvPr/>
        </p:nvSpPr>
        <p:spPr>
          <a:xfrm xmlns:a="http://schemas.openxmlformats.org/drawingml/2006/main">
            <a:off x="4486275" y="38766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17FB2515-F71F-4A18-8796-33CCAB489220}"/>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752F6077-993B-4744-8476-4A5DEA11BC42}"/>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45" name="Picture 37"/>
          <p:cNvPicPr>
            <a:picLocks xmlns:a="http://schemas.openxmlformats.org/drawingml/2006/main" noChangeAspect="1"/>
          </p:cNvPicPr>
          <p:nvPr/>
        </p:nvPicPr>
        <p:blipFill>
          <a:blip xmlns:r="http://schemas.openxmlformats.org/officeDocument/2006/relationships" xmlns:a="http://schemas.openxmlformats.org/drawingml/2006/main" r:embed="R390a47a10aaa4578"/>
          <a:stretch xmlns:a="http://schemas.openxmlformats.org/drawingml/2006/main"/>
        </p:blipFill>
        <p:spPr>
          <a:xfrm xmlns:a="http://schemas.openxmlformats.org/drawingml/2006/main">
            <a:off x="333375" y="295275"/>
            <a:ext cx="2152650" cy="704850"/>
          </a:xfrm>
          <a:prstGeom xmlns:a="http://schemas.openxmlformats.org/drawingml/2006/main" prst="rect">
            <a:avLst/>
          </a:prstGeom>
        </p:spPr>
      </p:pic>
      <p:pic>
        <p:nvPicPr>
          <p:cNvPr id="46" name="Picture 38"/>
          <p:cNvPicPr>
            <a:picLocks xmlns:a="http://schemas.openxmlformats.org/drawingml/2006/main" noChangeAspect="1"/>
          </p:cNvPicPr>
          <p:nvPr/>
        </p:nvPicPr>
        <p:blipFill>
          <a:blip xmlns:r="http://schemas.openxmlformats.org/officeDocument/2006/relationships" xmlns:a="http://schemas.openxmlformats.org/drawingml/2006/main" r:embed="Rb97141df64534ad4"/>
          <a:stretch xmlns:a="http://schemas.openxmlformats.org/drawingml/2006/main"/>
        </p:blipFill>
        <p:spPr>
          <a:xfrm xmlns:a="http://schemas.openxmlformats.org/drawingml/2006/main">
            <a:off x="6096000" y="476250"/>
            <a:ext cx="5524500" cy="500062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BE18B706-8D3E-4081-9607-FAFE11CAC30D}"/>
              </a:ext>
            </a:extLst>
          </p:cNvPr>
          <p:cNvSpPr>
            <a:spLocks xmlns:a="http://schemas.openxmlformats.org/drawingml/2006/main" noGrp="1"/>
          </p:cNvSpPr>
          <p:nvPr/>
        </p:nvSpPr>
        <p:spPr>
          <a:xfrm xmlns:a="http://schemas.openxmlformats.org/drawingml/2006/main">
            <a:off x="361950" y="173355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Oracle Cloud</a:t>
            </a:r>
          </a:p>
        </p:txBody>
      </p:sp>
      <p:sp>
        <p:nvSpPr>
          <p:cNvPr id="13" name="Rectangle 12">
            <a:extLst xmlns:a="http://schemas.openxmlformats.org/drawingml/2006/main">
              <a:ext uri="{FF2B5EF4-FFF2-40B4-BE49-F238E27FC236}">
                <a16:creationId xmlns:a16="http://schemas.microsoft.com/office/drawing/2014/main" id="{013ED40B-2727-41E5-9FA9-6767E03C6F90}"/>
              </a:ext>
            </a:extLst>
          </p:cNvPr>
          <p:cNvSpPr>
            <a:spLocks xmlns:a="http://schemas.openxmlformats.org/drawingml/2006/main" noGrp="1"/>
          </p:cNvSpPr>
          <p:nvPr/>
        </p:nvSpPr>
        <p:spPr>
          <a:xfrm xmlns:a="http://schemas.openxmlformats.org/drawingml/2006/main">
            <a:off x="361950" y="24003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VMware Solution</a:t>
            </a:r>
          </a:p>
        </p:txBody>
      </p:sp>
      <p:sp>
        <p:nvSpPr>
          <p:cNvPr id="14" name="Rectangle 13">
            <a:extLst xmlns:a="http://schemas.openxmlformats.org/drawingml/2006/main">
              <a:ext uri="{FF2B5EF4-FFF2-40B4-BE49-F238E27FC236}">
                <a16:creationId xmlns:a16="http://schemas.microsoft.com/office/drawing/2014/main" id="{E87D35AF-65D4-4A89-A0BA-254325912F36}"/>
              </a:ext>
            </a:extLst>
          </p:cNvPr>
          <p:cNvSpPr>
            <a:spLocks xmlns:a="http://schemas.openxmlformats.org/drawingml/2006/main" noGrp="1"/>
          </p:cNvSpPr>
          <p:nvPr/>
        </p:nvSpPr>
        <p:spPr>
          <a:xfrm xmlns:a="http://schemas.openxmlformats.org/drawingml/2006/main">
            <a:off x="419100" y="3429000"/>
            <a:ext cx="51435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6DCC6015-522F-4A3D-A984-81E7C719726B}"/>
              </a:ext>
            </a:extLst>
          </p:cNvPr>
          <p:cNvSpPr>
            <a:spLocks xmlns:a="http://schemas.openxmlformats.org/drawingml/2006/main" noGrp="1"/>
          </p:cNvSpPr>
          <p:nvPr/>
        </p:nvSpPr>
        <p:spPr>
          <a:xfrm xmlns:a="http://schemas.openxmlformats.org/drawingml/2006/main">
            <a:off x="419100" y="375285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Proposed Sizing</a:t>
            </a:r>
          </a:p>
        </p:txBody>
      </p:sp>
      <p:pic>
        <p:nvPicPr>
          <p:cNvPr id="51" name="Picture 43"/>
          <p:cNvPicPr>
            <a:picLocks xmlns:a="http://schemas.openxmlformats.org/drawingml/2006/main" noChangeAspect="1"/>
          </p:cNvPicPr>
          <p:nvPr/>
        </p:nvPicPr>
        <p:blipFill>
          <a:blip xmlns:r="http://schemas.openxmlformats.org/officeDocument/2006/relationships" xmlns:a="http://schemas.openxmlformats.org/drawingml/2006/main" r:embed="R7702d711405f4f4e"/>
          <a:stretch xmlns:a="http://schemas.openxmlformats.org/drawingml/2006/main"/>
        </p:blipFill>
        <p:spPr>
          <a:xfrm xmlns:a="http://schemas.openxmlformats.org/drawingml/2006/main">
            <a:off x="409575" y="4514850"/>
            <a:ext cx="466725" cy="466725"/>
          </a:xfrm>
          <a:prstGeom xmlns:a="http://schemas.openxmlformats.org/drawingml/2006/main" prst="rect">
            <a:avLst/>
          </a:prstGeom>
        </p:spPr>
      </p:pic>
      <p:sp>
        <p:nvSpPr>
          <p:cNvPr id="17" name="Straight Connector 16">
            <a:extLst xmlns:a="http://schemas.openxmlformats.org/drawingml/2006/main">
              <a:ext uri="{FF2B5EF4-FFF2-40B4-BE49-F238E27FC236}">
                <a16:creationId xmlns:a16="http://schemas.microsoft.com/office/drawing/2014/main" id="{766A464C-B41C-4A32-B41D-BFAE1B316D1B}"/>
              </a:ext>
            </a:extLst>
          </p:cNvPr>
          <p:cNvSpPr>
            <a:spLocks xmlns:a="http://schemas.openxmlformats.org/drawingml/2006/main" noGrp="1"/>
          </p:cNvSpPr>
          <p:nvPr/>
        </p:nvSpPr>
        <p:spPr>
          <a:xfrm xmlns:a="http://schemas.openxmlformats.org/drawingml/2006/main">
            <a:off x="1028700" y="453390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94955B22-66CD-4132-A773-8F5CF23333EC}"/>
              </a:ext>
            </a:extLst>
          </p:cNvPr>
          <p:cNvSpPr>
            <a:spLocks xmlns:a="http://schemas.openxmlformats.org/drawingml/2006/main" noGrp="1"/>
          </p:cNvSpPr>
          <p:nvPr/>
        </p:nvSpPr>
        <p:spPr>
          <a:xfrm xmlns:a="http://schemas.openxmlformats.org/drawingml/2006/main">
            <a:off x="1190625" y="45815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9" name="editable-customer-value">
            <a:extLst xmlns:a="http://schemas.openxmlformats.org/drawingml/2006/main">
              <a:ext uri="{FF2B5EF4-FFF2-40B4-BE49-F238E27FC236}">
                <a16:creationId xmlns:a16="http://schemas.microsoft.com/office/drawing/2014/main" id="{BE76D494-55F5-4B36-BA24-6D15C411EBCA}"/>
              </a:ext>
            </a:extLst>
          </p:cNvPr>
          <p:cNvSpPr>
            <a:spLocks xmlns:a="http://schemas.openxmlformats.org/drawingml/2006/main" noGrp="1"/>
          </p:cNvSpPr>
          <p:nvPr/>
        </p:nvSpPr>
        <p:spPr>
          <a:xfrm xmlns:a="http://schemas.openxmlformats.org/drawingml/2006/main">
            <a:off x="1190625" y="4838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55" name="Picture 47"/>
          <p:cNvPicPr>
            <a:picLocks xmlns:a="http://schemas.openxmlformats.org/drawingml/2006/main" noChangeAspect="1"/>
          </p:cNvPicPr>
          <p:nvPr/>
        </p:nvPicPr>
        <p:blipFill>
          <a:blip xmlns:r="http://schemas.openxmlformats.org/officeDocument/2006/relationships" xmlns:a="http://schemas.openxmlformats.org/drawingml/2006/main" r:embed="Ra5dfd94dac554dfe"/>
          <a:stretch xmlns:a="http://schemas.openxmlformats.org/drawingml/2006/main"/>
        </p:blipFill>
        <p:spPr>
          <a:xfrm xmlns:a="http://schemas.openxmlformats.org/drawingml/2006/main">
            <a:off x="409575" y="5133975"/>
            <a:ext cx="466725" cy="466725"/>
          </a:xfrm>
          <a:prstGeom xmlns:a="http://schemas.openxmlformats.org/drawingml/2006/main" prst="rect">
            <a:avLst/>
          </a:prstGeom>
        </p:spPr>
      </p:pic>
      <p:sp>
        <p:nvSpPr>
          <p:cNvPr id="21" name="Straight Connector 20">
            <a:extLst xmlns:a="http://schemas.openxmlformats.org/drawingml/2006/main">
              <a:ext uri="{FF2B5EF4-FFF2-40B4-BE49-F238E27FC236}">
                <a16:creationId xmlns:a16="http://schemas.microsoft.com/office/drawing/2014/main" id="{2C0F680F-8892-4F5E-9A05-8BE56BC3CA23}"/>
              </a:ext>
            </a:extLst>
          </p:cNvPr>
          <p:cNvSpPr>
            <a:spLocks xmlns:a="http://schemas.openxmlformats.org/drawingml/2006/main" noGrp="1"/>
          </p:cNvSpPr>
          <p:nvPr/>
        </p:nvSpPr>
        <p:spPr>
          <a:xfrm xmlns:a="http://schemas.openxmlformats.org/drawingml/2006/main">
            <a:off x="1028700" y="5153025"/>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72916E2-4478-4F86-A366-DBB47E53E5DB}"/>
              </a:ext>
            </a:extLst>
          </p:cNvPr>
          <p:cNvSpPr>
            <a:spLocks xmlns:a="http://schemas.openxmlformats.org/drawingml/2006/main" noGrp="1"/>
          </p:cNvSpPr>
          <p:nvPr/>
        </p:nvSpPr>
        <p:spPr>
          <a:xfrm xmlns:a="http://schemas.openxmlformats.org/drawingml/2006/main">
            <a:off x="1190625" y="5200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3" name="editable-date-value">
            <a:extLst xmlns:a="http://schemas.openxmlformats.org/drawingml/2006/main">
              <a:ext uri="{FF2B5EF4-FFF2-40B4-BE49-F238E27FC236}">
                <a16:creationId xmlns:a16="http://schemas.microsoft.com/office/drawing/2014/main" id="{DD2D484A-CE83-4CF9-B570-03AA9C51BC3C}"/>
              </a:ext>
            </a:extLst>
          </p:cNvPr>
          <p:cNvSpPr>
            <a:spLocks xmlns:a="http://schemas.openxmlformats.org/drawingml/2006/main" noGrp="1"/>
          </p:cNvSpPr>
          <p:nvPr/>
        </p:nvSpPr>
        <p:spPr>
          <a:xfrm xmlns:a="http://schemas.openxmlformats.org/drawingml/2006/main">
            <a:off x="1190625" y="54578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9" name="Picture 51"/>
          <p:cNvPicPr>
            <a:picLocks xmlns:a="http://schemas.openxmlformats.org/drawingml/2006/main" noChangeAspect="1"/>
          </p:cNvPicPr>
          <p:nvPr/>
        </p:nvPicPr>
        <p:blipFill>
          <a:blip xmlns:r="http://schemas.openxmlformats.org/officeDocument/2006/relationships" xmlns:a="http://schemas.openxmlformats.org/drawingml/2006/main" r:embed="R836ee290ab89440a"/>
          <a:stretch xmlns:a="http://schemas.openxmlformats.org/drawingml/2006/main"/>
        </p:blipFill>
        <p:spPr>
          <a:xfrm xmlns:a="http://schemas.openxmlformats.org/drawingml/2006/main">
            <a:off x="409575" y="5753100"/>
            <a:ext cx="466725" cy="466725"/>
          </a:xfrm>
          <a:prstGeom xmlns:a="http://schemas.openxmlformats.org/drawingml/2006/main" prst="rect">
            <a:avLst/>
          </a:prstGeom>
        </p:spPr>
      </p:pic>
      <p:sp>
        <p:nvSpPr>
          <p:cNvPr id="25" name="Straight Connector 24">
            <a:extLst xmlns:a="http://schemas.openxmlformats.org/drawingml/2006/main">
              <a:ext uri="{FF2B5EF4-FFF2-40B4-BE49-F238E27FC236}">
                <a16:creationId xmlns:a16="http://schemas.microsoft.com/office/drawing/2014/main" id="{B3390FB1-CD6B-41FD-9B09-6D5983025783}"/>
              </a:ext>
            </a:extLst>
          </p:cNvPr>
          <p:cNvSpPr>
            <a:spLocks xmlns:a="http://schemas.openxmlformats.org/drawingml/2006/main" noGrp="1"/>
          </p:cNvSpPr>
          <p:nvPr/>
        </p:nvSpPr>
        <p:spPr>
          <a:xfrm xmlns:a="http://schemas.openxmlformats.org/drawingml/2006/main">
            <a:off x="1028700" y="577215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5530C77E-C4B2-416C-9770-1B40B5930109}"/>
              </a:ext>
            </a:extLst>
          </p:cNvPr>
          <p:cNvSpPr>
            <a:spLocks xmlns:a="http://schemas.openxmlformats.org/drawingml/2006/main" noGrp="1"/>
          </p:cNvSpPr>
          <p:nvPr/>
        </p:nvSpPr>
        <p:spPr>
          <a:xfrm xmlns:a="http://schemas.openxmlformats.org/drawingml/2006/main">
            <a:off x="1190625" y="58197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7" name="Rectangle 26">
            <a:extLst xmlns:a="http://schemas.openxmlformats.org/drawingml/2006/main">
              <a:ext uri="{FF2B5EF4-FFF2-40B4-BE49-F238E27FC236}">
                <a16:creationId xmlns:a16="http://schemas.microsoft.com/office/drawing/2014/main" id="{6AA52625-B2E2-4958-9002-F06DCF489D85}"/>
              </a:ext>
            </a:extLst>
          </p:cNvPr>
          <p:cNvSpPr>
            <a:spLocks xmlns:a="http://schemas.openxmlformats.org/drawingml/2006/main" noGrp="1"/>
          </p:cNvSpPr>
          <p:nvPr/>
        </p:nvSpPr>
        <p:spPr>
          <a:xfrm xmlns:a="http://schemas.openxmlformats.org/drawingml/2006/main">
            <a:off x="1190625" y="60769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63" name="Picture 55"/>
          <p:cNvPicPr>
            <a:picLocks xmlns:a="http://schemas.openxmlformats.org/drawingml/2006/main" noChangeAspect="1"/>
          </p:cNvPicPr>
          <p:nvPr/>
        </p:nvPicPr>
        <p:blipFill>
          <a:blip xmlns:r="http://schemas.openxmlformats.org/officeDocument/2006/relationships" xmlns:a="http://schemas.openxmlformats.org/drawingml/2006/main" r:embed="Rc340376491844a59"/>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1245070656"/>
      </p:ext>
    </p:extLst>
  </p:cSld>
</p:sld>
</file>

<file path=ppt/slides/slide2.xml><?xml version="1.0" encoding="utf-8"?>
<p:sld xmlns:p="http://schemas.openxmlformats.org/presentationml/2006/main">
  <p:cSld>
    <p:bg>
      <p:bgPr>
        <a:solidFill xmlns:a="http://schemas.openxmlformats.org/drawingml/2006/main">
          <a:srgbClr val="FCFBF9"/>
        </a:solidFill>
      </p:bgPr>
    </p:bg>
    <p:spTree>
      <p:nvGrpSpPr>
        <p:cNvPr id="1" name=""/>
        <p:cNvGrpSpPr/>
        <p:nvPr/>
      </p:nvGrpSpPr>
      <p:grpSpPr>
        <a:xfrm xmlns:a="http://schemas.openxmlformats.org/drawingml/2006/main"/>
      </p:grpSpPr>
      <p:sp>
        <p:nvSpPr>
          <p:cNvPr id="114" name="Oval 113">
            <a:extLst xmlns:a="http://schemas.openxmlformats.org/drawingml/2006/main">
              <a:ext uri="{FF2B5EF4-FFF2-40B4-BE49-F238E27FC236}">
                <a16:creationId xmlns:a16="http://schemas.microsoft.com/office/drawing/2014/main" id="{AAB06BC8-904B-407D-BF97-C04A89B10DAE}"/>
              </a:ext>
            </a:extLst>
          </p:cNvPr>
          <p:cNvSpPr>
            <a:spLocks xmlns:a="http://schemas.openxmlformats.org/drawingml/2006/main" noGrp="1"/>
          </p:cNvSpPr>
          <p:nvPr/>
        </p:nvSpPr>
        <p:spPr>
          <a:xfrm xmlns:a="http://schemas.openxmlformats.org/drawingml/2006/main">
            <a:off x="342900" y="42862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A421FEF-A251-4C1D-92C0-ABE932908C7D}"/>
              </a:ext>
            </a:extLst>
          </p:cNvPr>
          <p:cNvSpPr>
            <a:spLocks xmlns:a="http://schemas.openxmlformats.org/drawingml/2006/main" noGrp="1"/>
          </p:cNvSpPr>
          <p:nvPr/>
        </p:nvSpPr>
        <p:spPr>
          <a:xfrm xmlns:a="http://schemas.openxmlformats.org/drawingml/2006/main">
            <a:off x="7334250" y="115252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978EC43-C228-4B86-BD1D-DB469B0A400F}"/>
              </a:ext>
            </a:extLst>
          </p:cNvPr>
          <p:cNvSpPr>
            <a:spLocks xmlns:a="http://schemas.openxmlformats.org/drawingml/2006/main" noGrp="1"/>
          </p:cNvSpPr>
          <p:nvPr/>
        </p:nvSpPr>
        <p:spPr>
          <a:xfrm xmlns:a="http://schemas.openxmlformats.org/drawingml/2006/main">
            <a:off x="9391650" y="115252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3A362E22-A2F6-4AA2-8A22-035E46E58DB1}"/>
              </a:ext>
            </a:extLst>
          </p:cNvPr>
          <p:cNvSpPr>
            <a:spLocks xmlns:a="http://schemas.openxmlformats.org/drawingml/2006/main" noGrp="1"/>
          </p:cNvSpPr>
          <p:nvPr/>
        </p:nvSpPr>
        <p:spPr>
          <a:xfrm xmlns:a="http://schemas.openxmlformats.org/drawingml/2006/main">
            <a:off x="11287125" y="107632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C4B185BA-99C6-431E-B908-FDE74A21810F}"/>
              </a:ext>
            </a:extLst>
          </p:cNvPr>
          <p:cNvSpPr>
            <a:spLocks xmlns:a="http://schemas.openxmlformats.org/drawingml/2006/main" noGrp="1"/>
          </p:cNvSpPr>
          <p:nvPr/>
        </p:nvSpPr>
        <p:spPr>
          <a:xfrm xmlns:a="http://schemas.openxmlformats.org/drawingml/2006/main">
            <a:off x="12058650" y="530542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07C4AD11-CDCB-4A95-89FF-35F1710B4948}"/>
              </a:ext>
            </a:extLst>
          </p:cNvPr>
          <p:cNvSpPr>
            <a:spLocks xmlns:a="http://schemas.openxmlformats.org/drawingml/2006/main" noGrp="1"/>
          </p:cNvSpPr>
          <p:nvPr/>
        </p:nvSpPr>
        <p:spPr>
          <a:xfrm xmlns:a="http://schemas.openxmlformats.org/drawingml/2006/main">
            <a:off x="304800" y="409575"/>
            <a:ext cx="8810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550" b="1" i="0">
                <a:solidFill>
                  <a:srgbClr val="003B25"/>
                </a:solidFill>
                <a:latin typeface="Arial"/>
                <a:ea typeface="Arial"/>
                <a:cs typeface="Arial"/>
              </a:defRPr>
            </a:pPr>
            <a:r>
              <a:rPr sz="2550" b="1" i="0">
                <a:solidFill>
                  <a:srgbClr val="003B25"/>
                </a:solidFill>
                <a:latin typeface="Arial"/>
                <a:ea typeface="Arial"/>
                <a:cs typeface="Arial"/>
              </a:rPr>
              <a:t>Data Center Migration with Oracle Cloud VMware Solution</a:t>
            </a:r>
          </a:p>
        </p:txBody>
      </p:sp>
      <p:sp>
        <p:nvSpPr>
          <p:cNvPr id="8" name="Rectangle 7">
            <a:extLst xmlns:a="http://schemas.openxmlformats.org/drawingml/2006/main">
              <a:ext uri="{FF2B5EF4-FFF2-40B4-BE49-F238E27FC236}">
                <a16:creationId xmlns:a16="http://schemas.microsoft.com/office/drawing/2014/main" id="{A1281950-377B-41A5-BFA9-211263B7A894}"/>
              </a:ext>
            </a:extLst>
          </p:cNvPr>
          <p:cNvSpPr>
            <a:spLocks xmlns:a="http://schemas.openxmlformats.org/drawingml/2006/main" noGrp="1"/>
          </p:cNvSpPr>
          <p:nvPr/>
        </p:nvSpPr>
        <p:spPr>
          <a:xfrm xmlns:a="http://schemas.openxmlformats.org/drawingml/2006/main">
            <a:off x="314325" y="93345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E6BF907D-57F9-4F74-9F10-EC873A2F6DA5}"/>
              </a:ext>
            </a:extLst>
          </p:cNvPr>
          <p:cNvSpPr>
            <a:spLocks xmlns:a="http://schemas.openxmlformats.org/drawingml/2006/main" noGrp="1"/>
          </p:cNvSpPr>
          <p:nvPr/>
        </p:nvSpPr>
        <p:spPr>
          <a:xfrm xmlns:a="http://schemas.openxmlformats.org/drawingml/2006/main">
            <a:off x="314325" y="11430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Migrate VMware workloads to OCI while preserving operational consistency.</a:t>
            </a:r>
          </a:p>
        </p:txBody>
      </p:sp>
      <p:pic>
        <p:nvPicPr>
          <p:cNvPr id="154" name="Picture 122"/>
          <p:cNvPicPr>
            <a:picLocks xmlns:a="http://schemas.openxmlformats.org/drawingml/2006/main" noChangeAspect="1"/>
          </p:cNvPicPr>
          <p:nvPr/>
        </p:nvPicPr>
        <p:blipFill>
          <a:blip xmlns:r="http://schemas.openxmlformats.org/officeDocument/2006/relationships" xmlns:a="http://schemas.openxmlformats.org/drawingml/2006/main" r:embed="Rb3112608ce744fef"/>
          <a:stretch xmlns:a="http://schemas.openxmlformats.org/drawingml/2006/main"/>
        </p:blipFill>
        <p:spPr>
          <a:xfrm xmlns:a="http://schemas.openxmlformats.org/drawingml/2006/main">
            <a:off x="9544050" y="457200"/>
            <a:ext cx="2505075" cy="295275"/>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C2D41265-0F7D-45A0-8820-DC91E2350A61}"/>
              </a:ext>
            </a:extLst>
          </p:cNvPr>
          <p:cNvSpPr>
            <a:spLocks xmlns:a="http://schemas.openxmlformats.org/drawingml/2006/main" noGrp="1"/>
          </p:cNvSpPr>
          <p:nvPr/>
        </p:nvSpPr>
        <p:spPr>
          <a:xfrm xmlns:a="http://schemas.openxmlformats.org/drawingml/2006/main">
            <a:off x="333375" y="1485900"/>
            <a:ext cx="950595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6" name="Picture 124"/>
          <p:cNvPicPr>
            <a:picLocks xmlns:a="http://schemas.openxmlformats.org/drawingml/2006/main" noChangeAspect="1"/>
          </p:cNvPicPr>
          <p:nvPr/>
        </p:nvPicPr>
        <p:blipFill>
          <a:blip xmlns:r="http://schemas.openxmlformats.org/officeDocument/2006/relationships" xmlns:a="http://schemas.openxmlformats.org/drawingml/2006/main" r:embed="Rde8f8b56ef5d478b"/>
          <a:stretch xmlns:a="http://schemas.openxmlformats.org/drawingml/2006/main"/>
        </p:blipFill>
        <p:spPr>
          <a:xfrm xmlns:a="http://schemas.openxmlformats.org/drawingml/2006/main">
            <a:off x="523875" y="1670617"/>
            <a:ext cx="371475" cy="344941"/>
          </a:xfrm>
          <a:prstGeom xmlns:a="http://schemas.openxmlformats.org/drawingml/2006/main" prst="rect">
            <a:avLst/>
          </a:prstGeom>
        </p:spPr>
      </p:pic>
      <p:sp>
        <p:nvSpPr>
          <p:cNvPr id="13" name="Rectangle 12">
            <a:extLst xmlns:a="http://schemas.openxmlformats.org/drawingml/2006/main">
              <a:ext uri="{FF2B5EF4-FFF2-40B4-BE49-F238E27FC236}">
                <a16:creationId xmlns:a16="http://schemas.microsoft.com/office/drawing/2014/main" id="{5A439A60-602B-4BC7-8D26-B7081F12A515}"/>
              </a:ext>
            </a:extLst>
          </p:cNvPr>
          <p:cNvSpPr>
            <a:spLocks xmlns:a="http://schemas.openxmlformats.org/drawingml/2006/main" noGrp="1"/>
          </p:cNvSpPr>
          <p:nvPr/>
        </p:nvSpPr>
        <p:spPr>
          <a:xfrm xmlns:a="http://schemas.openxmlformats.org/drawingml/2006/main">
            <a:off x="1000125" y="169545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Business continuity for</a:t>
            </a:r>
          </a:p>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mission-critical applications</a:t>
            </a:r>
          </a:p>
        </p:txBody>
      </p:sp>
      <p:pic>
        <p:nvPicPr>
          <p:cNvPr id="158" name="Picture 126"/>
          <p:cNvPicPr>
            <a:picLocks xmlns:a="http://schemas.openxmlformats.org/drawingml/2006/main" noChangeAspect="1"/>
          </p:cNvPicPr>
          <p:nvPr/>
        </p:nvPicPr>
        <p:blipFill>
          <a:blip xmlns:r="http://schemas.openxmlformats.org/officeDocument/2006/relationships" xmlns:a="http://schemas.openxmlformats.org/drawingml/2006/main" r:embed="R1b0ea4532727434e"/>
          <a:stretch xmlns:a="http://schemas.openxmlformats.org/drawingml/2006/main"/>
        </p:blipFill>
        <p:spPr>
          <a:xfrm xmlns:a="http://schemas.openxmlformats.org/drawingml/2006/main">
            <a:off x="2990850" y="1677988"/>
            <a:ext cx="371475" cy="330200"/>
          </a:xfrm>
          <a:prstGeom xmlns:a="http://schemas.openxmlformats.org/drawingml/2006/main" prst="rect">
            <a:avLst/>
          </a:prstGeom>
        </p:spPr>
      </p:pic>
      <p:sp>
        <p:nvSpPr>
          <p:cNvPr id="15" name="Rectangle 14">
            <a:extLst xmlns:a="http://schemas.openxmlformats.org/drawingml/2006/main">
              <a:ext uri="{FF2B5EF4-FFF2-40B4-BE49-F238E27FC236}">
                <a16:creationId xmlns:a16="http://schemas.microsoft.com/office/drawing/2014/main" id="{BA1D35F7-8582-43F6-8D0A-89AB099DDD7B}"/>
              </a:ext>
            </a:extLst>
          </p:cNvPr>
          <p:cNvSpPr>
            <a:spLocks xmlns:a="http://schemas.openxmlformats.org/drawingml/2006/main" noGrp="1"/>
          </p:cNvSpPr>
          <p:nvPr/>
        </p:nvSpPr>
        <p:spPr>
          <a:xfrm xmlns:a="http://schemas.openxmlformats.org/drawingml/2006/main">
            <a:off x="3514725" y="169545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Maintain systems without</a:t>
            </a:r>
          </a:p>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service disruption</a:t>
            </a:r>
          </a:p>
        </p:txBody>
      </p:sp>
      <p:pic>
        <p:nvPicPr>
          <p:cNvPr id="160" name="Picture 128"/>
          <p:cNvPicPr>
            <a:picLocks xmlns:a="http://schemas.openxmlformats.org/drawingml/2006/main" noChangeAspect="1"/>
          </p:cNvPicPr>
          <p:nvPr/>
        </p:nvPicPr>
        <p:blipFill>
          <a:blip xmlns:r="http://schemas.openxmlformats.org/officeDocument/2006/relationships" xmlns:a="http://schemas.openxmlformats.org/drawingml/2006/main" r:embed="R3e2479ebe2b34cd6"/>
          <a:stretch xmlns:a="http://schemas.openxmlformats.org/drawingml/2006/main"/>
        </p:blipFill>
        <p:spPr>
          <a:xfrm xmlns:a="http://schemas.openxmlformats.org/drawingml/2006/main">
            <a:off x="5429250" y="1665793"/>
            <a:ext cx="371475" cy="354590"/>
          </a:xfrm>
          <a:prstGeom xmlns:a="http://schemas.openxmlformats.org/drawingml/2006/main" prst="rect">
            <a:avLst/>
          </a:prstGeom>
        </p:spPr>
      </p:pic>
      <p:sp>
        <p:nvSpPr>
          <p:cNvPr id="17" name="Rectangle 16">
            <a:extLst xmlns:a="http://schemas.openxmlformats.org/drawingml/2006/main">
              <a:ext uri="{FF2B5EF4-FFF2-40B4-BE49-F238E27FC236}">
                <a16:creationId xmlns:a16="http://schemas.microsoft.com/office/drawing/2014/main" id="{82BED344-C8B2-448A-978B-1CB546676E3C}"/>
              </a:ext>
            </a:extLst>
          </p:cNvPr>
          <p:cNvSpPr>
            <a:spLocks xmlns:a="http://schemas.openxmlformats.org/drawingml/2006/main" noGrp="1"/>
          </p:cNvSpPr>
          <p:nvPr/>
        </p:nvSpPr>
        <p:spPr>
          <a:xfrm xmlns:a="http://schemas.openxmlformats.org/drawingml/2006/main">
            <a:off x="5943600" y="169545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Ensure recovery from</a:t>
            </a:r>
          </a:p>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data corruption &amp; cyberattacks</a:t>
            </a:r>
          </a:p>
        </p:txBody>
      </p:sp>
      <p:pic>
        <p:nvPicPr>
          <p:cNvPr id="162" name="Picture 130"/>
          <p:cNvPicPr>
            <a:picLocks xmlns:a="http://schemas.openxmlformats.org/drawingml/2006/main" noChangeAspect="1"/>
          </p:cNvPicPr>
          <p:nvPr/>
        </p:nvPicPr>
        <p:blipFill>
          <a:blip xmlns:r="http://schemas.openxmlformats.org/officeDocument/2006/relationships" xmlns:a="http://schemas.openxmlformats.org/drawingml/2006/main" r:embed="Ra19bd0f97c074438"/>
          <a:stretch xmlns:a="http://schemas.openxmlformats.org/drawingml/2006/main"/>
        </p:blipFill>
        <p:spPr>
          <a:xfrm xmlns:a="http://schemas.openxmlformats.org/drawingml/2006/main">
            <a:off x="7953375" y="1670014"/>
            <a:ext cx="371475" cy="346147"/>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61581696-20CF-42EC-946C-2E17E6F53312}"/>
              </a:ext>
            </a:extLst>
          </p:cNvPr>
          <p:cNvSpPr>
            <a:spLocks xmlns:a="http://schemas.openxmlformats.org/drawingml/2006/main" noGrp="1"/>
          </p:cNvSpPr>
          <p:nvPr/>
        </p:nvSpPr>
        <p:spPr>
          <a:xfrm xmlns:a="http://schemas.openxmlformats.org/drawingml/2006/main">
            <a:off x="8477250" y="169545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Meet defined RTO &amp; RPO</a:t>
            </a:r>
          </a:p>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with backups &amp; restores</a:t>
            </a:r>
          </a:p>
        </p:txBody>
      </p:sp>
      <p:sp>
        <p:nvSpPr>
          <p:cNvPr id="20" name="Straight Connector 19">
            <a:extLst xmlns:a="http://schemas.openxmlformats.org/drawingml/2006/main">
              <a:ext uri="{FF2B5EF4-FFF2-40B4-BE49-F238E27FC236}">
                <a16:creationId xmlns:a16="http://schemas.microsoft.com/office/drawing/2014/main" id="{C7D05204-1F9A-4709-A9CA-DF4A0BAEE3A5}"/>
              </a:ext>
            </a:extLst>
          </p:cNvPr>
          <p:cNvSpPr>
            <a:spLocks xmlns:a="http://schemas.openxmlformats.org/drawingml/2006/main" noGrp="1"/>
          </p:cNvSpPr>
          <p:nvPr/>
        </p:nvSpPr>
        <p:spPr>
          <a:xfrm xmlns:a="http://schemas.openxmlformats.org/drawingml/2006/main">
            <a:off x="2781300" y="1619250"/>
            <a:ext cx="0" cy="4476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traight Connector 20">
            <a:extLst xmlns:a="http://schemas.openxmlformats.org/drawingml/2006/main">
              <a:ext uri="{FF2B5EF4-FFF2-40B4-BE49-F238E27FC236}">
                <a16:creationId xmlns:a16="http://schemas.microsoft.com/office/drawing/2014/main" id="{AEDC923C-3534-4BFD-B3C9-7886BC1BEF83}"/>
              </a:ext>
            </a:extLst>
          </p:cNvPr>
          <p:cNvSpPr>
            <a:spLocks xmlns:a="http://schemas.openxmlformats.org/drawingml/2006/main" noGrp="1"/>
          </p:cNvSpPr>
          <p:nvPr/>
        </p:nvSpPr>
        <p:spPr>
          <a:xfrm xmlns:a="http://schemas.openxmlformats.org/drawingml/2006/main">
            <a:off x="5191125" y="1619250"/>
            <a:ext cx="0" cy="4476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traight Connector 21">
            <a:extLst xmlns:a="http://schemas.openxmlformats.org/drawingml/2006/main">
              <a:ext uri="{FF2B5EF4-FFF2-40B4-BE49-F238E27FC236}">
                <a16:creationId xmlns:a16="http://schemas.microsoft.com/office/drawing/2014/main" id="{72EC44E6-6E37-42DF-B0CA-644524BF2C5F}"/>
              </a:ext>
            </a:extLst>
          </p:cNvPr>
          <p:cNvSpPr>
            <a:spLocks xmlns:a="http://schemas.openxmlformats.org/drawingml/2006/main" noGrp="1"/>
          </p:cNvSpPr>
          <p:nvPr/>
        </p:nvSpPr>
        <p:spPr>
          <a:xfrm xmlns:a="http://schemas.openxmlformats.org/drawingml/2006/main">
            <a:off x="7715250" y="1619250"/>
            <a:ext cx="0" cy="4476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ounded Rectangle 22">
            <a:extLst xmlns:a="http://schemas.openxmlformats.org/drawingml/2006/main">
              <a:ext uri="{FF2B5EF4-FFF2-40B4-BE49-F238E27FC236}">
                <a16:creationId xmlns:a16="http://schemas.microsoft.com/office/drawing/2014/main" id="{38740D5B-7891-4011-B7BD-453E36F8237D}"/>
              </a:ext>
            </a:extLst>
          </p:cNvPr>
          <p:cNvSpPr>
            <a:spLocks xmlns:a="http://schemas.openxmlformats.org/drawingml/2006/main" noGrp="1"/>
          </p:cNvSpPr>
          <p:nvPr/>
        </p:nvSpPr>
        <p:spPr>
          <a:xfrm xmlns:a="http://schemas.openxmlformats.org/drawingml/2006/main">
            <a:off x="333375" y="2362200"/>
            <a:ext cx="2562225" cy="3400425"/>
          </a:xfrm>
          <a:prstGeom xmlns:a="http://schemas.openxmlformats.org/drawingml/2006/main" prst="roundRect">
            <a:avLst>
              <a:gd name="adj" fmla="val 2230"/>
            </a:avLst>
          </a:prstGeom>
          <a:solidFill xmlns:a="http://schemas.openxmlformats.org/drawingml/2006/main">
            <a:srgbClr val="FFFFFF"/>
          </a:solidFill>
          <a:ln xmlns:a="http://schemas.openxmlformats.org/drawingml/2006/main" w="9525">
            <a:solidFill>
              <a:srgbClr val="153985"/>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ounded Rectangle 23">
            <a:extLst xmlns:a="http://schemas.openxmlformats.org/drawingml/2006/main">
              <a:ext uri="{FF2B5EF4-FFF2-40B4-BE49-F238E27FC236}">
                <a16:creationId xmlns:a16="http://schemas.microsoft.com/office/drawing/2014/main" id="{C126FF3F-0B42-466A-8035-27E57C09BEE2}"/>
              </a:ext>
            </a:extLst>
          </p:cNvPr>
          <p:cNvSpPr>
            <a:spLocks xmlns:a="http://schemas.openxmlformats.org/drawingml/2006/main" noGrp="1"/>
          </p:cNvSpPr>
          <p:nvPr/>
        </p:nvSpPr>
        <p:spPr>
          <a:xfrm xmlns:a="http://schemas.openxmlformats.org/drawingml/2006/main">
            <a:off x="333375" y="2362200"/>
            <a:ext cx="2562225" cy="304800"/>
          </a:xfrm>
          <a:prstGeom xmlns:a="http://schemas.openxmlformats.org/drawingml/2006/main" prst="roundRect">
            <a:avLst>
              <a:gd name="adj" fmla="val 18750"/>
            </a:avLst>
          </a:prstGeom>
          <a:solidFill xmlns:a="http://schemas.openxmlformats.org/drawingml/2006/main">
            <a:srgbClr val="0C2F7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BE91AB13-FB98-484B-BDC0-DCC8163776B1}"/>
              </a:ext>
            </a:extLst>
          </p:cNvPr>
          <p:cNvSpPr>
            <a:spLocks xmlns:a="http://schemas.openxmlformats.org/drawingml/2006/main" noGrp="1"/>
          </p:cNvSpPr>
          <p:nvPr/>
        </p:nvSpPr>
        <p:spPr>
          <a:xfrm xmlns:a="http://schemas.openxmlformats.org/drawingml/2006/main">
            <a:off x="333375" y="2600325"/>
            <a:ext cx="2562225" cy="76200"/>
          </a:xfrm>
          <a:prstGeom xmlns:a="http://schemas.openxmlformats.org/drawingml/2006/main" prst="rect">
            <a:avLst/>
          </a:prstGeom>
          <a:solidFill xmlns:a="http://schemas.openxmlformats.org/drawingml/2006/main">
            <a:srgbClr val="0C2F7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6F4A0A93-E6B0-4BC6-B846-878F007208F4}"/>
              </a:ext>
            </a:extLst>
          </p:cNvPr>
          <p:cNvSpPr>
            <a:spLocks xmlns:a="http://schemas.openxmlformats.org/drawingml/2006/main" noGrp="1"/>
          </p:cNvSpPr>
          <p:nvPr/>
        </p:nvSpPr>
        <p:spPr>
          <a:xfrm xmlns:a="http://schemas.openxmlformats.org/drawingml/2006/main">
            <a:off x="857250" y="2466975"/>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CURRENT ENVIRONMENT</a:t>
            </a:r>
          </a:p>
        </p:txBody>
      </p:sp>
      <p:pic>
        <p:nvPicPr>
          <p:cNvPr id="171" name="Picture 139"/>
          <p:cNvPicPr>
            <a:picLocks xmlns:a="http://schemas.openxmlformats.org/drawingml/2006/main" noChangeAspect="1"/>
          </p:cNvPicPr>
          <p:nvPr/>
        </p:nvPicPr>
        <p:blipFill>
          <a:blip xmlns:r="http://schemas.openxmlformats.org/officeDocument/2006/relationships" xmlns:a="http://schemas.openxmlformats.org/drawingml/2006/main" r:embed="Rc93a81d671de4b91"/>
          <a:stretch xmlns:a="http://schemas.openxmlformats.org/drawingml/2006/main"/>
        </p:blipFill>
        <p:spPr>
          <a:xfrm xmlns:a="http://schemas.openxmlformats.org/drawingml/2006/main">
            <a:off x="1286102" y="2838450"/>
            <a:ext cx="580571" cy="571500"/>
          </a:xfrm>
          <a:prstGeom xmlns:a="http://schemas.openxmlformats.org/drawingml/2006/main" prst="rect">
            <a:avLst/>
          </a:prstGeom>
        </p:spPr>
      </p:pic>
      <p:sp>
        <p:nvSpPr>
          <p:cNvPr id="28" name="Rectangle 27">
            <a:extLst xmlns:a="http://schemas.openxmlformats.org/drawingml/2006/main">
              <a:ext uri="{FF2B5EF4-FFF2-40B4-BE49-F238E27FC236}">
                <a16:creationId xmlns:a16="http://schemas.microsoft.com/office/drawing/2014/main" id="{1FF73D31-34A3-4DD2-AA9D-BA367B3F6850}"/>
              </a:ext>
            </a:extLst>
          </p:cNvPr>
          <p:cNvSpPr>
            <a:spLocks xmlns:a="http://schemas.openxmlformats.org/drawingml/2006/main" noGrp="1"/>
          </p:cNvSpPr>
          <p:nvPr/>
        </p:nvSpPr>
        <p:spPr>
          <a:xfrm xmlns:a="http://schemas.openxmlformats.org/drawingml/2006/main">
            <a:off x="971550" y="347662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C2F7A"/>
                </a:solidFill>
                <a:latin typeface="Arial"/>
                <a:ea typeface="Arial"/>
                <a:cs typeface="Arial"/>
              </a:defRPr>
            </a:pPr>
            <a:r>
              <a:rPr sz="900" b="1" i="0">
                <a:solidFill>
                  <a:srgbClr val="0C2F7A"/>
                </a:solidFill>
                <a:latin typeface="Arial"/>
                <a:ea typeface="Arial"/>
                <a:cs typeface="Arial"/>
              </a:rPr>
              <a:t>Existing Data Center</a:t>
            </a:r>
          </a:p>
        </p:txBody>
      </p:sp>
      <p:sp>
        <p:nvSpPr>
          <p:cNvPr id="29" name="Straight Connector 28">
            <a:extLst xmlns:a="http://schemas.openxmlformats.org/drawingml/2006/main">
              <a:ext uri="{FF2B5EF4-FFF2-40B4-BE49-F238E27FC236}">
                <a16:creationId xmlns:a16="http://schemas.microsoft.com/office/drawing/2014/main" id="{DF4E63A1-1B8B-4C89-B92D-EC6166D02389}"/>
              </a:ext>
            </a:extLst>
          </p:cNvPr>
          <p:cNvSpPr>
            <a:spLocks xmlns:a="http://schemas.openxmlformats.org/drawingml/2006/main" noGrp="1"/>
          </p:cNvSpPr>
          <p:nvPr/>
        </p:nvSpPr>
        <p:spPr>
          <a:xfrm xmlns:a="http://schemas.openxmlformats.org/drawingml/2006/main">
            <a:off x="533400" y="3762375"/>
            <a:ext cx="216217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74" name="Picture 142"/>
          <p:cNvPicPr>
            <a:picLocks xmlns:a="http://schemas.openxmlformats.org/drawingml/2006/main" noChangeAspect="1"/>
          </p:cNvPicPr>
          <p:nvPr/>
        </p:nvPicPr>
        <p:blipFill>
          <a:blip xmlns:r="http://schemas.openxmlformats.org/officeDocument/2006/relationships" xmlns:a="http://schemas.openxmlformats.org/drawingml/2006/main" r:embed="Rf90a0b796ede409a"/>
          <a:stretch xmlns:a="http://schemas.openxmlformats.org/drawingml/2006/main"/>
        </p:blipFill>
        <p:spPr>
          <a:xfrm xmlns:a="http://schemas.openxmlformats.org/drawingml/2006/main">
            <a:off x="565785" y="3943350"/>
            <a:ext cx="240030" cy="266700"/>
          </a:xfrm>
          <a:prstGeom xmlns:a="http://schemas.openxmlformats.org/drawingml/2006/main" prst="rect">
            <a:avLst/>
          </a:prstGeom>
        </p:spPr>
      </p:pic>
      <p:sp>
        <p:nvSpPr>
          <p:cNvPr id="31" name="Rectangle 30">
            <a:extLst xmlns:a="http://schemas.openxmlformats.org/drawingml/2006/main">
              <a:ext uri="{FF2B5EF4-FFF2-40B4-BE49-F238E27FC236}">
                <a16:creationId xmlns:a16="http://schemas.microsoft.com/office/drawing/2014/main" id="{AF2ABFD7-F5A0-4B33-B8EA-D8E3FDD025D9}"/>
              </a:ext>
            </a:extLst>
          </p:cNvPr>
          <p:cNvSpPr>
            <a:spLocks xmlns:a="http://schemas.openxmlformats.org/drawingml/2006/main" noGrp="1"/>
          </p:cNvSpPr>
          <p:nvPr/>
        </p:nvSpPr>
        <p:spPr>
          <a:xfrm xmlns:a="http://schemas.openxmlformats.org/drawingml/2006/main">
            <a:off x="1009650" y="39814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Aging infrastructure</a:t>
            </a:r>
          </a:p>
        </p:txBody>
      </p:sp>
      <p:pic>
        <p:nvPicPr>
          <p:cNvPr id="176" name="Picture 144"/>
          <p:cNvPicPr>
            <a:picLocks xmlns:a="http://schemas.openxmlformats.org/drawingml/2006/main" noChangeAspect="1"/>
          </p:cNvPicPr>
          <p:nvPr/>
        </p:nvPicPr>
        <p:blipFill>
          <a:blip xmlns:r="http://schemas.openxmlformats.org/officeDocument/2006/relationships" xmlns:a="http://schemas.openxmlformats.org/drawingml/2006/main" r:embed="R24c41a38ae544760"/>
          <a:stretch xmlns:a="http://schemas.openxmlformats.org/drawingml/2006/main"/>
        </p:blipFill>
        <p:spPr>
          <a:xfrm xmlns:a="http://schemas.openxmlformats.org/drawingml/2006/main">
            <a:off x="565785" y="4371975"/>
            <a:ext cx="24003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B8A6A276-EA36-4C9F-A3CE-DF93C8F38935}"/>
              </a:ext>
            </a:extLst>
          </p:cNvPr>
          <p:cNvSpPr>
            <a:spLocks xmlns:a="http://schemas.openxmlformats.org/drawingml/2006/main" noGrp="1"/>
          </p:cNvSpPr>
          <p:nvPr/>
        </p:nvSpPr>
        <p:spPr>
          <a:xfrm xmlns:a="http://schemas.openxmlformats.org/drawingml/2006/main">
            <a:off x="1009650" y="4410075"/>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Hardware refresh cycles</a:t>
            </a:r>
          </a:p>
        </p:txBody>
      </p:sp>
      <p:sp>
        <p:nvSpPr>
          <p:cNvPr id="35" name="Rectangle 34">
            <a:extLst xmlns:a="http://schemas.openxmlformats.org/drawingml/2006/main">
              <a:ext uri="{FF2B5EF4-FFF2-40B4-BE49-F238E27FC236}">
                <a16:creationId xmlns:a16="http://schemas.microsoft.com/office/drawing/2014/main" id="{77D5A6C5-1DBF-473F-9C7F-E3FB6CE360B8}"/>
              </a:ext>
            </a:extLst>
          </p:cNvPr>
          <p:cNvSpPr>
            <a:spLocks xmlns:a="http://schemas.openxmlformats.org/drawingml/2006/main" noGrp="1"/>
          </p:cNvSpPr>
          <p:nvPr/>
        </p:nvSpPr>
        <p:spPr>
          <a:xfrm xmlns:a="http://schemas.openxmlformats.org/drawingml/2006/main">
            <a:off x="1009650" y="48196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Data center consolidation</a:t>
            </a:r>
          </a:p>
        </p:txBody>
      </p:sp>
      <p:pic>
        <p:nvPicPr>
          <p:cNvPr id="179" name="Picture 148"/>
          <p:cNvPicPr>
            <a:picLocks xmlns:a="http://schemas.openxmlformats.org/drawingml/2006/main" noChangeAspect="1"/>
          </p:cNvPicPr>
          <p:nvPr/>
        </p:nvPicPr>
        <p:blipFill>
          <a:blip xmlns:r="http://schemas.openxmlformats.org/officeDocument/2006/relationships" xmlns:a="http://schemas.openxmlformats.org/drawingml/2006/main" r:embed="R70ff2081d74f4797"/>
          <a:stretch xmlns:a="http://schemas.openxmlformats.org/drawingml/2006/main"/>
        </p:blipFill>
        <p:spPr>
          <a:xfrm xmlns:a="http://schemas.openxmlformats.org/drawingml/2006/main">
            <a:off x="576695" y="5181600"/>
            <a:ext cx="218209" cy="266700"/>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3D2FC335-A2C6-4128-A481-5853ADD92F26}"/>
              </a:ext>
            </a:extLst>
          </p:cNvPr>
          <p:cNvSpPr>
            <a:spLocks xmlns:a="http://schemas.openxmlformats.org/drawingml/2006/main" noGrp="1"/>
          </p:cNvSpPr>
          <p:nvPr/>
        </p:nvSpPr>
        <p:spPr>
          <a:xfrm xmlns:a="http://schemas.openxmlformats.org/drawingml/2006/main">
            <a:off x="1009650" y="52197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Rising operational costs</a:t>
            </a:r>
          </a:p>
        </p:txBody>
      </p:sp>
      <p:sp>
        <p:nvSpPr>
          <p:cNvPr id="38" name="Straight Connector 37">
            <a:extLst xmlns:a="http://schemas.openxmlformats.org/drawingml/2006/main">
              <a:ext uri="{FF2B5EF4-FFF2-40B4-BE49-F238E27FC236}">
                <a16:creationId xmlns:a16="http://schemas.microsoft.com/office/drawing/2014/main" id="{B8AC3128-91EE-46EC-A43A-CB493229E24C}"/>
              </a:ext>
            </a:extLst>
          </p:cNvPr>
          <p:cNvSpPr>
            <a:spLocks xmlns:a="http://schemas.openxmlformats.org/drawingml/2006/main" noGrp="1"/>
          </p:cNvSpPr>
          <p:nvPr/>
        </p:nvSpPr>
        <p:spPr>
          <a:xfrm xmlns:a="http://schemas.openxmlformats.org/drawingml/2006/main">
            <a:off x="3143250" y="2362200"/>
            <a:ext cx="0" cy="3390900"/>
          </a:xfrm>
          <a:prstGeom xmlns:a="http://schemas.openxmlformats.org/drawingml/2006/main" prst="line">
            <a:avLst/>
          </a:prstGeom>
          <a:noFill xmlns:a="http://schemas.openxmlformats.org/drawingml/2006/main"/>
          <a:ln xmlns:a="http://schemas.openxmlformats.org/drawingml/2006/main" w="9525">
            <a:solidFill>
              <a:srgbClr val="D8DDD9"/>
            </a:solidFill>
            <a:prstDash val="dot"/>
          </a:ln>
        </p:spPr>
        <p:txBody>
          <a:bodyPr xmlns:a="http://schemas.openxmlformats.org/drawingml/2006/main"/>
          <a:lstStyle xmlns:a="http://schemas.openxmlformats.org/drawingml/2006/main"/>
          <a:p xmlns:a="http://schemas.openxmlformats.org/drawingml/2006/main">
            <a:endParaRPr/>
          </a:p>
        </p:txBody>
      </p:sp>
      <p:sp>
        <p:nvSpPr>
          <p:cNvPr id="39" name="Straight Connector 38">
            <a:extLst xmlns:a="http://schemas.openxmlformats.org/drawingml/2006/main">
              <a:ext uri="{FF2B5EF4-FFF2-40B4-BE49-F238E27FC236}">
                <a16:creationId xmlns:a16="http://schemas.microsoft.com/office/drawing/2014/main" id="{F44CD3DF-4DD0-4CB1-87AF-E70CC05918A5}"/>
              </a:ext>
            </a:extLst>
          </p:cNvPr>
          <p:cNvSpPr>
            <a:spLocks xmlns:a="http://schemas.openxmlformats.org/drawingml/2006/main" noGrp="1"/>
          </p:cNvSpPr>
          <p:nvPr/>
        </p:nvSpPr>
        <p:spPr>
          <a:xfrm xmlns:a="http://schemas.openxmlformats.org/drawingml/2006/main">
            <a:off x="6076950" y="2362200"/>
            <a:ext cx="0" cy="339090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83" name="Picture 152"/>
          <p:cNvPicPr>
            <a:picLocks xmlns:a="http://schemas.openxmlformats.org/drawingml/2006/main" noChangeAspect="1"/>
          </p:cNvPicPr>
          <p:nvPr/>
        </p:nvPicPr>
        <p:blipFill>
          <a:blip xmlns:r="http://schemas.openxmlformats.org/officeDocument/2006/relationships" xmlns:a="http://schemas.openxmlformats.org/drawingml/2006/main" r:embed="R958d3a07852244b8"/>
          <a:stretch xmlns:a="http://schemas.openxmlformats.org/drawingml/2006/main"/>
        </p:blipFill>
        <p:spPr>
          <a:xfrm xmlns:a="http://schemas.openxmlformats.org/drawingml/2006/main">
            <a:off x="2971800" y="3562350"/>
            <a:ext cx="342900" cy="342900"/>
          </a:xfrm>
          <a:prstGeom xmlns:a="http://schemas.openxmlformats.org/drawingml/2006/main" prst="rect">
            <a:avLst/>
          </a:prstGeom>
        </p:spPr>
      </p:pic>
      <p:pic>
        <p:nvPicPr>
          <p:cNvPr id="184" name="Picture 153"/>
          <p:cNvPicPr>
            <a:picLocks xmlns:a="http://schemas.openxmlformats.org/drawingml/2006/main" noChangeAspect="1"/>
          </p:cNvPicPr>
          <p:nvPr/>
        </p:nvPicPr>
        <p:blipFill>
          <a:blip xmlns:r="http://schemas.openxmlformats.org/officeDocument/2006/relationships" xmlns:a="http://schemas.openxmlformats.org/drawingml/2006/main" r:embed="R7bc2004d16f5441a"/>
          <a:stretch xmlns:a="http://schemas.openxmlformats.org/drawingml/2006/main"/>
        </p:blipFill>
        <p:spPr>
          <a:xfrm xmlns:a="http://schemas.openxmlformats.org/drawingml/2006/main">
            <a:off x="5929313" y="3562350"/>
            <a:ext cx="314325" cy="323850"/>
          </a:xfrm>
          <a:prstGeom xmlns:a="http://schemas.openxmlformats.org/drawingml/2006/main" prst="rect">
            <a:avLst/>
          </a:prstGeom>
        </p:spPr>
      </p:pic>
      <p:sp>
        <p:nvSpPr>
          <p:cNvPr id="42" name="Right Arrow 41">
            <a:extLst xmlns:a="http://schemas.openxmlformats.org/drawingml/2006/main">
              <a:ext uri="{FF2B5EF4-FFF2-40B4-BE49-F238E27FC236}">
                <a16:creationId xmlns:a16="http://schemas.microsoft.com/office/drawing/2014/main" id="{19A4CE51-971D-4792-AC0A-891171D45B93}"/>
              </a:ext>
            </a:extLst>
          </p:cNvPr>
          <p:cNvSpPr>
            <a:spLocks xmlns:a="http://schemas.openxmlformats.org/drawingml/2006/main" noGrp="1"/>
          </p:cNvSpPr>
          <p:nvPr/>
        </p:nvSpPr>
        <p:spPr>
          <a:xfrm xmlns:a="http://schemas.openxmlformats.org/drawingml/2006/main">
            <a:off x="3429000" y="2428875"/>
            <a:ext cx="2619375" cy="400050"/>
          </a:xfrm>
          <a:prstGeom xmlns:a="http://schemas.openxmlformats.org/drawingml/2006/main" prst="rightArrow">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3" name="Rectangle 42">
            <a:extLst xmlns:a="http://schemas.openxmlformats.org/drawingml/2006/main">
              <a:ext uri="{FF2B5EF4-FFF2-40B4-BE49-F238E27FC236}">
                <a16:creationId xmlns:a16="http://schemas.microsoft.com/office/drawing/2014/main" id="{56A69CB2-811D-4AAA-AF87-04D225021B1C}"/>
              </a:ext>
            </a:extLst>
          </p:cNvPr>
          <p:cNvSpPr>
            <a:spLocks xmlns:a="http://schemas.openxmlformats.org/drawingml/2006/main" noGrp="1"/>
          </p:cNvSpPr>
          <p:nvPr/>
        </p:nvSpPr>
        <p:spPr>
          <a:xfrm xmlns:a="http://schemas.openxmlformats.org/drawingml/2006/main">
            <a:off x="3733800" y="2543175"/>
            <a:ext cx="20383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FFFFFF"/>
                </a:solidFill>
                <a:latin typeface="Arial"/>
                <a:ea typeface="Arial"/>
                <a:cs typeface="Arial"/>
              </a:defRPr>
            </a:pPr>
            <a:r>
              <a:rPr sz="825" b="1" i="0">
                <a:solidFill>
                  <a:srgbClr val="FFFFFF"/>
                </a:solidFill>
                <a:latin typeface="Arial"/>
                <a:ea typeface="Arial"/>
                <a:cs typeface="Arial"/>
              </a:rPr>
              <a:t>MIGRATION &amp; WORKLOAD MOBILITY</a:t>
            </a:r>
          </a:p>
        </p:txBody>
      </p:sp>
      <p:pic>
        <p:nvPicPr>
          <p:cNvPr id="187" name="Picture 156"/>
          <p:cNvPicPr>
            <a:picLocks xmlns:a="http://schemas.openxmlformats.org/drawingml/2006/main" noChangeAspect="1"/>
          </p:cNvPicPr>
          <p:nvPr/>
        </p:nvPicPr>
        <p:blipFill>
          <a:blip xmlns:r="http://schemas.openxmlformats.org/officeDocument/2006/relationships" xmlns:a="http://schemas.openxmlformats.org/drawingml/2006/main" r:embed="Rba9fe86c452a4b4d"/>
          <a:stretch xmlns:a="http://schemas.openxmlformats.org/drawingml/2006/main"/>
        </p:blipFill>
        <p:spPr>
          <a:xfrm xmlns:a="http://schemas.openxmlformats.org/drawingml/2006/main">
            <a:off x="4346087" y="2838450"/>
            <a:ext cx="566127" cy="361950"/>
          </a:xfrm>
          <a:prstGeom xmlns:a="http://schemas.openxmlformats.org/drawingml/2006/main" prst="rect">
            <a:avLst/>
          </a:prstGeom>
        </p:spPr>
      </p:pic>
      <p:sp>
        <p:nvSpPr>
          <p:cNvPr id="45" name="Rectangle 44">
            <a:extLst xmlns:a="http://schemas.openxmlformats.org/drawingml/2006/main">
              <a:ext uri="{FF2B5EF4-FFF2-40B4-BE49-F238E27FC236}">
                <a16:creationId xmlns:a16="http://schemas.microsoft.com/office/drawing/2014/main" id="{0530EC25-0694-4248-96E3-B211E3219319}"/>
              </a:ext>
            </a:extLst>
          </p:cNvPr>
          <p:cNvSpPr>
            <a:spLocks xmlns:a="http://schemas.openxmlformats.org/drawingml/2006/main" noGrp="1"/>
          </p:cNvSpPr>
          <p:nvPr/>
        </p:nvSpPr>
        <p:spPr>
          <a:xfrm xmlns:a="http://schemas.openxmlformats.org/drawingml/2006/main">
            <a:off x="4143375" y="3333750"/>
            <a:ext cx="1000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HCX Mobility</a:t>
            </a:r>
          </a:p>
        </p:txBody>
      </p:sp>
      <p:sp>
        <p:nvSpPr>
          <p:cNvPr id="46" name="Rectangle 45">
            <a:extLst xmlns:a="http://schemas.openxmlformats.org/drawingml/2006/main">
              <a:ext uri="{FF2B5EF4-FFF2-40B4-BE49-F238E27FC236}">
                <a16:creationId xmlns:a16="http://schemas.microsoft.com/office/drawing/2014/main" id="{A615CE4B-2731-4B35-898C-CEB1DDE56CCB}"/>
              </a:ext>
            </a:extLst>
          </p:cNvPr>
          <p:cNvSpPr>
            <a:spLocks xmlns:a="http://schemas.openxmlformats.org/drawingml/2006/main" noGrp="1"/>
          </p:cNvSpPr>
          <p:nvPr/>
        </p:nvSpPr>
        <p:spPr>
          <a:xfrm xmlns:a="http://schemas.openxmlformats.org/drawingml/2006/main">
            <a:off x="3886200" y="35623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3000"/>
              </a:lnSpc>
              <a:buNone/>
              <a:defRPr sz="750" b="0" i="0">
                <a:solidFill>
                  <a:srgbClr val="111111"/>
                </a:solidFill>
                <a:latin typeface="Arial"/>
                <a:ea typeface="Arial"/>
                <a:cs typeface="Arial"/>
              </a:defRPr>
            </a:pPr>
            <a:r>
              <a:rPr sz="750" b="0" i="0">
                <a:solidFill>
                  <a:srgbClr val="111111"/>
                </a:solidFill>
                <a:latin typeface="Arial"/>
                <a:ea typeface="Arial"/>
                <a:cs typeface="Arial"/>
              </a:rPr>
              <a:t>Secure workload migration over</a:t>
            </a:r>
          </a:p>
          <a:p xmlns:a="http://schemas.openxmlformats.org/drawingml/2006/main">
            <a:pPr algn="ctr">
              <a:lnSpc>
                <a:spcPct val="103000"/>
              </a:lnSpc>
              <a:buNone/>
              <a:defRPr sz="750" b="0" i="0">
                <a:solidFill>
                  <a:srgbClr val="111111"/>
                </a:solidFill>
                <a:latin typeface="Arial"/>
                <a:ea typeface="Arial"/>
                <a:cs typeface="Arial"/>
              </a:defRPr>
            </a:pPr>
            <a:r>
              <a:rPr sz="750" b="0" i="0">
                <a:solidFill>
                  <a:srgbClr val="111111"/>
                </a:solidFill>
                <a:latin typeface="Arial"/>
                <a:ea typeface="Arial"/>
                <a:cs typeface="Arial"/>
              </a:rPr>
              <a:t>Internet, VPN, or FastConnect</a:t>
            </a:r>
          </a:p>
        </p:txBody>
      </p:sp>
      <p:pic>
        <p:nvPicPr>
          <p:cNvPr id="190" name="Picture 159"/>
          <p:cNvPicPr>
            <a:picLocks xmlns:a="http://schemas.openxmlformats.org/drawingml/2006/main" noChangeAspect="1"/>
          </p:cNvPicPr>
          <p:nvPr/>
        </p:nvPicPr>
        <p:blipFill>
          <a:blip xmlns:r="http://schemas.openxmlformats.org/officeDocument/2006/relationships" xmlns:a="http://schemas.openxmlformats.org/drawingml/2006/main" r:embed="R24c22f9f85f94a1c"/>
          <a:stretch xmlns:a="http://schemas.openxmlformats.org/drawingml/2006/main"/>
        </p:blipFill>
        <p:spPr>
          <a:xfrm xmlns:a="http://schemas.openxmlformats.org/drawingml/2006/main">
            <a:off x="3600450" y="4029075"/>
            <a:ext cx="323850" cy="323850"/>
          </a:xfrm>
          <a:prstGeom xmlns:a="http://schemas.openxmlformats.org/drawingml/2006/main" prst="rect">
            <a:avLst/>
          </a:prstGeom>
        </p:spPr>
      </p:pic>
      <p:pic>
        <p:nvPicPr>
          <p:cNvPr id="191" name="Picture 160"/>
          <p:cNvPicPr>
            <a:picLocks xmlns:a="http://schemas.openxmlformats.org/drawingml/2006/main" noChangeAspect="1"/>
          </p:cNvPicPr>
          <p:nvPr/>
        </p:nvPicPr>
        <p:blipFill>
          <a:blip xmlns:r="http://schemas.openxmlformats.org/officeDocument/2006/relationships" xmlns:a="http://schemas.openxmlformats.org/drawingml/2006/main" r:embed="R71dff2339fa44ca1"/>
          <a:stretch xmlns:a="http://schemas.openxmlformats.org/drawingml/2006/main"/>
        </p:blipFill>
        <p:spPr>
          <a:xfrm xmlns:a="http://schemas.openxmlformats.org/drawingml/2006/main">
            <a:off x="4433623" y="4029075"/>
            <a:ext cx="314854" cy="323850"/>
          </a:xfrm>
          <a:prstGeom xmlns:a="http://schemas.openxmlformats.org/drawingml/2006/main" prst="rect">
            <a:avLst/>
          </a:prstGeom>
        </p:spPr>
      </p:pic>
      <p:pic>
        <p:nvPicPr>
          <p:cNvPr id="192" name="Picture 161"/>
          <p:cNvPicPr>
            <a:picLocks xmlns:a="http://schemas.openxmlformats.org/drawingml/2006/main" noChangeAspect="1"/>
          </p:cNvPicPr>
          <p:nvPr/>
        </p:nvPicPr>
        <p:blipFill>
          <a:blip xmlns:r="http://schemas.openxmlformats.org/officeDocument/2006/relationships" xmlns:a="http://schemas.openxmlformats.org/drawingml/2006/main" r:embed="Rd775216f79b54792"/>
          <a:stretch xmlns:a="http://schemas.openxmlformats.org/drawingml/2006/main"/>
        </p:blipFill>
        <p:spPr>
          <a:xfrm xmlns:a="http://schemas.openxmlformats.org/drawingml/2006/main">
            <a:off x="5290751" y="4019550"/>
            <a:ext cx="315097" cy="323850"/>
          </a:xfrm>
          <a:prstGeom xmlns:a="http://schemas.openxmlformats.org/drawingml/2006/main" prst="rect">
            <a:avLst/>
          </a:prstGeom>
        </p:spPr>
      </p:pic>
      <p:sp>
        <p:nvSpPr>
          <p:cNvPr id="50" name="Rectangle 49">
            <a:extLst xmlns:a="http://schemas.openxmlformats.org/drawingml/2006/main">
              <a:ext uri="{FF2B5EF4-FFF2-40B4-BE49-F238E27FC236}">
                <a16:creationId xmlns:a16="http://schemas.microsoft.com/office/drawing/2014/main" id="{60471DFB-83D5-47C1-BCD1-7601D9CB72AD}"/>
              </a:ext>
            </a:extLst>
          </p:cNvPr>
          <p:cNvSpPr>
            <a:spLocks xmlns:a="http://schemas.openxmlformats.org/drawingml/2006/main" noGrp="1"/>
          </p:cNvSpPr>
          <p:nvPr/>
        </p:nvSpPr>
        <p:spPr>
          <a:xfrm xmlns:a="http://schemas.openxmlformats.org/drawingml/2006/main">
            <a:off x="3552825" y="4429125"/>
            <a:ext cx="42862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Internet</a:t>
            </a:r>
          </a:p>
        </p:txBody>
      </p:sp>
      <p:sp>
        <p:nvSpPr>
          <p:cNvPr id="51" name="Rectangle 50">
            <a:extLst xmlns:a="http://schemas.openxmlformats.org/drawingml/2006/main">
              <a:ext uri="{FF2B5EF4-FFF2-40B4-BE49-F238E27FC236}">
                <a16:creationId xmlns:a16="http://schemas.microsoft.com/office/drawing/2014/main" id="{2B84611E-1C4D-4EF7-8A84-A49FE461E447}"/>
              </a:ext>
            </a:extLst>
          </p:cNvPr>
          <p:cNvSpPr>
            <a:spLocks xmlns:a="http://schemas.openxmlformats.org/drawingml/2006/main" noGrp="1"/>
          </p:cNvSpPr>
          <p:nvPr/>
        </p:nvSpPr>
        <p:spPr>
          <a:xfrm xmlns:a="http://schemas.openxmlformats.org/drawingml/2006/main">
            <a:off x="4467225" y="4429125"/>
            <a:ext cx="266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VPN</a:t>
            </a:r>
          </a:p>
        </p:txBody>
      </p:sp>
      <p:sp>
        <p:nvSpPr>
          <p:cNvPr id="52" name="Rectangle 51">
            <a:extLst xmlns:a="http://schemas.openxmlformats.org/drawingml/2006/main">
              <a:ext uri="{FF2B5EF4-FFF2-40B4-BE49-F238E27FC236}">
                <a16:creationId xmlns:a16="http://schemas.microsoft.com/office/drawing/2014/main" id="{1780942A-2E68-4682-A280-1680A74B4308}"/>
              </a:ext>
            </a:extLst>
          </p:cNvPr>
          <p:cNvSpPr>
            <a:spLocks xmlns:a="http://schemas.openxmlformats.org/drawingml/2006/main" noGrp="1"/>
          </p:cNvSpPr>
          <p:nvPr/>
        </p:nvSpPr>
        <p:spPr>
          <a:xfrm xmlns:a="http://schemas.openxmlformats.org/drawingml/2006/main">
            <a:off x="5143500" y="4429125"/>
            <a:ext cx="6477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FastConnect</a:t>
            </a:r>
          </a:p>
        </p:txBody>
      </p:sp>
      <p:sp>
        <p:nvSpPr>
          <p:cNvPr id="53" name="Straight Connector 52">
            <a:extLst xmlns:a="http://schemas.openxmlformats.org/drawingml/2006/main">
              <a:ext uri="{FF2B5EF4-FFF2-40B4-BE49-F238E27FC236}">
                <a16:creationId xmlns:a16="http://schemas.microsoft.com/office/drawing/2014/main" id="{9F17C3B6-611D-4615-9CE5-425C7AB13751}"/>
              </a:ext>
            </a:extLst>
          </p:cNvPr>
          <p:cNvSpPr>
            <a:spLocks xmlns:a="http://schemas.openxmlformats.org/drawingml/2006/main" noGrp="1"/>
          </p:cNvSpPr>
          <p:nvPr/>
        </p:nvSpPr>
        <p:spPr>
          <a:xfrm xmlns:a="http://schemas.openxmlformats.org/drawingml/2006/main">
            <a:off x="3352800" y="4686300"/>
            <a:ext cx="25241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97" name="Picture 166"/>
          <p:cNvPicPr>
            <a:picLocks xmlns:a="http://schemas.openxmlformats.org/drawingml/2006/main" noChangeAspect="1"/>
          </p:cNvPicPr>
          <p:nvPr/>
        </p:nvPicPr>
        <p:blipFill>
          <a:blip xmlns:r="http://schemas.openxmlformats.org/officeDocument/2006/relationships" xmlns:a="http://schemas.openxmlformats.org/drawingml/2006/main" r:embed="Rbc158c256e9e4675"/>
          <a:stretch xmlns:a="http://schemas.openxmlformats.org/drawingml/2006/main"/>
        </p:blipFill>
        <p:spPr>
          <a:xfrm xmlns:a="http://schemas.openxmlformats.org/drawingml/2006/main">
            <a:off x="3447455" y="4857750"/>
            <a:ext cx="267891" cy="285750"/>
          </a:xfrm>
          <a:prstGeom xmlns:a="http://schemas.openxmlformats.org/drawingml/2006/main" prst="rect">
            <a:avLst/>
          </a:prstGeom>
        </p:spPr>
      </p:pic>
      <p:sp>
        <p:nvSpPr>
          <p:cNvPr id="55" name="Rectangle 54">
            <a:extLst xmlns:a="http://schemas.openxmlformats.org/drawingml/2006/main">
              <a:ext uri="{FF2B5EF4-FFF2-40B4-BE49-F238E27FC236}">
                <a16:creationId xmlns:a16="http://schemas.microsoft.com/office/drawing/2014/main" id="{9B91EC93-ED4C-40D8-BD14-DF85C66728FF}"/>
              </a:ext>
            </a:extLst>
          </p:cNvPr>
          <p:cNvSpPr>
            <a:spLocks xmlns:a="http://schemas.openxmlformats.org/drawingml/2006/main" noGrp="1"/>
          </p:cNvSpPr>
          <p:nvPr/>
        </p:nvSpPr>
        <p:spPr>
          <a:xfrm xmlns:a="http://schemas.openxmlformats.org/drawingml/2006/main">
            <a:off x="3286125" y="5181600"/>
            <a:ext cx="609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Live</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migration</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support</a:t>
            </a:r>
          </a:p>
        </p:txBody>
      </p:sp>
      <p:pic>
        <p:nvPicPr>
          <p:cNvPr id="199" name="Picture 168"/>
          <p:cNvPicPr>
            <a:picLocks xmlns:a="http://schemas.openxmlformats.org/drawingml/2006/main" noChangeAspect="1"/>
          </p:cNvPicPr>
          <p:nvPr/>
        </p:nvPicPr>
        <p:blipFill>
          <a:blip xmlns:r="http://schemas.openxmlformats.org/officeDocument/2006/relationships" xmlns:a="http://schemas.openxmlformats.org/drawingml/2006/main" r:embed="Rbc158c256e9e4675"/>
          <a:stretch xmlns:a="http://schemas.openxmlformats.org/drawingml/2006/main"/>
        </p:blipFill>
        <p:spPr>
          <a:xfrm xmlns:a="http://schemas.openxmlformats.org/drawingml/2006/main">
            <a:off x="4171355" y="4857750"/>
            <a:ext cx="267891" cy="285750"/>
          </a:xfrm>
          <a:prstGeom xmlns:a="http://schemas.openxmlformats.org/drawingml/2006/main" prst="rect">
            <a:avLst/>
          </a:prstGeom>
        </p:spPr>
      </p:pic>
      <p:sp>
        <p:nvSpPr>
          <p:cNvPr id="57" name="Rectangle 56">
            <a:extLst xmlns:a="http://schemas.openxmlformats.org/drawingml/2006/main">
              <a:ext uri="{FF2B5EF4-FFF2-40B4-BE49-F238E27FC236}">
                <a16:creationId xmlns:a16="http://schemas.microsoft.com/office/drawing/2014/main" id="{BCBF05A3-471C-4A3C-A18F-3B3138058D7F}"/>
              </a:ext>
            </a:extLst>
          </p:cNvPr>
          <p:cNvSpPr>
            <a:spLocks xmlns:a="http://schemas.openxmlformats.org/drawingml/2006/main" noGrp="1"/>
          </p:cNvSpPr>
          <p:nvPr/>
        </p:nvSpPr>
        <p:spPr>
          <a:xfrm xmlns:a="http://schemas.openxmlformats.org/drawingml/2006/main">
            <a:off x="4010025" y="5181600"/>
            <a:ext cx="609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Minimal</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downtime</a:t>
            </a:r>
          </a:p>
        </p:txBody>
      </p:sp>
      <p:pic>
        <p:nvPicPr>
          <p:cNvPr id="201" name="Picture 170"/>
          <p:cNvPicPr>
            <a:picLocks xmlns:a="http://schemas.openxmlformats.org/drawingml/2006/main" noChangeAspect="1"/>
          </p:cNvPicPr>
          <p:nvPr/>
        </p:nvPicPr>
        <p:blipFill>
          <a:blip xmlns:r="http://schemas.openxmlformats.org/officeDocument/2006/relationships" xmlns:a="http://schemas.openxmlformats.org/drawingml/2006/main" r:embed="Rbc158c256e9e4675"/>
          <a:stretch xmlns:a="http://schemas.openxmlformats.org/drawingml/2006/main"/>
        </p:blipFill>
        <p:spPr>
          <a:xfrm xmlns:a="http://schemas.openxmlformats.org/drawingml/2006/main">
            <a:off x="4914305" y="4857750"/>
            <a:ext cx="267891" cy="285750"/>
          </a:xfrm>
          <a:prstGeom xmlns:a="http://schemas.openxmlformats.org/drawingml/2006/main" prst="rect">
            <a:avLst/>
          </a:prstGeom>
        </p:spPr>
      </p:pic>
      <p:sp>
        <p:nvSpPr>
          <p:cNvPr id="59" name="Rectangle 58">
            <a:extLst xmlns:a="http://schemas.openxmlformats.org/drawingml/2006/main">
              <a:ext uri="{FF2B5EF4-FFF2-40B4-BE49-F238E27FC236}">
                <a16:creationId xmlns:a16="http://schemas.microsoft.com/office/drawing/2014/main" id="{F56778D7-1183-4F9D-8D4A-6BAB64E9BC6F}"/>
              </a:ext>
            </a:extLst>
          </p:cNvPr>
          <p:cNvSpPr>
            <a:spLocks xmlns:a="http://schemas.openxmlformats.org/drawingml/2006/main" noGrp="1"/>
          </p:cNvSpPr>
          <p:nvPr/>
        </p:nvSpPr>
        <p:spPr>
          <a:xfrm xmlns:a="http://schemas.openxmlformats.org/drawingml/2006/main">
            <a:off x="4752975" y="5181600"/>
            <a:ext cx="609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Network</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extension</a:t>
            </a:r>
          </a:p>
        </p:txBody>
      </p:sp>
      <p:pic>
        <p:nvPicPr>
          <p:cNvPr id="203" name="Picture 172"/>
          <p:cNvPicPr>
            <a:picLocks xmlns:a="http://schemas.openxmlformats.org/drawingml/2006/main" noChangeAspect="1"/>
          </p:cNvPicPr>
          <p:nvPr/>
        </p:nvPicPr>
        <p:blipFill>
          <a:blip xmlns:r="http://schemas.openxmlformats.org/officeDocument/2006/relationships" xmlns:a="http://schemas.openxmlformats.org/drawingml/2006/main" r:embed="Rbc158c256e9e4675"/>
          <a:stretch xmlns:a="http://schemas.openxmlformats.org/drawingml/2006/main"/>
        </p:blipFill>
        <p:spPr>
          <a:xfrm xmlns:a="http://schemas.openxmlformats.org/drawingml/2006/main">
            <a:off x="5619155" y="4857750"/>
            <a:ext cx="267891" cy="285750"/>
          </a:xfrm>
          <a:prstGeom xmlns:a="http://schemas.openxmlformats.org/drawingml/2006/main" prst="rect">
            <a:avLst/>
          </a:prstGeom>
        </p:spPr>
      </p:pic>
      <p:sp>
        <p:nvSpPr>
          <p:cNvPr id="61" name="Rectangle 60">
            <a:extLst xmlns:a="http://schemas.openxmlformats.org/drawingml/2006/main">
              <a:ext uri="{FF2B5EF4-FFF2-40B4-BE49-F238E27FC236}">
                <a16:creationId xmlns:a16="http://schemas.microsoft.com/office/drawing/2014/main" id="{FC31E4EB-4103-440D-B82A-A521151D3699}"/>
              </a:ext>
            </a:extLst>
          </p:cNvPr>
          <p:cNvSpPr>
            <a:spLocks xmlns:a="http://schemas.openxmlformats.org/drawingml/2006/main" noGrp="1"/>
          </p:cNvSpPr>
          <p:nvPr/>
        </p:nvSpPr>
        <p:spPr>
          <a:xfrm xmlns:a="http://schemas.openxmlformats.org/drawingml/2006/main">
            <a:off x="5457825" y="5181600"/>
            <a:ext cx="609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Phased</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migration</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approach</a:t>
            </a:r>
          </a:p>
        </p:txBody>
      </p:sp>
      <p:sp>
        <p:nvSpPr>
          <p:cNvPr id="62" name="Straight Connector 61">
            <a:extLst xmlns:a="http://schemas.openxmlformats.org/drawingml/2006/main">
              <a:ext uri="{FF2B5EF4-FFF2-40B4-BE49-F238E27FC236}">
                <a16:creationId xmlns:a16="http://schemas.microsoft.com/office/drawing/2014/main" id="{9B36067F-69DD-41C7-913E-CA54F8C41549}"/>
              </a:ext>
            </a:extLst>
          </p:cNvPr>
          <p:cNvSpPr>
            <a:spLocks xmlns:a="http://schemas.openxmlformats.org/drawingml/2006/main" noGrp="1"/>
          </p:cNvSpPr>
          <p:nvPr/>
        </p:nvSpPr>
        <p:spPr>
          <a:xfrm xmlns:a="http://schemas.openxmlformats.org/drawingml/2006/main">
            <a:off x="3886200" y="4819650"/>
            <a:ext cx="0" cy="7905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63" name="Straight Connector 62">
            <a:extLst xmlns:a="http://schemas.openxmlformats.org/drawingml/2006/main">
              <a:ext uri="{FF2B5EF4-FFF2-40B4-BE49-F238E27FC236}">
                <a16:creationId xmlns:a16="http://schemas.microsoft.com/office/drawing/2014/main" id="{A2CB8EE4-87EE-4E03-B094-5FD3A968A3AB}"/>
              </a:ext>
            </a:extLst>
          </p:cNvPr>
          <p:cNvSpPr>
            <a:spLocks xmlns:a="http://schemas.openxmlformats.org/drawingml/2006/main" noGrp="1"/>
          </p:cNvSpPr>
          <p:nvPr/>
        </p:nvSpPr>
        <p:spPr>
          <a:xfrm xmlns:a="http://schemas.openxmlformats.org/drawingml/2006/main">
            <a:off x="4610100" y="4819650"/>
            <a:ext cx="0" cy="7905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Straight Connector 63">
            <a:extLst xmlns:a="http://schemas.openxmlformats.org/drawingml/2006/main">
              <a:ext uri="{FF2B5EF4-FFF2-40B4-BE49-F238E27FC236}">
                <a16:creationId xmlns:a16="http://schemas.microsoft.com/office/drawing/2014/main" id="{6426E86F-678A-4620-838E-2022A55FE576}"/>
              </a:ext>
            </a:extLst>
          </p:cNvPr>
          <p:cNvSpPr>
            <a:spLocks xmlns:a="http://schemas.openxmlformats.org/drawingml/2006/main" noGrp="1"/>
          </p:cNvSpPr>
          <p:nvPr/>
        </p:nvSpPr>
        <p:spPr>
          <a:xfrm xmlns:a="http://schemas.openxmlformats.org/drawingml/2006/main">
            <a:off x="5343525" y="4819650"/>
            <a:ext cx="0" cy="7905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65" name="Rounded Rectangle 64">
            <a:extLst xmlns:a="http://schemas.openxmlformats.org/drawingml/2006/main">
              <a:ext uri="{FF2B5EF4-FFF2-40B4-BE49-F238E27FC236}">
                <a16:creationId xmlns:a16="http://schemas.microsoft.com/office/drawing/2014/main" id="{E7EB4DE1-92A8-4571-B2DB-1CEAEE0916CA}"/>
              </a:ext>
            </a:extLst>
          </p:cNvPr>
          <p:cNvSpPr>
            <a:spLocks xmlns:a="http://schemas.openxmlformats.org/drawingml/2006/main" noGrp="1"/>
          </p:cNvSpPr>
          <p:nvPr/>
        </p:nvSpPr>
        <p:spPr>
          <a:xfrm xmlns:a="http://schemas.openxmlformats.org/drawingml/2006/main">
            <a:off x="6315075" y="2362200"/>
            <a:ext cx="3276600" cy="3400425"/>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F00000"/>
            </a:solidFill>
            <a:prstDash val="solid"/>
          </a:ln>
        </p:spPr>
        <p:txBody>
          <a:bodyPr xmlns:a="http://schemas.openxmlformats.org/drawingml/2006/main"/>
          <a:lstStyle xmlns:a="http://schemas.openxmlformats.org/drawingml/2006/main"/>
          <a:p xmlns:a="http://schemas.openxmlformats.org/drawingml/2006/main">
            <a:endParaRPr/>
          </a:p>
        </p:txBody>
      </p:sp>
      <p:sp>
        <p:nvSpPr>
          <p:cNvPr id="66" name="Rounded Rectangle 65">
            <a:extLst xmlns:a="http://schemas.openxmlformats.org/drawingml/2006/main">
              <a:ext uri="{FF2B5EF4-FFF2-40B4-BE49-F238E27FC236}">
                <a16:creationId xmlns:a16="http://schemas.microsoft.com/office/drawing/2014/main" id="{90F601E3-5DB4-407B-AC57-46094BF60D19}"/>
              </a:ext>
            </a:extLst>
          </p:cNvPr>
          <p:cNvSpPr>
            <a:spLocks xmlns:a="http://schemas.openxmlformats.org/drawingml/2006/main" noGrp="1"/>
          </p:cNvSpPr>
          <p:nvPr/>
        </p:nvSpPr>
        <p:spPr>
          <a:xfrm xmlns:a="http://schemas.openxmlformats.org/drawingml/2006/main">
            <a:off x="6315075" y="2362200"/>
            <a:ext cx="3276600" cy="304800"/>
          </a:xfrm>
          <a:prstGeom xmlns:a="http://schemas.openxmlformats.org/drawingml/2006/main" prst="roundRect">
            <a:avLst>
              <a:gd name="adj" fmla="val 18750"/>
            </a:avLst>
          </a:prstGeom>
          <a:gradFill xmlns:a="http://schemas.openxmlformats.org/drawingml/2006/main">
            <a:gsLst>
              <a:gs pos="0">
                <a:srgbClr val="D60000"/>
              </a:gs>
              <a:gs pos="100000">
                <a:srgbClr val="E0000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7" name="Rectangle 66">
            <a:extLst xmlns:a="http://schemas.openxmlformats.org/drawingml/2006/main">
              <a:ext uri="{FF2B5EF4-FFF2-40B4-BE49-F238E27FC236}">
                <a16:creationId xmlns:a16="http://schemas.microsoft.com/office/drawing/2014/main" id="{C2628BBB-C0E5-4EC4-841E-C01D9E664DC8}"/>
              </a:ext>
            </a:extLst>
          </p:cNvPr>
          <p:cNvSpPr>
            <a:spLocks xmlns:a="http://schemas.openxmlformats.org/drawingml/2006/main" noGrp="1"/>
          </p:cNvSpPr>
          <p:nvPr/>
        </p:nvSpPr>
        <p:spPr>
          <a:xfrm xmlns:a="http://schemas.openxmlformats.org/drawingml/2006/main">
            <a:off x="6315075" y="2600325"/>
            <a:ext cx="3276600" cy="76200"/>
          </a:xfrm>
          <a:prstGeom xmlns:a="http://schemas.openxmlformats.org/drawingml/2006/main" prst="rect">
            <a:avLst/>
          </a:prstGeom>
          <a:gradFill xmlns:a="http://schemas.openxmlformats.org/drawingml/2006/main">
            <a:gsLst>
              <a:gs pos="0">
                <a:srgbClr val="D60000"/>
              </a:gs>
              <a:gs pos="100000">
                <a:srgbClr val="E0000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8" name="Rectangle 67">
            <a:extLst xmlns:a="http://schemas.openxmlformats.org/drawingml/2006/main">
              <a:ext uri="{FF2B5EF4-FFF2-40B4-BE49-F238E27FC236}">
                <a16:creationId xmlns:a16="http://schemas.microsoft.com/office/drawing/2014/main" id="{AEB0B200-61AC-4A68-AE1E-F69838E202E3}"/>
              </a:ext>
            </a:extLst>
          </p:cNvPr>
          <p:cNvSpPr>
            <a:spLocks xmlns:a="http://schemas.openxmlformats.org/drawingml/2006/main" noGrp="1"/>
          </p:cNvSpPr>
          <p:nvPr/>
        </p:nvSpPr>
        <p:spPr>
          <a:xfrm xmlns:a="http://schemas.openxmlformats.org/drawingml/2006/main">
            <a:off x="6667500" y="2466975"/>
            <a:ext cx="2590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FFFFFF"/>
                </a:solidFill>
                <a:latin typeface="Arial"/>
                <a:ea typeface="Arial"/>
                <a:cs typeface="Arial"/>
              </a:defRPr>
            </a:pPr>
            <a:r>
              <a:rPr sz="825" b="1" i="0">
                <a:solidFill>
                  <a:srgbClr val="FFFFFF"/>
                </a:solidFill>
                <a:latin typeface="Arial"/>
                <a:ea typeface="Arial"/>
                <a:cs typeface="Arial"/>
              </a:rPr>
              <a:t>ORACLE CLOUD VMWARE SOLUTION (OCVS)</a:t>
            </a:r>
          </a:p>
        </p:txBody>
      </p:sp>
      <p:sp>
        <p:nvSpPr>
          <p:cNvPr id="69" name="Rounded Rectangle 68">
            <a:extLst xmlns:a="http://schemas.openxmlformats.org/drawingml/2006/main">
              <a:ext uri="{FF2B5EF4-FFF2-40B4-BE49-F238E27FC236}">
                <a16:creationId xmlns:a16="http://schemas.microsoft.com/office/drawing/2014/main" id="{FB8BABC6-30D2-4A52-B11A-6B9399586D04}"/>
              </a:ext>
            </a:extLst>
          </p:cNvPr>
          <p:cNvSpPr>
            <a:spLocks xmlns:a="http://schemas.openxmlformats.org/drawingml/2006/main" noGrp="1"/>
          </p:cNvSpPr>
          <p:nvPr/>
        </p:nvSpPr>
        <p:spPr>
          <a:xfrm xmlns:a="http://schemas.openxmlformats.org/drawingml/2006/main">
            <a:off x="6410325" y="2990850"/>
            <a:ext cx="3076575" cy="1924050"/>
          </a:xfrm>
          <a:prstGeom xmlns:a="http://schemas.openxmlformats.org/drawingml/2006/main" prst="roundRect">
            <a:avLst>
              <a:gd name="adj" fmla="val 2970"/>
            </a:avLst>
          </a:prstGeom>
          <a:noFill xmlns:a="http://schemas.openxmlformats.org/drawingml/2006/main"/>
          <a:ln xmlns:a="http://schemas.openxmlformats.org/drawingml/2006/main" w="9525">
            <a:solidFill>
              <a:srgbClr val="FF3B30"/>
            </a:solidFill>
            <a:prstDash val="dash"/>
          </a:ln>
        </p:spPr>
        <p:txBody>
          <a:bodyPr xmlns:a="http://schemas.openxmlformats.org/drawingml/2006/main"/>
          <a:lstStyle xmlns:a="http://schemas.openxmlformats.org/drawingml/2006/main"/>
          <a:p xmlns:a="http://schemas.openxmlformats.org/drawingml/2006/main">
            <a:endParaRPr/>
          </a:p>
        </p:txBody>
      </p:sp>
      <p:sp>
        <p:nvSpPr>
          <p:cNvPr id="70" name="Rectangle 69">
            <a:extLst xmlns:a="http://schemas.openxmlformats.org/drawingml/2006/main">
              <a:ext uri="{FF2B5EF4-FFF2-40B4-BE49-F238E27FC236}">
                <a16:creationId xmlns:a16="http://schemas.microsoft.com/office/drawing/2014/main" id="{10F27041-0BF5-4E7A-98B0-97186FDCB055}"/>
              </a:ext>
            </a:extLst>
          </p:cNvPr>
          <p:cNvSpPr>
            <a:spLocks xmlns:a="http://schemas.openxmlformats.org/drawingml/2006/main" noGrp="1"/>
          </p:cNvSpPr>
          <p:nvPr/>
        </p:nvSpPr>
        <p:spPr>
          <a:xfrm xmlns:a="http://schemas.openxmlformats.org/drawingml/2006/main">
            <a:off x="6838950" y="2847975"/>
            <a:ext cx="2286000" cy="285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14" name="Picture 183"/>
          <p:cNvPicPr>
            <a:picLocks xmlns:a="http://schemas.openxmlformats.org/drawingml/2006/main" noChangeAspect="1"/>
          </p:cNvPicPr>
          <p:nvPr/>
        </p:nvPicPr>
        <p:blipFill>
          <a:blip xmlns:r="http://schemas.openxmlformats.org/officeDocument/2006/relationships" xmlns:a="http://schemas.openxmlformats.org/drawingml/2006/main" r:embed="R94428057d3f94d8b"/>
          <a:stretch xmlns:a="http://schemas.openxmlformats.org/drawingml/2006/main"/>
        </p:blipFill>
        <p:spPr>
          <a:xfrm xmlns:a="http://schemas.openxmlformats.org/drawingml/2006/main">
            <a:off x="6962775" y="2857500"/>
            <a:ext cx="295275" cy="295275"/>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23D883D7-AF85-44DC-B421-337DCF5E8B45}"/>
              </a:ext>
            </a:extLst>
          </p:cNvPr>
          <p:cNvSpPr>
            <a:spLocks xmlns:a="http://schemas.openxmlformats.org/drawingml/2006/main" noGrp="1"/>
          </p:cNvSpPr>
          <p:nvPr/>
        </p:nvSpPr>
        <p:spPr>
          <a:xfrm xmlns:a="http://schemas.openxmlformats.org/drawingml/2006/main">
            <a:off x="7343775" y="2933700"/>
            <a:ext cx="1809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OCI Virtual Cloud Network (VCN)</a:t>
            </a:r>
          </a:p>
        </p:txBody>
      </p:sp>
      <p:sp>
        <p:nvSpPr>
          <p:cNvPr id="73" name="Rounded Rectangle 72">
            <a:extLst xmlns:a="http://schemas.openxmlformats.org/drawingml/2006/main">
              <a:ext uri="{FF2B5EF4-FFF2-40B4-BE49-F238E27FC236}">
                <a16:creationId xmlns:a16="http://schemas.microsoft.com/office/drawing/2014/main" id="{ABC8CB99-54C1-4CB2-B732-0A80BE0DDEFE}"/>
              </a:ext>
            </a:extLst>
          </p:cNvPr>
          <p:cNvSpPr>
            <a:spLocks xmlns:a="http://schemas.openxmlformats.org/drawingml/2006/main" noGrp="1"/>
          </p:cNvSpPr>
          <p:nvPr/>
        </p:nvSpPr>
        <p:spPr>
          <a:xfrm xmlns:a="http://schemas.openxmlformats.org/drawingml/2006/main">
            <a:off x="6591300" y="3276600"/>
            <a:ext cx="2743200" cy="266700"/>
          </a:xfrm>
          <a:prstGeom xmlns:a="http://schemas.openxmlformats.org/drawingml/2006/main" prst="roundRect">
            <a:avLst>
              <a:gd name="adj" fmla="val 17857"/>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4" name="Rectangle 73">
            <a:extLst xmlns:a="http://schemas.openxmlformats.org/drawingml/2006/main">
              <a:ext uri="{FF2B5EF4-FFF2-40B4-BE49-F238E27FC236}">
                <a16:creationId xmlns:a16="http://schemas.microsoft.com/office/drawing/2014/main" id="{B07CF799-F2FD-4488-85E0-D54ED290B4CA}"/>
              </a:ext>
            </a:extLst>
          </p:cNvPr>
          <p:cNvSpPr>
            <a:spLocks xmlns:a="http://schemas.openxmlformats.org/drawingml/2006/main" noGrp="1"/>
          </p:cNvSpPr>
          <p:nvPr/>
        </p:nvSpPr>
        <p:spPr>
          <a:xfrm xmlns:a="http://schemas.openxmlformats.org/drawingml/2006/main">
            <a:off x="7410450" y="3362325"/>
            <a:ext cx="1143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13" b="1" i="0">
                <a:solidFill>
                  <a:srgbClr val="FFFFFF"/>
                </a:solidFill>
                <a:latin typeface="Arial"/>
                <a:ea typeface="Arial"/>
                <a:cs typeface="Arial"/>
              </a:defRPr>
            </a:pPr>
            <a:r>
              <a:rPr sz="713" b="1" i="0">
                <a:solidFill>
                  <a:srgbClr val="FFFFFF"/>
                </a:solidFill>
                <a:latin typeface="Arial"/>
                <a:ea typeface="Arial"/>
                <a:cs typeface="Arial"/>
              </a:rPr>
              <a:t>VMware Environment</a:t>
            </a:r>
          </a:p>
        </p:txBody>
      </p:sp>
      <p:sp>
        <p:nvSpPr>
          <p:cNvPr id="75" name="Rounded Rectangle 74">
            <a:extLst xmlns:a="http://schemas.openxmlformats.org/drawingml/2006/main">
              <a:ext uri="{FF2B5EF4-FFF2-40B4-BE49-F238E27FC236}">
                <a16:creationId xmlns:a16="http://schemas.microsoft.com/office/drawing/2014/main" id="{5C004DA8-B8F3-4DA1-9101-8DFA273571AE}"/>
              </a:ext>
            </a:extLst>
          </p:cNvPr>
          <p:cNvSpPr>
            <a:spLocks xmlns:a="http://schemas.openxmlformats.org/drawingml/2006/main" noGrp="1"/>
          </p:cNvSpPr>
          <p:nvPr/>
        </p:nvSpPr>
        <p:spPr>
          <a:xfrm xmlns:a="http://schemas.openxmlformats.org/drawingml/2006/main">
            <a:off x="6591300" y="3638550"/>
            <a:ext cx="790575"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6" name="Rectangle 75">
            <a:extLst xmlns:a="http://schemas.openxmlformats.org/drawingml/2006/main">
              <a:ext uri="{FF2B5EF4-FFF2-40B4-BE49-F238E27FC236}">
                <a16:creationId xmlns:a16="http://schemas.microsoft.com/office/drawing/2014/main" id="{650187E2-3C76-4358-971F-A5F83C59ECC0}"/>
              </a:ext>
            </a:extLst>
          </p:cNvPr>
          <p:cNvSpPr>
            <a:spLocks xmlns:a="http://schemas.openxmlformats.org/drawingml/2006/main" noGrp="1"/>
          </p:cNvSpPr>
          <p:nvPr/>
        </p:nvSpPr>
        <p:spPr>
          <a:xfrm xmlns:a="http://schemas.openxmlformats.org/drawingml/2006/main">
            <a:off x="6677025" y="3714750"/>
            <a:ext cx="609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FFFFFF"/>
                </a:solidFill>
                <a:latin typeface="Arial"/>
                <a:ea typeface="Arial"/>
                <a:cs typeface="Arial"/>
              </a:defRPr>
            </a:pPr>
            <a:r>
              <a:rPr sz="638" b="0" i="0">
                <a:solidFill>
                  <a:srgbClr val="FFFFFF"/>
                </a:solidFill>
                <a:latin typeface="Arial"/>
                <a:ea typeface="Arial"/>
                <a:cs typeface="Arial"/>
              </a:rPr>
              <a:t>Compute</a:t>
            </a:r>
          </a:p>
        </p:txBody>
      </p:sp>
      <p:sp>
        <p:nvSpPr>
          <p:cNvPr id="77" name="Rounded Rectangle 76">
            <a:extLst xmlns:a="http://schemas.openxmlformats.org/drawingml/2006/main">
              <a:ext uri="{FF2B5EF4-FFF2-40B4-BE49-F238E27FC236}">
                <a16:creationId xmlns:a16="http://schemas.microsoft.com/office/drawing/2014/main" id="{F5D3827B-AD91-4C24-8337-C6C255E6E442}"/>
              </a:ext>
            </a:extLst>
          </p:cNvPr>
          <p:cNvSpPr>
            <a:spLocks xmlns:a="http://schemas.openxmlformats.org/drawingml/2006/main" noGrp="1"/>
          </p:cNvSpPr>
          <p:nvPr/>
        </p:nvSpPr>
        <p:spPr>
          <a:xfrm xmlns:a="http://schemas.openxmlformats.org/drawingml/2006/main">
            <a:off x="7581900" y="3638550"/>
            <a:ext cx="790575"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8" name="Rectangle 77">
            <a:extLst xmlns:a="http://schemas.openxmlformats.org/drawingml/2006/main">
              <a:ext uri="{FF2B5EF4-FFF2-40B4-BE49-F238E27FC236}">
                <a16:creationId xmlns:a16="http://schemas.microsoft.com/office/drawing/2014/main" id="{A5DB91C5-7016-4391-8755-A5764244AEA7}"/>
              </a:ext>
            </a:extLst>
          </p:cNvPr>
          <p:cNvSpPr>
            <a:spLocks xmlns:a="http://schemas.openxmlformats.org/drawingml/2006/main" noGrp="1"/>
          </p:cNvSpPr>
          <p:nvPr/>
        </p:nvSpPr>
        <p:spPr>
          <a:xfrm xmlns:a="http://schemas.openxmlformats.org/drawingml/2006/main">
            <a:off x="7667625" y="3714750"/>
            <a:ext cx="609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FFFFFF"/>
                </a:solidFill>
                <a:latin typeface="Arial"/>
                <a:ea typeface="Arial"/>
                <a:cs typeface="Arial"/>
              </a:defRPr>
            </a:pPr>
            <a:r>
              <a:rPr sz="638" b="0" i="0">
                <a:solidFill>
                  <a:srgbClr val="FFFFFF"/>
                </a:solidFill>
                <a:latin typeface="Arial"/>
                <a:ea typeface="Arial"/>
                <a:cs typeface="Arial"/>
              </a:rPr>
              <a:t>Storage</a:t>
            </a:r>
          </a:p>
        </p:txBody>
      </p:sp>
      <p:sp>
        <p:nvSpPr>
          <p:cNvPr id="79" name="Rounded Rectangle 78">
            <a:extLst xmlns:a="http://schemas.openxmlformats.org/drawingml/2006/main">
              <a:ext uri="{FF2B5EF4-FFF2-40B4-BE49-F238E27FC236}">
                <a16:creationId xmlns:a16="http://schemas.microsoft.com/office/drawing/2014/main" id="{4889516B-E239-407F-BCE9-46811647479F}"/>
              </a:ext>
            </a:extLst>
          </p:cNvPr>
          <p:cNvSpPr>
            <a:spLocks xmlns:a="http://schemas.openxmlformats.org/drawingml/2006/main" noGrp="1"/>
          </p:cNvSpPr>
          <p:nvPr/>
        </p:nvSpPr>
        <p:spPr>
          <a:xfrm xmlns:a="http://schemas.openxmlformats.org/drawingml/2006/main">
            <a:off x="8572500" y="3638550"/>
            <a:ext cx="790575"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0" name="Rectangle 79">
            <a:extLst xmlns:a="http://schemas.openxmlformats.org/drawingml/2006/main">
              <a:ext uri="{FF2B5EF4-FFF2-40B4-BE49-F238E27FC236}">
                <a16:creationId xmlns:a16="http://schemas.microsoft.com/office/drawing/2014/main" id="{3BEB0685-037B-4035-9D14-32DB390E6F6F}"/>
              </a:ext>
            </a:extLst>
          </p:cNvPr>
          <p:cNvSpPr>
            <a:spLocks xmlns:a="http://schemas.openxmlformats.org/drawingml/2006/main" noGrp="1"/>
          </p:cNvSpPr>
          <p:nvPr/>
        </p:nvSpPr>
        <p:spPr>
          <a:xfrm xmlns:a="http://schemas.openxmlformats.org/drawingml/2006/main">
            <a:off x="8658225" y="3714750"/>
            <a:ext cx="609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8" b="0" i="0">
                <a:solidFill>
                  <a:srgbClr val="FFFFFF"/>
                </a:solidFill>
                <a:latin typeface="Arial"/>
                <a:ea typeface="Arial"/>
                <a:cs typeface="Arial"/>
              </a:defRPr>
            </a:pPr>
            <a:r>
              <a:rPr sz="638" b="0" i="0">
                <a:solidFill>
                  <a:srgbClr val="FFFFFF"/>
                </a:solidFill>
                <a:latin typeface="Arial"/>
                <a:ea typeface="Arial"/>
                <a:cs typeface="Arial"/>
              </a:rPr>
              <a:t>Network</a:t>
            </a:r>
          </a:p>
        </p:txBody>
      </p:sp>
      <p:pic>
        <p:nvPicPr>
          <p:cNvPr id="224" name="Picture 193"/>
          <p:cNvPicPr>
            <a:picLocks xmlns:a="http://schemas.openxmlformats.org/drawingml/2006/main" noChangeAspect="1"/>
          </p:cNvPicPr>
          <p:nvPr/>
        </p:nvPicPr>
        <p:blipFill>
          <a:blip xmlns:r="http://schemas.openxmlformats.org/officeDocument/2006/relationships" xmlns:a="http://schemas.openxmlformats.org/drawingml/2006/main" r:embed="R22c4857fb746441c"/>
          <a:stretch xmlns:a="http://schemas.openxmlformats.org/drawingml/2006/main"/>
        </p:blipFill>
        <p:spPr>
          <a:xfrm xmlns:a="http://schemas.openxmlformats.org/drawingml/2006/main">
            <a:off x="6800850" y="4124325"/>
            <a:ext cx="342900" cy="276225"/>
          </a:xfrm>
          <a:prstGeom xmlns:a="http://schemas.openxmlformats.org/drawingml/2006/main" prst="rect">
            <a:avLst/>
          </a:prstGeom>
        </p:spPr>
      </p:pic>
      <p:sp>
        <p:nvSpPr>
          <p:cNvPr id="82" name="Rectangle 81">
            <a:extLst xmlns:a="http://schemas.openxmlformats.org/drawingml/2006/main">
              <a:ext uri="{FF2B5EF4-FFF2-40B4-BE49-F238E27FC236}">
                <a16:creationId xmlns:a16="http://schemas.microsoft.com/office/drawing/2014/main" id="{D001E645-FE15-465C-80E8-8FE2D092CDD4}"/>
              </a:ext>
            </a:extLst>
          </p:cNvPr>
          <p:cNvSpPr>
            <a:spLocks xmlns:a="http://schemas.openxmlformats.org/drawingml/2006/main" noGrp="1"/>
          </p:cNvSpPr>
          <p:nvPr/>
        </p:nvSpPr>
        <p:spPr>
          <a:xfrm xmlns:a="http://schemas.openxmlformats.org/drawingml/2006/main">
            <a:off x="6705600" y="4543425"/>
            <a:ext cx="552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Bare Metal</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Compute</a:t>
            </a:r>
          </a:p>
        </p:txBody>
      </p:sp>
      <p:pic>
        <p:nvPicPr>
          <p:cNvPr id="226" name="Picture 195"/>
          <p:cNvPicPr>
            <a:picLocks xmlns:a="http://schemas.openxmlformats.org/drawingml/2006/main" noChangeAspect="1"/>
          </p:cNvPicPr>
          <p:nvPr/>
        </p:nvPicPr>
        <p:blipFill>
          <a:blip xmlns:r="http://schemas.openxmlformats.org/officeDocument/2006/relationships" xmlns:a="http://schemas.openxmlformats.org/drawingml/2006/main" r:embed="R22c4857fb746441c"/>
          <a:stretch xmlns:a="http://schemas.openxmlformats.org/drawingml/2006/main"/>
        </p:blipFill>
        <p:spPr>
          <a:xfrm xmlns:a="http://schemas.openxmlformats.org/drawingml/2006/main">
            <a:off x="7791450" y="4124325"/>
            <a:ext cx="342900" cy="276225"/>
          </a:xfrm>
          <a:prstGeom xmlns:a="http://schemas.openxmlformats.org/drawingml/2006/main" prst="rect">
            <a:avLst/>
          </a:prstGeom>
        </p:spPr>
      </p:pic>
      <p:sp>
        <p:nvSpPr>
          <p:cNvPr id="84" name="Rectangle 83">
            <a:extLst xmlns:a="http://schemas.openxmlformats.org/drawingml/2006/main">
              <a:ext uri="{FF2B5EF4-FFF2-40B4-BE49-F238E27FC236}">
                <a16:creationId xmlns:a16="http://schemas.microsoft.com/office/drawing/2014/main" id="{98A396A1-7F76-41A1-AFA8-7B70FA8871B9}"/>
              </a:ext>
            </a:extLst>
          </p:cNvPr>
          <p:cNvSpPr>
            <a:spLocks xmlns:a="http://schemas.openxmlformats.org/drawingml/2006/main" noGrp="1"/>
          </p:cNvSpPr>
          <p:nvPr/>
        </p:nvSpPr>
        <p:spPr>
          <a:xfrm xmlns:a="http://schemas.openxmlformats.org/drawingml/2006/main">
            <a:off x="7696200" y="4543425"/>
            <a:ext cx="552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Bare Metal</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Compute</a:t>
            </a:r>
          </a:p>
        </p:txBody>
      </p:sp>
      <p:pic>
        <p:nvPicPr>
          <p:cNvPr id="228" name="Picture 197"/>
          <p:cNvPicPr>
            <a:picLocks xmlns:a="http://schemas.openxmlformats.org/drawingml/2006/main" noChangeAspect="1"/>
          </p:cNvPicPr>
          <p:nvPr/>
        </p:nvPicPr>
        <p:blipFill>
          <a:blip xmlns:r="http://schemas.openxmlformats.org/officeDocument/2006/relationships" xmlns:a="http://schemas.openxmlformats.org/drawingml/2006/main" r:embed="R22c4857fb746441c"/>
          <a:stretch xmlns:a="http://schemas.openxmlformats.org/drawingml/2006/main"/>
        </p:blipFill>
        <p:spPr>
          <a:xfrm xmlns:a="http://schemas.openxmlformats.org/drawingml/2006/main">
            <a:off x="8782050" y="4124325"/>
            <a:ext cx="342900" cy="276225"/>
          </a:xfrm>
          <a:prstGeom xmlns:a="http://schemas.openxmlformats.org/drawingml/2006/main" prst="rect">
            <a:avLst/>
          </a:prstGeom>
        </p:spPr>
      </p:pic>
      <p:sp>
        <p:nvSpPr>
          <p:cNvPr id="86" name="Rectangle 85">
            <a:extLst xmlns:a="http://schemas.openxmlformats.org/drawingml/2006/main">
              <a:ext uri="{FF2B5EF4-FFF2-40B4-BE49-F238E27FC236}">
                <a16:creationId xmlns:a16="http://schemas.microsoft.com/office/drawing/2014/main" id="{6C8D6220-BE6B-4F00-92AD-B7B4B47F9E5D}"/>
              </a:ext>
            </a:extLst>
          </p:cNvPr>
          <p:cNvSpPr>
            <a:spLocks xmlns:a="http://schemas.openxmlformats.org/drawingml/2006/main" noGrp="1"/>
          </p:cNvSpPr>
          <p:nvPr/>
        </p:nvSpPr>
        <p:spPr>
          <a:xfrm xmlns:a="http://schemas.openxmlformats.org/drawingml/2006/main">
            <a:off x="8686800" y="4543425"/>
            <a:ext cx="552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Bare Metal</a:t>
            </a:r>
          </a:p>
          <a:p xmlns:a="http://schemas.openxmlformats.org/drawingml/2006/main">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Compute</a:t>
            </a:r>
          </a:p>
        </p:txBody>
      </p:sp>
      <p:sp>
        <p:nvSpPr>
          <p:cNvPr id="87" name="Rounded Rectangle 86">
            <a:extLst xmlns:a="http://schemas.openxmlformats.org/drawingml/2006/main">
              <a:ext uri="{FF2B5EF4-FFF2-40B4-BE49-F238E27FC236}">
                <a16:creationId xmlns:a16="http://schemas.microsoft.com/office/drawing/2014/main" id="{85064B4D-70EA-4445-BB7D-496EC130AE8F}"/>
              </a:ext>
            </a:extLst>
          </p:cNvPr>
          <p:cNvSpPr>
            <a:spLocks xmlns:a="http://schemas.openxmlformats.org/drawingml/2006/main" noGrp="1"/>
          </p:cNvSpPr>
          <p:nvPr/>
        </p:nvSpPr>
        <p:spPr>
          <a:xfrm xmlns:a="http://schemas.openxmlformats.org/drawingml/2006/main">
            <a:off x="6448425" y="5000625"/>
            <a:ext cx="2971800" cy="552450"/>
          </a:xfrm>
          <a:prstGeom xmlns:a="http://schemas.openxmlformats.org/drawingml/2006/main" prst="roundRect">
            <a:avLst>
              <a:gd name="adj" fmla="val 10345"/>
            </a:avLst>
          </a:prstGeom>
          <a:solidFill xmlns:a="http://schemas.openxmlformats.org/drawingml/2006/main">
            <a:srgbClr val="F2F2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31" name="Picture 200"/>
          <p:cNvPicPr>
            <a:picLocks xmlns:a="http://schemas.openxmlformats.org/drawingml/2006/main" noChangeAspect="1"/>
          </p:cNvPicPr>
          <p:nvPr/>
        </p:nvPicPr>
        <p:blipFill>
          <a:blip xmlns:r="http://schemas.openxmlformats.org/officeDocument/2006/relationships" xmlns:a="http://schemas.openxmlformats.org/drawingml/2006/main" r:embed="R84a6baf55bd34cc7"/>
          <a:stretch xmlns:a="http://schemas.openxmlformats.org/drawingml/2006/main"/>
        </p:blipFill>
        <p:spPr>
          <a:xfrm xmlns:a="http://schemas.openxmlformats.org/drawingml/2006/main">
            <a:off x="6600825" y="5119407"/>
            <a:ext cx="304800" cy="295835"/>
          </a:xfrm>
          <a:prstGeom xmlns:a="http://schemas.openxmlformats.org/drawingml/2006/main" prst="rect">
            <a:avLst/>
          </a:prstGeom>
        </p:spPr>
      </p:pic>
      <p:sp>
        <p:nvSpPr>
          <p:cNvPr id="89" name="Rectangle 88">
            <a:extLst xmlns:a="http://schemas.openxmlformats.org/drawingml/2006/main">
              <a:ext uri="{FF2B5EF4-FFF2-40B4-BE49-F238E27FC236}">
                <a16:creationId xmlns:a16="http://schemas.microsoft.com/office/drawing/2014/main" id="{239622D7-450A-43E7-A736-51F812A2790A}"/>
              </a:ext>
            </a:extLst>
          </p:cNvPr>
          <p:cNvSpPr>
            <a:spLocks xmlns:a="http://schemas.openxmlformats.org/drawingml/2006/main" noGrp="1"/>
          </p:cNvSpPr>
          <p:nvPr/>
        </p:nvSpPr>
        <p:spPr>
          <a:xfrm xmlns:a="http://schemas.openxmlformats.org/drawingml/2006/main">
            <a:off x="7067550" y="51530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750" b="0" i="0">
                <a:solidFill>
                  <a:srgbClr val="111111"/>
                </a:solidFill>
                <a:latin typeface="Arial"/>
                <a:ea typeface="Arial"/>
                <a:cs typeface="Arial"/>
              </a:defRPr>
            </a:pPr>
            <a:r>
              <a:rPr sz="750" b="0" i="0">
                <a:solidFill>
                  <a:srgbClr val="111111"/>
                </a:solidFill>
                <a:latin typeface="Arial"/>
                <a:ea typeface="Arial"/>
                <a:cs typeface="Arial"/>
              </a:rPr>
              <a:t>Customer-managed VMware environment</a:t>
            </a:r>
          </a:p>
          <a:p xmlns:a="http://schemas.openxmlformats.org/drawingml/2006/main">
            <a:pPr algn="l">
              <a:lnSpc>
                <a:spcPct val="108000"/>
              </a:lnSpc>
              <a:buNone/>
              <a:defRPr sz="750" b="0" i="0">
                <a:solidFill>
                  <a:srgbClr val="111111"/>
                </a:solidFill>
                <a:latin typeface="Arial"/>
                <a:ea typeface="Arial"/>
                <a:cs typeface="Arial"/>
              </a:defRPr>
            </a:pPr>
            <a:r>
              <a:rPr sz="750" b="0" i="0">
                <a:solidFill>
                  <a:srgbClr val="111111"/>
                </a:solidFill>
                <a:latin typeface="Arial"/>
                <a:ea typeface="Arial"/>
                <a:cs typeface="Arial"/>
              </a:rPr>
              <a:t>on OCI infrastructure</a:t>
            </a:r>
          </a:p>
        </p:txBody>
      </p:sp>
      <p:sp>
        <p:nvSpPr>
          <p:cNvPr id="90" name="Rectangle 89">
            <a:extLst xmlns:a="http://schemas.openxmlformats.org/drawingml/2006/main">
              <a:ext uri="{FF2B5EF4-FFF2-40B4-BE49-F238E27FC236}">
                <a16:creationId xmlns:a16="http://schemas.microsoft.com/office/drawing/2014/main" id="{8DBE4D25-A75E-4E29-94BA-C2969469B042}"/>
              </a:ext>
            </a:extLst>
          </p:cNvPr>
          <p:cNvSpPr>
            <a:spLocks xmlns:a="http://schemas.openxmlformats.org/drawingml/2006/main" noGrp="1"/>
          </p:cNvSpPr>
          <p:nvPr/>
        </p:nvSpPr>
        <p:spPr>
          <a:xfrm xmlns:a="http://schemas.openxmlformats.org/drawingml/2006/main">
            <a:off x="10115550" y="1809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BUSINESS OUTCOMES</a:t>
            </a:r>
          </a:p>
        </p:txBody>
      </p:sp>
      <p:sp>
        <p:nvSpPr>
          <p:cNvPr id="91" name="Straight Connector 90">
            <a:extLst xmlns:a="http://schemas.openxmlformats.org/drawingml/2006/main">
              <a:ext uri="{FF2B5EF4-FFF2-40B4-BE49-F238E27FC236}">
                <a16:creationId xmlns:a16="http://schemas.microsoft.com/office/drawing/2014/main" id="{152CC60B-A654-417A-B940-4187C148ECC0}"/>
              </a:ext>
            </a:extLst>
          </p:cNvPr>
          <p:cNvSpPr>
            <a:spLocks xmlns:a="http://schemas.openxmlformats.org/drawingml/2006/main" noGrp="1"/>
          </p:cNvSpPr>
          <p:nvPr/>
        </p:nvSpPr>
        <p:spPr>
          <a:xfrm xmlns:a="http://schemas.openxmlformats.org/drawingml/2006/main">
            <a:off x="10001250" y="2038350"/>
            <a:ext cx="1981200" cy="0"/>
          </a:xfrm>
          <a:prstGeom xmlns:a="http://schemas.openxmlformats.org/drawingml/2006/main" prst="line">
            <a:avLst/>
          </a:prstGeom>
          <a:noFill xmlns:a="http://schemas.openxmlformats.org/drawingml/2006/main"/>
          <a:ln xmlns:a="http://schemas.openxmlformats.org/drawingml/2006/main" w="9525">
            <a:solidFill>
              <a:srgbClr val="5B7F70"/>
            </a:solidFill>
            <a:prstDash val="solid"/>
          </a:ln>
        </p:spPr>
        <p:txBody>
          <a:bodyPr xmlns:a="http://schemas.openxmlformats.org/drawingml/2006/main"/>
          <a:lstStyle xmlns:a="http://schemas.openxmlformats.org/drawingml/2006/main"/>
          <a:p xmlns:a="http://schemas.openxmlformats.org/drawingml/2006/main">
            <a:endParaRPr/>
          </a:p>
        </p:txBody>
      </p:sp>
      <p:pic>
        <p:nvPicPr>
          <p:cNvPr id="235" name="Picture 204"/>
          <p:cNvPicPr>
            <a:picLocks xmlns:a="http://schemas.openxmlformats.org/drawingml/2006/main" noChangeAspect="1"/>
          </p:cNvPicPr>
          <p:nvPr/>
        </p:nvPicPr>
        <p:blipFill>
          <a:blip xmlns:r="http://schemas.openxmlformats.org/officeDocument/2006/relationships" xmlns:a="http://schemas.openxmlformats.org/drawingml/2006/main" r:embed="R215b5ea84c734a74"/>
          <a:stretch xmlns:a="http://schemas.openxmlformats.org/drawingml/2006/main"/>
        </p:blipFill>
        <p:spPr>
          <a:xfrm xmlns:a="http://schemas.openxmlformats.org/drawingml/2006/main">
            <a:off x="10067925" y="2209800"/>
            <a:ext cx="409575" cy="409575"/>
          </a:xfrm>
          <a:prstGeom xmlns:a="http://schemas.openxmlformats.org/drawingml/2006/main" prst="rect">
            <a:avLst/>
          </a:prstGeom>
        </p:spPr>
      </p:pic>
      <p:sp>
        <p:nvSpPr>
          <p:cNvPr id="93" name="Rectangle 92">
            <a:extLst xmlns:a="http://schemas.openxmlformats.org/drawingml/2006/main">
              <a:ext uri="{FF2B5EF4-FFF2-40B4-BE49-F238E27FC236}">
                <a16:creationId xmlns:a16="http://schemas.microsoft.com/office/drawing/2014/main" id="{DBB3291D-DF6C-4589-9632-71CD6DAC3FD4}"/>
              </a:ext>
            </a:extLst>
          </p:cNvPr>
          <p:cNvSpPr>
            <a:spLocks xmlns:a="http://schemas.openxmlformats.org/drawingml/2006/main" noGrp="1"/>
          </p:cNvSpPr>
          <p:nvPr/>
        </p:nvSpPr>
        <p:spPr>
          <a:xfrm xmlns:a="http://schemas.openxmlformats.org/drawingml/2006/main">
            <a:off x="10572750" y="2219325"/>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Data Center Exit</a:t>
            </a:r>
          </a:p>
        </p:txBody>
      </p:sp>
      <p:sp>
        <p:nvSpPr>
          <p:cNvPr id="94" name="Rectangle 93">
            <a:extLst xmlns:a="http://schemas.openxmlformats.org/drawingml/2006/main">
              <a:ext uri="{FF2B5EF4-FFF2-40B4-BE49-F238E27FC236}">
                <a16:creationId xmlns:a16="http://schemas.microsoft.com/office/drawing/2014/main" id="{17BBA97F-6308-414A-A3BD-F1EFAE82169B}"/>
              </a:ext>
            </a:extLst>
          </p:cNvPr>
          <p:cNvSpPr>
            <a:spLocks xmlns:a="http://schemas.openxmlformats.org/drawingml/2006/main" noGrp="1"/>
          </p:cNvSpPr>
          <p:nvPr/>
        </p:nvSpPr>
        <p:spPr>
          <a:xfrm xmlns:a="http://schemas.openxmlformats.org/drawingml/2006/main">
            <a:off x="10572750" y="23812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Retire on-premises data center</a:t>
            </a:r>
          </a:p>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infrastructure.</a:t>
            </a:r>
          </a:p>
        </p:txBody>
      </p:sp>
      <p:sp>
        <p:nvSpPr>
          <p:cNvPr id="95" name="Straight Connector 94">
            <a:extLst xmlns:a="http://schemas.openxmlformats.org/drawingml/2006/main">
              <a:ext uri="{FF2B5EF4-FFF2-40B4-BE49-F238E27FC236}">
                <a16:creationId xmlns:a16="http://schemas.microsoft.com/office/drawing/2014/main" id="{ABF27BBB-4FC4-4204-B910-564CFD2B0788}"/>
              </a:ext>
            </a:extLst>
          </p:cNvPr>
          <p:cNvSpPr>
            <a:spLocks xmlns:a="http://schemas.openxmlformats.org/drawingml/2006/main" noGrp="1"/>
          </p:cNvSpPr>
          <p:nvPr/>
        </p:nvSpPr>
        <p:spPr>
          <a:xfrm xmlns:a="http://schemas.openxmlformats.org/drawingml/2006/main">
            <a:off x="10096500" y="2771775"/>
            <a:ext cx="182880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97" name="Rectangle 96">
            <a:extLst xmlns:a="http://schemas.openxmlformats.org/drawingml/2006/main">
              <a:ext uri="{FF2B5EF4-FFF2-40B4-BE49-F238E27FC236}">
                <a16:creationId xmlns:a16="http://schemas.microsoft.com/office/drawing/2014/main" id="{8F2C7EB8-3C5E-4D6F-83D6-D879E47CE2DF}"/>
              </a:ext>
            </a:extLst>
          </p:cNvPr>
          <p:cNvSpPr>
            <a:spLocks xmlns:a="http://schemas.openxmlformats.org/drawingml/2006/main" noGrp="1"/>
          </p:cNvSpPr>
          <p:nvPr/>
        </p:nvSpPr>
        <p:spPr>
          <a:xfrm xmlns:a="http://schemas.openxmlformats.org/drawingml/2006/main">
            <a:off x="10572750" y="2971800"/>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Avoid Hardware Refresh</a:t>
            </a:r>
          </a:p>
        </p:txBody>
      </p:sp>
      <p:sp>
        <p:nvSpPr>
          <p:cNvPr id="98" name="Rectangle 97">
            <a:extLst xmlns:a="http://schemas.openxmlformats.org/drawingml/2006/main">
              <a:ext uri="{FF2B5EF4-FFF2-40B4-BE49-F238E27FC236}">
                <a16:creationId xmlns:a16="http://schemas.microsoft.com/office/drawing/2014/main" id="{6E356DE7-70E3-453D-BDBB-1732D8E8A3CB}"/>
              </a:ext>
            </a:extLst>
          </p:cNvPr>
          <p:cNvSpPr>
            <a:spLocks xmlns:a="http://schemas.openxmlformats.org/drawingml/2006/main" noGrp="1"/>
          </p:cNvSpPr>
          <p:nvPr/>
        </p:nvSpPr>
        <p:spPr>
          <a:xfrm xmlns:a="http://schemas.openxmlformats.org/drawingml/2006/main">
            <a:off x="10572750" y="3133725"/>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Eliminate CAPEX for hardware</a:t>
            </a:r>
          </a:p>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refresh cycles.</a:t>
            </a:r>
          </a:p>
        </p:txBody>
      </p:sp>
      <p:sp>
        <p:nvSpPr>
          <p:cNvPr id="99" name="Straight Connector 98">
            <a:extLst xmlns:a="http://schemas.openxmlformats.org/drawingml/2006/main">
              <a:ext uri="{FF2B5EF4-FFF2-40B4-BE49-F238E27FC236}">
                <a16:creationId xmlns:a16="http://schemas.microsoft.com/office/drawing/2014/main" id="{A0B1F0DE-6364-4393-A65A-846FF003A79F}"/>
              </a:ext>
            </a:extLst>
          </p:cNvPr>
          <p:cNvSpPr>
            <a:spLocks xmlns:a="http://schemas.openxmlformats.org/drawingml/2006/main" noGrp="1"/>
          </p:cNvSpPr>
          <p:nvPr/>
        </p:nvSpPr>
        <p:spPr>
          <a:xfrm xmlns:a="http://schemas.openxmlformats.org/drawingml/2006/main">
            <a:off x="10096500" y="3524250"/>
            <a:ext cx="182880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101" name="Rectangle 100">
            <a:extLst xmlns:a="http://schemas.openxmlformats.org/drawingml/2006/main">
              <a:ext uri="{FF2B5EF4-FFF2-40B4-BE49-F238E27FC236}">
                <a16:creationId xmlns:a16="http://schemas.microsoft.com/office/drawing/2014/main" id="{83A0D7F6-F887-46A0-AD2F-43D28335EF73}"/>
              </a:ext>
            </a:extLst>
          </p:cNvPr>
          <p:cNvSpPr>
            <a:spLocks xmlns:a="http://schemas.openxmlformats.org/drawingml/2006/main" noGrp="1"/>
          </p:cNvSpPr>
          <p:nvPr/>
        </p:nvSpPr>
        <p:spPr>
          <a:xfrm xmlns:a="http://schemas.openxmlformats.org/drawingml/2006/main">
            <a:off x="10572750" y="3705225"/>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Preserve VMware Operations</a:t>
            </a:r>
          </a:p>
        </p:txBody>
      </p:sp>
      <p:sp>
        <p:nvSpPr>
          <p:cNvPr id="102" name="Rectangle 101">
            <a:extLst xmlns:a="http://schemas.openxmlformats.org/drawingml/2006/main">
              <a:ext uri="{FF2B5EF4-FFF2-40B4-BE49-F238E27FC236}">
                <a16:creationId xmlns:a16="http://schemas.microsoft.com/office/drawing/2014/main" id="{7FF8650F-120C-46C8-9796-DFF94CC6CEB6}"/>
              </a:ext>
            </a:extLst>
          </p:cNvPr>
          <p:cNvSpPr>
            <a:spLocks xmlns:a="http://schemas.openxmlformats.org/drawingml/2006/main" noGrp="1"/>
          </p:cNvSpPr>
          <p:nvPr/>
        </p:nvSpPr>
        <p:spPr>
          <a:xfrm xmlns:a="http://schemas.openxmlformats.org/drawingml/2006/main">
            <a:off x="10572750" y="386715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Continue using the same tools,</a:t>
            </a:r>
          </a:p>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processes, and skillsets.</a:t>
            </a:r>
          </a:p>
        </p:txBody>
      </p:sp>
      <p:sp>
        <p:nvSpPr>
          <p:cNvPr id="103" name="Straight Connector 102">
            <a:extLst xmlns:a="http://schemas.openxmlformats.org/drawingml/2006/main">
              <a:ext uri="{FF2B5EF4-FFF2-40B4-BE49-F238E27FC236}">
                <a16:creationId xmlns:a16="http://schemas.microsoft.com/office/drawing/2014/main" id="{F860E018-8289-484F-A615-C663BF98F4E0}"/>
              </a:ext>
            </a:extLst>
          </p:cNvPr>
          <p:cNvSpPr>
            <a:spLocks xmlns:a="http://schemas.openxmlformats.org/drawingml/2006/main" noGrp="1"/>
          </p:cNvSpPr>
          <p:nvPr/>
        </p:nvSpPr>
        <p:spPr>
          <a:xfrm xmlns:a="http://schemas.openxmlformats.org/drawingml/2006/main">
            <a:off x="10096500" y="4257675"/>
            <a:ext cx="182880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105" name="Rectangle 104">
            <a:extLst xmlns:a="http://schemas.openxmlformats.org/drawingml/2006/main">
              <a:ext uri="{FF2B5EF4-FFF2-40B4-BE49-F238E27FC236}">
                <a16:creationId xmlns:a16="http://schemas.microsoft.com/office/drawing/2014/main" id="{21187F40-208C-46A7-B79A-F6D0B009BD54}"/>
              </a:ext>
            </a:extLst>
          </p:cNvPr>
          <p:cNvSpPr>
            <a:spLocks xmlns:a="http://schemas.openxmlformats.org/drawingml/2006/main" noGrp="1"/>
          </p:cNvSpPr>
          <p:nvPr/>
        </p:nvSpPr>
        <p:spPr>
          <a:xfrm xmlns:a="http://schemas.openxmlformats.org/drawingml/2006/main">
            <a:off x="10572750" y="4438650"/>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Reduce Infrastructure Complexity</a:t>
            </a:r>
          </a:p>
        </p:txBody>
      </p:sp>
      <p:sp>
        <p:nvSpPr>
          <p:cNvPr id="106" name="Rectangle 105">
            <a:extLst xmlns:a="http://schemas.openxmlformats.org/drawingml/2006/main">
              <a:ext uri="{FF2B5EF4-FFF2-40B4-BE49-F238E27FC236}">
                <a16:creationId xmlns:a16="http://schemas.microsoft.com/office/drawing/2014/main" id="{A32230F1-EC94-4EC2-A8F0-6274DC42CD80}"/>
              </a:ext>
            </a:extLst>
          </p:cNvPr>
          <p:cNvSpPr>
            <a:spLocks xmlns:a="http://schemas.openxmlformats.org/drawingml/2006/main" noGrp="1"/>
          </p:cNvSpPr>
          <p:nvPr/>
        </p:nvSpPr>
        <p:spPr>
          <a:xfrm xmlns:a="http://schemas.openxmlformats.org/drawingml/2006/main">
            <a:off x="10572750" y="4600575"/>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Simplify operations and reduce</a:t>
            </a:r>
          </a:p>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management overhead.</a:t>
            </a:r>
          </a:p>
        </p:txBody>
      </p:sp>
      <p:sp>
        <p:nvSpPr>
          <p:cNvPr id="107" name="Straight Connector 106">
            <a:extLst xmlns:a="http://schemas.openxmlformats.org/drawingml/2006/main">
              <a:ext uri="{FF2B5EF4-FFF2-40B4-BE49-F238E27FC236}">
                <a16:creationId xmlns:a16="http://schemas.microsoft.com/office/drawing/2014/main" id="{F3AF8AAD-B7D2-40DA-A537-6537F5641E88}"/>
              </a:ext>
            </a:extLst>
          </p:cNvPr>
          <p:cNvSpPr>
            <a:spLocks xmlns:a="http://schemas.openxmlformats.org/drawingml/2006/main" noGrp="1"/>
          </p:cNvSpPr>
          <p:nvPr/>
        </p:nvSpPr>
        <p:spPr>
          <a:xfrm xmlns:a="http://schemas.openxmlformats.org/drawingml/2006/main">
            <a:off x="10096500" y="4991100"/>
            <a:ext cx="182880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109" name="Rectangle 108">
            <a:extLst xmlns:a="http://schemas.openxmlformats.org/drawingml/2006/main">
              <a:ext uri="{FF2B5EF4-FFF2-40B4-BE49-F238E27FC236}">
                <a16:creationId xmlns:a16="http://schemas.microsoft.com/office/drawing/2014/main" id="{0BC0A0C5-1CD9-49EC-8B69-80C9C6207FB2}"/>
              </a:ext>
            </a:extLst>
          </p:cNvPr>
          <p:cNvSpPr>
            <a:spLocks xmlns:a="http://schemas.openxmlformats.org/drawingml/2006/main" noGrp="1"/>
          </p:cNvSpPr>
          <p:nvPr/>
        </p:nvSpPr>
        <p:spPr>
          <a:xfrm xmlns:a="http://schemas.openxmlformats.org/drawingml/2006/main">
            <a:off x="10572750" y="5172075"/>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Accelerate Cloud Adoption</a:t>
            </a:r>
          </a:p>
        </p:txBody>
      </p:sp>
      <p:sp>
        <p:nvSpPr>
          <p:cNvPr id="110" name="Rectangle 109">
            <a:extLst xmlns:a="http://schemas.openxmlformats.org/drawingml/2006/main">
              <a:ext uri="{FF2B5EF4-FFF2-40B4-BE49-F238E27FC236}">
                <a16:creationId xmlns:a16="http://schemas.microsoft.com/office/drawing/2014/main" id="{5154D960-EF8D-4A15-A66E-6C93ACD5660F}"/>
              </a:ext>
            </a:extLst>
          </p:cNvPr>
          <p:cNvSpPr>
            <a:spLocks xmlns:a="http://schemas.openxmlformats.org/drawingml/2006/main" noGrp="1"/>
          </p:cNvSpPr>
          <p:nvPr/>
        </p:nvSpPr>
        <p:spPr>
          <a:xfrm xmlns:a="http://schemas.openxmlformats.org/drawingml/2006/main">
            <a:off x="10572750" y="5334000"/>
            <a:ext cx="140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Move to the cloud at your own pace</a:t>
            </a:r>
          </a:p>
          <a:p xmlns:a="http://schemas.openxmlformats.org/drawingml/2006/main">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with lower risk.</a:t>
            </a:r>
          </a:p>
        </p:txBody>
      </p:sp>
      <p:sp>
        <p:nvSpPr>
          <p:cNvPr id="111" name="Rounded Rectangle 110">
            <a:extLst xmlns:a="http://schemas.openxmlformats.org/drawingml/2006/main">
              <a:ext uri="{FF2B5EF4-FFF2-40B4-BE49-F238E27FC236}">
                <a16:creationId xmlns:a16="http://schemas.microsoft.com/office/drawing/2014/main" id="{ACEA0D02-1655-4D6C-907E-7CA8F2DA2A64}"/>
              </a:ext>
            </a:extLst>
          </p:cNvPr>
          <p:cNvSpPr>
            <a:spLocks xmlns:a="http://schemas.openxmlformats.org/drawingml/2006/main" noGrp="1"/>
          </p:cNvSpPr>
          <p:nvPr/>
        </p:nvSpPr>
        <p:spPr>
          <a:xfrm xmlns:a="http://schemas.openxmlformats.org/drawingml/2006/main">
            <a:off x="333375" y="5924550"/>
            <a:ext cx="9248775" cy="685800"/>
          </a:xfrm>
          <a:prstGeom xmlns:a="http://schemas.openxmlformats.org/drawingml/2006/main" prst="roundRect">
            <a:avLst>
              <a:gd name="adj" fmla="val 9722"/>
            </a:avLst>
          </a:prstGeom>
          <a:gradFill xmlns:a="http://schemas.openxmlformats.org/drawingml/2006/main">
            <a:gsLst>
              <a:gs pos="0">
                <a:srgbClr val="003B25"/>
              </a:gs>
              <a:gs pos="100000">
                <a:srgbClr val="06482D"/>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51" name="Picture 224"/>
          <p:cNvPicPr>
            <a:picLocks xmlns:a="http://schemas.openxmlformats.org/drawingml/2006/main" noChangeAspect="1"/>
          </p:cNvPicPr>
          <p:nvPr/>
        </p:nvPicPr>
        <p:blipFill>
          <a:blip xmlns:r="http://schemas.openxmlformats.org/officeDocument/2006/relationships" xmlns:a="http://schemas.openxmlformats.org/drawingml/2006/main" r:embed="Ra483622170f44c55"/>
          <a:stretch xmlns:a="http://schemas.openxmlformats.org/drawingml/2006/main"/>
        </p:blipFill>
        <p:spPr>
          <a:xfrm xmlns:a="http://schemas.openxmlformats.org/drawingml/2006/main">
            <a:off x="476250" y="5995829"/>
            <a:ext cx="552450" cy="543243"/>
          </a:xfrm>
          <a:prstGeom xmlns:a="http://schemas.openxmlformats.org/drawingml/2006/main" prst="rect">
            <a:avLst/>
          </a:prstGeom>
        </p:spPr>
      </p:pic>
      <p:sp>
        <p:nvSpPr>
          <p:cNvPr id="113" name="Rectangle 112">
            <a:extLst xmlns:a="http://schemas.openxmlformats.org/drawingml/2006/main">
              <a:ext uri="{FF2B5EF4-FFF2-40B4-BE49-F238E27FC236}">
                <a16:creationId xmlns:a16="http://schemas.microsoft.com/office/drawing/2014/main" id="{5C7BD333-122E-435D-9BA0-51C4A00457CD}"/>
              </a:ext>
            </a:extLst>
          </p:cNvPr>
          <p:cNvSpPr>
            <a:spLocks xmlns:a="http://schemas.openxmlformats.org/drawingml/2006/main" noGrp="1"/>
          </p:cNvSpPr>
          <p:nvPr/>
        </p:nvSpPr>
        <p:spPr>
          <a:xfrm xmlns:a="http://schemas.openxmlformats.org/drawingml/2006/main">
            <a:off x="1323975" y="6038850"/>
            <a:ext cx="7524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Migrate VMware workloads at your own pace while preserving existing tools,</a:t>
            </a:r>
          </a:p>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processes, and operational models.</a:t>
            </a:r>
          </a:p>
        </p:txBody>
      </p:sp>
      <p:pic>
        <p:nvPicPr>
          <p:cNvPr id="253" name="Picture 11"/>
          <p:cNvPicPr>
            <a:picLocks xmlns:a="http://schemas.openxmlformats.org/drawingml/2006/main" noChangeAspect="1"/>
          </p:cNvPicPr>
          <p:nvPr/>
        </p:nvPicPr>
        <p:blipFill>
          <a:blip xmlns:r="http://schemas.openxmlformats.org/officeDocument/2006/relationships" xmlns:a="http://schemas.openxmlformats.org/drawingml/2006/main" r:embed="R2afb98e73730482d"/>
          <a:stretch xmlns:a="http://schemas.openxmlformats.org/drawingml/2006/main">
            <a:fillRect l="0" t="0" r="0" b="0"/>
          </a:stretch>
        </p:blipFill>
        <p:spPr>
          <a:xfrm xmlns:a="http://schemas.openxmlformats.org/drawingml/2006/main">
            <a:off x="10020300" y="2918460"/>
            <a:ext cx="534489" cy="534489"/>
          </a:xfrm>
          <a:prstGeom xmlns:a="http://schemas.openxmlformats.org/drawingml/2006/main" prst="rect">
            <a:avLst/>
          </a:prstGeom>
        </p:spPr>
      </p:pic>
      <p:pic>
        <p:nvPicPr>
          <p:cNvPr id="254" name="Picture 15"/>
          <p:cNvPicPr>
            <a:picLocks xmlns:a="http://schemas.openxmlformats.org/drawingml/2006/main" noChangeAspect="1"/>
          </p:cNvPicPr>
          <p:nvPr/>
        </p:nvPicPr>
        <p:blipFill>
          <a:blip xmlns:r="http://schemas.openxmlformats.org/officeDocument/2006/relationships" xmlns:a="http://schemas.openxmlformats.org/drawingml/2006/main" r:embed="Rfe1aec93ea86424a"/>
          <a:stretch xmlns:a="http://schemas.openxmlformats.org/drawingml/2006/main">
            <a:fillRect l="0" t="0" r="0" b="0"/>
          </a:stretch>
        </p:blipFill>
        <p:spPr>
          <a:xfrm xmlns:a="http://schemas.openxmlformats.org/drawingml/2006/main">
            <a:off x="9985128" y="3645801"/>
            <a:ext cx="560023" cy="535674"/>
          </a:xfrm>
          <a:prstGeom xmlns:a="http://schemas.openxmlformats.org/drawingml/2006/main" prst="rect">
            <a:avLst/>
          </a:prstGeom>
        </p:spPr>
      </p:pic>
      <p:pic>
        <p:nvPicPr>
          <p:cNvPr id="255" name="Picture 26"/>
          <p:cNvPicPr>
            <a:picLocks xmlns:a="http://schemas.openxmlformats.org/drawingml/2006/main" noChangeAspect="1"/>
          </p:cNvPicPr>
          <p:nvPr/>
        </p:nvPicPr>
        <p:blipFill>
          <a:blip xmlns:r="http://schemas.openxmlformats.org/officeDocument/2006/relationships" xmlns:a="http://schemas.openxmlformats.org/drawingml/2006/main" r:embed="R6271dd0e41b44033"/>
          <a:stretch xmlns:a="http://schemas.openxmlformats.org/drawingml/2006/main">
            <a:fillRect l="0" t="0" r="0" b="0"/>
          </a:stretch>
        </p:blipFill>
        <p:spPr>
          <a:xfrm xmlns:a="http://schemas.openxmlformats.org/drawingml/2006/main">
            <a:off x="9973627" y="4385038"/>
            <a:ext cx="567690" cy="544036"/>
          </a:xfrm>
          <a:prstGeom xmlns:a="http://schemas.openxmlformats.org/drawingml/2006/main" prst="rect">
            <a:avLst/>
          </a:prstGeom>
        </p:spPr>
      </p:pic>
      <p:pic>
        <p:nvPicPr>
          <p:cNvPr id="256" name="Picture 31"/>
          <p:cNvPicPr>
            <a:picLocks xmlns:a="http://schemas.openxmlformats.org/drawingml/2006/main" noChangeAspect="1"/>
          </p:cNvPicPr>
          <p:nvPr/>
        </p:nvPicPr>
        <p:blipFill>
          <a:blip xmlns:r="http://schemas.openxmlformats.org/officeDocument/2006/relationships" xmlns:a="http://schemas.openxmlformats.org/drawingml/2006/main" r:embed="R4bc3a2fc07fb4541"/>
          <a:stretch xmlns:a="http://schemas.openxmlformats.org/drawingml/2006/main">
            <a:fillRect l="0" t="0" r="0" b="0"/>
          </a:stretch>
        </p:blipFill>
        <p:spPr>
          <a:xfrm xmlns:a="http://schemas.openxmlformats.org/drawingml/2006/main">
            <a:off x="9982200" y="5110162"/>
            <a:ext cx="561975" cy="561975"/>
          </a:xfrm>
          <a:prstGeom xmlns:a="http://schemas.openxmlformats.org/drawingml/2006/main" prst="rect">
            <a:avLst/>
          </a:prstGeom>
        </p:spPr>
      </p:pic>
      <p:pic>
        <p:nvPicPr>
          <p:cNvPr id="257" name="Picture 35"/>
          <p:cNvPicPr>
            <a:picLocks xmlns:a="http://schemas.openxmlformats.org/drawingml/2006/main" noChangeAspect="1"/>
          </p:cNvPicPr>
          <p:nvPr/>
        </p:nvPicPr>
        <p:blipFill>
          <a:blip xmlns:r="http://schemas.openxmlformats.org/officeDocument/2006/relationships" xmlns:a="http://schemas.openxmlformats.org/drawingml/2006/main" r:embed="Rd1afe59c81614d88"/>
          <a:stretch xmlns:a="http://schemas.openxmlformats.org/drawingml/2006/main">
            <a:fillRect l="0" t="0" r="0" b="0"/>
          </a:stretch>
        </p:blipFill>
        <p:spPr>
          <a:xfrm xmlns:a="http://schemas.openxmlformats.org/drawingml/2006/main">
            <a:off x="525898" y="4703030"/>
            <a:ext cx="376657" cy="423739"/>
          </a:xfrm>
          <a:prstGeom xmlns:a="http://schemas.openxmlformats.org/drawingml/2006/main" prst="rect">
            <a:avLst/>
          </a:prstGeom>
        </p:spPr>
      </p:pic>
    </p:spTree>
    <p:extLst>
      <p:ext uri="{BB962C8B-B14F-4D97-AF65-F5344CB8AC3E}">
        <p14:creationId xmlns:p14="http://schemas.microsoft.com/office/powerpoint/2010/main" val="14221571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73A5942D-D23C-45E6-ACE1-2F77352B9317}"/>
              </a:ext>
            </a:extLst>
          </p:cNvPr>
          <p:cNvSpPr>
            <a:spLocks xmlns:a="http://schemas.openxmlformats.org/drawingml/2006/main" noGrp="1"/>
          </p:cNvSpPr>
          <p:nvPr/>
        </p:nvSpPr>
        <p:spPr>
          <a:xfrm xmlns:a="http://schemas.openxmlformats.org/drawingml/2006/main">
            <a:off x="5133975" y="657225"/>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3088BEA-17DF-442D-9BC7-02155DD5C445}"/>
              </a:ext>
            </a:extLst>
          </p:cNvPr>
          <p:cNvSpPr>
            <a:spLocks xmlns:a="http://schemas.openxmlformats.org/drawingml/2006/main" noGrp="1"/>
          </p:cNvSpPr>
          <p:nvPr/>
        </p:nvSpPr>
        <p:spPr>
          <a:xfrm xmlns:a="http://schemas.openxmlformats.org/drawingml/2006/main">
            <a:off x="6181725" y="685800"/>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FF40793F-68B7-4A09-857E-9B1E1E9D9BCF}"/>
              </a:ext>
            </a:extLst>
          </p:cNvPr>
          <p:cNvSpPr>
            <a:spLocks xmlns:a="http://schemas.openxmlformats.org/drawingml/2006/main" noGrp="1"/>
          </p:cNvSpPr>
          <p:nvPr/>
        </p:nvSpPr>
        <p:spPr>
          <a:xfrm xmlns:a="http://schemas.openxmlformats.org/drawingml/2006/main">
            <a:off x="7239000" y="504825"/>
            <a:ext cx="57150" cy="571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74B1F8E-B96D-4B16-B046-787E8702A629}"/>
              </a:ext>
            </a:extLst>
          </p:cNvPr>
          <p:cNvSpPr>
            <a:spLocks xmlns:a="http://schemas.openxmlformats.org/drawingml/2006/main" noGrp="1"/>
          </p:cNvSpPr>
          <p:nvPr/>
        </p:nvSpPr>
        <p:spPr>
          <a:xfrm xmlns:a="http://schemas.openxmlformats.org/drawingml/2006/main">
            <a:off x="11010900" y="1123950"/>
            <a:ext cx="19050" cy="190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ECE320BA-C63B-4BBF-94C5-92BE5192DC61}"/>
              </a:ext>
            </a:extLst>
          </p:cNvPr>
          <p:cNvSpPr>
            <a:spLocks xmlns:a="http://schemas.openxmlformats.org/drawingml/2006/main" noGrp="1"/>
          </p:cNvSpPr>
          <p:nvPr/>
        </p:nvSpPr>
        <p:spPr>
          <a:xfrm xmlns:a="http://schemas.openxmlformats.org/drawingml/2006/main">
            <a:off x="9220200" y="15811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F232F3B-1324-4364-BD60-137FAF1990F8}"/>
              </a:ext>
            </a:extLst>
          </p:cNvPr>
          <p:cNvSpPr>
            <a:spLocks xmlns:a="http://schemas.openxmlformats.org/drawingml/2006/main" noGrp="1"/>
          </p:cNvSpPr>
          <p:nvPr/>
        </p:nvSpPr>
        <p:spPr>
          <a:xfrm xmlns:a="http://schemas.openxmlformats.org/drawingml/2006/main">
            <a:off x="11410950" y="164782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2DA0ADF-18D5-4143-BAFB-C1D4E0322D43}"/>
              </a:ext>
            </a:extLst>
          </p:cNvPr>
          <p:cNvSpPr>
            <a:spLocks xmlns:a="http://schemas.openxmlformats.org/drawingml/2006/main" noGrp="1"/>
          </p:cNvSpPr>
          <p:nvPr/>
        </p:nvSpPr>
        <p:spPr>
          <a:xfrm xmlns:a="http://schemas.openxmlformats.org/drawingml/2006/main">
            <a:off x="9982200" y="300037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EF1F3FD-6495-4F9F-8163-4CEB685C76C1}"/>
              </a:ext>
            </a:extLst>
          </p:cNvPr>
          <p:cNvSpPr>
            <a:spLocks xmlns:a="http://schemas.openxmlformats.org/drawingml/2006/main" noGrp="1"/>
          </p:cNvSpPr>
          <p:nvPr/>
        </p:nvSpPr>
        <p:spPr>
          <a:xfrm xmlns:a="http://schemas.openxmlformats.org/drawingml/2006/main">
            <a:off x="9344025" y="4781550"/>
            <a:ext cx="47625" cy="4762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B3A8DECC-6222-4521-82D5-B349CA05389D}"/>
              </a:ext>
            </a:extLst>
          </p:cNvPr>
          <p:cNvSpPr>
            <a:spLocks xmlns:a="http://schemas.openxmlformats.org/drawingml/2006/main" noGrp="1"/>
          </p:cNvSpPr>
          <p:nvPr/>
        </p:nvSpPr>
        <p:spPr>
          <a:xfrm xmlns:a="http://schemas.openxmlformats.org/drawingml/2006/main">
            <a:off x="11658600" y="58483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0" name="Picture 60"/>
          <p:cNvPicPr>
            <a:picLocks xmlns:a="http://schemas.openxmlformats.org/drawingml/2006/main" noChangeAspect="1"/>
          </p:cNvPicPr>
          <p:nvPr/>
        </p:nvPicPr>
        <p:blipFill>
          <a:blip xmlns:r="http://schemas.openxmlformats.org/officeDocument/2006/relationships" xmlns:a="http://schemas.openxmlformats.org/drawingml/2006/main" r:embed="Rfd1c4d0855a04c5b"/>
          <a:stretch xmlns:a="http://schemas.openxmlformats.org/drawingml/2006/main"/>
        </p:blipFill>
        <p:spPr>
          <a:xfrm xmlns:a="http://schemas.openxmlformats.org/drawingml/2006/main">
            <a:off x="361950" y="357187"/>
            <a:ext cx="1927741" cy="600075"/>
          </a:xfrm>
          <a:prstGeom xmlns:a="http://schemas.openxmlformats.org/drawingml/2006/main" prst="rect">
            <a:avLst/>
          </a:prstGeom>
        </p:spPr>
      </p:pic>
      <p:sp>
        <p:nvSpPr>
          <p:cNvPr id="12" name="editable-methodology-title">
            <a:extLst xmlns:a="http://schemas.openxmlformats.org/drawingml/2006/main">
              <a:ext uri="{FF2B5EF4-FFF2-40B4-BE49-F238E27FC236}">
                <a16:creationId xmlns:a16="http://schemas.microsoft.com/office/drawing/2014/main" id="{181FA5E6-65B3-42DA-A23A-AE93E6720CB2}"/>
              </a:ext>
            </a:extLst>
          </p:cNvPr>
          <p:cNvSpPr>
            <a:spLocks xmlns:a="http://schemas.openxmlformats.org/drawingml/2006/main" noGrp="1"/>
          </p:cNvSpPr>
          <p:nvPr/>
        </p:nvSpPr>
        <p:spPr>
          <a:xfrm xmlns:a="http://schemas.openxmlformats.org/drawingml/2006/main">
            <a:off x="361950" y="11334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xmlns:a="http://schemas.openxmlformats.org/drawingml/2006/main">
              <a:ext uri="{FF2B5EF4-FFF2-40B4-BE49-F238E27FC236}">
                <a16:creationId xmlns:a16="http://schemas.microsoft.com/office/drawing/2014/main" id="{B629860D-8183-4AA2-8F53-EEB151589651}"/>
              </a:ext>
            </a:extLst>
          </p:cNvPr>
          <p:cNvSpPr>
            <a:spLocks xmlns:a="http://schemas.openxmlformats.org/drawingml/2006/main" noGrp="1"/>
          </p:cNvSpPr>
          <p:nvPr/>
        </p:nvSpPr>
        <p:spPr>
          <a:xfrm xmlns:a="http://schemas.openxmlformats.org/drawingml/2006/main">
            <a:off x="371475" y="167640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E173982-393B-42AC-A28E-FA0B0948FCC0}"/>
              </a:ext>
            </a:extLst>
          </p:cNvPr>
          <p:cNvSpPr>
            <a:spLocks xmlns:a="http://schemas.openxmlformats.org/drawingml/2006/main" noGrp="1"/>
          </p:cNvSpPr>
          <p:nvPr/>
        </p:nvSpPr>
        <p:spPr>
          <a:xfrm xmlns:a="http://schemas.openxmlformats.org/drawingml/2006/main">
            <a:off x="390525" y="18383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xmlns:a="http://schemas.openxmlformats.org/drawingml/2006/main">
              <a:ext uri="{FF2B5EF4-FFF2-40B4-BE49-F238E27FC236}">
                <a16:creationId xmlns:a16="http://schemas.microsoft.com/office/drawing/2014/main" id="{D05FD567-6830-4B7C-A6B4-1C17F3F5C538}"/>
              </a:ext>
            </a:extLst>
          </p:cNvPr>
          <p:cNvSpPr>
            <a:spLocks xmlns:a="http://schemas.openxmlformats.org/drawingml/2006/main" noGrp="1"/>
          </p:cNvSpPr>
          <p:nvPr/>
        </p:nvSpPr>
        <p:spPr>
          <a:xfrm xmlns:a="http://schemas.openxmlformats.org/drawingml/2006/main">
            <a:off x="381000" y="2343150"/>
            <a:ext cx="7391400" cy="3676650"/>
          </a:xfrm>
          <a:prstGeom xmlns:a="http://schemas.openxmlformats.org/drawingml/2006/main" prst="roundRect">
            <a:avLst>
              <a:gd name="adj" fmla="val 1813"/>
            </a:avLst>
          </a:prstGeom>
          <a:solidFill xmlns:a="http://schemas.openxmlformats.org/drawingml/2006/main">
            <a:srgbClr val="FFFFFF"/>
          </a:solidFill>
          <a:ln xmlns:a="http://schemas.openxmlformats.org/drawingml/2006/main" w="9525">
            <a:solidFill>
              <a:srgbClr val="CED6D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7E7120EA-B371-422A-9F44-F023B4B89BD2}"/>
              </a:ext>
            </a:extLst>
          </p:cNvPr>
          <p:cNvSpPr>
            <a:spLocks xmlns:a="http://schemas.openxmlformats.org/drawingml/2006/main" noGrp="1"/>
          </p:cNvSpPr>
          <p:nvPr/>
        </p:nvSpPr>
        <p:spPr>
          <a:xfrm xmlns:a="http://schemas.openxmlformats.org/drawingml/2006/main">
            <a:off x="381000" y="2343150"/>
            <a:ext cx="7391400" cy="361950"/>
          </a:xfrm>
          <a:prstGeom xmlns:a="http://schemas.openxmlformats.org/drawingml/2006/main" prst="roundRect">
            <a:avLst>
              <a:gd name="adj" fmla="val 18421"/>
            </a:avLst>
          </a:prstGeom>
          <a:gradFill xmlns:a="http://schemas.openxmlformats.org/drawingml/2006/main">
            <a:gsLst>
              <a:gs pos="0">
                <a:srgbClr val="00351F"/>
              </a:gs>
              <a:gs pos="100000">
                <a:srgbClr val="075431"/>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6" name="Picture 66"/>
          <p:cNvPicPr>
            <a:picLocks xmlns:a="http://schemas.openxmlformats.org/drawingml/2006/main" noChangeAspect="1"/>
          </p:cNvPicPr>
          <p:nvPr/>
        </p:nvPicPr>
        <p:blipFill>
          <a:blip xmlns:r="http://schemas.openxmlformats.org/officeDocument/2006/relationships" xmlns:a="http://schemas.openxmlformats.org/drawingml/2006/main" r:embed="Rdea34cef8c514255"/>
          <a:stretch xmlns:a="http://schemas.openxmlformats.org/drawingml/2006/main"/>
        </p:blipFill>
        <p:spPr>
          <a:xfrm xmlns:a="http://schemas.openxmlformats.org/drawingml/2006/main">
            <a:off x="617492" y="2390775"/>
            <a:ext cx="260441" cy="276225"/>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91505E6-4E87-4F2F-9412-FA897C3D79C8}"/>
              </a:ext>
            </a:extLst>
          </p:cNvPr>
          <p:cNvSpPr>
            <a:spLocks xmlns:a="http://schemas.openxmlformats.org/drawingml/2006/main" noGrp="1"/>
          </p:cNvSpPr>
          <p:nvPr/>
        </p:nvSpPr>
        <p:spPr>
          <a:xfrm xmlns:a="http://schemas.openxmlformats.org/drawingml/2006/main">
            <a:off x="1019175" y="2438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78" name="Picture 68"/>
          <p:cNvPicPr>
            <a:picLocks xmlns:a="http://schemas.openxmlformats.org/drawingml/2006/main" noChangeAspect="1"/>
          </p:cNvPicPr>
          <p:nvPr/>
        </p:nvPicPr>
        <p:blipFill>
          <a:blip xmlns:r="http://schemas.openxmlformats.org/officeDocument/2006/relationships" xmlns:a="http://schemas.openxmlformats.org/drawingml/2006/main" r:embed="Rba8e0c05ea7c4bdc"/>
          <a:stretch xmlns:a="http://schemas.openxmlformats.org/drawingml/2006/main"/>
        </p:blipFill>
        <p:spPr>
          <a:xfrm xmlns:a="http://schemas.openxmlformats.org/drawingml/2006/main">
            <a:off x="600075" y="2779303"/>
            <a:ext cx="466725" cy="451669"/>
          </a:xfrm>
          <a:prstGeom xmlns:a="http://schemas.openxmlformats.org/drawingml/2006/main" prst="rect">
            <a:avLst/>
          </a:prstGeom>
        </p:spPr>
      </p:pic>
      <p:sp>
        <p:nvSpPr>
          <p:cNvPr id="20" name="editable-methodology-data-source-label">
            <a:extLst xmlns:a="http://schemas.openxmlformats.org/drawingml/2006/main">
              <a:ext uri="{FF2B5EF4-FFF2-40B4-BE49-F238E27FC236}">
                <a16:creationId xmlns:a16="http://schemas.microsoft.com/office/drawing/2014/main" id="{42908386-5A93-4A58-A462-83A24A156EB4}"/>
              </a:ext>
            </a:extLst>
          </p:cNvPr>
          <p:cNvSpPr>
            <a:spLocks xmlns:a="http://schemas.openxmlformats.org/drawingml/2006/main" noGrp="1"/>
          </p:cNvSpPr>
          <p:nvPr/>
        </p:nvSpPr>
        <p:spPr>
          <a:xfrm xmlns:a="http://schemas.openxmlformats.org/drawingml/2006/main">
            <a:off x="1333500" y="291465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xmlns:a="http://schemas.openxmlformats.org/drawingml/2006/main">
              <a:ext uri="{FF2B5EF4-FFF2-40B4-BE49-F238E27FC236}">
                <a16:creationId xmlns:a16="http://schemas.microsoft.com/office/drawing/2014/main" id="{74A58121-1B16-4F12-92B5-F259AF492CB0}"/>
              </a:ext>
            </a:extLst>
          </p:cNvPr>
          <p:cNvSpPr>
            <a:spLocks xmlns:a="http://schemas.openxmlformats.org/drawingml/2006/main" noGrp="1"/>
          </p:cNvSpPr>
          <p:nvPr/>
        </p:nvSpPr>
        <p:spPr>
          <a:xfrm xmlns:a="http://schemas.openxmlformats.org/drawingml/2006/main">
            <a:off x="3333750" y="282892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editable-methodology-data-source">
            <a:extLst xmlns:a="http://schemas.openxmlformats.org/drawingml/2006/main">
              <a:ext uri="{FF2B5EF4-FFF2-40B4-BE49-F238E27FC236}">
                <a16:creationId xmlns:a16="http://schemas.microsoft.com/office/drawing/2014/main" id="{71D931CB-6DBE-4D20-B729-98885198EFAC}"/>
              </a:ext>
            </a:extLst>
          </p:cNvPr>
          <p:cNvSpPr>
            <a:spLocks xmlns:a="http://schemas.openxmlformats.org/drawingml/2006/main" noGrp="1"/>
          </p:cNvSpPr>
          <p:nvPr/>
        </p:nvSpPr>
        <p:spPr>
          <a:xfrm xmlns:a="http://schemas.openxmlformats.org/drawingml/2006/main">
            <a:off x="3676650" y="28289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{{ANALYSIS_DATE}}</a:t>
            </a:r>
          </a:p>
        </p:txBody>
      </p:sp>
      <p:sp>
        <p:nvSpPr>
          <p:cNvPr id="23" name="Straight Connector 22">
            <a:extLst xmlns:a="http://schemas.openxmlformats.org/drawingml/2006/main">
              <a:ext uri="{FF2B5EF4-FFF2-40B4-BE49-F238E27FC236}">
                <a16:creationId xmlns:a16="http://schemas.microsoft.com/office/drawing/2014/main" id="{23397379-0F76-4614-83F5-A13601AE9797}"/>
              </a:ext>
            </a:extLst>
          </p:cNvPr>
          <p:cNvSpPr>
            <a:spLocks xmlns:a="http://schemas.openxmlformats.org/drawingml/2006/main" noGrp="1"/>
          </p:cNvSpPr>
          <p:nvPr/>
        </p:nvSpPr>
        <p:spPr>
          <a:xfrm xmlns:a="http://schemas.openxmlformats.org/drawingml/2006/main">
            <a:off x="600075" y="326421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3" name="Picture 73"/>
          <p:cNvPicPr>
            <a:picLocks xmlns:a="http://schemas.openxmlformats.org/drawingml/2006/main" noChangeAspect="1"/>
          </p:cNvPicPr>
          <p:nvPr/>
        </p:nvPicPr>
        <p:blipFill>
          <a:blip xmlns:r="http://schemas.openxmlformats.org/officeDocument/2006/relationships" xmlns:a="http://schemas.openxmlformats.org/drawingml/2006/main" r:embed="Re7871e782f944fdb"/>
          <a:stretch xmlns:a="http://schemas.openxmlformats.org/drawingml/2006/main"/>
        </p:blipFill>
        <p:spPr>
          <a:xfrm xmlns:a="http://schemas.openxmlformats.org/drawingml/2006/main">
            <a:off x="600075" y="3309845"/>
            <a:ext cx="466725" cy="451669"/>
          </a:xfrm>
          <a:prstGeom xmlns:a="http://schemas.openxmlformats.org/drawingml/2006/main" prst="rect">
            <a:avLst/>
          </a:prstGeom>
        </p:spPr>
      </p:pic>
      <p:sp>
        <p:nvSpPr>
          <p:cNvPr id="25" name="editable-methodology-sizing-approach-label">
            <a:extLst xmlns:a="http://schemas.openxmlformats.org/drawingml/2006/main">
              <a:ext uri="{FF2B5EF4-FFF2-40B4-BE49-F238E27FC236}">
                <a16:creationId xmlns:a16="http://schemas.microsoft.com/office/drawing/2014/main" id="{DE8908F2-D896-472D-AF70-B94F25AE6292}"/>
              </a:ext>
            </a:extLst>
          </p:cNvPr>
          <p:cNvSpPr>
            <a:spLocks xmlns:a="http://schemas.openxmlformats.org/drawingml/2006/main" noGrp="1"/>
          </p:cNvSpPr>
          <p:nvPr/>
        </p:nvSpPr>
        <p:spPr>
          <a:xfrm xmlns:a="http://schemas.openxmlformats.org/drawingml/2006/main">
            <a:off x="1333500" y="344519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xmlns:a="http://schemas.openxmlformats.org/drawingml/2006/main">
              <a:ext uri="{FF2B5EF4-FFF2-40B4-BE49-F238E27FC236}">
                <a16:creationId xmlns:a16="http://schemas.microsoft.com/office/drawing/2014/main" id="{CFDEC23A-6F66-49D5-87D3-62C87F39D16D}"/>
              </a:ext>
            </a:extLst>
          </p:cNvPr>
          <p:cNvSpPr>
            <a:spLocks xmlns:a="http://schemas.openxmlformats.org/drawingml/2006/main" noGrp="1"/>
          </p:cNvSpPr>
          <p:nvPr/>
        </p:nvSpPr>
        <p:spPr>
          <a:xfrm xmlns:a="http://schemas.openxmlformats.org/drawingml/2006/main">
            <a:off x="3333750" y="335946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editable-methodology-sizing-approach">
            <a:extLst xmlns:a="http://schemas.openxmlformats.org/drawingml/2006/main">
              <a:ext uri="{FF2B5EF4-FFF2-40B4-BE49-F238E27FC236}">
                <a16:creationId xmlns:a16="http://schemas.microsoft.com/office/drawing/2014/main" id="{0ECE9441-9ABA-4D86-B0D0-CA3DF1A3EB96}"/>
              </a:ext>
            </a:extLst>
          </p:cNvPr>
          <p:cNvSpPr>
            <a:spLocks xmlns:a="http://schemas.openxmlformats.org/drawingml/2006/main" noGrp="1"/>
          </p:cNvSpPr>
          <p:nvPr/>
        </p:nvSpPr>
        <p:spPr>
          <a:xfrm xmlns:a="http://schemas.openxmlformats.org/drawingml/2006/main">
            <a:off x="3676650" y="335946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Selected VM scope, OCVS host profile,</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configured capacity policy</a:t>
            </a:r>
          </a:p>
        </p:txBody>
      </p:sp>
      <p:sp>
        <p:nvSpPr>
          <p:cNvPr id="28" name="Straight Connector 27">
            <a:extLst xmlns:a="http://schemas.openxmlformats.org/drawingml/2006/main">
              <a:ext uri="{FF2B5EF4-FFF2-40B4-BE49-F238E27FC236}">
                <a16:creationId xmlns:a16="http://schemas.microsoft.com/office/drawing/2014/main" id="{45CE46C6-B9C0-4849-A834-96BE06538FA8}"/>
              </a:ext>
            </a:extLst>
          </p:cNvPr>
          <p:cNvSpPr>
            <a:spLocks xmlns:a="http://schemas.openxmlformats.org/drawingml/2006/main" noGrp="1"/>
          </p:cNvSpPr>
          <p:nvPr/>
        </p:nvSpPr>
        <p:spPr>
          <a:xfrm xmlns:a="http://schemas.openxmlformats.org/drawingml/2006/main">
            <a:off x="600075" y="3794760"/>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Picture 78"/>
          <p:cNvPicPr>
            <a:picLocks xmlns:a="http://schemas.openxmlformats.org/drawingml/2006/main" noChangeAspect="1"/>
          </p:cNvPicPr>
          <p:nvPr/>
        </p:nvPicPr>
        <p:blipFill>
          <a:blip xmlns:r="http://schemas.openxmlformats.org/officeDocument/2006/relationships" xmlns:a="http://schemas.openxmlformats.org/drawingml/2006/main" r:embed="R65312b27ff664e87"/>
          <a:stretch xmlns:a="http://schemas.openxmlformats.org/drawingml/2006/main"/>
        </p:blipFill>
        <p:spPr>
          <a:xfrm xmlns:a="http://schemas.openxmlformats.org/drawingml/2006/main">
            <a:off x="600075" y="3836686"/>
            <a:ext cx="466725" cy="459074"/>
          </a:xfrm>
          <a:prstGeom xmlns:a="http://schemas.openxmlformats.org/drawingml/2006/main" prst="rect">
            <a:avLst/>
          </a:prstGeom>
        </p:spPr>
      </p:pic>
      <p:sp>
        <p:nvSpPr>
          <p:cNvPr id="30" name="editable-methodology-compute-policy-label">
            <a:extLst xmlns:a="http://schemas.openxmlformats.org/drawingml/2006/main">
              <a:ext uri="{FF2B5EF4-FFF2-40B4-BE49-F238E27FC236}">
                <a16:creationId xmlns:a16="http://schemas.microsoft.com/office/drawing/2014/main" id="{78085D01-F2D9-4FF8-AFE8-59DAD7CB0343}"/>
              </a:ext>
            </a:extLst>
          </p:cNvPr>
          <p:cNvSpPr>
            <a:spLocks xmlns:a="http://schemas.openxmlformats.org/drawingml/2006/main" noGrp="1"/>
          </p:cNvSpPr>
          <p:nvPr/>
        </p:nvSpPr>
        <p:spPr>
          <a:xfrm xmlns:a="http://schemas.openxmlformats.org/drawingml/2006/main">
            <a:off x="1333500" y="397573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Compute &amp; Memory Policy</a:t>
            </a:r>
          </a:p>
        </p:txBody>
      </p:sp>
      <p:sp>
        <p:nvSpPr>
          <p:cNvPr id="31" name="Straight Connector 30">
            <a:extLst xmlns:a="http://schemas.openxmlformats.org/drawingml/2006/main">
              <a:ext uri="{FF2B5EF4-FFF2-40B4-BE49-F238E27FC236}">
                <a16:creationId xmlns:a16="http://schemas.microsoft.com/office/drawing/2014/main" id="{72944B4F-936E-4666-BCB5-19428C80B4D4}"/>
              </a:ext>
            </a:extLst>
          </p:cNvPr>
          <p:cNvSpPr>
            <a:spLocks xmlns:a="http://schemas.openxmlformats.org/drawingml/2006/main" noGrp="1"/>
          </p:cNvSpPr>
          <p:nvPr/>
        </p:nvSpPr>
        <p:spPr>
          <a:xfrm xmlns:a="http://schemas.openxmlformats.org/drawingml/2006/main">
            <a:off x="3333750" y="3890010"/>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editable-methodology-vcpu-per-ocpu">
            <a:extLst xmlns:a="http://schemas.openxmlformats.org/drawingml/2006/main">
              <a:ext uri="{FF2B5EF4-FFF2-40B4-BE49-F238E27FC236}">
                <a16:creationId xmlns:a16="http://schemas.microsoft.com/office/drawing/2014/main" id="{4BB2C1F5-D562-49B2-9F9A-0CC0CC218F6B}"/>
              </a:ext>
            </a:extLst>
          </p:cNvPr>
          <p:cNvSpPr>
            <a:spLocks xmlns:a="http://schemas.openxmlformats.org/drawingml/2006/main" noGrp="1"/>
          </p:cNvSpPr>
          <p:nvPr/>
        </p:nvSpPr>
        <p:spPr>
          <a:xfrm xmlns:a="http://schemas.openxmlformats.org/drawingml/2006/main">
            <a:off x="3676650" y="389001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{{VCPU_PER_OCPU}}</a:t>
            </a:r>
          </a:p>
        </p:txBody>
      </p:sp>
      <p:sp>
        <p:nvSpPr>
          <p:cNvPr id="33" name="editable-methodology-compute-supporting-text">
            <a:extLst xmlns:a="http://schemas.openxmlformats.org/drawingml/2006/main">
              <a:ext uri="{FF2B5EF4-FFF2-40B4-BE49-F238E27FC236}">
                <a16:creationId xmlns:a16="http://schemas.microsoft.com/office/drawing/2014/main" id="{C1010FD1-CF72-4430-AE27-159930A3A4CD}"/>
              </a:ext>
            </a:extLst>
          </p:cNvPr>
          <p:cNvSpPr>
            <a:spLocks xmlns:a="http://schemas.openxmlformats.org/drawingml/2006/main" noGrp="1"/>
          </p:cNvSpPr>
          <p:nvPr/>
        </p:nvSpPr>
        <p:spPr>
          <a:xfrm xmlns:a="http://schemas.openxmlformats.org/drawingml/2006/main">
            <a:off x="3676650" y="410908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
            </a:r>
          </a:p>
        </p:txBody>
      </p:sp>
      <p:sp>
        <p:nvSpPr>
          <p:cNvPr id="34" name="Straight Connector 33">
            <a:extLst xmlns:a="http://schemas.openxmlformats.org/drawingml/2006/main">
              <a:ext uri="{FF2B5EF4-FFF2-40B4-BE49-F238E27FC236}">
                <a16:creationId xmlns:a16="http://schemas.microsoft.com/office/drawing/2014/main" id="{02CD068C-C8FC-47C9-BB57-3D4C64351CFA}"/>
              </a:ext>
            </a:extLst>
          </p:cNvPr>
          <p:cNvSpPr>
            <a:spLocks xmlns:a="http://schemas.openxmlformats.org/drawingml/2006/main" noGrp="1"/>
          </p:cNvSpPr>
          <p:nvPr/>
        </p:nvSpPr>
        <p:spPr>
          <a:xfrm xmlns:a="http://schemas.openxmlformats.org/drawingml/2006/main">
            <a:off x="600075" y="4325303"/>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4" name="Picture 84"/>
          <p:cNvPicPr>
            <a:picLocks xmlns:a="http://schemas.openxmlformats.org/drawingml/2006/main" noChangeAspect="1"/>
          </p:cNvPicPr>
          <p:nvPr/>
        </p:nvPicPr>
        <p:blipFill>
          <a:blip xmlns:r="http://schemas.openxmlformats.org/officeDocument/2006/relationships" xmlns:a="http://schemas.openxmlformats.org/drawingml/2006/main" r:embed="Rf6ee1fc101364358"/>
          <a:stretch xmlns:a="http://schemas.openxmlformats.org/drawingml/2006/main"/>
        </p:blipFill>
        <p:spPr>
          <a:xfrm xmlns:a="http://schemas.openxmlformats.org/drawingml/2006/main">
            <a:off x="600075" y="4367228"/>
            <a:ext cx="466725" cy="459074"/>
          </a:xfrm>
          <a:prstGeom xmlns:a="http://schemas.openxmlformats.org/drawingml/2006/main" prst="rect">
            <a:avLst/>
          </a:prstGeom>
        </p:spPr>
      </p:pic>
      <p:sp>
        <p:nvSpPr>
          <p:cNvPr id="36" name="editable-methodology-cpu-headroom-label">
            <a:extLst xmlns:a="http://schemas.openxmlformats.org/drawingml/2006/main">
              <a:ext uri="{FF2B5EF4-FFF2-40B4-BE49-F238E27FC236}">
                <a16:creationId xmlns:a16="http://schemas.microsoft.com/office/drawing/2014/main" id="{35B0B338-2A00-4402-837C-6832FD369235}"/>
              </a:ext>
            </a:extLst>
          </p:cNvPr>
          <p:cNvSpPr>
            <a:spLocks xmlns:a="http://schemas.openxmlformats.org/drawingml/2006/main" noGrp="1"/>
          </p:cNvSpPr>
          <p:nvPr/>
        </p:nvSpPr>
        <p:spPr>
          <a:xfrm xmlns:a="http://schemas.openxmlformats.org/drawingml/2006/main">
            <a:off x="1333500" y="4506278"/>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headroom</a:t>
            </a:r>
          </a:p>
        </p:txBody>
      </p:sp>
      <p:sp>
        <p:nvSpPr>
          <p:cNvPr id="37" name="Straight Connector 36">
            <a:extLst xmlns:a="http://schemas.openxmlformats.org/drawingml/2006/main">
              <a:ext uri="{FF2B5EF4-FFF2-40B4-BE49-F238E27FC236}">
                <a16:creationId xmlns:a16="http://schemas.microsoft.com/office/drawing/2014/main" id="{0004D49C-3CEF-4D64-8EE4-5C2EF19B65F0}"/>
              </a:ext>
            </a:extLst>
          </p:cNvPr>
          <p:cNvSpPr>
            <a:spLocks xmlns:a="http://schemas.openxmlformats.org/drawingml/2006/main" noGrp="1"/>
          </p:cNvSpPr>
          <p:nvPr/>
        </p:nvSpPr>
        <p:spPr>
          <a:xfrm xmlns:a="http://schemas.openxmlformats.org/drawingml/2006/main">
            <a:off x="3333750" y="4420553"/>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editable-methodology-cpu-headroom">
            <a:extLst xmlns:a="http://schemas.openxmlformats.org/drawingml/2006/main">
              <a:ext uri="{FF2B5EF4-FFF2-40B4-BE49-F238E27FC236}">
                <a16:creationId xmlns:a16="http://schemas.microsoft.com/office/drawing/2014/main" id="{B09B219E-B635-42E5-8711-6CCAA05CC5BA}"/>
              </a:ext>
            </a:extLst>
          </p:cNvPr>
          <p:cNvSpPr>
            <a:spLocks xmlns:a="http://schemas.openxmlformats.org/drawingml/2006/main" noGrp="1"/>
          </p:cNvSpPr>
          <p:nvPr/>
        </p:nvSpPr>
        <p:spPr>
          <a:xfrm xmlns:a="http://schemas.openxmlformats.org/drawingml/2006/main">
            <a:off x="3676650" y="4420553"/>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{{CPU_HEADROOM}}</a:t>
            </a:r>
          </a:p>
        </p:txBody>
      </p:sp>
      <p:sp>
        <p:nvSpPr>
          <p:cNvPr id="39" name="Straight Connector 38">
            <a:extLst xmlns:a="http://schemas.openxmlformats.org/drawingml/2006/main">
              <a:ext uri="{FF2B5EF4-FFF2-40B4-BE49-F238E27FC236}">
                <a16:creationId xmlns:a16="http://schemas.microsoft.com/office/drawing/2014/main" id="{B5294845-2E5B-41F1-8CD4-A4D7AFAA9406}"/>
              </a:ext>
            </a:extLst>
          </p:cNvPr>
          <p:cNvSpPr>
            <a:spLocks xmlns:a="http://schemas.openxmlformats.org/drawingml/2006/main" noGrp="1"/>
          </p:cNvSpPr>
          <p:nvPr/>
        </p:nvSpPr>
        <p:spPr>
          <a:xfrm xmlns:a="http://schemas.openxmlformats.org/drawingml/2006/main">
            <a:off x="600075" y="4855845"/>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9" name="Picture 89"/>
          <p:cNvPicPr>
            <a:picLocks xmlns:a="http://schemas.openxmlformats.org/drawingml/2006/main" noChangeAspect="1"/>
          </p:cNvPicPr>
          <p:nvPr/>
        </p:nvPicPr>
        <p:blipFill>
          <a:blip xmlns:r="http://schemas.openxmlformats.org/officeDocument/2006/relationships" xmlns:a="http://schemas.openxmlformats.org/drawingml/2006/main" r:embed="R19ff1d964c774ee4"/>
          <a:stretch xmlns:a="http://schemas.openxmlformats.org/drawingml/2006/main"/>
        </p:blipFill>
        <p:spPr>
          <a:xfrm xmlns:a="http://schemas.openxmlformats.org/drawingml/2006/main">
            <a:off x="600075" y="4897771"/>
            <a:ext cx="466725" cy="459074"/>
          </a:xfrm>
          <a:prstGeom xmlns:a="http://schemas.openxmlformats.org/drawingml/2006/main" prst="rect">
            <a:avLst/>
          </a:prstGeom>
        </p:spPr>
      </p:pic>
      <p:sp>
        <p:nvSpPr>
          <p:cNvPr id="41" name="editable-methodology-ram-headroom-label">
            <a:extLst xmlns:a="http://schemas.openxmlformats.org/drawingml/2006/main">
              <a:ext uri="{FF2B5EF4-FFF2-40B4-BE49-F238E27FC236}">
                <a16:creationId xmlns:a16="http://schemas.microsoft.com/office/drawing/2014/main" id="{3237AD7F-4836-4176-AF9D-C45EBA307DA5}"/>
              </a:ext>
            </a:extLst>
          </p:cNvPr>
          <p:cNvSpPr>
            <a:spLocks xmlns:a="http://schemas.openxmlformats.org/drawingml/2006/main" noGrp="1"/>
          </p:cNvSpPr>
          <p:nvPr/>
        </p:nvSpPr>
        <p:spPr>
          <a:xfrm xmlns:a="http://schemas.openxmlformats.org/drawingml/2006/main">
            <a:off x="1333500" y="503682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RAM headroom</a:t>
            </a:r>
          </a:p>
        </p:txBody>
      </p:sp>
      <p:sp>
        <p:nvSpPr>
          <p:cNvPr id="42" name="Straight Connector 41">
            <a:extLst xmlns:a="http://schemas.openxmlformats.org/drawingml/2006/main">
              <a:ext uri="{FF2B5EF4-FFF2-40B4-BE49-F238E27FC236}">
                <a16:creationId xmlns:a16="http://schemas.microsoft.com/office/drawing/2014/main" id="{4D9346C3-2665-41B0-99E5-1FA2EBA0C533}"/>
              </a:ext>
            </a:extLst>
          </p:cNvPr>
          <p:cNvSpPr>
            <a:spLocks xmlns:a="http://schemas.openxmlformats.org/drawingml/2006/main" noGrp="1"/>
          </p:cNvSpPr>
          <p:nvPr/>
        </p:nvSpPr>
        <p:spPr>
          <a:xfrm xmlns:a="http://schemas.openxmlformats.org/drawingml/2006/main">
            <a:off x="3333750" y="495109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editable-methodology-ram-headroom">
            <a:extLst xmlns:a="http://schemas.openxmlformats.org/drawingml/2006/main">
              <a:ext uri="{FF2B5EF4-FFF2-40B4-BE49-F238E27FC236}">
                <a16:creationId xmlns:a16="http://schemas.microsoft.com/office/drawing/2014/main" id="{DBC0D906-17E6-4658-8738-8B3675430291}"/>
              </a:ext>
            </a:extLst>
          </p:cNvPr>
          <p:cNvSpPr>
            <a:spLocks xmlns:a="http://schemas.openxmlformats.org/drawingml/2006/main" noGrp="1"/>
          </p:cNvSpPr>
          <p:nvPr/>
        </p:nvSpPr>
        <p:spPr>
          <a:xfrm xmlns:a="http://schemas.openxmlformats.org/drawingml/2006/main">
            <a:off x="3676650" y="495109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{{RAM_HEADROOM}}</a:t>
            </a:r>
          </a:p>
        </p:txBody>
      </p:sp>
      <p:sp>
        <p:nvSpPr>
          <p:cNvPr id="44" name="Straight Connector 43">
            <a:extLst xmlns:a="http://schemas.openxmlformats.org/drawingml/2006/main">
              <a:ext uri="{FF2B5EF4-FFF2-40B4-BE49-F238E27FC236}">
                <a16:creationId xmlns:a16="http://schemas.microsoft.com/office/drawing/2014/main" id="{76C190DA-7557-4EF8-A3B4-C1CD1D532610}"/>
              </a:ext>
            </a:extLst>
          </p:cNvPr>
          <p:cNvSpPr>
            <a:spLocks xmlns:a="http://schemas.openxmlformats.org/drawingml/2006/main" noGrp="1"/>
          </p:cNvSpPr>
          <p:nvPr/>
        </p:nvSpPr>
        <p:spPr>
          <a:xfrm xmlns:a="http://schemas.openxmlformats.org/drawingml/2006/main">
            <a:off x="600075" y="538638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104" name="Picture 94"/>
          <p:cNvPicPr>
            <a:picLocks xmlns:a="http://schemas.openxmlformats.org/drawingml/2006/main" noChangeAspect="1"/>
          </p:cNvPicPr>
          <p:nvPr/>
        </p:nvPicPr>
        <p:blipFill>
          <a:blip xmlns:r="http://schemas.openxmlformats.org/officeDocument/2006/relationships" xmlns:a="http://schemas.openxmlformats.org/drawingml/2006/main" r:embed="R3ca423e951ee4210"/>
          <a:stretch xmlns:a="http://schemas.openxmlformats.org/drawingml/2006/main"/>
        </p:blipFill>
        <p:spPr>
          <a:xfrm xmlns:a="http://schemas.openxmlformats.org/drawingml/2006/main">
            <a:off x="600075" y="5424488"/>
            <a:ext cx="466725" cy="466725"/>
          </a:xfrm>
          <a:prstGeom xmlns:a="http://schemas.openxmlformats.org/drawingml/2006/main" prst="rect">
            <a:avLst/>
          </a:prstGeom>
        </p:spPr>
      </p:pic>
      <p:sp>
        <p:nvSpPr>
          <p:cNvPr id="46" name="editable-methodology-storage-policy-label">
            <a:extLst xmlns:a="http://schemas.openxmlformats.org/drawingml/2006/main">
              <a:ext uri="{FF2B5EF4-FFF2-40B4-BE49-F238E27FC236}">
                <a16:creationId xmlns:a16="http://schemas.microsoft.com/office/drawing/2014/main" id="{1AAF8FDE-50FC-4C3F-9F81-15310F8F98EE}"/>
              </a:ext>
            </a:extLst>
          </p:cNvPr>
          <p:cNvSpPr>
            <a:spLocks xmlns:a="http://schemas.openxmlformats.org/drawingml/2006/main" noGrp="1"/>
          </p:cNvSpPr>
          <p:nvPr/>
        </p:nvSpPr>
        <p:spPr>
          <a:xfrm xmlns:a="http://schemas.openxmlformats.org/drawingml/2006/main">
            <a:off x="1333500" y="5567363"/>
            <a:ext cx="2047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Policy — {{STORAGE_POLICY_NAME}}</a:t>
            </a:r>
          </a:p>
        </p:txBody>
      </p:sp>
      <p:sp>
        <p:nvSpPr>
          <p:cNvPr id="47" name="Straight Connector 46">
            <a:extLst xmlns:a="http://schemas.openxmlformats.org/drawingml/2006/main">
              <a:ext uri="{FF2B5EF4-FFF2-40B4-BE49-F238E27FC236}">
                <a16:creationId xmlns:a16="http://schemas.microsoft.com/office/drawing/2014/main" id="{FFEF831B-5985-4EBD-83C8-50668461DF24}"/>
              </a:ext>
            </a:extLst>
          </p:cNvPr>
          <p:cNvSpPr>
            <a:spLocks xmlns:a="http://schemas.openxmlformats.org/drawingml/2006/main" noGrp="1"/>
          </p:cNvSpPr>
          <p:nvPr/>
        </p:nvSpPr>
        <p:spPr>
          <a:xfrm xmlns:a="http://schemas.openxmlformats.org/drawingml/2006/main">
            <a:off x="3333750" y="548163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editable-methodology-storage-policy-details">
            <a:extLst xmlns:a="http://schemas.openxmlformats.org/drawingml/2006/main">
              <a:ext uri="{FF2B5EF4-FFF2-40B4-BE49-F238E27FC236}">
                <a16:creationId xmlns:a16="http://schemas.microsoft.com/office/drawing/2014/main" id="{FCCC5123-50EE-49F7-9C4E-AD8B5F15572B}"/>
              </a:ext>
            </a:extLst>
          </p:cNvPr>
          <p:cNvSpPr>
            <a:spLocks xmlns:a="http://schemas.openxmlformats.org/drawingml/2006/main" noGrp="1"/>
          </p:cNvSpPr>
          <p:nvPr/>
        </p:nvSpPr>
        <p:spPr>
          <a:xfrm xmlns:a="http://schemas.openxmlformats.org/drawingml/2006/main">
            <a:off x="3676650" y="5481638"/>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 headroom: {{STORAGE_HEADROOM}}</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{{STORAGE_POLICY_DETAIL}}</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{{STORAGE_POLICY_SUPPORTING_TEXT}}</a:t>
            </a:r>
          </a:p>
        </p:txBody>
      </p:sp>
      <p:sp>
        <p:nvSpPr>
          <p:cNvPr id="49" name="Rectangle 48">
            <a:extLst xmlns:a="http://schemas.openxmlformats.org/drawingml/2006/main">
              <a:ext uri="{FF2B5EF4-FFF2-40B4-BE49-F238E27FC236}">
                <a16:creationId xmlns:a16="http://schemas.microsoft.com/office/drawing/2014/main" id="{16E4D860-FD45-4FE4-BDF9-3E6C0A6C9676}"/>
              </a:ext>
            </a:extLst>
          </p:cNvPr>
          <p:cNvSpPr>
            <a:spLocks xmlns:a="http://schemas.openxmlformats.org/drawingml/2006/main" noGrp="1"/>
          </p:cNvSpPr>
          <p:nvPr/>
        </p:nvSpPr>
        <p:spPr>
          <a:xfrm xmlns:a="http://schemas.openxmlformats.org/drawingml/2006/main">
            <a:off x="1133475" y="6553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9" name="Picture 99"/>
          <p:cNvPicPr>
            <a:picLocks xmlns:a="http://schemas.openxmlformats.org/drawingml/2006/main" noChangeAspect="1"/>
          </p:cNvPicPr>
          <p:nvPr/>
        </p:nvPicPr>
        <p:blipFill>
          <a:blip xmlns:r="http://schemas.openxmlformats.org/officeDocument/2006/relationships" xmlns:a="http://schemas.openxmlformats.org/drawingml/2006/main" r:embed="R5126795b067a48fc"/>
          <a:stretch xmlns:a="http://schemas.openxmlformats.org/drawingml/2006/main"/>
        </p:blipFill>
        <p:spPr>
          <a:xfrm xmlns:a="http://schemas.openxmlformats.org/drawingml/2006/main">
            <a:off x="11391900" y="6479151"/>
            <a:ext cx="400050" cy="329073"/>
          </a:xfrm>
          <a:prstGeom xmlns:a="http://schemas.openxmlformats.org/drawingml/2006/main" prst="rect">
            <a:avLst/>
          </a:prstGeom>
        </p:spPr>
      </p:pic>
    </p:spTree>
    <p:extLst>
      <p:ext uri="{BB962C8B-B14F-4D97-AF65-F5344CB8AC3E}">
        <p14:creationId xmlns:p14="http://schemas.microsoft.com/office/powerpoint/2010/main" val="9483572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5" name="Oval 74">
            <a:extLst xmlns:a="http://schemas.openxmlformats.org/drawingml/2006/main">
              <a:ext uri="{FF2B5EF4-FFF2-40B4-BE49-F238E27FC236}">
                <a16:creationId xmlns:a16="http://schemas.microsoft.com/office/drawing/2014/main" id="{21F0DC85-8080-41CB-9F08-90BF24F47782}"/>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2F83E7F2-4739-496D-AEA1-9C7E9AF7442A}"/>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0365660-F790-4395-BCCA-A1B5A74443CB}"/>
              </a:ext>
            </a:extLst>
          </p:cNvPr>
          <p:cNvSpPr>
            <a:spLocks xmlns:a="http://schemas.openxmlformats.org/drawingml/2006/main" noGrp="1"/>
          </p:cNvSpPr>
          <p:nvPr/>
        </p:nvSpPr>
        <p:spPr>
          <a:xfrm xmlns:a="http://schemas.openxmlformats.org/drawingml/2006/main">
            <a:off x="5638800" y="933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9375D8DC-CA5F-40B0-B7BF-056CF93CA4C9}"/>
              </a:ext>
            </a:extLst>
          </p:cNvPr>
          <p:cNvSpPr>
            <a:spLocks xmlns:a="http://schemas.openxmlformats.org/drawingml/2006/main" noGrp="1"/>
          </p:cNvSpPr>
          <p:nvPr/>
        </p:nvSpPr>
        <p:spPr>
          <a:xfrm xmlns:a="http://schemas.openxmlformats.org/drawingml/2006/main">
            <a:off x="5810250" y="55245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B4636DC-97BE-46CA-BEB6-6BF5B65A7B74}"/>
              </a:ext>
            </a:extLst>
          </p:cNvPr>
          <p:cNvSpPr>
            <a:spLocks xmlns:a="http://schemas.openxmlformats.org/drawingml/2006/main" noGrp="1"/>
          </p:cNvSpPr>
          <p:nvPr/>
        </p:nvSpPr>
        <p:spPr>
          <a:xfrm xmlns:a="http://schemas.openxmlformats.org/drawingml/2006/main">
            <a:off x="4505325" y="981075"/>
            <a:ext cx="57150" cy="5715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67805AE-F6C9-426B-897E-D76835211245}"/>
              </a:ext>
            </a:extLst>
          </p:cNvPr>
          <p:cNvSpPr>
            <a:spLocks xmlns:a="http://schemas.openxmlformats.org/drawingml/2006/main" noGrp="1"/>
          </p:cNvSpPr>
          <p:nvPr/>
        </p:nvSpPr>
        <p:spPr>
          <a:xfrm xmlns:a="http://schemas.openxmlformats.org/drawingml/2006/main">
            <a:off x="5705475" y="9906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71CAA8A-0646-4E30-A41C-31D47C1744F5}"/>
              </a:ext>
            </a:extLst>
          </p:cNvPr>
          <p:cNvSpPr>
            <a:spLocks xmlns:a="http://schemas.openxmlformats.org/drawingml/2006/main" noGrp="1"/>
          </p:cNvSpPr>
          <p:nvPr/>
        </p:nvSpPr>
        <p:spPr>
          <a:xfrm xmlns:a="http://schemas.openxmlformats.org/drawingml/2006/main">
            <a:off x="6096000" y="11620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004BEBF-6AFB-4C2C-929C-BF89C0BEE4CC}"/>
              </a:ext>
            </a:extLst>
          </p:cNvPr>
          <p:cNvSpPr>
            <a:spLocks xmlns:a="http://schemas.openxmlformats.org/drawingml/2006/main" noGrp="1"/>
          </p:cNvSpPr>
          <p:nvPr/>
        </p:nvSpPr>
        <p:spPr>
          <a:xfrm xmlns:a="http://schemas.openxmlformats.org/drawingml/2006/main">
            <a:off x="6753225" y="13049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71687F6-47A9-4150-89D4-7D270B8B3DC6}"/>
              </a:ext>
            </a:extLst>
          </p:cNvPr>
          <p:cNvSpPr>
            <a:spLocks xmlns:a="http://schemas.openxmlformats.org/drawingml/2006/main" noGrp="1"/>
          </p:cNvSpPr>
          <p:nvPr/>
        </p:nvSpPr>
        <p:spPr>
          <a:xfrm xmlns:a="http://schemas.openxmlformats.org/drawingml/2006/main">
            <a:off x="7239000" y="381000"/>
            <a:ext cx="66675" cy="666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DB11DC-8AE3-4708-B895-9DCF02DCCDCD}"/>
              </a:ext>
            </a:extLst>
          </p:cNvPr>
          <p:cNvSpPr>
            <a:spLocks xmlns:a="http://schemas.openxmlformats.org/drawingml/2006/main" noGrp="1"/>
          </p:cNvSpPr>
          <p:nvPr/>
        </p:nvSpPr>
        <p:spPr>
          <a:xfrm xmlns:a="http://schemas.openxmlformats.org/drawingml/2006/main">
            <a:off x="8839200" y="79057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170C531-2321-40E2-8044-BC5E8CA5BB58}"/>
              </a:ext>
            </a:extLst>
          </p:cNvPr>
          <p:cNvSpPr>
            <a:spLocks xmlns:a="http://schemas.openxmlformats.org/drawingml/2006/main" noGrp="1"/>
          </p:cNvSpPr>
          <p:nvPr/>
        </p:nvSpPr>
        <p:spPr>
          <a:xfrm xmlns:a="http://schemas.openxmlformats.org/drawingml/2006/main">
            <a:off x="9048750" y="14954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A4DA6F0-0E7F-4975-91FC-B8833E1EF25E}"/>
              </a:ext>
            </a:extLst>
          </p:cNvPr>
          <p:cNvSpPr>
            <a:spLocks xmlns:a="http://schemas.openxmlformats.org/drawingml/2006/main" noGrp="1"/>
          </p:cNvSpPr>
          <p:nvPr/>
        </p:nvSpPr>
        <p:spPr>
          <a:xfrm xmlns:a="http://schemas.openxmlformats.org/drawingml/2006/main">
            <a:off x="9239250" y="16478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30D3E989-E565-43CA-B47B-51F6E2E6D5A5}"/>
              </a:ext>
            </a:extLst>
          </p:cNvPr>
          <p:cNvSpPr>
            <a:spLocks xmlns:a="http://schemas.openxmlformats.org/drawingml/2006/main" noGrp="1"/>
          </p:cNvSpPr>
          <p:nvPr/>
        </p:nvSpPr>
        <p:spPr>
          <a:xfrm xmlns:a="http://schemas.openxmlformats.org/drawingml/2006/main">
            <a:off x="9944100" y="2076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90AC5F6-AD11-4372-9904-82389EC0DDD8}"/>
              </a:ext>
            </a:extLst>
          </p:cNvPr>
          <p:cNvSpPr>
            <a:spLocks xmlns:a="http://schemas.openxmlformats.org/drawingml/2006/main" noGrp="1"/>
          </p:cNvSpPr>
          <p:nvPr/>
        </p:nvSpPr>
        <p:spPr>
          <a:xfrm xmlns:a="http://schemas.openxmlformats.org/drawingml/2006/main">
            <a:off x="11258550" y="22860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B52B2D8-D6B9-4D4D-B2A5-2C8D8AA80805}"/>
              </a:ext>
            </a:extLst>
          </p:cNvPr>
          <p:cNvSpPr>
            <a:spLocks xmlns:a="http://schemas.openxmlformats.org/drawingml/2006/main" noGrp="1"/>
          </p:cNvSpPr>
          <p:nvPr/>
        </p:nvSpPr>
        <p:spPr>
          <a:xfrm xmlns:a="http://schemas.openxmlformats.org/drawingml/2006/main">
            <a:off x="11306175" y="466725"/>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69CE3ABD-20CA-492A-A395-49E29EFAB399}"/>
              </a:ext>
            </a:extLst>
          </p:cNvPr>
          <p:cNvSpPr>
            <a:spLocks xmlns:a="http://schemas.openxmlformats.org/drawingml/2006/main" noGrp="1"/>
          </p:cNvSpPr>
          <p:nvPr/>
        </p:nvSpPr>
        <p:spPr>
          <a:xfrm xmlns:a="http://schemas.openxmlformats.org/drawingml/2006/main">
            <a:off x="11811000" y="7239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88F33C5-401C-4533-ABE2-633CA7C878A6}"/>
              </a:ext>
            </a:extLst>
          </p:cNvPr>
          <p:cNvSpPr>
            <a:spLocks xmlns:a="http://schemas.openxmlformats.org/drawingml/2006/main" noGrp="1"/>
          </p:cNvSpPr>
          <p:nvPr/>
        </p:nvSpPr>
        <p:spPr>
          <a:xfrm xmlns:a="http://schemas.openxmlformats.org/drawingml/2006/main">
            <a:off x="11991975" y="118110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1912CAD-A491-40CB-BE59-97E8CE401F65}"/>
              </a:ext>
            </a:extLst>
          </p:cNvPr>
          <p:cNvSpPr>
            <a:spLocks xmlns:a="http://schemas.openxmlformats.org/drawingml/2006/main" noGrp="1"/>
          </p:cNvSpPr>
          <p:nvPr/>
        </p:nvSpPr>
        <p:spPr>
          <a:xfrm xmlns:a="http://schemas.openxmlformats.org/drawingml/2006/main">
            <a:off x="0" y="3028950"/>
            <a:ext cx="1381125" cy="1219200"/>
          </a:xfrm>
          <a:prstGeom xmlns:a="http://schemas.openxmlformats.org/drawingml/2006/main" prst="ellipse">
            <a:avLst/>
          </a:prstGeom>
          <a:solidFill xmlns:a="http://schemas.openxmlformats.org/drawingml/2006/main">
            <a:srgbClr val="F5F8F6"/>
          </a:solidFill>
          <a:ln xmlns:a="http://schemas.openxmlformats.org/drawingml/2006/main" w="9525">
            <a:solidFill>
              <a:srgbClr val="E3E8E5"/>
            </a:solidFill>
            <a:prstDash val="dot"/>
          </a:ln>
        </p:spPr>
        <p:txBody>
          <a:bodyPr xmlns:a="http://schemas.openxmlformats.org/drawingml/2006/main"/>
          <a:lstStyle xmlns:a="http://schemas.openxmlformats.org/drawingml/2006/main"/>
          <a:p xmlns:a="http://schemas.openxmlformats.org/drawingml/2006/main">
            <a:endParaRPr/>
          </a:p>
        </p:txBody>
      </p:sp>
      <p:pic>
        <p:nvPicPr>
          <p:cNvPr id="107" name="Picture 93"/>
          <p:cNvPicPr>
            <a:picLocks xmlns:a="http://schemas.openxmlformats.org/drawingml/2006/main" noChangeAspect="1"/>
          </p:cNvPicPr>
          <p:nvPr/>
        </p:nvPicPr>
        <p:blipFill>
          <a:blip xmlns:r="http://schemas.openxmlformats.org/officeDocument/2006/relationships" xmlns:a="http://schemas.openxmlformats.org/drawingml/2006/main" r:embed="R50cabb2107e64f0d"/>
          <a:stretch xmlns:a="http://schemas.openxmlformats.org/drawingml/2006/main"/>
        </p:blipFill>
        <p:spPr>
          <a:xfrm xmlns:a="http://schemas.openxmlformats.org/drawingml/2006/main">
            <a:off x="426149" y="276225"/>
            <a:ext cx="1824228" cy="542925"/>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C287F6CF-5BDC-4BBA-BB60-B25AA48793ED}"/>
              </a:ext>
            </a:extLst>
          </p:cNvPr>
          <p:cNvSpPr>
            <a:spLocks xmlns:a="http://schemas.openxmlformats.org/drawingml/2006/main" noGrp="1"/>
          </p:cNvSpPr>
          <p:nvPr/>
        </p:nvSpPr>
        <p:spPr>
          <a:xfrm xmlns:a="http://schemas.openxmlformats.org/drawingml/2006/main">
            <a:off x="400050" y="111818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Current Environment</a:t>
            </a:r>
          </a:p>
        </p:txBody>
      </p:sp>
      <p:sp>
        <p:nvSpPr>
          <p:cNvPr id="22" name="Rectangle 21">
            <a:extLst xmlns:a="http://schemas.openxmlformats.org/drawingml/2006/main">
              <a:ext uri="{FF2B5EF4-FFF2-40B4-BE49-F238E27FC236}">
                <a16:creationId xmlns:a16="http://schemas.microsoft.com/office/drawing/2014/main" id="{7181C17D-13DF-4692-BC64-FC2AD05459C9}"/>
              </a:ext>
            </a:extLst>
          </p:cNvPr>
          <p:cNvSpPr>
            <a:spLocks xmlns:a="http://schemas.openxmlformats.org/drawingml/2006/main" noGrp="1"/>
          </p:cNvSpPr>
          <p:nvPr/>
        </p:nvSpPr>
        <p:spPr>
          <a:xfrm xmlns:a="http://schemas.openxmlformats.org/drawingml/2006/main">
            <a:off x="400050" y="1704975"/>
            <a:ext cx="37147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CF1157D8-7FA6-44EE-9ABA-8C1B2D76EB92}"/>
              </a:ext>
            </a:extLst>
          </p:cNvPr>
          <p:cNvSpPr>
            <a:spLocks xmlns:a="http://schemas.openxmlformats.org/drawingml/2006/main" noGrp="1"/>
          </p:cNvSpPr>
          <p:nvPr/>
        </p:nvSpPr>
        <p:spPr>
          <a:xfrm xmlns:a="http://schemas.openxmlformats.org/drawingml/2006/main">
            <a:off x="400050" y="1885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xmlns:a="http://schemas.openxmlformats.org/drawingml/2006/main">
              <a:ext uri="{FF2B5EF4-FFF2-40B4-BE49-F238E27FC236}">
                <a16:creationId xmlns:a16="http://schemas.microsoft.com/office/drawing/2014/main" id="{7742F759-7FA3-4F04-BD5F-BC22AB94CD82}"/>
              </a:ext>
            </a:extLst>
          </p:cNvPr>
          <p:cNvSpPr>
            <a:spLocks xmlns:a="http://schemas.openxmlformats.org/drawingml/2006/main" noGrp="1"/>
          </p:cNvSpPr>
          <p:nvPr/>
        </p:nvSpPr>
        <p:spPr>
          <a:xfrm xmlns:a="http://schemas.openxmlformats.org/drawingml/2006/main">
            <a:off x="400050" y="2181225"/>
            <a:ext cx="11334750" cy="2152650"/>
          </a:xfrm>
          <a:prstGeom xmlns:a="http://schemas.openxmlformats.org/drawingml/2006/main" prst="roundRect">
            <a:avLst>
              <a:gd name="adj" fmla="val 3097"/>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B404DBE3-517A-4268-99D5-24CDE97D5A55}"/>
              </a:ext>
            </a:extLst>
          </p:cNvPr>
          <p:cNvSpPr>
            <a:spLocks xmlns:a="http://schemas.openxmlformats.org/drawingml/2006/main" noGrp="1"/>
          </p:cNvSpPr>
          <p:nvPr/>
        </p:nvSpPr>
        <p:spPr>
          <a:xfrm xmlns:a="http://schemas.openxmlformats.org/drawingml/2006/main">
            <a:off x="400050" y="2181225"/>
            <a:ext cx="11334750" cy="419100"/>
          </a:xfrm>
          <a:prstGeom xmlns:a="http://schemas.openxmlformats.org/drawingml/2006/main" prst="roundRect">
            <a:avLst>
              <a:gd name="adj" fmla="val 15909"/>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149E187-8D0C-45BD-B937-45018F857AE1}"/>
              </a:ext>
            </a:extLst>
          </p:cNvPr>
          <p:cNvSpPr>
            <a:spLocks xmlns:a="http://schemas.openxmlformats.org/drawingml/2006/main" noGrp="1"/>
          </p:cNvSpPr>
          <p:nvPr/>
        </p:nvSpPr>
        <p:spPr>
          <a:xfrm xmlns:a="http://schemas.openxmlformats.org/drawingml/2006/main">
            <a:off x="400050" y="2514600"/>
            <a:ext cx="11334750" cy="85725"/>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14" name="Picture 100"/>
          <p:cNvPicPr>
            <a:picLocks xmlns:a="http://schemas.openxmlformats.org/drawingml/2006/main" noChangeAspect="1"/>
          </p:cNvPicPr>
          <p:nvPr/>
        </p:nvPicPr>
        <p:blipFill>
          <a:blip xmlns:r="http://schemas.openxmlformats.org/officeDocument/2006/relationships" xmlns:a="http://schemas.openxmlformats.org/drawingml/2006/main" r:embed="R711a1c8b5c8d42a5"/>
          <a:stretch xmlns:a="http://schemas.openxmlformats.org/drawingml/2006/main"/>
        </p:blipFill>
        <p:spPr>
          <a:xfrm xmlns:a="http://schemas.openxmlformats.org/drawingml/2006/main">
            <a:off x="600075" y="2261185"/>
            <a:ext cx="285750" cy="278230"/>
          </a:xfrm>
          <a:prstGeom xmlns:a="http://schemas.openxmlformats.org/drawingml/2006/main" prst="rect">
            <a:avLst/>
          </a:prstGeom>
        </p:spPr>
      </p:pic>
      <p:sp>
        <p:nvSpPr>
          <p:cNvPr id="28" name="editable-current-datacenter">
            <a:extLst xmlns:a="http://schemas.openxmlformats.org/drawingml/2006/main">
              <a:ext uri="{FF2B5EF4-FFF2-40B4-BE49-F238E27FC236}">
                <a16:creationId xmlns:a16="http://schemas.microsoft.com/office/drawing/2014/main" id="{1FCDE930-188D-4EA2-8394-918FC60EA432}"/>
              </a:ext>
            </a:extLst>
          </p:cNvPr>
          <p:cNvSpPr>
            <a:spLocks xmlns:a="http://schemas.openxmlformats.org/drawingml/2006/main" noGrp="1"/>
          </p:cNvSpPr>
          <p:nvPr/>
        </p:nvSpPr>
        <p:spPr>
          <a:xfrm xmlns:a="http://schemas.openxmlformats.org/drawingml/2006/main">
            <a:off x="981075" y="2333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xmlns:a="http://schemas.openxmlformats.org/drawingml/2006/main">
              <a:ext uri="{FF2B5EF4-FFF2-40B4-BE49-F238E27FC236}">
                <a16:creationId xmlns:a16="http://schemas.microsoft.com/office/drawing/2014/main" id="{073F4B3D-A689-436F-BCE6-8235406074F8}"/>
              </a:ext>
            </a:extLst>
          </p:cNvPr>
          <p:cNvSpPr>
            <a:spLocks xmlns:a="http://schemas.openxmlformats.org/drawingml/2006/main" noGrp="1"/>
          </p:cNvSpPr>
          <p:nvPr/>
        </p:nvSpPr>
        <p:spPr>
          <a:xfrm xmlns:a="http://schemas.openxmlformats.org/drawingml/2006/main">
            <a:off x="32004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traight Connector 29">
            <a:extLst xmlns:a="http://schemas.openxmlformats.org/drawingml/2006/main">
              <a:ext uri="{FF2B5EF4-FFF2-40B4-BE49-F238E27FC236}">
                <a16:creationId xmlns:a16="http://schemas.microsoft.com/office/drawing/2014/main" id="{FB60119E-4550-4C62-A1C7-2490DD52390F}"/>
              </a:ext>
            </a:extLst>
          </p:cNvPr>
          <p:cNvSpPr>
            <a:spLocks xmlns:a="http://schemas.openxmlformats.org/drawingml/2006/main" noGrp="1"/>
          </p:cNvSpPr>
          <p:nvPr/>
        </p:nvSpPr>
        <p:spPr>
          <a:xfrm xmlns:a="http://schemas.openxmlformats.org/drawingml/2006/main">
            <a:off x="59817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traight Connector 30">
            <a:extLst xmlns:a="http://schemas.openxmlformats.org/drawingml/2006/main">
              <a:ext uri="{FF2B5EF4-FFF2-40B4-BE49-F238E27FC236}">
                <a16:creationId xmlns:a16="http://schemas.microsoft.com/office/drawing/2014/main" id="{635B3C01-9C5E-4AA0-AC7B-F394D0687E36}"/>
              </a:ext>
            </a:extLst>
          </p:cNvPr>
          <p:cNvSpPr>
            <a:spLocks xmlns:a="http://schemas.openxmlformats.org/drawingml/2006/main" noGrp="1"/>
          </p:cNvSpPr>
          <p:nvPr/>
        </p:nvSpPr>
        <p:spPr>
          <a:xfrm xmlns:a="http://schemas.openxmlformats.org/drawingml/2006/main">
            <a:off x="87249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59BC397-1AED-455B-BFE0-6D1460C9CD8C}"/>
              </a:ext>
            </a:extLst>
          </p:cNvPr>
          <p:cNvSpPr>
            <a:spLocks xmlns:a="http://schemas.openxmlformats.org/drawingml/2006/main" noGrp="1"/>
          </p:cNvSpPr>
          <p:nvPr/>
        </p:nvSpPr>
        <p:spPr>
          <a:xfrm xmlns:a="http://schemas.openxmlformats.org/drawingml/2006/main">
            <a:off x="11715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editable-current-vms">
            <a:extLst xmlns:a="http://schemas.openxmlformats.org/drawingml/2006/main">
              <a:ext uri="{FF2B5EF4-FFF2-40B4-BE49-F238E27FC236}">
                <a16:creationId xmlns:a16="http://schemas.microsoft.com/office/drawing/2014/main" id="{127C50D5-D813-45E0-8A65-C431BD0456FE}"/>
              </a:ext>
            </a:extLst>
          </p:cNvPr>
          <p:cNvSpPr>
            <a:spLocks xmlns:a="http://schemas.openxmlformats.org/drawingml/2006/main" noGrp="1"/>
          </p:cNvSpPr>
          <p:nvPr/>
        </p:nvSpPr>
        <p:spPr>
          <a:xfrm xmlns:a="http://schemas.openxmlformats.org/drawingml/2006/main">
            <a:off x="11715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21" name="Picture 107"/>
          <p:cNvPicPr>
            <a:picLocks xmlns:a="http://schemas.openxmlformats.org/drawingml/2006/main" noChangeAspect="1"/>
          </p:cNvPicPr>
          <p:nvPr/>
        </p:nvPicPr>
        <p:blipFill>
          <a:blip xmlns:r="http://schemas.openxmlformats.org/officeDocument/2006/relationships" xmlns:a="http://schemas.openxmlformats.org/drawingml/2006/main" r:embed="Rf494c7f565584434"/>
          <a:stretch xmlns:a="http://schemas.openxmlformats.org/drawingml/2006/main"/>
        </p:blipFill>
        <p:spPr>
          <a:xfrm xmlns:a="http://schemas.openxmlformats.org/drawingml/2006/main">
            <a:off x="1590675" y="2781300"/>
            <a:ext cx="495300" cy="4953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CCA77633-015F-457C-984D-6673C096DB92}"/>
              </a:ext>
            </a:extLst>
          </p:cNvPr>
          <p:cNvSpPr>
            <a:spLocks xmlns:a="http://schemas.openxmlformats.org/drawingml/2006/main" noGrp="1"/>
          </p:cNvSpPr>
          <p:nvPr/>
        </p:nvSpPr>
        <p:spPr>
          <a:xfrm xmlns:a="http://schemas.openxmlformats.org/drawingml/2006/main">
            <a:off x="39528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editable-current-vcpus">
            <a:extLst xmlns:a="http://schemas.openxmlformats.org/drawingml/2006/main">
              <a:ext uri="{FF2B5EF4-FFF2-40B4-BE49-F238E27FC236}">
                <a16:creationId xmlns:a16="http://schemas.microsoft.com/office/drawing/2014/main" id="{D3349B43-D610-4795-98E9-37BED54D9ECE}"/>
              </a:ext>
            </a:extLst>
          </p:cNvPr>
          <p:cNvSpPr>
            <a:spLocks xmlns:a="http://schemas.openxmlformats.org/drawingml/2006/main" noGrp="1"/>
          </p:cNvSpPr>
          <p:nvPr/>
        </p:nvSpPr>
        <p:spPr>
          <a:xfrm xmlns:a="http://schemas.openxmlformats.org/drawingml/2006/main">
            <a:off x="39528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24" name="Picture 110"/>
          <p:cNvPicPr>
            <a:picLocks xmlns:a="http://schemas.openxmlformats.org/drawingml/2006/main" noChangeAspect="1"/>
          </p:cNvPicPr>
          <p:nvPr/>
        </p:nvPicPr>
        <p:blipFill>
          <a:blip xmlns:r="http://schemas.openxmlformats.org/officeDocument/2006/relationships" xmlns:a="http://schemas.openxmlformats.org/drawingml/2006/main" r:embed="Rf8661af552f84051"/>
          <a:stretch xmlns:a="http://schemas.openxmlformats.org/drawingml/2006/main"/>
        </p:blipFill>
        <p:spPr>
          <a:xfrm xmlns:a="http://schemas.openxmlformats.org/drawingml/2006/main">
            <a:off x="4371975" y="2781300"/>
            <a:ext cx="495300" cy="495300"/>
          </a:xfrm>
          <a:prstGeom xmlns:a="http://schemas.openxmlformats.org/drawingml/2006/main" prst="rect">
            <a:avLst/>
          </a:prstGeom>
        </p:spPr>
      </p:pic>
      <p:sp>
        <p:nvSpPr>
          <p:cNvPr id="38" name="Rectangle 37">
            <a:extLst xmlns:a="http://schemas.openxmlformats.org/drawingml/2006/main">
              <a:ext uri="{FF2B5EF4-FFF2-40B4-BE49-F238E27FC236}">
                <a16:creationId xmlns:a16="http://schemas.microsoft.com/office/drawing/2014/main" id="{52A61E4A-8FF4-4FA2-BD1B-74AD7A47DE93}"/>
              </a:ext>
            </a:extLst>
          </p:cNvPr>
          <p:cNvSpPr>
            <a:spLocks xmlns:a="http://schemas.openxmlformats.org/drawingml/2006/main" noGrp="1"/>
          </p:cNvSpPr>
          <p:nvPr/>
        </p:nvSpPr>
        <p:spPr>
          <a:xfrm xmlns:a="http://schemas.openxmlformats.org/drawingml/2006/main">
            <a:off x="66960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editable-current-vram">
            <a:extLst xmlns:a="http://schemas.openxmlformats.org/drawingml/2006/main">
              <a:ext uri="{FF2B5EF4-FFF2-40B4-BE49-F238E27FC236}">
                <a16:creationId xmlns:a16="http://schemas.microsoft.com/office/drawing/2014/main" id="{90A624D4-C31B-42AE-A588-376259BB8A49}"/>
              </a:ext>
            </a:extLst>
          </p:cNvPr>
          <p:cNvSpPr>
            <a:spLocks xmlns:a="http://schemas.openxmlformats.org/drawingml/2006/main" noGrp="1"/>
          </p:cNvSpPr>
          <p:nvPr/>
        </p:nvSpPr>
        <p:spPr>
          <a:xfrm xmlns:a="http://schemas.openxmlformats.org/drawingml/2006/main">
            <a:off x="66960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27" name="Picture 113"/>
          <p:cNvPicPr>
            <a:picLocks xmlns:a="http://schemas.openxmlformats.org/drawingml/2006/main" noChangeAspect="1"/>
          </p:cNvPicPr>
          <p:nvPr/>
        </p:nvPicPr>
        <p:blipFill>
          <a:blip xmlns:r="http://schemas.openxmlformats.org/officeDocument/2006/relationships" xmlns:a="http://schemas.openxmlformats.org/drawingml/2006/main" r:embed="R6a1472f70d0b46a1"/>
          <a:stretch xmlns:a="http://schemas.openxmlformats.org/drawingml/2006/main"/>
        </p:blipFill>
        <p:spPr>
          <a:xfrm xmlns:a="http://schemas.openxmlformats.org/drawingml/2006/main">
            <a:off x="7115175" y="2781300"/>
            <a:ext cx="495300" cy="49530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F1EB62F-0498-4D60-9534-8F4AE5E5A7C5}"/>
              </a:ext>
            </a:extLst>
          </p:cNvPr>
          <p:cNvSpPr>
            <a:spLocks xmlns:a="http://schemas.openxmlformats.org/drawingml/2006/main" noGrp="1"/>
          </p:cNvSpPr>
          <p:nvPr/>
        </p:nvSpPr>
        <p:spPr>
          <a:xfrm xmlns:a="http://schemas.openxmlformats.org/drawingml/2006/main">
            <a:off x="9448800"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editable-current-storage">
            <a:extLst xmlns:a="http://schemas.openxmlformats.org/drawingml/2006/main">
              <a:ext uri="{FF2B5EF4-FFF2-40B4-BE49-F238E27FC236}">
                <a16:creationId xmlns:a16="http://schemas.microsoft.com/office/drawing/2014/main" id="{84830E81-2535-4FE2-8239-D8779C43C1A8}"/>
              </a:ext>
            </a:extLst>
          </p:cNvPr>
          <p:cNvSpPr>
            <a:spLocks xmlns:a="http://schemas.openxmlformats.org/drawingml/2006/main" noGrp="1"/>
          </p:cNvSpPr>
          <p:nvPr/>
        </p:nvSpPr>
        <p:spPr>
          <a:xfrm xmlns:a="http://schemas.openxmlformats.org/drawingml/2006/main">
            <a:off x="9448800"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30" name="Picture 116"/>
          <p:cNvPicPr>
            <a:picLocks xmlns:a="http://schemas.openxmlformats.org/drawingml/2006/main" noChangeAspect="1"/>
          </p:cNvPicPr>
          <p:nvPr/>
        </p:nvPicPr>
        <p:blipFill>
          <a:blip xmlns:r="http://schemas.openxmlformats.org/officeDocument/2006/relationships" xmlns:a="http://schemas.openxmlformats.org/drawingml/2006/main" r:embed="R47087a1173374bd7"/>
          <a:stretch xmlns:a="http://schemas.openxmlformats.org/drawingml/2006/main"/>
        </p:blipFill>
        <p:spPr>
          <a:xfrm xmlns:a="http://schemas.openxmlformats.org/drawingml/2006/main">
            <a:off x="9867900" y="2781300"/>
            <a:ext cx="495300" cy="495300"/>
          </a:xfrm>
          <a:prstGeom xmlns:a="http://schemas.openxmlformats.org/drawingml/2006/main" prst="rect">
            <a:avLst/>
          </a:prstGeom>
        </p:spPr>
      </p:pic>
      <p:sp>
        <p:nvSpPr>
          <p:cNvPr id="44" name="editable-current-powered-on">
            <a:extLst xmlns:a="http://schemas.openxmlformats.org/drawingml/2006/main">
              <a:ext uri="{FF2B5EF4-FFF2-40B4-BE49-F238E27FC236}">
                <a16:creationId xmlns:a16="http://schemas.microsoft.com/office/drawing/2014/main" id="{40B2A91E-AAE2-4FEB-AD52-D18E23D0EC0B}"/>
              </a:ext>
            </a:extLst>
          </p:cNvPr>
          <p:cNvSpPr>
            <a:spLocks xmlns:a="http://schemas.openxmlformats.org/drawingml/2006/main" noGrp="1"/>
          </p:cNvSpPr>
          <p:nvPr/>
        </p:nvSpPr>
        <p:spPr>
          <a:xfrm xmlns:a="http://schemas.openxmlformats.org/drawingml/2006/main">
            <a:off x="1323975" y="38766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xmlns:a="http://schemas.openxmlformats.org/drawingml/2006/main">
              <a:ext uri="{FF2B5EF4-FFF2-40B4-BE49-F238E27FC236}">
                <a16:creationId xmlns:a16="http://schemas.microsoft.com/office/drawing/2014/main" id="{277AB89B-0977-4880-A97D-D7648C371A3B}"/>
              </a:ext>
            </a:extLst>
          </p:cNvPr>
          <p:cNvSpPr>
            <a:spLocks xmlns:a="http://schemas.openxmlformats.org/drawingml/2006/main" noGrp="1"/>
          </p:cNvSpPr>
          <p:nvPr/>
        </p:nvSpPr>
        <p:spPr>
          <a:xfrm xmlns:a="http://schemas.openxmlformats.org/drawingml/2006/main">
            <a:off x="1800225" y="3876675"/>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editable-current-powered-off">
            <a:extLst xmlns:a="http://schemas.openxmlformats.org/drawingml/2006/main">
              <a:ext uri="{FF2B5EF4-FFF2-40B4-BE49-F238E27FC236}">
                <a16:creationId xmlns:a16="http://schemas.microsoft.com/office/drawing/2014/main" id="{F7F48385-3BC4-475A-A935-67C101D814FB}"/>
              </a:ext>
            </a:extLst>
          </p:cNvPr>
          <p:cNvSpPr>
            <a:spLocks xmlns:a="http://schemas.openxmlformats.org/drawingml/2006/main" noGrp="1"/>
          </p:cNvSpPr>
          <p:nvPr/>
        </p:nvSpPr>
        <p:spPr>
          <a:xfrm xmlns:a="http://schemas.openxmlformats.org/drawingml/2006/main">
            <a:off x="1323975" y="40671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xmlns:a="http://schemas.openxmlformats.org/drawingml/2006/main">
              <a:ext uri="{FF2B5EF4-FFF2-40B4-BE49-F238E27FC236}">
                <a16:creationId xmlns:a16="http://schemas.microsoft.com/office/drawing/2014/main" id="{4F72CCE0-CF33-447A-9A99-12F0DB96E23B}"/>
              </a:ext>
            </a:extLst>
          </p:cNvPr>
          <p:cNvSpPr>
            <a:spLocks xmlns:a="http://schemas.openxmlformats.org/drawingml/2006/main" noGrp="1"/>
          </p:cNvSpPr>
          <p:nvPr/>
        </p:nvSpPr>
        <p:spPr>
          <a:xfrm xmlns:a="http://schemas.openxmlformats.org/drawingml/2006/main">
            <a:off x="1800225" y="40671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xmlns:a="http://schemas.openxmlformats.org/drawingml/2006/main">
              <a:ext uri="{FF2B5EF4-FFF2-40B4-BE49-F238E27FC236}">
                <a16:creationId xmlns:a16="http://schemas.microsoft.com/office/drawing/2014/main" id="{298F7E7A-D055-437F-B62D-B044692E6F88}"/>
              </a:ext>
            </a:extLst>
          </p:cNvPr>
          <p:cNvSpPr>
            <a:spLocks xmlns:a="http://schemas.openxmlformats.org/drawingml/2006/main" noGrp="1"/>
          </p:cNvSpPr>
          <p:nvPr/>
        </p:nvSpPr>
        <p:spPr>
          <a:xfrm xmlns:a="http://schemas.openxmlformats.org/drawingml/2006/main">
            <a:off x="400050" y="4486275"/>
            <a:ext cx="11334750" cy="1009650"/>
          </a:xfrm>
          <a:prstGeom xmlns:a="http://schemas.openxmlformats.org/drawingml/2006/main" prst="roundRect">
            <a:avLst>
              <a:gd name="adj" fmla="val 6604"/>
            </a:avLst>
          </a:prstGeom>
          <a:solidFill xmlns:a="http://schemas.openxmlformats.org/drawingml/2006/main">
            <a:srgbClr val="F3F7F5"/>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F92C2AB9-B877-4DDB-BCDD-C92BBFD94A50}"/>
              </a:ext>
            </a:extLst>
          </p:cNvPr>
          <p:cNvSpPr>
            <a:spLocks xmlns:a="http://schemas.openxmlformats.org/drawingml/2006/main" noGrp="1"/>
          </p:cNvSpPr>
          <p:nvPr/>
        </p:nvSpPr>
        <p:spPr>
          <a:xfrm xmlns:a="http://schemas.openxmlformats.org/drawingml/2006/main">
            <a:off x="400050" y="4486275"/>
            <a:ext cx="1819275" cy="1009650"/>
          </a:xfrm>
          <a:prstGeom xmlns:a="http://schemas.openxmlformats.org/drawingml/2006/main" prst="roundRect">
            <a:avLst>
              <a:gd name="adj" fmla="val 6604"/>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7D07B68-7D3B-4636-AEC8-6CB4A4FC4595}"/>
              </a:ext>
            </a:extLst>
          </p:cNvPr>
          <p:cNvSpPr>
            <a:spLocks xmlns:a="http://schemas.openxmlformats.org/drawingml/2006/main" noGrp="1"/>
          </p:cNvSpPr>
          <p:nvPr/>
        </p:nvSpPr>
        <p:spPr>
          <a:xfrm xmlns:a="http://schemas.openxmlformats.org/drawingml/2006/main">
            <a:off x="1447800" y="4486275"/>
            <a:ext cx="771525" cy="1009650"/>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8" name="Picture 124"/>
          <p:cNvPicPr>
            <a:picLocks xmlns:a="http://schemas.openxmlformats.org/drawingml/2006/main" noChangeAspect="1"/>
          </p:cNvPicPr>
          <p:nvPr/>
        </p:nvPicPr>
        <p:blipFill>
          <a:blip xmlns:r="http://schemas.openxmlformats.org/officeDocument/2006/relationships" xmlns:a="http://schemas.openxmlformats.org/drawingml/2006/main" r:embed="R3fee820e3672420d"/>
          <a:stretch xmlns:a="http://schemas.openxmlformats.org/drawingml/2006/main"/>
        </p:blipFill>
        <p:spPr>
          <a:xfrm xmlns:a="http://schemas.openxmlformats.org/drawingml/2006/main">
            <a:off x="1076325" y="4671030"/>
            <a:ext cx="476250" cy="468690"/>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135EB0C-DEDC-471B-8F07-A8F41F1E2D6A}"/>
              </a:ext>
            </a:extLst>
          </p:cNvPr>
          <p:cNvSpPr>
            <a:spLocks xmlns:a="http://schemas.openxmlformats.org/drawingml/2006/main" noGrp="1"/>
          </p:cNvSpPr>
          <p:nvPr/>
        </p:nvSpPr>
        <p:spPr>
          <a:xfrm xmlns:a="http://schemas.openxmlformats.org/drawingml/2006/main">
            <a:off x="666750" y="5162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Total Environment</a:t>
            </a:r>
          </a:p>
        </p:txBody>
      </p:sp>
      <p:sp>
        <p:nvSpPr>
          <p:cNvPr id="53" name="Straight Connector 52">
            <a:extLst xmlns:a="http://schemas.openxmlformats.org/drawingml/2006/main">
              <a:ext uri="{FF2B5EF4-FFF2-40B4-BE49-F238E27FC236}">
                <a16:creationId xmlns:a16="http://schemas.microsoft.com/office/drawing/2014/main" id="{6A04919F-C898-4046-9165-502C7FD7BAF0}"/>
              </a:ext>
            </a:extLst>
          </p:cNvPr>
          <p:cNvSpPr>
            <a:spLocks xmlns:a="http://schemas.openxmlformats.org/drawingml/2006/main" noGrp="1"/>
          </p:cNvSpPr>
          <p:nvPr/>
        </p:nvSpPr>
        <p:spPr>
          <a:xfrm xmlns:a="http://schemas.openxmlformats.org/drawingml/2006/main">
            <a:off x="46863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traight Connector 53">
            <a:extLst xmlns:a="http://schemas.openxmlformats.org/drawingml/2006/main">
              <a:ext uri="{FF2B5EF4-FFF2-40B4-BE49-F238E27FC236}">
                <a16:creationId xmlns:a16="http://schemas.microsoft.com/office/drawing/2014/main" id="{279DB36C-681C-4FD2-A588-9A4BF85211F2}"/>
              </a:ext>
            </a:extLst>
          </p:cNvPr>
          <p:cNvSpPr>
            <a:spLocks xmlns:a="http://schemas.openxmlformats.org/drawingml/2006/main" noGrp="1"/>
          </p:cNvSpPr>
          <p:nvPr/>
        </p:nvSpPr>
        <p:spPr>
          <a:xfrm xmlns:a="http://schemas.openxmlformats.org/drawingml/2006/main">
            <a:off x="702945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Straight Connector 54">
            <a:extLst xmlns:a="http://schemas.openxmlformats.org/drawingml/2006/main">
              <a:ext uri="{FF2B5EF4-FFF2-40B4-BE49-F238E27FC236}">
                <a16:creationId xmlns:a16="http://schemas.microsoft.com/office/drawing/2014/main" id="{C8F92710-B721-4F19-B1ED-A9D5B1B54C85}"/>
              </a:ext>
            </a:extLst>
          </p:cNvPr>
          <p:cNvSpPr>
            <a:spLocks xmlns:a="http://schemas.openxmlformats.org/drawingml/2006/main" noGrp="1"/>
          </p:cNvSpPr>
          <p:nvPr/>
        </p:nvSpPr>
        <p:spPr>
          <a:xfrm xmlns:a="http://schemas.openxmlformats.org/drawingml/2006/main">
            <a:off x="94869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347AE0DB-5FC1-4C08-A3B9-5D2E17AF0014}"/>
              </a:ext>
            </a:extLst>
          </p:cNvPr>
          <p:cNvSpPr>
            <a:spLocks xmlns:a="http://schemas.openxmlformats.org/drawingml/2006/main" noGrp="1"/>
          </p:cNvSpPr>
          <p:nvPr/>
        </p:nvSpPr>
        <p:spPr>
          <a:xfrm xmlns:a="http://schemas.openxmlformats.org/drawingml/2006/main">
            <a:off x="33432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editable-total-vms">
            <a:extLst xmlns:a="http://schemas.openxmlformats.org/drawingml/2006/main">
              <a:ext uri="{FF2B5EF4-FFF2-40B4-BE49-F238E27FC236}">
                <a16:creationId xmlns:a16="http://schemas.microsoft.com/office/drawing/2014/main" id="{51D8B33B-988C-462B-91B7-386F22B8BCA6}"/>
              </a:ext>
            </a:extLst>
          </p:cNvPr>
          <p:cNvSpPr>
            <a:spLocks xmlns:a="http://schemas.openxmlformats.org/drawingml/2006/main" noGrp="1"/>
          </p:cNvSpPr>
          <p:nvPr/>
        </p:nvSpPr>
        <p:spPr>
          <a:xfrm xmlns:a="http://schemas.openxmlformats.org/drawingml/2006/main">
            <a:off x="33432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45" name="Picture 131"/>
          <p:cNvPicPr>
            <a:picLocks xmlns:a="http://schemas.openxmlformats.org/drawingml/2006/main" noChangeAspect="1"/>
          </p:cNvPicPr>
          <p:nvPr/>
        </p:nvPicPr>
        <p:blipFill>
          <a:blip xmlns:r="http://schemas.openxmlformats.org/officeDocument/2006/relationships" xmlns:a="http://schemas.openxmlformats.org/drawingml/2006/main" r:embed="Rab1e09f8d9f64f88"/>
          <a:stretch xmlns:a="http://schemas.openxmlformats.org/drawingml/2006/main"/>
        </p:blipFill>
        <p:spPr>
          <a:xfrm xmlns:a="http://schemas.openxmlformats.org/drawingml/2006/main">
            <a:off x="2887742" y="4905375"/>
            <a:ext cx="396716" cy="323850"/>
          </a:xfrm>
          <a:prstGeom xmlns:a="http://schemas.openxmlformats.org/drawingml/2006/main" prst="rect">
            <a:avLst/>
          </a:prstGeom>
        </p:spPr>
      </p:pic>
      <p:sp>
        <p:nvSpPr>
          <p:cNvPr id="59" name="editable-total-powered-on">
            <a:extLst xmlns:a="http://schemas.openxmlformats.org/drawingml/2006/main">
              <a:ext uri="{FF2B5EF4-FFF2-40B4-BE49-F238E27FC236}">
                <a16:creationId xmlns:a16="http://schemas.microsoft.com/office/drawing/2014/main" id="{8DF81488-E310-4D2F-9D0F-A65D6E2C5976}"/>
              </a:ext>
            </a:extLst>
          </p:cNvPr>
          <p:cNvSpPr>
            <a:spLocks xmlns:a="http://schemas.openxmlformats.org/drawingml/2006/main" noGrp="1"/>
          </p:cNvSpPr>
          <p:nvPr/>
        </p:nvSpPr>
        <p:spPr>
          <a:xfrm xmlns:a="http://schemas.openxmlformats.org/drawingml/2006/main">
            <a:off x="3286125" y="5229225"/>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editable-total-powered-off">
            <a:extLst xmlns:a="http://schemas.openxmlformats.org/drawingml/2006/main">
              <a:ext uri="{FF2B5EF4-FFF2-40B4-BE49-F238E27FC236}">
                <a16:creationId xmlns:a16="http://schemas.microsoft.com/office/drawing/2014/main" id="{51FD95D0-64F2-4723-B4EF-3731265C852D}"/>
              </a:ext>
            </a:extLst>
          </p:cNvPr>
          <p:cNvSpPr>
            <a:spLocks xmlns:a="http://schemas.openxmlformats.org/drawingml/2006/main" noGrp="1"/>
          </p:cNvSpPr>
          <p:nvPr/>
        </p:nvSpPr>
        <p:spPr>
          <a:xfrm xmlns:a="http://schemas.openxmlformats.org/drawingml/2006/main">
            <a:off x="3286125" y="5391150"/>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xmlns:a="http://schemas.openxmlformats.org/drawingml/2006/main">
              <a:ext uri="{FF2B5EF4-FFF2-40B4-BE49-F238E27FC236}">
                <a16:creationId xmlns:a16="http://schemas.microsoft.com/office/drawing/2014/main" id="{9F4CC3CC-C30D-4DD3-B648-2B2F6B76145C}"/>
              </a:ext>
            </a:extLst>
          </p:cNvPr>
          <p:cNvSpPr>
            <a:spLocks xmlns:a="http://schemas.openxmlformats.org/drawingml/2006/main" noGrp="1"/>
          </p:cNvSpPr>
          <p:nvPr/>
        </p:nvSpPr>
        <p:spPr>
          <a:xfrm xmlns:a="http://schemas.openxmlformats.org/drawingml/2006/main">
            <a:off x="57435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editable-total-vcpus">
            <a:extLst xmlns:a="http://schemas.openxmlformats.org/drawingml/2006/main">
              <a:ext uri="{FF2B5EF4-FFF2-40B4-BE49-F238E27FC236}">
                <a16:creationId xmlns:a16="http://schemas.microsoft.com/office/drawing/2014/main" id="{E325BBAA-CE89-47A2-A7F4-5A715EE06FCB}"/>
              </a:ext>
            </a:extLst>
          </p:cNvPr>
          <p:cNvSpPr>
            <a:spLocks xmlns:a="http://schemas.openxmlformats.org/drawingml/2006/main" noGrp="1"/>
          </p:cNvSpPr>
          <p:nvPr/>
        </p:nvSpPr>
        <p:spPr>
          <a:xfrm xmlns:a="http://schemas.openxmlformats.org/drawingml/2006/main">
            <a:off x="57435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50" name="Picture 136"/>
          <p:cNvPicPr>
            <a:picLocks xmlns:a="http://schemas.openxmlformats.org/drawingml/2006/main" noChangeAspect="1"/>
          </p:cNvPicPr>
          <p:nvPr/>
        </p:nvPicPr>
        <p:blipFill>
          <a:blip xmlns:r="http://schemas.openxmlformats.org/officeDocument/2006/relationships" xmlns:a="http://schemas.openxmlformats.org/drawingml/2006/main" r:embed="R46b4b6bbed0d4457"/>
          <a:stretch xmlns:a="http://schemas.openxmlformats.org/drawingml/2006/main"/>
        </p:blipFill>
        <p:spPr>
          <a:xfrm xmlns:a="http://schemas.openxmlformats.org/drawingml/2006/main">
            <a:off x="5190898" y="4905375"/>
            <a:ext cx="362404" cy="3238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E2B940B4-7B6B-4837-992C-0BD50611487D}"/>
              </a:ext>
            </a:extLst>
          </p:cNvPr>
          <p:cNvSpPr>
            <a:spLocks xmlns:a="http://schemas.openxmlformats.org/drawingml/2006/main" noGrp="1"/>
          </p:cNvSpPr>
          <p:nvPr/>
        </p:nvSpPr>
        <p:spPr>
          <a:xfrm xmlns:a="http://schemas.openxmlformats.org/drawingml/2006/main">
            <a:off x="8048625" y="47148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editable-total-vram">
            <a:extLst xmlns:a="http://schemas.openxmlformats.org/drawingml/2006/main">
              <a:ext uri="{FF2B5EF4-FFF2-40B4-BE49-F238E27FC236}">
                <a16:creationId xmlns:a16="http://schemas.microsoft.com/office/drawing/2014/main" id="{56B58190-EEA5-42BC-BCEE-C9F09864DABB}"/>
              </a:ext>
            </a:extLst>
          </p:cNvPr>
          <p:cNvSpPr>
            <a:spLocks xmlns:a="http://schemas.openxmlformats.org/drawingml/2006/main" noGrp="1"/>
          </p:cNvSpPr>
          <p:nvPr/>
        </p:nvSpPr>
        <p:spPr>
          <a:xfrm xmlns:a="http://schemas.openxmlformats.org/drawingml/2006/main">
            <a:off x="8048625" y="4972050"/>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53" name="Picture 139"/>
          <p:cNvPicPr>
            <a:picLocks xmlns:a="http://schemas.openxmlformats.org/drawingml/2006/main" noChangeAspect="1"/>
          </p:cNvPicPr>
          <p:nvPr/>
        </p:nvPicPr>
        <p:blipFill>
          <a:blip xmlns:r="http://schemas.openxmlformats.org/officeDocument/2006/relationships" xmlns:a="http://schemas.openxmlformats.org/drawingml/2006/main" r:embed="Rdc3eca1e357c4a04"/>
          <a:stretch xmlns:a="http://schemas.openxmlformats.org/drawingml/2006/main"/>
        </p:blipFill>
        <p:spPr>
          <a:xfrm xmlns:a="http://schemas.openxmlformats.org/drawingml/2006/main">
            <a:off x="7477125" y="4907280"/>
            <a:ext cx="400050" cy="320040"/>
          </a:xfrm>
          <a:prstGeom xmlns:a="http://schemas.openxmlformats.org/drawingml/2006/main" prst="rect">
            <a:avLst/>
          </a:prstGeom>
        </p:spPr>
      </p:pic>
      <p:sp>
        <p:nvSpPr>
          <p:cNvPr id="67" name="Rectangle 66">
            <a:extLst xmlns:a="http://schemas.openxmlformats.org/drawingml/2006/main">
              <a:ext uri="{FF2B5EF4-FFF2-40B4-BE49-F238E27FC236}">
                <a16:creationId xmlns:a16="http://schemas.microsoft.com/office/drawing/2014/main" id="{BA2E8F4D-19EC-4045-BD00-D33C490582FA}"/>
              </a:ext>
            </a:extLst>
          </p:cNvPr>
          <p:cNvSpPr>
            <a:spLocks xmlns:a="http://schemas.openxmlformats.org/drawingml/2006/main" noGrp="1"/>
          </p:cNvSpPr>
          <p:nvPr/>
        </p:nvSpPr>
        <p:spPr>
          <a:xfrm xmlns:a="http://schemas.openxmlformats.org/drawingml/2006/main">
            <a:off x="10306050" y="4714875"/>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editable-total-storage">
            <a:extLst xmlns:a="http://schemas.openxmlformats.org/drawingml/2006/main">
              <a:ext uri="{FF2B5EF4-FFF2-40B4-BE49-F238E27FC236}">
                <a16:creationId xmlns:a16="http://schemas.microsoft.com/office/drawing/2014/main" id="{53CE7ECC-6CED-4750-B06E-332986EBDB45}"/>
              </a:ext>
            </a:extLst>
          </p:cNvPr>
          <p:cNvSpPr>
            <a:spLocks xmlns:a="http://schemas.openxmlformats.org/drawingml/2006/main" noGrp="1"/>
          </p:cNvSpPr>
          <p:nvPr/>
        </p:nvSpPr>
        <p:spPr>
          <a:xfrm xmlns:a="http://schemas.openxmlformats.org/drawingml/2006/main">
            <a:off x="10306050" y="4972050"/>
            <a:ext cx="1504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56" name="Picture 142"/>
          <p:cNvPicPr>
            <a:picLocks xmlns:a="http://schemas.openxmlformats.org/drawingml/2006/main" noChangeAspect="1"/>
          </p:cNvPicPr>
          <p:nvPr/>
        </p:nvPicPr>
        <p:blipFill>
          <a:blip xmlns:r="http://schemas.openxmlformats.org/officeDocument/2006/relationships" xmlns:a="http://schemas.openxmlformats.org/drawingml/2006/main" r:embed="R1792f9e5af024163"/>
          <a:stretch xmlns:a="http://schemas.openxmlformats.org/drawingml/2006/main"/>
        </p:blipFill>
        <p:spPr>
          <a:xfrm xmlns:a="http://schemas.openxmlformats.org/drawingml/2006/main">
            <a:off x="9960531" y="4905375"/>
            <a:ext cx="348139" cy="323850"/>
          </a:xfrm>
          <a:prstGeom xmlns:a="http://schemas.openxmlformats.org/drawingml/2006/main" prst="rect">
            <a:avLst/>
          </a:prstGeom>
        </p:spPr>
      </p:pic>
      <p:sp>
        <p:nvSpPr>
          <p:cNvPr id="70" name="Rounded Rectangle 69">
            <a:extLst xmlns:a="http://schemas.openxmlformats.org/drawingml/2006/main">
              <a:ext uri="{FF2B5EF4-FFF2-40B4-BE49-F238E27FC236}">
                <a16:creationId xmlns:a16="http://schemas.microsoft.com/office/drawing/2014/main" id="{B6E9607F-C2EC-477A-BAF6-C5E067CAF87D}"/>
              </a:ext>
            </a:extLst>
          </p:cNvPr>
          <p:cNvSpPr>
            <a:spLocks xmlns:a="http://schemas.openxmlformats.org/drawingml/2006/main" noGrp="1"/>
          </p:cNvSpPr>
          <p:nvPr/>
        </p:nvSpPr>
        <p:spPr>
          <a:xfrm xmlns:a="http://schemas.openxmlformats.org/drawingml/2006/main">
            <a:off x="400050" y="5734050"/>
            <a:ext cx="113347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8" name="Picture 144"/>
          <p:cNvPicPr>
            <a:picLocks xmlns:a="http://schemas.openxmlformats.org/drawingml/2006/main" noChangeAspect="1"/>
          </p:cNvPicPr>
          <p:nvPr/>
        </p:nvPicPr>
        <p:blipFill>
          <a:blip xmlns:r="http://schemas.openxmlformats.org/officeDocument/2006/relationships" xmlns:a="http://schemas.openxmlformats.org/drawingml/2006/main" r:embed="R42d036f9283d4dec"/>
          <a:stretch xmlns:a="http://schemas.openxmlformats.org/drawingml/2006/main"/>
        </p:blipFill>
        <p:spPr>
          <a:xfrm xmlns:a="http://schemas.openxmlformats.org/drawingml/2006/main">
            <a:off x="632416" y="5838825"/>
            <a:ext cx="316319" cy="323850"/>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C928459C-9AA2-4970-83C9-66B7F0DEE5BA}"/>
              </a:ext>
            </a:extLst>
          </p:cNvPr>
          <p:cNvSpPr>
            <a:spLocks xmlns:a="http://schemas.openxmlformats.org/drawingml/2006/main" noGrp="1"/>
          </p:cNvSpPr>
          <p:nvPr/>
        </p:nvSpPr>
        <p:spPr>
          <a:xfrm xmlns:a="http://schemas.openxmlformats.org/drawingml/2006/main">
            <a:off x="1085850" y="59340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xmlns:a="http://schemas.openxmlformats.org/drawingml/2006/main">
              <a:ext uri="{FF2B5EF4-FFF2-40B4-BE49-F238E27FC236}">
                <a16:creationId xmlns:a16="http://schemas.microsoft.com/office/drawing/2014/main" id="{B0FDF0E8-75F0-4E20-AB65-98949A664606}"/>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61" name="Picture 147"/>
          <p:cNvPicPr>
            <a:picLocks xmlns:a="http://schemas.openxmlformats.org/drawingml/2006/main" noChangeAspect="1"/>
          </p:cNvPicPr>
          <p:nvPr/>
        </p:nvPicPr>
        <p:blipFill>
          <a:blip xmlns:r="http://schemas.openxmlformats.org/officeDocument/2006/relationships" xmlns:a="http://schemas.openxmlformats.org/drawingml/2006/main" r:embed="R60c3d57624494957"/>
          <a:stretch xmlns:a="http://schemas.openxmlformats.org/drawingml/2006/main"/>
        </p:blipFill>
        <p:spPr>
          <a:xfrm xmlns:a="http://schemas.openxmlformats.org/drawingml/2006/main">
            <a:off x="11382375" y="6459855"/>
            <a:ext cx="419100" cy="396240"/>
          </a:xfrm>
          <a:prstGeom xmlns:a="http://schemas.openxmlformats.org/drawingml/2006/main" prst="rect">
            <a:avLst/>
          </a:prstGeom>
        </p:spPr>
      </p:pic>
    </p:spTree>
    <p:extLst>
      <p:ext uri="{BB962C8B-B14F-4D97-AF65-F5344CB8AC3E}">
        <p14:creationId xmlns:p14="http://schemas.microsoft.com/office/powerpoint/2010/main" val="1621222433"/>
      </p:ext>
    </p:extLst>
  </p:cSld>
</p:sld>
</file>

<file path=ppt/slides/slide5.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65" name="Oval 64">
            <a:extLst xmlns:a="http://schemas.openxmlformats.org/drawingml/2006/main">
              <a:ext uri="{FF2B5EF4-FFF2-40B4-BE49-F238E27FC236}">
                <a16:creationId xmlns:a16="http://schemas.microsoft.com/office/drawing/2014/main" id="{903C0CCB-6C32-4383-BD8E-369B89B3B108}"/>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B7552526-EDFC-4FEC-8429-83B0C3678D1B}"/>
              </a:ext>
            </a:extLst>
          </p:cNvPr>
          <p:cNvSpPr>
            <a:spLocks xmlns:a="http://schemas.openxmlformats.org/drawingml/2006/main" noGrp="1"/>
          </p:cNvSpPr>
          <p:nvPr/>
        </p:nvSpPr>
        <p:spPr>
          <a:xfrm xmlns:a="http://schemas.openxmlformats.org/drawingml/2006/main">
            <a:off x="4495800"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B1DA383F-3F21-4112-BBDC-0AB1B2A8C67B}"/>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20059669-08BE-4709-8AB5-5D775C69905A}"/>
              </a:ext>
            </a:extLst>
          </p:cNvPr>
          <p:cNvSpPr>
            <a:spLocks xmlns:a="http://schemas.openxmlformats.org/drawingml/2006/main" noGrp="1"/>
          </p:cNvSpPr>
          <p:nvPr/>
        </p:nvSpPr>
        <p:spPr>
          <a:xfrm xmlns:a="http://schemas.openxmlformats.org/drawingml/2006/main">
            <a:off x="5810250" y="8667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7DF4C908-95C0-454C-90C3-9D496D1DDD44}"/>
              </a:ext>
            </a:extLst>
          </p:cNvPr>
          <p:cNvSpPr>
            <a:spLocks xmlns:a="http://schemas.openxmlformats.org/drawingml/2006/main" noGrp="1"/>
          </p:cNvSpPr>
          <p:nvPr/>
        </p:nvSpPr>
        <p:spPr>
          <a:xfrm xmlns:a="http://schemas.openxmlformats.org/drawingml/2006/main">
            <a:off x="11306175" y="6667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2AFBF0C-6A20-4CF1-81BA-ACD71ECCA01D}"/>
              </a:ext>
            </a:extLst>
          </p:cNvPr>
          <p:cNvSpPr>
            <a:spLocks xmlns:a="http://schemas.openxmlformats.org/drawingml/2006/main" noGrp="1"/>
          </p:cNvSpPr>
          <p:nvPr/>
        </p:nvSpPr>
        <p:spPr>
          <a:xfrm xmlns:a="http://schemas.openxmlformats.org/drawingml/2006/main">
            <a:off x="11801475" y="7143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8A1E2B4B-12C6-4379-BB5F-CD7BD45CDC67}"/>
              </a:ext>
            </a:extLst>
          </p:cNvPr>
          <p:cNvSpPr>
            <a:spLocks xmlns:a="http://schemas.openxmlformats.org/drawingml/2006/main" noGrp="1"/>
          </p:cNvSpPr>
          <p:nvPr/>
        </p:nvSpPr>
        <p:spPr>
          <a:xfrm xmlns:a="http://schemas.openxmlformats.org/drawingml/2006/main">
            <a:off x="4972050" y="33718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392CB55E-0957-4BA5-9E15-5C689F4C062B}"/>
              </a:ext>
            </a:extLst>
          </p:cNvPr>
          <p:cNvSpPr>
            <a:spLocks xmlns:a="http://schemas.openxmlformats.org/drawingml/2006/main" noGrp="1"/>
          </p:cNvSpPr>
          <p:nvPr/>
        </p:nvSpPr>
        <p:spPr>
          <a:xfrm xmlns:a="http://schemas.openxmlformats.org/drawingml/2006/main">
            <a:off x="12020550" y="63531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3CED1F2-9B01-4DEB-8205-9F726CA98EFC}"/>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0CD4014B-8B32-4715-85BA-46C6B837B943}"/>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90" name="Picture 74"/>
          <p:cNvPicPr>
            <a:picLocks xmlns:a="http://schemas.openxmlformats.org/drawingml/2006/main" noChangeAspect="1"/>
          </p:cNvPicPr>
          <p:nvPr/>
        </p:nvPicPr>
        <p:blipFill>
          <a:blip xmlns:r="http://schemas.openxmlformats.org/officeDocument/2006/relationships" xmlns:a="http://schemas.openxmlformats.org/drawingml/2006/main" r:embed="R6e81db66924e4b2a"/>
          <a:stretch xmlns:a="http://schemas.openxmlformats.org/drawingml/2006/main"/>
        </p:blipFill>
        <p:spPr>
          <a:xfrm xmlns:a="http://schemas.openxmlformats.org/drawingml/2006/main">
            <a:off x="342900" y="266700"/>
            <a:ext cx="1876425" cy="5238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441D191A-36BA-4DDF-9CD4-DD0DD4AEEDDC}"/>
              </a:ext>
            </a:extLst>
          </p:cNvPr>
          <p:cNvSpPr>
            <a:spLocks xmlns:a="http://schemas.openxmlformats.org/drawingml/2006/main" noGrp="1"/>
          </p:cNvSpPr>
          <p:nvPr/>
        </p:nvSpPr>
        <p:spPr>
          <a:xfrm xmlns:a="http://schemas.openxmlformats.org/drawingml/2006/main">
            <a:off x="352425" y="12001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Infrastructure Sizing Summary</a:t>
            </a:r>
          </a:p>
        </p:txBody>
      </p:sp>
      <p:sp>
        <p:nvSpPr>
          <p:cNvPr id="13" name="Rectangle 12">
            <a:extLst xmlns:a="http://schemas.openxmlformats.org/drawingml/2006/main">
              <a:ext uri="{FF2B5EF4-FFF2-40B4-BE49-F238E27FC236}">
                <a16:creationId xmlns:a16="http://schemas.microsoft.com/office/drawing/2014/main" id="{A3B2E046-C85F-4A39-BEEF-139B34452E9C}"/>
              </a:ext>
            </a:extLst>
          </p:cNvPr>
          <p:cNvSpPr>
            <a:spLocks xmlns:a="http://schemas.openxmlformats.org/drawingml/2006/main" noGrp="1"/>
          </p:cNvSpPr>
          <p:nvPr/>
        </p:nvSpPr>
        <p:spPr>
          <a:xfrm xmlns:a="http://schemas.openxmlformats.org/drawingml/2006/main">
            <a:off x="352425" y="165735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5DD4476-54EB-446C-A8D2-4D5A415824F4}"/>
              </a:ext>
            </a:extLst>
          </p:cNvPr>
          <p:cNvSpPr>
            <a:spLocks xmlns:a="http://schemas.openxmlformats.org/drawingml/2006/main" noGrp="1"/>
          </p:cNvSpPr>
          <p:nvPr/>
        </p:nvSpPr>
        <p:spPr>
          <a:xfrm xmlns:a="http://schemas.openxmlformats.org/drawingml/2006/main">
            <a:off x="352425" y="1876425"/>
            <a:ext cx="6286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The following architecture on Oracle Cloud VMware Solution (OCVS) has been designed</a:t>
            </a:r>
          </a:p>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to support the customer's current environment with room for future growth.</a:t>
            </a:r>
          </a:p>
        </p:txBody>
      </p:sp>
      <p:sp>
        <p:nvSpPr>
          <p:cNvPr id="15" name="Rounded Rectangle 14">
            <a:extLst xmlns:a="http://schemas.openxmlformats.org/drawingml/2006/main">
              <a:ext uri="{FF2B5EF4-FFF2-40B4-BE49-F238E27FC236}">
                <a16:creationId xmlns:a16="http://schemas.microsoft.com/office/drawing/2014/main" id="{63B7720D-CE76-4909-8B22-13176D9406FD}"/>
              </a:ext>
            </a:extLst>
          </p:cNvPr>
          <p:cNvSpPr>
            <a:spLocks xmlns:a="http://schemas.openxmlformats.org/drawingml/2006/main" noGrp="1"/>
          </p:cNvSpPr>
          <p:nvPr/>
        </p:nvSpPr>
        <p:spPr>
          <a:xfrm xmlns:a="http://schemas.openxmlformats.org/drawingml/2006/main">
            <a:off x="361950" y="2600325"/>
            <a:ext cx="4572000"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0DF6C480-65BB-494C-9EC9-69955CD78592}"/>
              </a:ext>
            </a:extLst>
          </p:cNvPr>
          <p:cNvSpPr>
            <a:spLocks xmlns:a="http://schemas.openxmlformats.org/drawingml/2006/main" noGrp="1"/>
          </p:cNvSpPr>
          <p:nvPr/>
        </p:nvSpPr>
        <p:spPr>
          <a:xfrm xmlns:a="http://schemas.openxmlformats.org/drawingml/2006/main">
            <a:off x="361950" y="2600325"/>
            <a:ext cx="4572000"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79235A43-973B-49B6-A560-C27C9DB572AA}"/>
              </a:ext>
            </a:extLst>
          </p:cNvPr>
          <p:cNvSpPr>
            <a:spLocks xmlns:a="http://schemas.openxmlformats.org/drawingml/2006/main" noGrp="1"/>
          </p:cNvSpPr>
          <p:nvPr/>
        </p:nvSpPr>
        <p:spPr>
          <a:xfrm xmlns:a="http://schemas.openxmlformats.org/drawingml/2006/main">
            <a:off x="361950" y="2876550"/>
            <a:ext cx="4572000"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97" name="Picture 81"/>
          <p:cNvPicPr>
            <a:picLocks xmlns:a="http://schemas.openxmlformats.org/drawingml/2006/main" noChangeAspect="1"/>
          </p:cNvPicPr>
          <p:nvPr/>
        </p:nvPicPr>
        <p:blipFill>
          <a:blip xmlns:r="http://schemas.openxmlformats.org/officeDocument/2006/relationships" xmlns:a="http://schemas.openxmlformats.org/drawingml/2006/main" r:embed="Re69ff2b4db8e4c84"/>
          <a:stretch xmlns:a="http://schemas.openxmlformats.org/drawingml/2006/main"/>
        </p:blipFill>
        <p:spPr>
          <a:xfrm xmlns:a="http://schemas.openxmlformats.org/drawingml/2006/main">
            <a:off x="604647" y="2676525"/>
            <a:ext cx="219456" cy="228600"/>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84BF706F-C741-4C7C-970A-E6742E5CFC29}"/>
              </a:ext>
            </a:extLst>
          </p:cNvPr>
          <p:cNvSpPr>
            <a:spLocks xmlns:a="http://schemas.openxmlformats.org/drawingml/2006/main" noGrp="1"/>
          </p:cNvSpPr>
          <p:nvPr/>
        </p:nvSpPr>
        <p:spPr>
          <a:xfrm xmlns:a="http://schemas.openxmlformats.org/drawingml/2006/main">
            <a:off x="962025"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Proposed Architecture</a:t>
            </a:r>
          </a:p>
        </p:txBody>
      </p:sp>
      <p:pic>
        <p:nvPicPr>
          <p:cNvPr id="99" name="Picture 83"/>
          <p:cNvPicPr>
            <a:picLocks xmlns:a="http://schemas.openxmlformats.org/drawingml/2006/main" noChangeAspect="1"/>
          </p:cNvPicPr>
          <p:nvPr/>
        </p:nvPicPr>
        <p:blipFill>
          <a:blip xmlns:r="http://schemas.openxmlformats.org/officeDocument/2006/relationships" xmlns:a="http://schemas.openxmlformats.org/drawingml/2006/main" r:embed="Re1fb9c925e3c4268"/>
          <a:stretch xmlns:a="http://schemas.openxmlformats.org/drawingml/2006/main"/>
        </p:blipFill>
        <p:spPr>
          <a:xfrm xmlns:a="http://schemas.openxmlformats.org/drawingml/2006/main">
            <a:off x="600075" y="3098346"/>
            <a:ext cx="304800" cy="261257"/>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509699EE-677C-42DF-8083-4185311A3D1D}"/>
              </a:ext>
            </a:extLst>
          </p:cNvPr>
          <p:cNvSpPr>
            <a:spLocks xmlns:a="http://schemas.openxmlformats.org/drawingml/2006/main" noGrp="1"/>
          </p:cNvSpPr>
          <p:nvPr/>
        </p:nvSpPr>
        <p:spPr>
          <a:xfrm xmlns:a="http://schemas.openxmlformats.org/drawingml/2006/main">
            <a:off x="1095375" y="3143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SDDCs</a:t>
            </a:r>
          </a:p>
        </p:txBody>
      </p:sp>
      <p:sp>
        <p:nvSpPr>
          <p:cNvPr id="22" name="editable-ocvs-sddcs">
            <a:extLst xmlns:a="http://schemas.openxmlformats.org/drawingml/2006/main">
              <a:ext uri="{FF2B5EF4-FFF2-40B4-BE49-F238E27FC236}">
                <a16:creationId xmlns:a16="http://schemas.microsoft.com/office/drawing/2014/main" id="{EA0CDC46-31BA-4F3B-B2F7-0CD1DB4E4ACD}"/>
              </a:ext>
            </a:extLst>
          </p:cNvPr>
          <p:cNvSpPr>
            <a:spLocks xmlns:a="http://schemas.openxmlformats.org/drawingml/2006/main" noGrp="1"/>
          </p:cNvSpPr>
          <p:nvPr/>
        </p:nvSpPr>
        <p:spPr>
          <a:xfrm xmlns:a="http://schemas.openxmlformats.org/drawingml/2006/main">
            <a:off x="2714625" y="31432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3" name="Straight Connector 22">
            <a:extLst xmlns:a="http://schemas.openxmlformats.org/drawingml/2006/main">
              <a:ext uri="{FF2B5EF4-FFF2-40B4-BE49-F238E27FC236}">
                <a16:creationId xmlns:a16="http://schemas.microsoft.com/office/drawing/2014/main" id="{C28279BA-06DE-441C-B66F-073288F09C70}"/>
              </a:ext>
            </a:extLst>
          </p:cNvPr>
          <p:cNvSpPr>
            <a:spLocks xmlns:a="http://schemas.openxmlformats.org/drawingml/2006/main" noGrp="1"/>
          </p:cNvSpPr>
          <p:nvPr/>
        </p:nvSpPr>
        <p:spPr>
          <a:xfrm xmlns:a="http://schemas.openxmlformats.org/drawingml/2006/main">
            <a:off x="971550" y="33909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3" name="Picture 87"/>
          <p:cNvPicPr>
            <a:picLocks xmlns:a="http://schemas.openxmlformats.org/drawingml/2006/main" noChangeAspect="1"/>
          </p:cNvPicPr>
          <p:nvPr/>
        </p:nvPicPr>
        <p:blipFill>
          <a:blip xmlns:r="http://schemas.openxmlformats.org/officeDocument/2006/relationships" xmlns:a="http://schemas.openxmlformats.org/drawingml/2006/main" r:embed="Rdee431b61df54ed4"/>
          <a:stretch xmlns:a="http://schemas.openxmlformats.org/drawingml/2006/main"/>
        </p:blipFill>
        <p:spPr>
          <a:xfrm xmlns:a="http://schemas.openxmlformats.org/drawingml/2006/main">
            <a:off x="628015" y="3495675"/>
            <a:ext cx="248920" cy="266700"/>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256F7DCC-DF91-4471-A4FF-4A3AD34D84C7}"/>
              </a:ext>
            </a:extLst>
          </p:cNvPr>
          <p:cNvSpPr>
            <a:spLocks xmlns:a="http://schemas.openxmlformats.org/drawingml/2006/main" noGrp="1"/>
          </p:cNvSpPr>
          <p:nvPr/>
        </p:nvSpPr>
        <p:spPr>
          <a:xfrm xmlns:a="http://schemas.openxmlformats.org/drawingml/2006/main">
            <a:off x="1095375" y="3543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Clusters</a:t>
            </a:r>
          </a:p>
        </p:txBody>
      </p:sp>
      <p:sp>
        <p:nvSpPr>
          <p:cNvPr id="26" name="editable-ocvs-clusters">
            <a:extLst xmlns:a="http://schemas.openxmlformats.org/drawingml/2006/main">
              <a:ext uri="{FF2B5EF4-FFF2-40B4-BE49-F238E27FC236}">
                <a16:creationId xmlns:a16="http://schemas.microsoft.com/office/drawing/2014/main" id="{3732A7B4-3A88-4F3B-85BE-10458DDFFC15}"/>
              </a:ext>
            </a:extLst>
          </p:cNvPr>
          <p:cNvSpPr>
            <a:spLocks xmlns:a="http://schemas.openxmlformats.org/drawingml/2006/main" noGrp="1"/>
          </p:cNvSpPr>
          <p:nvPr/>
        </p:nvSpPr>
        <p:spPr>
          <a:xfrm xmlns:a="http://schemas.openxmlformats.org/drawingml/2006/main">
            <a:off x="2714625" y="3543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7" name="Straight Connector 26">
            <a:extLst xmlns:a="http://schemas.openxmlformats.org/drawingml/2006/main">
              <a:ext uri="{FF2B5EF4-FFF2-40B4-BE49-F238E27FC236}">
                <a16:creationId xmlns:a16="http://schemas.microsoft.com/office/drawing/2014/main" id="{FBF22472-0225-4133-8415-2EA7ECD90EFA}"/>
              </a:ext>
            </a:extLst>
          </p:cNvPr>
          <p:cNvSpPr>
            <a:spLocks xmlns:a="http://schemas.openxmlformats.org/drawingml/2006/main" noGrp="1"/>
          </p:cNvSpPr>
          <p:nvPr/>
        </p:nvSpPr>
        <p:spPr>
          <a:xfrm xmlns:a="http://schemas.openxmlformats.org/drawingml/2006/main">
            <a:off x="971550" y="3790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7" name="Picture 91"/>
          <p:cNvPicPr>
            <a:picLocks xmlns:a="http://schemas.openxmlformats.org/drawingml/2006/main" noChangeAspect="1"/>
          </p:cNvPicPr>
          <p:nvPr/>
        </p:nvPicPr>
        <p:blipFill>
          <a:blip xmlns:r="http://schemas.openxmlformats.org/officeDocument/2006/relationships" xmlns:a="http://schemas.openxmlformats.org/drawingml/2006/main" r:embed="Ra7a6addba783413c"/>
          <a:stretch xmlns:a="http://schemas.openxmlformats.org/drawingml/2006/main"/>
        </p:blipFill>
        <p:spPr>
          <a:xfrm xmlns:a="http://schemas.openxmlformats.org/drawingml/2006/main">
            <a:off x="619125" y="3876675"/>
            <a:ext cx="266700" cy="266700"/>
          </a:xfrm>
          <a:prstGeom xmlns:a="http://schemas.openxmlformats.org/drawingml/2006/main" prst="rect">
            <a:avLst/>
          </a:prstGeom>
        </p:spPr>
      </p:pic>
      <p:sp>
        <p:nvSpPr>
          <p:cNvPr id="29" name="Rectangle 28">
            <a:extLst xmlns:a="http://schemas.openxmlformats.org/drawingml/2006/main">
              <a:ext uri="{FF2B5EF4-FFF2-40B4-BE49-F238E27FC236}">
                <a16:creationId xmlns:a16="http://schemas.microsoft.com/office/drawing/2014/main" id="{92EBD8D0-6200-44BB-B234-8E0C2461857E}"/>
              </a:ext>
            </a:extLst>
          </p:cNvPr>
          <p:cNvSpPr>
            <a:spLocks xmlns:a="http://schemas.openxmlformats.org/drawingml/2006/main" noGrp="1"/>
          </p:cNvSpPr>
          <p:nvPr/>
        </p:nvSpPr>
        <p:spPr>
          <a:xfrm xmlns:a="http://schemas.openxmlformats.org/drawingml/2006/main">
            <a:off x="1095375" y="3924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Hosts</a:t>
            </a:r>
          </a:p>
        </p:txBody>
      </p:sp>
      <p:sp>
        <p:nvSpPr>
          <p:cNvPr id="30" name="editable-ocvs-hosts">
            <a:extLst xmlns:a="http://schemas.openxmlformats.org/drawingml/2006/main">
              <a:ext uri="{FF2B5EF4-FFF2-40B4-BE49-F238E27FC236}">
                <a16:creationId xmlns:a16="http://schemas.microsoft.com/office/drawing/2014/main" id="{8BCBCBFE-8FBA-4B24-AE05-54385D787A82}"/>
              </a:ext>
            </a:extLst>
          </p:cNvPr>
          <p:cNvSpPr>
            <a:spLocks xmlns:a="http://schemas.openxmlformats.org/drawingml/2006/main" noGrp="1"/>
          </p:cNvSpPr>
          <p:nvPr/>
        </p:nvSpPr>
        <p:spPr>
          <a:xfrm xmlns:a="http://schemas.openxmlformats.org/drawingml/2006/main">
            <a:off x="2714625" y="3924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4</a:t>
            </a:r>
          </a:p>
        </p:txBody>
      </p:sp>
      <p:sp>
        <p:nvSpPr>
          <p:cNvPr id="31" name="Straight Connector 30">
            <a:extLst xmlns:a="http://schemas.openxmlformats.org/drawingml/2006/main">
              <a:ext uri="{FF2B5EF4-FFF2-40B4-BE49-F238E27FC236}">
                <a16:creationId xmlns:a16="http://schemas.microsoft.com/office/drawing/2014/main" id="{97B67929-BE78-46B8-BE26-E454604B77F2}"/>
              </a:ext>
            </a:extLst>
          </p:cNvPr>
          <p:cNvSpPr>
            <a:spLocks xmlns:a="http://schemas.openxmlformats.org/drawingml/2006/main" noGrp="1"/>
          </p:cNvSpPr>
          <p:nvPr/>
        </p:nvSpPr>
        <p:spPr>
          <a:xfrm xmlns:a="http://schemas.openxmlformats.org/drawingml/2006/main">
            <a:off x="971550" y="4171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1" name="Picture 95"/>
          <p:cNvPicPr>
            <a:picLocks xmlns:a="http://schemas.openxmlformats.org/drawingml/2006/main" noChangeAspect="1"/>
          </p:cNvPicPr>
          <p:nvPr/>
        </p:nvPicPr>
        <p:blipFill>
          <a:blip xmlns:r="http://schemas.openxmlformats.org/officeDocument/2006/relationships" xmlns:a="http://schemas.openxmlformats.org/drawingml/2006/main" r:embed="Ree66ecd990dc4597"/>
          <a:stretch xmlns:a="http://schemas.openxmlformats.org/drawingml/2006/main"/>
        </p:blipFill>
        <p:spPr>
          <a:xfrm xmlns:a="http://schemas.openxmlformats.org/drawingml/2006/main">
            <a:off x="619125" y="4267200"/>
            <a:ext cx="26670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611C5C49-7C43-4926-A4CD-0D62BD0CA685}"/>
              </a:ext>
            </a:extLst>
          </p:cNvPr>
          <p:cNvSpPr>
            <a:spLocks xmlns:a="http://schemas.openxmlformats.org/drawingml/2006/main" noGrp="1"/>
          </p:cNvSpPr>
          <p:nvPr/>
        </p:nvSpPr>
        <p:spPr>
          <a:xfrm xmlns:a="http://schemas.openxmlformats.org/drawingml/2006/main">
            <a:off x="1095375" y="43148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Shape</a:t>
            </a:r>
          </a:p>
        </p:txBody>
      </p:sp>
      <p:sp>
        <p:nvSpPr>
          <p:cNvPr id="34" name="editable-ocvs-shape">
            <a:extLst xmlns:a="http://schemas.openxmlformats.org/drawingml/2006/main">
              <a:ext uri="{FF2B5EF4-FFF2-40B4-BE49-F238E27FC236}">
                <a16:creationId xmlns:a16="http://schemas.microsoft.com/office/drawing/2014/main" id="{9DB25AF8-EA9B-43F4-A3C2-ED13FE3B18C4}"/>
              </a:ext>
            </a:extLst>
          </p:cNvPr>
          <p:cNvSpPr>
            <a:spLocks xmlns:a="http://schemas.openxmlformats.org/drawingml/2006/main" noGrp="1"/>
          </p:cNvSpPr>
          <p:nvPr/>
        </p:nvSpPr>
        <p:spPr>
          <a:xfrm xmlns:a="http://schemas.openxmlformats.org/drawingml/2006/main">
            <a:off x="2714625" y="431482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AMD E4</a:t>
            </a:r>
          </a:p>
        </p:txBody>
      </p:sp>
      <p:sp>
        <p:nvSpPr>
          <p:cNvPr id="35" name="Straight Connector 34">
            <a:extLst xmlns:a="http://schemas.openxmlformats.org/drawingml/2006/main">
              <a:ext uri="{FF2B5EF4-FFF2-40B4-BE49-F238E27FC236}">
                <a16:creationId xmlns:a16="http://schemas.microsoft.com/office/drawing/2014/main" id="{174C5339-3927-452C-833D-022327F62FE9}"/>
              </a:ext>
            </a:extLst>
          </p:cNvPr>
          <p:cNvSpPr>
            <a:spLocks xmlns:a="http://schemas.openxmlformats.org/drawingml/2006/main" noGrp="1"/>
          </p:cNvSpPr>
          <p:nvPr/>
        </p:nvSpPr>
        <p:spPr>
          <a:xfrm xmlns:a="http://schemas.openxmlformats.org/drawingml/2006/main">
            <a:off x="971550" y="4562475"/>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5" name="Picture 99"/>
          <p:cNvPicPr>
            <a:picLocks xmlns:a="http://schemas.openxmlformats.org/drawingml/2006/main" noChangeAspect="1"/>
          </p:cNvPicPr>
          <p:nvPr/>
        </p:nvPicPr>
        <p:blipFill>
          <a:blip xmlns:r="http://schemas.openxmlformats.org/officeDocument/2006/relationships" xmlns:a="http://schemas.openxmlformats.org/drawingml/2006/main" r:embed="R12ca3386eec345d3"/>
          <a:stretch xmlns:a="http://schemas.openxmlformats.org/drawingml/2006/main"/>
        </p:blipFill>
        <p:spPr>
          <a:xfrm xmlns:a="http://schemas.openxmlformats.org/drawingml/2006/main">
            <a:off x="623427" y="4657725"/>
            <a:ext cx="258097" cy="266700"/>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A296B6A2-1EAE-4DF0-B44E-8318BD4233C2}"/>
              </a:ext>
            </a:extLst>
          </p:cNvPr>
          <p:cNvSpPr>
            <a:spLocks xmlns:a="http://schemas.openxmlformats.org/drawingml/2006/main" noGrp="1"/>
          </p:cNvSpPr>
          <p:nvPr/>
        </p:nvSpPr>
        <p:spPr>
          <a:xfrm xmlns:a="http://schemas.openxmlformats.org/drawingml/2006/main">
            <a:off x="1095375" y="47053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a:t>
            </a:r>
          </a:p>
        </p:txBody>
      </p:sp>
      <p:sp>
        <p:nvSpPr>
          <p:cNvPr id="38" name="editable-ocvs-storage">
            <a:extLst xmlns:a="http://schemas.openxmlformats.org/drawingml/2006/main">
              <a:ext uri="{FF2B5EF4-FFF2-40B4-BE49-F238E27FC236}">
                <a16:creationId xmlns:a16="http://schemas.microsoft.com/office/drawing/2014/main" id="{571D8DEA-6CCE-4396-A35E-1C8C5E110E93}"/>
              </a:ext>
            </a:extLst>
          </p:cNvPr>
          <p:cNvSpPr>
            <a:spLocks xmlns:a="http://schemas.openxmlformats.org/drawingml/2006/main" noGrp="1"/>
          </p:cNvSpPr>
          <p:nvPr/>
        </p:nvSpPr>
        <p:spPr>
          <a:xfrm xmlns:a="http://schemas.openxmlformats.org/drawingml/2006/main">
            <a:off x="2714625" y="47053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200 TB</a:t>
            </a:r>
          </a:p>
        </p:txBody>
      </p:sp>
      <p:sp>
        <p:nvSpPr>
          <p:cNvPr id="39" name="Straight Connector 38">
            <a:extLst xmlns:a="http://schemas.openxmlformats.org/drawingml/2006/main">
              <a:ext uri="{FF2B5EF4-FFF2-40B4-BE49-F238E27FC236}">
                <a16:creationId xmlns:a16="http://schemas.microsoft.com/office/drawing/2014/main" id="{5520A562-CFAF-4530-A6B7-7E28A96260E0}"/>
              </a:ext>
            </a:extLst>
          </p:cNvPr>
          <p:cNvSpPr>
            <a:spLocks xmlns:a="http://schemas.openxmlformats.org/drawingml/2006/main" noGrp="1"/>
          </p:cNvSpPr>
          <p:nvPr/>
        </p:nvSpPr>
        <p:spPr>
          <a:xfrm xmlns:a="http://schemas.openxmlformats.org/drawingml/2006/main">
            <a:off x="971550" y="49530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9" name="Picture 103"/>
          <p:cNvPicPr>
            <a:picLocks xmlns:a="http://schemas.openxmlformats.org/drawingml/2006/main" noChangeAspect="1"/>
          </p:cNvPicPr>
          <p:nvPr/>
        </p:nvPicPr>
        <p:blipFill>
          <a:blip xmlns:r="http://schemas.openxmlformats.org/officeDocument/2006/relationships" xmlns:a="http://schemas.openxmlformats.org/drawingml/2006/main" r:embed="R6dd565a9a5fa42d7"/>
          <a:stretch xmlns:a="http://schemas.openxmlformats.org/drawingml/2006/main"/>
        </p:blipFill>
        <p:spPr>
          <a:xfrm xmlns:a="http://schemas.openxmlformats.org/drawingml/2006/main">
            <a:off x="600075" y="5059680"/>
            <a:ext cx="304800" cy="24384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F1AC0AF7-CEAD-416C-835F-A8E4E0E9D4ED}"/>
              </a:ext>
            </a:extLst>
          </p:cNvPr>
          <p:cNvSpPr>
            <a:spLocks xmlns:a="http://schemas.openxmlformats.org/drawingml/2006/main" noGrp="1"/>
          </p:cNvSpPr>
          <p:nvPr/>
        </p:nvSpPr>
        <p:spPr>
          <a:xfrm xmlns:a="http://schemas.openxmlformats.org/drawingml/2006/main">
            <a:off x="1095375" y="5095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 Type</a:t>
            </a:r>
          </a:p>
        </p:txBody>
      </p:sp>
      <p:sp>
        <p:nvSpPr>
          <p:cNvPr id="42" name="editable-ocvs-storage-type">
            <a:extLst xmlns:a="http://schemas.openxmlformats.org/drawingml/2006/main">
              <a:ext uri="{FF2B5EF4-FFF2-40B4-BE49-F238E27FC236}">
                <a16:creationId xmlns:a16="http://schemas.microsoft.com/office/drawing/2014/main" id="{0D164D0D-8AB5-4407-9EE9-E57C7BA98C66}"/>
              </a:ext>
            </a:extLst>
          </p:cNvPr>
          <p:cNvSpPr>
            <a:spLocks xmlns:a="http://schemas.openxmlformats.org/drawingml/2006/main" noGrp="1"/>
          </p:cNvSpPr>
          <p:nvPr/>
        </p:nvSpPr>
        <p:spPr>
          <a:xfrm xmlns:a="http://schemas.openxmlformats.org/drawingml/2006/main">
            <a:off x="2714625" y="509587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OCI Block Volume</a:t>
            </a:r>
          </a:p>
        </p:txBody>
      </p:sp>
      <p:sp>
        <p:nvSpPr>
          <p:cNvPr id="43" name="Rounded Rectangle 42">
            <a:extLst xmlns:a="http://schemas.openxmlformats.org/drawingml/2006/main">
              <a:ext uri="{FF2B5EF4-FFF2-40B4-BE49-F238E27FC236}">
                <a16:creationId xmlns:a16="http://schemas.microsoft.com/office/drawing/2014/main" id="{F4A93DB1-0C11-4F07-995E-5594E63F6BCF}"/>
              </a:ext>
            </a:extLst>
          </p:cNvPr>
          <p:cNvSpPr>
            <a:spLocks xmlns:a="http://schemas.openxmlformats.org/drawingml/2006/main" noGrp="1"/>
          </p:cNvSpPr>
          <p:nvPr/>
        </p:nvSpPr>
        <p:spPr>
          <a:xfrm xmlns:a="http://schemas.openxmlformats.org/drawingml/2006/main">
            <a:off x="5153025" y="2600325"/>
            <a:ext cx="6657975"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4" name="Rounded Rectangle 43">
            <a:extLst xmlns:a="http://schemas.openxmlformats.org/drawingml/2006/main">
              <a:ext uri="{FF2B5EF4-FFF2-40B4-BE49-F238E27FC236}">
                <a16:creationId xmlns:a16="http://schemas.microsoft.com/office/drawing/2014/main" id="{19693974-293E-4E08-91F3-7697E0B7E601}"/>
              </a:ext>
            </a:extLst>
          </p:cNvPr>
          <p:cNvSpPr>
            <a:spLocks xmlns:a="http://schemas.openxmlformats.org/drawingml/2006/main" noGrp="1"/>
          </p:cNvSpPr>
          <p:nvPr/>
        </p:nvSpPr>
        <p:spPr>
          <a:xfrm xmlns:a="http://schemas.openxmlformats.org/drawingml/2006/main">
            <a:off x="5153025" y="2600325"/>
            <a:ext cx="6657975"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5" name="Rectangle 44">
            <a:extLst xmlns:a="http://schemas.openxmlformats.org/drawingml/2006/main">
              <a:ext uri="{FF2B5EF4-FFF2-40B4-BE49-F238E27FC236}">
                <a16:creationId xmlns:a16="http://schemas.microsoft.com/office/drawing/2014/main" id="{D3A91228-06D1-492A-84C7-F52EB6AE30B6}"/>
              </a:ext>
            </a:extLst>
          </p:cNvPr>
          <p:cNvSpPr>
            <a:spLocks xmlns:a="http://schemas.openxmlformats.org/drawingml/2006/main" noGrp="1"/>
          </p:cNvSpPr>
          <p:nvPr/>
        </p:nvSpPr>
        <p:spPr>
          <a:xfrm xmlns:a="http://schemas.openxmlformats.org/drawingml/2006/main">
            <a:off x="5153025" y="2876550"/>
            <a:ext cx="6657975"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5" name="Picture 109"/>
          <p:cNvPicPr>
            <a:picLocks xmlns:a="http://schemas.openxmlformats.org/drawingml/2006/main" noChangeAspect="1"/>
          </p:cNvPicPr>
          <p:nvPr/>
        </p:nvPicPr>
        <p:blipFill>
          <a:blip xmlns:r="http://schemas.openxmlformats.org/officeDocument/2006/relationships" xmlns:a="http://schemas.openxmlformats.org/drawingml/2006/main" r:embed="R39a1d3a02767447e"/>
          <a:stretch xmlns:a="http://schemas.openxmlformats.org/drawingml/2006/main"/>
        </p:blipFill>
        <p:spPr>
          <a:xfrm xmlns:a="http://schemas.openxmlformats.org/drawingml/2006/main">
            <a:off x="5377053" y="2676525"/>
            <a:ext cx="237744" cy="228600"/>
          </a:xfrm>
          <a:prstGeom xmlns:a="http://schemas.openxmlformats.org/drawingml/2006/main" prst="rect">
            <a:avLst/>
          </a:prstGeom>
        </p:spPr>
      </p:pic>
      <p:sp>
        <p:nvSpPr>
          <p:cNvPr id="47" name="Rectangle 46">
            <a:extLst xmlns:a="http://schemas.openxmlformats.org/drawingml/2006/main">
              <a:ext uri="{FF2B5EF4-FFF2-40B4-BE49-F238E27FC236}">
                <a16:creationId xmlns:a16="http://schemas.microsoft.com/office/drawing/2014/main" id="{C1C7126B-261C-4305-996E-A098C771BD53}"/>
              </a:ext>
            </a:extLst>
          </p:cNvPr>
          <p:cNvSpPr>
            <a:spLocks xmlns:a="http://schemas.openxmlformats.org/drawingml/2006/main" noGrp="1"/>
          </p:cNvSpPr>
          <p:nvPr/>
        </p:nvSpPr>
        <p:spPr>
          <a:xfrm xmlns:a="http://schemas.openxmlformats.org/drawingml/2006/main">
            <a:off x="5734050"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Cluster Distribution</a:t>
            </a:r>
          </a:p>
        </p:txBody>
      </p:sp>
      <p:sp>
        <p:nvSpPr>
          <p:cNvPr id="48" name="Rounded Rectangle 47">
            <a:extLst xmlns:a="http://schemas.openxmlformats.org/drawingml/2006/main">
              <a:ext uri="{FF2B5EF4-FFF2-40B4-BE49-F238E27FC236}">
                <a16:creationId xmlns:a16="http://schemas.microsoft.com/office/drawing/2014/main" id="{0402606C-82ED-44F9-89DE-F2BB23C1D685}"/>
              </a:ext>
            </a:extLst>
          </p:cNvPr>
          <p:cNvSpPr>
            <a:spLocks xmlns:a="http://schemas.openxmlformats.org/drawingml/2006/main" noGrp="1"/>
          </p:cNvSpPr>
          <p:nvPr/>
        </p:nvSpPr>
        <p:spPr>
          <a:xfrm xmlns:a="http://schemas.openxmlformats.org/drawingml/2006/main">
            <a:off x="5372100" y="3152775"/>
            <a:ext cx="6134100" cy="2105025"/>
          </a:xfrm>
          <a:prstGeom xmlns:a="http://schemas.openxmlformats.org/drawingml/2006/main" prst="roundRect">
            <a:avLst>
              <a:gd name="adj" fmla="val 3167"/>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Rectangle 48">
            <a:extLst xmlns:a="http://schemas.openxmlformats.org/drawingml/2006/main">
              <a:ext uri="{FF2B5EF4-FFF2-40B4-BE49-F238E27FC236}">
                <a16:creationId xmlns:a16="http://schemas.microsoft.com/office/drawing/2014/main" id="{5F9F1C6B-88CC-42AF-8D36-9A21C96472C5}"/>
              </a:ext>
            </a:extLst>
          </p:cNvPr>
          <p:cNvSpPr>
            <a:spLocks xmlns:a="http://schemas.openxmlformats.org/drawingml/2006/main" noGrp="1"/>
          </p:cNvSpPr>
          <p:nvPr/>
        </p:nvSpPr>
        <p:spPr>
          <a:xfrm xmlns:a="http://schemas.openxmlformats.org/drawingml/2006/main">
            <a:off x="5381625" y="3162300"/>
            <a:ext cx="6115050" cy="723900"/>
          </a:xfrm>
          <a:prstGeom xmlns:a="http://schemas.openxmlformats.org/drawingml/2006/main" prst="rect">
            <a:avLst/>
          </a:prstGeom>
          <a:solidFill xmlns:a="http://schemas.openxmlformats.org/drawingml/2006/main">
            <a:srgbClr val="F4F8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9" name="Picture 113"/>
          <p:cNvPicPr>
            <a:picLocks xmlns:a="http://schemas.openxmlformats.org/drawingml/2006/main" noChangeAspect="1"/>
          </p:cNvPicPr>
          <p:nvPr/>
        </p:nvPicPr>
        <p:blipFill>
          <a:blip xmlns:r="http://schemas.openxmlformats.org/officeDocument/2006/relationships" xmlns:a="http://schemas.openxmlformats.org/drawingml/2006/main" r:embed="Re7a7a9bf441a4daa"/>
          <a:stretch xmlns:a="http://schemas.openxmlformats.org/drawingml/2006/main"/>
        </p:blipFill>
        <p:spPr>
          <a:xfrm xmlns:a="http://schemas.openxmlformats.org/drawingml/2006/main">
            <a:off x="7172325" y="3209925"/>
            <a:ext cx="714375" cy="666750"/>
          </a:xfrm>
          <a:prstGeom xmlns:a="http://schemas.openxmlformats.org/drawingml/2006/main" prst="rect">
            <a:avLst/>
          </a:prstGeom>
        </p:spPr>
      </p:pic>
      <p:sp>
        <p:nvSpPr>
          <p:cNvPr id="51" name="Rectangle 50">
            <a:extLst xmlns:a="http://schemas.openxmlformats.org/drawingml/2006/main">
              <a:ext uri="{FF2B5EF4-FFF2-40B4-BE49-F238E27FC236}">
                <a16:creationId xmlns:a16="http://schemas.microsoft.com/office/drawing/2014/main" id="{8DC09F75-7A31-4E16-A176-3E722DEDC7AA}"/>
              </a:ext>
            </a:extLst>
          </p:cNvPr>
          <p:cNvSpPr>
            <a:spLocks xmlns:a="http://schemas.openxmlformats.org/drawingml/2006/main" noGrp="1"/>
          </p:cNvSpPr>
          <p:nvPr/>
        </p:nvSpPr>
        <p:spPr>
          <a:xfrm xmlns:a="http://schemas.openxmlformats.org/drawingml/2006/main">
            <a:off x="7934325" y="3476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003B25"/>
                </a:solidFill>
                <a:latin typeface="Arial"/>
                <a:ea typeface="Arial"/>
                <a:cs typeface="Arial"/>
              </a:defRPr>
            </a:pPr>
            <a:r>
              <a:rPr sz="1350" b="1" i="0">
                <a:solidFill>
                  <a:srgbClr val="003B25"/>
                </a:solidFill>
                <a:latin typeface="Arial"/>
                <a:ea typeface="Arial"/>
                <a:cs typeface="Arial"/>
              </a:rPr>
              <a:t>Production</a:t>
            </a:r>
          </a:p>
        </p:txBody>
      </p:sp>
      <p:sp>
        <p:nvSpPr>
          <p:cNvPr id="52" name="Straight Connector 51">
            <a:extLst xmlns:a="http://schemas.openxmlformats.org/drawingml/2006/main">
              <a:ext uri="{FF2B5EF4-FFF2-40B4-BE49-F238E27FC236}">
                <a16:creationId xmlns:a16="http://schemas.microsoft.com/office/drawing/2014/main" id="{1A3A9718-8C44-4242-B34F-F001FA6307F6}"/>
              </a:ext>
            </a:extLst>
          </p:cNvPr>
          <p:cNvSpPr>
            <a:spLocks xmlns:a="http://schemas.openxmlformats.org/drawingml/2006/main" noGrp="1"/>
          </p:cNvSpPr>
          <p:nvPr/>
        </p:nvSpPr>
        <p:spPr>
          <a:xfrm xmlns:a="http://schemas.openxmlformats.org/drawingml/2006/main">
            <a:off x="5505450" y="4619625"/>
            <a:ext cx="570547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32" name="Picture 116"/>
          <p:cNvPicPr>
            <a:picLocks xmlns:a="http://schemas.openxmlformats.org/drawingml/2006/main" noChangeAspect="1"/>
          </p:cNvPicPr>
          <p:nvPr/>
        </p:nvPicPr>
        <p:blipFill>
          <a:blip xmlns:r="http://schemas.openxmlformats.org/officeDocument/2006/relationships" xmlns:a="http://schemas.openxmlformats.org/drawingml/2006/main" r:embed="R3548406ba33b48d7"/>
          <a:stretch xmlns:a="http://schemas.openxmlformats.org/drawingml/2006/main"/>
        </p:blipFill>
        <p:spPr>
          <a:xfrm xmlns:a="http://schemas.openxmlformats.org/drawingml/2006/main">
            <a:off x="7305675" y="4171950"/>
            <a:ext cx="352425" cy="285750"/>
          </a:xfrm>
          <a:prstGeom xmlns:a="http://schemas.openxmlformats.org/drawingml/2006/main" prst="rect">
            <a:avLst/>
          </a:prstGeom>
        </p:spPr>
      </p:pic>
      <p:sp>
        <p:nvSpPr>
          <p:cNvPr id="54" name="editable-ocvs-production-hosts">
            <a:extLst xmlns:a="http://schemas.openxmlformats.org/drawingml/2006/main">
              <a:ext uri="{FF2B5EF4-FFF2-40B4-BE49-F238E27FC236}">
                <a16:creationId xmlns:a16="http://schemas.microsoft.com/office/drawing/2014/main" id="{DBA146ED-B71C-4C3A-ADBC-410FE533740C}"/>
              </a:ext>
            </a:extLst>
          </p:cNvPr>
          <p:cNvSpPr>
            <a:spLocks xmlns:a="http://schemas.openxmlformats.org/drawingml/2006/main" noGrp="1"/>
          </p:cNvSpPr>
          <p:nvPr/>
        </p:nvSpPr>
        <p:spPr>
          <a:xfrm xmlns:a="http://schemas.openxmlformats.org/drawingml/2006/main">
            <a:off x="7972425" y="421005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4</a:t>
            </a:r>
          </a:p>
        </p:txBody>
      </p:sp>
      <p:sp>
        <p:nvSpPr>
          <p:cNvPr id="55" name="editable-ocvs-production-shape">
            <a:extLst xmlns:a="http://schemas.openxmlformats.org/drawingml/2006/main">
              <a:ext uri="{FF2B5EF4-FFF2-40B4-BE49-F238E27FC236}">
                <a16:creationId xmlns:a16="http://schemas.microsoft.com/office/drawing/2014/main" id="{5DBF9DD8-F59D-478A-A27E-79BABD53E9CC}"/>
              </a:ext>
            </a:extLst>
          </p:cNvPr>
          <p:cNvSpPr>
            <a:spLocks xmlns:a="http://schemas.openxmlformats.org/drawingml/2006/main" noGrp="1"/>
          </p:cNvSpPr>
          <p:nvPr/>
        </p:nvSpPr>
        <p:spPr>
          <a:xfrm xmlns:a="http://schemas.openxmlformats.org/drawingml/2006/main">
            <a:off x="8239125" y="42862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x AMD E4</a:t>
            </a:r>
          </a:p>
        </p:txBody>
      </p:sp>
      <p:pic>
        <p:nvPicPr>
          <p:cNvPr id="135" name="Picture 119"/>
          <p:cNvPicPr>
            <a:picLocks xmlns:a="http://schemas.openxmlformats.org/drawingml/2006/main" noChangeAspect="1"/>
          </p:cNvPicPr>
          <p:nvPr/>
        </p:nvPicPr>
        <p:blipFill>
          <a:blip xmlns:r="http://schemas.openxmlformats.org/officeDocument/2006/relationships" xmlns:a="http://schemas.openxmlformats.org/drawingml/2006/main" r:embed="Rb6f1498922954ca7"/>
          <a:stretch xmlns:a="http://schemas.openxmlformats.org/drawingml/2006/main"/>
        </p:blipFill>
        <p:spPr>
          <a:xfrm xmlns:a="http://schemas.openxmlformats.org/drawingml/2006/main">
            <a:off x="7315200" y="4756735"/>
            <a:ext cx="342900" cy="306805"/>
          </a:xfrm>
          <a:prstGeom xmlns:a="http://schemas.openxmlformats.org/drawingml/2006/main" prst="rect">
            <a:avLst/>
          </a:prstGeom>
        </p:spPr>
      </p:pic>
      <p:sp>
        <p:nvSpPr>
          <p:cNvPr id="57" name="editable-ocvs-production-storage">
            <a:extLst xmlns:a="http://schemas.openxmlformats.org/drawingml/2006/main">
              <a:ext uri="{FF2B5EF4-FFF2-40B4-BE49-F238E27FC236}">
                <a16:creationId xmlns:a16="http://schemas.microsoft.com/office/drawing/2014/main" id="{61B41578-806C-4401-935D-8C6BDB5BD3B9}"/>
              </a:ext>
            </a:extLst>
          </p:cNvPr>
          <p:cNvSpPr>
            <a:spLocks xmlns:a="http://schemas.openxmlformats.org/drawingml/2006/main" noGrp="1"/>
          </p:cNvSpPr>
          <p:nvPr/>
        </p:nvSpPr>
        <p:spPr>
          <a:xfrm xmlns:a="http://schemas.openxmlformats.org/drawingml/2006/main">
            <a:off x="7991475" y="4810125"/>
            <a:ext cx="542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200</a:t>
            </a:r>
          </a:p>
        </p:txBody>
      </p:sp>
      <p:sp>
        <p:nvSpPr>
          <p:cNvPr id="58" name="Rectangle 57">
            <a:extLst xmlns:a="http://schemas.openxmlformats.org/drawingml/2006/main">
              <a:ext uri="{FF2B5EF4-FFF2-40B4-BE49-F238E27FC236}">
                <a16:creationId xmlns:a16="http://schemas.microsoft.com/office/drawing/2014/main" id="{98B6B2C4-DDC4-44ED-9B4E-5C1A4C0A5328}"/>
              </a:ext>
            </a:extLst>
          </p:cNvPr>
          <p:cNvSpPr>
            <a:spLocks xmlns:a="http://schemas.openxmlformats.org/drawingml/2006/main" noGrp="1"/>
          </p:cNvSpPr>
          <p:nvPr/>
        </p:nvSpPr>
        <p:spPr>
          <a:xfrm xmlns:a="http://schemas.openxmlformats.org/drawingml/2006/main">
            <a:off x="8524875" y="48958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TB</a:t>
            </a:r>
          </a:p>
        </p:txBody>
      </p:sp>
      <p:sp>
        <p:nvSpPr>
          <p:cNvPr id="59" name="Rounded Rectangle 58">
            <a:extLst xmlns:a="http://schemas.openxmlformats.org/drawingml/2006/main">
              <a:ext uri="{FF2B5EF4-FFF2-40B4-BE49-F238E27FC236}">
                <a16:creationId xmlns:a16="http://schemas.microsoft.com/office/drawing/2014/main" id="{FEA89CD6-5A66-491C-901C-25FF456DC8A4}"/>
              </a:ext>
            </a:extLst>
          </p:cNvPr>
          <p:cNvSpPr>
            <a:spLocks xmlns:a="http://schemas.openxmlformats.org/drawingml/2006/main" noGrp="1"/>
          </p:cNvSpPr>
          <p:nvPr/>
        </p:nvSpPr>
        <p:spPr>
          <a:xfrm xmlns:a="http://schemas.openxmlformats.org/drawingml/2006/main">
            <a:off x="361950" y="5553075"/>
            <a:ext cx="11449050" cy="619125"/>
          </a:xfrm>
          <a:prstGeom xmlns:a="http://schemas.openxmlformats.org/drawingml/2006/main" prst="roundRect">
            <a:avLst>
              <a:gd name="adj" fmla="val 6154"/>
            </a:avLst>
          </a:prstGeom>
          <a:gradFill xmlns:a="http://schemas.openxmlformats.org/drawingml/2006/main">
            <a:gsLst>
              <a:gs pos="0">
                <a:srgbClr val="F0F6F2"/>
              </a:gs>
              <a:gs pos="100000">
                <a:srgbClr val="F7FAF8"/>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9" name="Picture 123"/>
          <p:cNvPicPr>
            <a:picLocks xmlns:a="http://schemas.openxmlformats.org/drawingml/2006/main" noChangeAspect="1"/>
          </p:cNvPicPr>
          <p:nvPr/>
        </p:nvPicPr>
        <p:blipFill>
          <a:blip xmlns:r="http://schemas.openxmlformats.org/officeDocument/2006/relationships" xmlns:a="http://schemas.openxmlformats.org/drawingml/2006/main" r:embed="R44bcae6f3c314399"/>
          <a:stretch xmlns:a="http://schemas.openxmlformats.org/drawingml/2006/main"/>
        </p:blipFill>
        <p:spPr>
          <a:xfrm xmlns:a="http://schemas.openxmlformats.org/drawingml/2006/main">
            <a:off x="542925" y="5647619"/>
            <a:ext cx="476250" cy="458611"/>
          </a:xfrm>
          <a:prstGeom xmlns:a="http://schemas.openxmlformats.org/drawingml/2006/main" prst="rect">
            <a:avLst/>
          </a:prstGeom>
        </p:spPr>
      </p:pic>
      <p:sp>
        <p:nvSpPr>
          <p:cNvPr id="61" name="Rectangle 60">
            <a:extLst xmlns:a="http://schemas.openxmlformats.org/drawingml/2006/main">
              <a:ext uri="{FF2B5EF4-FFF2-40B4-BE49-F238E27FC236}">
                <a16:creationId xmlns:a16="http://schemas.microsoft.com/office/drawing/2014/main" id="{5DAD0D36-AD01-4390-AC74-7C58CD1446C4}"/>
              </a:ext>
            </a:extLst>
          </p:cNvPr>
          <p:cNvSpPr>
            <a:spLocks xmlns:a="http://schemas.openxmlformats.org/drawingml/2006/main" noGrp="1"/>
          </p:cNvSpPr>
          <p:nvPr/>
        </p:nvSpPr>
        <p:spPr>
          <a:xfrm xmlns:a="http://schemas.openxmlformats.org/drawingml/2006/main">
            <a:off x="1200150" y="5695950"/>
            <a:ext cx="647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63" b="1" i="0">
                <a:solidFill>
                  <a:srgbClr val="003B25"/>
                </a:solidFill>
                <a:latin typeface="Arial"/>
                <a:ea typeface="Arial"/>
                <a:cs typeface="Arial"/>
              </a:defRPr>
            </a:pPr>
            <a:r>
              <a:rPr sz="1163" b="1" i="0">
                <a:solidFill>
                  <a:srgbClr val="003B25"/>
                </a:solidFill>
                <a:latin typeface="Arial"/>
                <a:ea typeface="Arial"/>
                <a:cs typeface="Arial"/>
              </a:rPr>
              <a:t>Right-sized architecture designed to support current workloads and future growth</a:t>
            </a:r>
          </a:p>
        </p:txBody>
      </p:sp>
      <p:sp>
        <p:nvSpPr>
          <p:cNvPr id="62" name="Rectangle 61">
            <a:extLst xmlns:a="http://schemas.openxmlformats.org/drawingml/2006/main">
              <a:ext uri="{FF2B5EF4-FFF2-40B4-BE49-F238E27FC236}">
                <a16:creationId xmlns:a16="http://schemas.microsoft.com/office/drawing/2014/main" id="{68EC56A3-D2EC-4108-96A2-02243E8CFF9E}"/>
              </a:ext>
            </a:extLst>
          </p:cNvPr>
          <p:cNvSpPr>
            <a:spLocks xmlns:a="http://schemas.openxmlformats.org/drawingml/2006/main" noGrp="1"/>
          </p:cNvSpPr>
          <p:nvPr/>
        </p:nvSpPr>
        <p:spPr>
          <a:xfrm xmlns:a="http://schemas.openxmlformats.org/drawingml/2006/main">
            <a:off x="1200150" y="5924550"/>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0" i="0">
                <a:solidFill>
                  <a:srgbClr val="111111"/>
                </a:solidFill>
                <a:latin typeface="Arial"/>
                <a:ea typeface="Arial"/>
                <a:cs typeface="Arial"/>
              </a:defRPr>
            </a:pPr>
            <a:r>
              <a:rPr sz="1125" b="0" i="0">
                <a:solidFill>
                  <a:srgbClr val="111111"/>
                </a:solidFill>
                <a:latin typeface="Arial"/>
                <a:ea typeface="Arial"/>
                <a:cs typeface="Arial"/>
              </a:rPr>
              <a:t>while optimizing cost and performance.</a:t>
            </a:r>
          </a:p>
        </p:txBody>
      </p:sp>
      <p:sp>
        <p:nvSpPr>
          <p:cNvPr id="63" name="Rectangle 62">
            <a:extLst xmlns:a="http://schemas.openxmlformats.org/drawingml/2006/main">
              <a:ext uri="{FF2B5EF4-FFF2-40B4-BE49-F238E27FC236}">
                <a16:creationId xmlns:a16="http://schemas.microsoft.com/office/drawing/2014/main" id="{37F63975-8C02-4B96-9126-5015455BA972}"/>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C5C5C"/>
                </a:solidFill>
                <a:latin typeface="Arial"/>
                <a:ea typeface="Arial"/>
                <a:cs typeface="Arial"/>
              </a:defRPr>
            </a:pPr>
            <a:r>
              <a:rPr sz="675" b="0" i="0">
                <a:solidFill>
                  <a:srgbClr val="5C5C5C"/>
                </a:solidFill>
                <a:latin typeface="Arial"/>
                <a:ea typeface="Arial"/>
                <a:cs typeface="Arial"/>
              </a:rPr>
              <a:t>Copyright © 2026, Oracle and/or its affiliates | Confidential: Internal/Restricted/Highly Restricted</a:t>
            </a:r>
          </a:p>
        </p:txBody>
      </p:sp>
      <p:pic>
        <p:nvPicPr>
          <p:cNvPr id="143" name="Picture 127"/>
          <p:cNvPicPr>
            <a:picLocks xmlns:a="http://schemas.openxmlformats.org/drawingml/2006/main" noChangeAspect="1"/>
          </p:cNvPicPr>
          <p:nvPr/>
        </p:nvPicPr>
        <p:blipFill>
          <a:blip xmlns:r="http://schemas.openxmlformats.org/officeDocument/2006/relationships" xmlns:a="http://schemas.openxmlformats.org/drawingml/2006/main" r:embed="R7b03c7c0337a4989"/>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789669987"/>
      </p:ext>
    </p:extLst>
  </p:cSld>
</p:sld>
</file>

<file path=ppt/slides/slide6.xml><?xml version="1.0" encoding="utf-8"?>
<p:sld xmlns:p="http://schemas.openxmlformats.org/presentationml/2006/main">
  <p:cSld>
    <p:bg>
      <p:bgPr>
        <a:solidFill xmlns:a="http://schemas.openxmlformats.org/drawingml/2006/main">
          <a:srgbClr val="E9E9E9"/>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A3030B4A-2296-4E67-AE3A-90D3730F76AA}"/>
              </a:ext>
            </a:extLst>
          </p:cNvPr>
          <p:cNvSpPr>
            <a:spLocks xmlns:a="http://schemas.openxmlformats.org/drawingml/2006/main" noGrp="1"/>
          </p:cNvSpPr>
          <p:nvPr/>
        </p:nvSpPr>
        <p:spPr>
          <a:xfrm xmlns:a="http://schemas.openxmlformats.org/drawingml/2006/main">
            <a:off x="66675" y="857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3cff8b9321084c5b"/>
          <a:stretch xmlns:a="http://schemas.openxmlformats.org/drawingml/2006/main"/>
        </p:blipFill>
        <p:spPr>
          <a:xfrm xmlns:a="http://schemas.openxmlformats.org/drawingml/2006/main">
            <a:off x="4219575" y="3185422"/>
            <a:ext cx="3752850" cy="534781"/>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E17D35F5-2CF6-43F3-9813-9C11FDF9362B}"/>
              </a:ext>
            </a:extLst>
          </p:cNvPr>
          <p:cNvSpPr>
            <a:spLocks xmlns:a="http://schemas.openxmlformats.org/drawingml/2006/main" noGrp="1"/>
          </p:cNvSpPr>
          <p:nvPr/>
        </p:nvSpPr>
        <p:spPr>
          <a:xfrm xmlns:a="http://schemas.openxmlformats.org/drawingml/2006/main">
            <a:off x="66675" y="64865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spTree>
    <p:extLst>
      <p:ext uri="{BB962C8B-B14F-4D97-AF65-F5344CB8AC3E}">
        <p14:creationId xmlns:p14="http://schemas.microsoft.com/office/powerpoint/2010/main" val="1044492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2026-09-03T08:11:22.0070000Z</dcterms:created>
  <dcterms:modified xsi:type="dcterms:W3CDTF">2026-09-03T08:11:22.0070000Z</dcterms:modified>
</coreProperties>
</file>