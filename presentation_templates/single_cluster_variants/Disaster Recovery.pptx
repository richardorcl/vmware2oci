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40d5c56000e4263" /><Relationship Type="http://schemas.openxmlformats.org/officeDocument/2006/relationships/extended-properties" Target="/docProps/app.xml" Id="Rd4a6472b4c364430" /><Relationship Type="http://schemas.openxmlformats.org/officeDocument/2006/relationships/officeDocument" Target="/ppt/presentation.xml" Id="Rb4d59e92fac54ab2" /></Relationships>
</file>

<file path=ppt/presentation.xml><?xml version="1.0" encoding="utf-8"?>
<p:presentation xmlns:p="http://schemas.openxmlformats.org/presentationml/2006/main">
  <p:sldMasterIdLst>
    <p:sldMasterId xmlns:r="http://schemas.openxmlformats.org/officeDocument/2006/relationships" id="2147483648" r:id="Rc6ebeca3baaf49e0"/>
  </p:sldMasterIdLst>
  <p:notesMasterIdLst>
    <p:notesMasterId xmlns:r="http://schemas.openxmlformats.org/officeDocument/2006/relationships" r:id="R8d21377e530e4b17"/>
  </p:notesMasterIdLst>
  <p:sldIdLst>
    <p:sldId xmlns:r="http://schemas.openxmlformats.org/officeDocument/2006/relationships" id="256" r:id="R8599346903e3428e"/>
    <p:sldId xmlns:r="http://schemas.openxmlformats.org/officeDocument/2006/relationships" id="257" r:id="R0c501788ebb8454c"/>
    <p:sldId xmlns:r="http://schemas.openxmlformats.org/officeDocument/2006/relationships" id="258" r:id="R92c3ccb1450b45c1"/>
    <p:sldId xmlns:r="http://schemas.openxmlformats.org/officeDocument/2006/relationships" id="259" r:id="R5f37737a8a864c8a"/>
    <p:sldId xmlns:r="http://schemas.openxmlformats.org/officeDocument/2006/relationships" id="260" r:id="R5e2e8545a0ee4b4e"/>
    <p:sldId xmlns:r="http://schemas.openxmlformats.org/officeDocument/2006/relationships" id="261" r:id="R58af40bf78804ee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587d0ee1271a4e15" /><Relationship Type="http://schemas.openxmlformats.org/officeDocument/2006/relationships/slideMaster" Target="/ppt/slideMasters/slideMaster1.xml" Id="Rc6ebeca3baaf49e0" /><Relationship Type="http://schemas.openxmlformats.org/officeDocument/2006/relationships/notesMaster" Target="/ppt/notesMasters/notesMaster1.xml" Id="R8d21377e530e4b17" /><Relationship Type="http://schemas.openxmlformats.org/officeDocument/2006/relationships/presProps" Target="/ppt/presProps.xml" Id="R970c73a845f540a6" /><Relationship Type="http://schemas.openxmlformats.org/officeDocument/2006/relationships/viewProps" Target="/ppt/viewProps.xml" Id="Ra3c6847ddd91433b" /><Relationship Type="http://schemas.openxmlformats.org/officeDocument/2006/relationships/tableStyles" Target="/ppt/tableStyles.xml" Id="R6e8e41e4aa404b76" /><Relationship Type="http://schemas.openxmlformats.org/officeDocument/2006/relationships/slide" Target="/ppt/slides/slide1.xml" Id="R8599346903e3428e" /><Relationship Type="http://schemas.openxmlformats.org/officeDocument/2006/relationships/slide" Target="/ppt/slides/slide2.xml" Id="R0c501788ebb8454c" /><Relationship Type="http://schemas.openxmlformats.org/officeDocument/2006/relationships/slide" Target="/ppt/slides/slide3.xml" Id="R92c3ccb1450b45c1" /><Relationship Type="http://schemas.openxmlformats.org/officeDocument/2006/relationships/slide" Target="/ppt/slides/slide4.xml" Id="R5f37737a8a864c8a" /><Relationship Type="http://schemas.openxmlformats.org/officeDocument/2006/relationships/slide" Target="/ppt/slides/slide5.xml" Id="R5e2e8545a0ee4b4e" /><Relationship Type="http://schemas.openxmlformats.org/officeDocument/2006/relationships/slide" Target="/ppt/slides/slide6.xml" Id="R58af40bf78804e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a570a039754ed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6c488fcda834ac4" /><Relationship Type="http://schemas.openxmlformats.org/officeDocument/2006/relationships/notesMaster" Target="/ppt/notesMasters/notesMaster1.xml" Id="R58c972b18266422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f63ba9e96674bc3" /><Relationship Type="http://schemas.openxmlformats.org/officeDocument/2006/relationships/notesMaster" Target="/ppt/notesMasters/notesMaster1.xml" Id="R9bf82f7388924e8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2746c923dd4445" /><Relationship Type="http://schemas.openxmlformats.org/officeDocument/2006/relationships/notesMaster" Target="/ppt/notesMasters/notesMaster1.xml" Id="R02a8e1744fea45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54f8747ca2a14694" /><Relationship Type="http://schemas.openxmlformats.org/officeDocument/2006/relationships/notesMaster" Target="/ppt/notesMasters/notesMaster1.xml" Id="R83c33828394c4d5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6955f8a1be0466e" /><Relationship Type="http://schemas.openxmlformats.org/officeDocument/2006/relationships/notesMaster" Target="/ppt/notesMasters/notesMaster1.xml" Id="R592cf4ae9694408a"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4b1bbb3e6941d4" /><Relationship Type="http://schemas.openxmlformats.org/officeDocument/2006/relationships/notesMaster" Target="/ppt/notesMasters/notesMaster1.xml" Id="Recbc37ad3a80414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Source: slide 1 of the provided PowerPoint. Oracle logo, Oracle mark, row icons, and the right-side Oracle Cloud VMware Solution illustration are kept as cropped image assets from the source. Visible title, sizing label, and customer/date/prepared-by text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Source: user-provided Disaster Recovery.pptx, slide 2. The source slide was a flattened image; titles, captions, cards, arrows, separators, DR-site labels, bullet text, business-outcome copy and the bottom callout are recreated as editable PowerPoint objects. Oracle/OCI logo, third-party product logos, and all icons are retained as cropped image assets from the provided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Source image: user-provided screenshot "Current Environment". Oracle logo, Oracle mark, datacenter icon, metric icons, total-environment icon, and information icon are embedded as cropped image assets from that screenshot. The visible title, subtitle, panel headers, labels, metric values, notes, footer, cards, separators, and decorative background elements are recreated as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Source: slide 3 of the provided PowerPoint. Oracle logo, Oracle mark, and all metric/panel icons are kept as cropped image assets from the source. Title, explanatory text, architecture table, cluster card, values, callout, footer, panels, and separators are recreated as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Source: slide 4 of the provided PowerPoint. Oracle logo is kept as a cropped image asset from the source; confidentiality labels and grey background are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9b101005b0412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d4d1513ae3c49e3" /><Relationship Type="http://schemas.openxmlformats.org/officeDocument/2006/relationships/slideLayout" Target="/ppt/slideLayouts/slideLayout1.xml" Id="Re2fe0ee6304349d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
        <p:nvSpPr>
          <p:cNvPr id="4" name="TextBox 3">
            <a:extLst xmlns:a="http://schemas.openxmlformats.org/drawingml/2006/main">
              <a:ext uri="{FF2B5EF4-FFF2-40B4-BE49-F238E27FC236}">
                <a16:creationId xmlns:a16="http://schemas.microsoft.com/office/drawing/2014/main" id="{3BE27275-3E7C-0B92-4033-5280BB7891D0}"/>
              </a:ext>
            </a:extLst>
          </p:cNvPr>
          <p:cNvSpPr>
            <a:spLocks xmlns:a="http://schemas.openxmlformats.org/drawingml/2006/main" noGrp="1"/>
          </p:cNvSpPr>
          <p:nvPr/>
        </p:nvSpPr>
        <p:spPr>
          <a:xfrm xmlns:a="http://schemas.openxmlformats.org/drawingml/2006/main">
            <a:off x="63500" y="63500"/>
            <a:ext cx="2709863" cy="152400"/>
          </a:xfrm>
          <a:prstGeom xmlns:a="http://schemas.openxmlformats.org/drawingml/2006/main" prst="rect">
            <a:avLst/>
          </a:prstGeom>
        </p:spPr>
        <p:txBody>
          <a:bodyPr xmlns:a="http://schemas.openxmlformats.org/drawingml/2006/main" lIns="0" tIns="0" rIns="0" bIns="0">
            <a:spAutoFit/>
          </a:bodyPr>
          <a:lstStyle xmlns:a="http://schemas.openxmlformats.org/drawingml/2006/main"/>
          <a:p xmlns:a="http://schemas.openxmlformats.org/drawingml/2006/main">
            <a:pPr algn="l">
              <a:buNone/>
            </a:pPr>
            <a:r>
              <a:rPr sz="1000">
                <a:solidFill>
                  <a:srgbClr val="000000">
                    <a:alpha val="50000"/>
                  </a:srgbClr>
                </a:solidFill>
                <a:latin typeface="Aptos"/>
                <a:ea typeface="Aptos"/>
                <a:cs typeface="Aptos"/>
              </a:rPr>
              <a:t>Confidential - Oracle Restricted \Employees Only</a:t>
            </a:r>
          </a:p>
        </p:txBody>
      </p:sp>
      <p:sp>
        <p:nvSpPr>
          <p:cNvPr id="5" name="TextBox 4">
            <a:extLst xmlns:a="http://schemas.openxmlformats.org/drawingml/2006/main">
              <a:ext uri="{FF2B5EF4-FFF2-40B4-BE49-F238E27FC236}">
                <a16:creationId xmlns:a16="http://schemas.microsoft.com/office/drawing/2014/main" id="{3144BAD1-7E3A-370A-BA5D-BB7C310D6131}"/>
              </a:ext>
            </a:extLst>
          </p:cNvPr>
          <p:cNvSpPr>
            <a:spLocks xmlns:a="http://schemas.openxmlformats.org/drawingml/2006/main" noGrp="1"/>
          </p:cNvSpPr>
          <p:nvPr/>
        </p:nvSpPr>
        <p:spPr>
          <a:xfrm xmlns:a="http://schemas.openxmlformats.org/drawingml/2006/main">
            <a:off x="63500" y="6642100"/>
            <a:ext cx="2709863" cy="152400"/>
          </a:xfrm>
          <a:prstGeom xmlns:a="http://schemas.openxmlformats.org/drawingml/2006/main" prst="rect">
            <a:avLst/>
          </a:prstGeom>
        </p:spPr>
        <p:txBody>
          <a:bodyPr xmlns:a="http://schemas.openxmlformats.org/drawingml/2006/main" lIns="0" tIns="0" rIns="0" bIns="0">
            <a:spAutoFit/>
          </a:bodyPr>
          <a:lstStyle xmlns:a="http://schemas.openxmlformats.org/drawingml/2006/main"/>
          <a:p xmlns:a="http://schemas.openxmlformats.org/drawingml/2006/main">
            <a:pPr algn="l">
              <a:buNone/>
            </a:pPr>
            <a:r>
              <a:rPr sz="1000">
                <a:solidFill>
                  <a:srgbClr val="000000">
                    <a:alpha val="50000"/>
                  </a:srgbClr>
                </a:solidFill>
                <a:latin typeface="Aptos"/>
                <a:ea typeface="Aptos"/>
                <a:cs typeface="Aptos"/>
              </a:rPr>
              <a:t>Confidential - Oracle Restricted \Employees Only</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2fe0ee6304349d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048485a685c47b5" /><Relationship Type="http://schemas.openxmlformats.org/officeDocument/2006/relationships/image" Target="/ppt/media/image.png" Id="R85e7556d092a4a7b" /><Relationship Type="http://schemas.openxmlformats.org/officeDocument/2006/relationships/image" Target="/ppt/media/image2.png" Id="Reb1d37fc169a4dbd" /><Relationship Type="http://schemas.openxmlformats.org/officeDocument/2006/relationships/image" Target="/ppt/media/image3.png" Id="R9586dac0acba4b5c" /><Relationship Type="http://schemas.openxmlformats.org/officeDocument/2006/relationships/image" Target="/ppt/media/image4.png" Id="R44b00d091b3c4395" /><Relationship Type="http://schemas.openxmlformats.org/officeDocument/2006/relationships/image" Target="/ppt/media/image5.png" Id="R0f6c819869974f51" /><Relationship Type="http://schemas.openxmlformats.org/officeDocument/2006/relationships/image" Target="/ppt/media/image6.png" Id="R6d1f3e0c830d41af" /><Relationship Type="http://schemas.openxmlformats.org/officeDocument/2006/relationships/notesSlide" Target="/ppt/notesSlides/notesSlide1.xml" Id="Rca9f0ca4ca6d4ea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87104088dba4ab1" /><Relationship Type="http://schemas.openxmlformats.org/officeDocument/2006/relationships/image" Target="/ppt/media/image7.png" Id="Rcbacdb0d3cda40fb" /><Relationship Type="http://schemas.openxmlformats.org/officeDocument/2006/relationships/image" Target="/ppt/media/image8.png" Id="R0006b6d71e3844df" /><Relationship Type="http://schemas.openxmlformats.org/officeDocument/2006/relationships/image" Target="/ppt/media/image9.png" Id="R6a432e44c86b4655" /><Relationship Type="http://schemas.openxmlformats.org/officeDocument/2006/relationships/image" Target="/ppt/media/image10.png" Id="R142de722c1b24d17" /><Relationship Type="http://schemas.openxmlformats.org/officeDocument/2006/relationships/image" Target="/ppt/media/image11.png" Id="Rd6792044c6d64c98" /><Relationship Type="http://schemas.openxmlformats.org/officeDocument/2006/relationships/image" Target="/ppt/media/image12.png" Id="R97e1d3368f084ae9" /><Relationship Type="http://schemas.openxmlformats.org/officeDocument/2006/relationships/image" Target="/ppt/media/image13.png" Id="R251997ded8964cb1" /><Relationship Type="http://schemas.openxmlformats.org/officeDocument/2006/relationships/image" Target="/ppt/media/image14.png" Id="R315b422c8481469b" /><Relationship Type="http://schemas.openxmlformats.org/officeDocument/2006/relationships/image" Target="/ppt/media/image15.png" Id="Rf89e5b9bfc33495d" /><Relationship Type="http://schemas.openxmlformats.org/officeDocument/2006/relationships/image" Target="/ppt/media/image16.png" Id="R334f69e8f3e44bd2" /><Relationship Type="http://schemas.openxmlformats.org/officeDocument/2006/relationships/image" Target="/ppt/media/image17.png" Id="R283c48bbb56b4e1d" /><Relationship Type="http://schemas.openxmlformats.org/officeDocument/2006/relationships/image" Target="/ppt/media/image18.png" Id="R49b3e76d799046be" /><Relationship Type="http://schemas.openxmlformats.org/officeDocument/2006/relationships/image" Target="/ppt/media/image19.png" Id="Rdb3c1b13fd19444d" /><Relationship Type="http://schemas.openxmlformats.org/officeDocument/2006/relationships/image" Target="/ppt/media/image20.png" Id="Ra821a02490e9407b" /><Relationship Type="http://schemas.openxmlformats.org/officeDocument/2006/relationships/image" Target="/ppt/media/image21.png" Id="Rbe119da7423f45aa" /><Relationship Type="http://schemas.openxmlformats.org/officeDocument/2006/relationships/image" Target="/ppt/media/image22.png" Id="Ra125fa390a65450b" /><Relationship Type="http://schemas.openxmlformats.org/officeDocument/2006/relationships/image" Target="/ppt/media/image23.png" Id="R23df078dd4a54700" /><Relationship Type="http://schemas.openxmlformats.org/officeDocument/2006/relationships/image" Target="/ppt/media/image24.png" Id="Rcf0a88de246c4693" /><Relationship Type="http://schemas.openxmlformats.org/officeDocument/2006/relationships/image" Target="/ppt/media/image25.png" Id="Rd93ab17190b14e10" /><Relationship Type="http://schemas.openxmlformats.org/officeDocument/2006/relationships/image" Target="/ppt/media/image26.png" Id="R065fa1d8a1b54d47" /><Relationship Type="http://schemas.openxmlformats.org/officeDocument/2006/relationships/image" Target="/ppt/media/image27.png" Id="Rbf88505ca8b54ae8" /><Relationship Type="http://schemas.openxmlformats.org/officeDocument/2006/relationships/image" Target="/ppt/media/image28.png" Id="Rd57345f07c354e8e" /><Relationship Type="http://schemas.openxmlformats.org/officeDocument/2006/relationships/image" Target="/ppt/media/image29.png" Id="R1b809a0b058446d0" /><Relationship Type="http://schemas.openxmlformats.org/officeDocument/2006/relationships/image" Target="/ppt/media/image30.png" Id="R4f459428afad42fa" /><Relationship Type="http://schemas.openxmlformats.org/officeDocument/2006/relationships/image" Target="/ppt/media/image31.png" Id="R62c17535d0cc4784" /><Relationship Type="http://schemas.openxmlformats.org/officeDocument/2006/relationships/image" Target="/ppt/media/image32.png" Id="Rd02dc6df632444bc" /><Relationship Type="http://schemas.openxmlformats.org/officeDocument/2006/relationships/image" Target="/ppt/media/image33.png" Id="R9c8aa21b2284402e" /><Relationship Type="http://schemas.openxmlformats.org/officeDocument/2006/relationships/notesSlide" Target="/ppt/notesSlides/notesSlide2.xml" Id="R576c22b03d474a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48064c7144f4c6a" /><Relationship Type="http://schemas.openxmlformats.org/officeDocument/2006/relationships/image" Target="/ppt/media/image34.png" Id="R4ff695fa6d1e4edb" /><Relationship Type="http://schemas.openxmlformats.org/officeDocument/2006/relationships/image" Target="/ppt/media/image35.png" Id="R87833043d7eb48be" /><Relationship Type="http://schemas.openxmlformats.org/officeDocument/2006/relationships/image" Target="/ppt/media/image36.png" Id="Rb5434d42aac542f7" /><Relationship Type="http://schemas.openxmlformats.org/officeDocument/2006/relationships/image" Target="/ppt/media/image37.png" Id="R97f8922d225d4fd7" /><Relationship Type="http://schemas.openxmlformats.org/officeDocument/2006/relationships/image" Target="/ppt/media/image38.png" Id="R2d66b9f933694294" /><Relationship Type="http://schemas.openxmlformats.org/officeDocument/2006/relationships/image" Target="/ppt/media/image39.png" Id="R5c1a99952c1446be" /><Relationship Type="http://schemas.openxmlformats.org/officeDocument/2006/relationships/image" Target="/ppt/media/image40.png" Id="R7ff177f4db2c4f55" /><Relationship Type="http://schemas.openxmlformats.org/officeDocument/2006/relationships/image" Target="/ppt/media/image41.png" Id="Rfb4af23e9672449a" /><Relationship Type="http://schemas.openxmlformats.org/officeDocument/2006/relationships/image" Target="/ppt/media/image42.png" Id="Re6600d8efec64a4c" /><Relationship Type="http://schemas.openxmlformats.org/officeDocument/2006/relationships/notesSlide" Target="/ppt/notesSlides/notesSlide3.xml" Id="Rc61ef0bf6b40408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baa674067b54905" /><Relationship Type="http://schemas.openxmlformats.org/officeDocument/2006/relationships/image" Target="/ppt/media/image43.png" Id="R031bd2b27ca54cf1" /><Relationship Type="http://schemas.openxmlformats.org/officeDocument/2006/relationships/image" Target="/ppt/media/image44.png" Id="Re56a45f950c54850" /><Relationship Type="http://schemas.openxmlformats.org/officeDocument/2006/relationships/image" Target="/ppt/media/image45.png" Id="R91fc3da701794efc" /><Relationship Type="http://schemas.openxmlformats.org/officeDocument/2006/relationships/image" Target="/ppt/media/image46.png" Id="R1d931288be874032" /><Relationship Type="http://schemas.openxmlformats.org/officeDocument/2006/relationships/image" Target="/ppt/media/image47.png" Id="Rddfdbea1b0ce4ce7" /><Relationship Type="http://schemas.openxmlformats.org/officeDocument/2006/relationships/image" Target="/ppt/media/image48.png" Id="R591b0cecd9674850" /><Relationship Type="http://schemas.openxmlformats.org/officeDocument/2006/relationships/image" Target="/ppt/media/image49.png" Id="R953c823e0aab4753" /><Relationship Type="http://schemas.openxmlformats.org/officeDocument/2006/relationships/image" Target="/ppt/media/image50.png" Id="R0be2e03510264b14" /><Relationship Type="http://schemas.openxmlformats.org/officeDocument/2006/relationships/image" Target="/ppt/media/image51.png" Id="R24b843a442614513" /><Relationship Type="http://schemas.openxmlformats.org/officeDocument/2006/relationships/image" Target="/ppt/media/image52.png" Id="R044c69e98b9c4094" /><Relationship Type="http://schemas.openxmlformats.org/officeDocument/2006/relationships/image" Target="/ppt/media/image53.png" Id="Rdab3669603254e86" /><Relationship Type="http://schemas.openxmlformats.org/officeDocument/2006/relationships/image" Target="/ppt/media/image54.png" Id="Rde9c21ac232b49b0" /><Relationship Type="http://schemas.openxmlformats.org/officeDocument/2006/relationships/image" Target="/ppt/media/image55.png" Id="Rce52e40ead344032" /><Relationship Type="http://schemas.openxmlformats.org/officeDocument/2006/relationships/notesSlide" Target="/ppt/notesSlides/notesSlide4.xml" Id="R253603e0698245c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0308349d840467a" /><Relationship Type="http://schemas.openxmlformats.org/officeDocument/2006/relationships/image" Target="/ppt/media/image56.png" Id="Rc2a76cfe73d34a42" /><Relationship Type="http://schemas.openxmlformats.org/officeDocument/2006/relationships/image" Target="/ppt/media/image57.png" Id="Ref50f31e827442dc" /><Relationship Type="http://schemas.openxmlformats.org/officeDocument/2006/relationships/image" Target="/ppt/media/image58.png" Id="R077297b4023549e8" /><Relationship Type="http://schemas.openxmlformats.org/officeDocument/2006/relationships/image" Target="/ppt/media/image59.png" Id="R34a6e507e4b54af6" /><Relationship Type="http://schemas.openxmlformats.org/officeDocument/2006/relationships/image" Target="/ppt/media/image60.png" Id="Rdc29d7f26c4747dc" /><Relationship Type="http://schemas.openxmlformats.org/officeDocument/2006/relationships/image" Target="/ppt/media/image61.png" Id="R1ae9054c4b7e4413" /><Relationship Type="http://schemas.openxmlformats.org/officeDocument/2006/relationships/image" Target="/ppt/media/image62.png" Id="R3c6f8c74cee94db1" /><Relationship Type="http://schemas.openxmlformats.org/officeDocument/2006/relationships/image" Target="/ppt/media/image63.png" Id="R9c51d93661894ac8" /><Relationship Type="http://schemas.openxmlformats.org/officeDocument/2006/relationships/image" Target="/ppt/media/image64.png" Id="R3af0a355e8d34705" /><Relationship Type="http://schemas.openxmlformats.org/officeDocument/2006/relationships/image" Target="/ppt/media/image65.png" Id="R128faff4a77c4d18" /><Relationship Type="http://schemas.openxmlformats.org/officeDocument/2006/relationships/image" Target="/ppt/media/image66.png" Id="Rb9f012d64f5a46c8" /><Relationship Type="http://schemas.openxmlformats.org/officeDocument/2006/relationships/image" Target="/ppt/media/image67.png" Id="R06699a828c7049eb" /><Relationship Type="http://schemas.openxmlformats.org/officeDocument/2006/relationships/image" Target="/ppt/media/image68.png" Id="Ra47261668e564c1f" /><Relationship Type="http://schemas.openxmlformats.org/officeDocument/2006/relationships/image" Target="/ppt/media/image6.png" Id="R495fb14583364bc1" /><Relationship Type="http://schemas.openxmlformats.org/officeDocument/2006/relationships/notesSlide" Target="/ppt/notesSlides/notesSlide5.xml" Id="R2382377c6fd644e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9caf12f86c74c2e" /><Relationship Type="http://schemas.openxmlformats.org/officeDocument/2006/relationships/image" Target="/ppt/media/image69.png" Id="Rcc7ac9a1abc94bba" /><Relationship Type="http://schemas.openxmlformats.org/officeDocument/2006/relationships/notesSlide" Target="/ppt/notesSlides/notesSlide6.xml" Id="Re244cb93c6ec4334" /></Relationships>
</file>

<file path=ppt/slides/slide1.xml><?xml version="1.0" encoding="utf-8"?>
<p:sld xmlns:p="http://schemas.openxmlformats.org/presentationml/2006/main">
  <p:cSld>
    <p:bg>
      <p:bgPr>
        <a:solidFill xmlns:a="http://schemas.openxmlformats.org/drawingml/2006/main">
          <a:srgbClr val="FAF9F7"/>
        </a:solidFill>
      </p:bgPr>
    </p:bg>
    <p:spTree>
      <p:nvGrpSpPr>
        <p:cNvPr id="1" name=""/>
        <p:cNvGrpSpPr/>
        <p:nvPr/>
      </p:nvGrpSpPr>
      <p:grpSpPr>
        <a:xfrm xmlns:a="http://schemas.openxmlformats.org/drawingml/2006/main"/>
      </p:grpSpPr>
      <p:sp>
        <p:nvSpPr>
          <p:cNvPr id="29" name="Oval 28">
            <a:extLst xmlns:a="http://schemas.openxmlformats.org/drawingml/2006/main">
              <a:ext uri="{FF2B5EF4-FFF2-40B4-BE49-F238E27FC236}">
                <a16:creationId xmlns:a16="http://schemas.microsoft.com/office/drawing/2014/main" id="{4696C5B5-BCFA-4425-B931-C6A2F4CF4A25}"/>
              </a:ext>
            </a:extLst>
          </p:cNvPr>
          <p:cNvSpPr>
            <a:spLocks xmlns:a="http://schemas.openxmlformats.org/drawingml/2006/main" noGrp="1"/>
          </p:cNvSpPr>
          <p:nvPr/>
        </p:nvSpPr>
        <p:spPr>
          <a:xfrm xmlns:a="http://schemas.openxmlformats.org/drawingml/2006/main">
            <a:off x="7239000" y="371475"/>
            <a:ext cx="66675" cy="666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Oval 1">
            <a:extLst xmlns:a="http://schemas.openxmlformats.org/drawingml/2006/main">
              <a:ext uri="{FF2B5EF4-FFF2-40B4-BE49-F238E27FC236}">
                <a16:creationId xmlns:a16="http://schemas.microsoft.com/office/drawing/2014/main" id="{375AA658-C774-489C-98AA-71460C4C75DC}"/>
              </a:ext>
            </a:extLst>
          </p:cNvPr>
          <p:cNvSpPr>
            <a:spLocks xmlns:a="http://schemas.openxmlformats.org/drawingml/2006/main" noGrp="1"/>
          </p:cNvSpPr>
          <p:nvPr/>
        </p:nvSpPr>
        <p:spPr>
          <a:xfrm xmlns:a="http://schemas.openxmlformats.org/drawingml/2006/main">
            <a:off x="4486275" y="981075"/>
            <a:ext cx="47625" cy="4762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Oval 2">
            <a:extLst xmlns:a="http://schemas.openxmlformats.org/drawingml/2006/main">
              <a:ext uri="{FF2B5EF4-FFF2-40B4-BE49-F238E27FC236}">
                <a16:creationId xmlns:a16="http://schemas.microsoft.com/office/drawing/2014/main" id="{1F6E5068-3122-4247-9AB7-38EBFA209EEF}"/>
              </a:ext>
            </a:extLst>
          </p:cNvPr>
          <p:cNvSpPr>
            <a:spLocks xmlns:a="http://schemas.openxmlformats.org/drawingml/2006/main" noGrp="1"/>
          </p:cNvSpPr>
          <p:nvPr/>
        </p:nvSpPr>
        <p:spPr>
          <a:xfrm xmlns:a="http://schemas.openxmlformats.org/drawingml/2006/main">
            <a:off x="5143500" y="561975"/>
            <a:ext cx="38100" cy="38100"/>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Oval 3">
            <a:extLst xmlns:a="http://schemas.openxmlformats.org/drawingml/2006/main">
              <a:ext uri="{FF2B5EF4-FFF2-40B4-BE49-F238E27FC236}">
                <a16:creationId xmlns:a16="http://schemas.microsoft.com/office/drawing/2014/main" id="{7BF01C8E-6137-4231-8D77-A754E49C2571}"/>
              </a:ext>
            </a:extLst>
          </p:cNvPr>
          <p:cNvSpPr>
            <a:spLocks xmlns:a="http://schemas.openxmlformats.org/drawingml/2006/main" noGrp="1"/>
          </p:cNvSpPr>
          <p:nvPr/>
        </p:nvSpPr>
        <p:spPr>
          <a:xfrm xmlns:a="http://schemas.openxmlformats.org/drawingml/2006/main">
            <a:off x="6210300" y="3714750"/>
            <a:ext cx="47625" cy="4762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Oval 4">
            <a:extLst xmlns:a="http://schemas.openxmlformats.org/drawingml/2006/main">
              <a:ext uri="{FF2B5EF4-FFF2-40B4-BE49-F238E27FC236}">
                <a16:creationId xmlns:a16="http://schemas.microsoft.com/office/drawing/2014/main" id="{F10343F5-2252-4F30-81D6-73B33763131E}"/>
              </a:ext>
            </a:extLst>
          </p:cNvPr>
          <p:cNvSpPr>
            <a:spLocks xmlns:a="http://schemas.openxmlformats.org/drawingml/2006/main" noGrp="1"/>
          </p:cNvSpPr>
          <p:nvPr/>
        </p:nvSpPr>
        <p:spPr>
          <a:xfrm xmlns:a="http://schemas.openxmlformats.org/drawingml/2006/main">
            <a:off x="11315700" y="704850"/>
            <a:ext cx="28575" cy="285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46BA590D-5274-475F-AEBD-A987F53BBD38}"/>
              </a:ext>
            </a:extLst>
          </p:cNvPr>
          <p:cNvSpPr>
            <a:spLocks xmlns:a="http://schemas.openxmlformats.org/drawingml/2006/main" noGrp="1"/>
          </p:cNvSpPr>
          <p:nvPr/>
        </p:nvSpPr>
        <p:spPr>
          <a:xfrm xmlns:a="http://schemas.openxmlformats.org/drawingml/2006/main">
            <a:off x="11811000" y="704850"/>
            <a:ext cx="28575" cy="285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2F11CAD1-90ED-4491-A3BE-A83AEE7C6506}"/>
              </a:ext>
            </a:extLst>
          </p:cNvPr>
          <p:cNvSpPr>
            <a:spLocks xmlns:a="http://schemas.openxmlformats.org/drawingml/2006/main" noGrp="1"/>
          </p:cNvSpPr>
          <p:nvPr/>
        </p:nvSpPr>
        <p:spPr>
          <a:xfrm xmlns:a="http://schemas.openxmlformats.org/drawingml/2006/main">
            <a:off x="4486275" y="3876675"/>
            <a:ext cx="47625" cy="4762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17FB2515-F71F-4A18-8796-33CCAB489220}"/>
              </a:ext>
            </a:extLst>
          </p:cNvPr>
          <p:cNvSpPr>
            <a:spLocks xmlns:a="http://schemas.openxmlformats.org/drawingml/2006/main" noGrp="1"/>
          </p:cNvSpPr>
          <p:nvPr/>
        </p:nvSpPr>
        <p:spPr>
          <a:xfrm xmlns:a="http://schemas.openxmlformats.org/drawingml/2006/main">
            <a:off x="0" y="3714750"/>
            <a:ext cx="1381125" cy="1714500"/>
          </a:xfrm>
          <a:prstGeom xmlns:a="http://schemas.openxmlformats.org/drawingml/2006/main" prst="ellipse">
            <a:avLst/>
          </a:prstGeom>
          <a:solidFill xmlns:a="http://schemas.openxmlformats.org/drawingml/2006/main">
            <a:srgbClr val="F7FAF8"/>
          </a:solidFill>
          <a:ln xmlns:a="http://schemas.openxmlformats.org/drawingml/2006/main" w="9525">
            <a:solidFill>
              <a:srgbClr val="E0E6E2"/>
            </a:solidFill>
            <a:prstDash val="dot"/>
          </a:ln>
        </p:spPr>
        <p:txBody>
          <a:bodyPr xmlns:a="http://schemas.openxmlformats.org/drawingml/2006/main"/>
          <a:lstStyle xmlns:a="http://schemas.openxmlformats.org/drawingml/2006/main"/>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752F6077-993B-4744-8476-4A5DEA11BC42}"/>
              </a:ext>
            </a:extLst>
          </p:cNvPr>
          <p:cNvSpPr>
            <a:spLocks xmlns:a="http://schemas.openxmlformats.org/drawingml/2006/main" noGrp="1"/>
          </p:cNvSpPr>
          <p:nvPr/>
        </p:nvSpPr>
        <p:spPr>
          <a:xfrm xmlns:a="http://schemas.openxmlformats.org/drawingml/2006/main">
            <a:off x="0" y="5762625"/>
            <a:ext cx="2952750" cy="1095375"/>
          </a:xfrm>
          <a:prstGeom xmlns:a="http://schemas.openxmlformats.org/drawingml/2006/main" prst="ellipse">
            <a:avLst/>
          </a:prstGeom>
          <a:solidFill xmlns:a="http://schemas.openxmlformats.org/drawingml/2006/main">
            <a:srgbClr val="F7FAF8"/>
          </a:solidFill>
          <a:ln xmlns:a="http://schemas.openxmlformats.org/drawingml/2006/main" w="9525">
            <a:solidFill>
              <a:srgbClr val="E0E6E2"/>
            </a:solidFill>
            <a:prstDash val="dot"/>
          </a:ln>
        </p:spPr>
        <p:txBody>
          <a:bodyPr xmlns:a="http://schemas.openxmlformats.org/drawingml/2006/main"/>
          <a:lstStyle xmlns:a="http://schemas.openxmlformats.org/drawingml/2006/main"/>
          <a:p xmlns:a="http://schemas.openxmlformats.org/drawingml/2006/main">
            <a:endParaRPr/>
          </a:p>
        </p:txBody>
      </p:sp>
      <p:pic>
        <p:nvPicPr>
          <p:cNvPr id="45" name="Picture 37"/>
          <p:cNvPicPr>
            <a:picLocks xmlns:a="http://schemas.openxmlformats.org/drawingml/2006/main" noChangeAspect="1"/>
          </p:cNvPicPr>
          <p:nvPr/>
        </p:nvPicPr>
        <p:blipFill>
          <a:blip xmlns:r="http://schemas.openxmlformats.org/officeDocument/2006/relationships" xmlns:a="http://schemas.openxmlformats.org/drawingml/2006/main" r:embed="R85e7556d092a4a7b"/>
          <a:stretch xmlns:a="http://schemas.openxmlformats.org/drawingml/2006/main"/>
        </p:blipFill>
        <p:spPr>
          <a:xfrm xmlns:a="http://schemas.openxmlformats.org/drawingml/2006/main">
            <a:off x="333375" y="295275"/>
            <a:ext cx="2152650" cy="704850"/>
          </a:xfrm>
          <a:prstGeom xmlns:a="http://schemas.openxmlformats.org/drawingml/2006/main" prst="rect">
            <a:avLst/>
          </a:prstGeom>
        </p:spPr>
      </p:pic>
      <p:pic>
        <p:nvPicPr>
          <p:cNvPr id="46" name="Picture 38"/>
          <p:cNvPicPr>
            <a:picLocks xmlns:a="http://schemas.openxmlformats.org/drawingml/2006/main" noChangeAspect="1"/>
          </p:cNvPicPr>
          <p:nvPr/>
        </p:nvPicPr>
        <p:blipFill>
          <a:blip xmlns:r="http://schemas.openxmlformats.org/officeDocument/2006/relationships" xmlns:a="http://schemas.openxmlformats.org/drawingml/2006/main" r:embed="Reb1d37fc169a4dbd"/>
          <a:stretch xmlns:a="http://schemas.openxmlformats.org/drawingml/2006/main"/>
        </p:blipFill>
        <p:spPr>
          <a:xfrm xmlns:a="http://schemas.openxmlformats.org/drawingml/2006/main">
            <a:off x="6096000" y="476250"/>
            <a:ext cx="5524500" cy="5000625"/>
          </a:xfrm>
          <a:prstGeom xmlns:a="http://schemas.openxmlformats.org/drawingml/2006/main" prst="rect">
            <a:avLst/>
          </a:prstGeom>
        </p:spPr>
      </p:pic>
      <p:sp>
        <p:nvSpPr>
          <p:cNvPr id="12" name="Rectangle 11">
            <a:extLst xmlns:a="http://schemas.openxmlformats.org/drawingml/2006/main">
              <a:ext uri="{FF2B5EF4-FFF2-40B4-BE49-F238E27FC236}">
                <a16:creationId xmlns:a16="http://schemas.microsoft.com/office/drawing/2014/main" id="{BE18B706-8D3E-4081-9607-FAFE11CAC30D}"/>
              </a:ext>
            </a:extLst>
          </p:cNvPr>
          <p:cNvSpPr>
            <a:spLocks xmlns:a="http://schemas.openxmlformats.org/drawingml/2006/main" noGrp="1"/>
          </p:cNvSpPr>
          <p:nvPr/>
        </p:nvSpPr>
        <p:spPr>
          <a:xfrm xmlns:a="http://schemas.openxmlformats.org/drawingml/2006/main">
            <a:off x="361950" y="1733550"/>
            <a:ext cx="4572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4200" b="1" i="0">
                <a:solidFill>
                  <a:srgbClr val="003B25"/>
                </a:solidFill>
                <a:latin typeface="Arial"/>
                <a:ea typeface="Arial"/>
                <a:cs typeface="Arial"/>
              </a:defRPr>
            </a:pPr>
            <a:r>
              <a:rPr sz="4200" b="1" i="0">
                <a:solidFill>
                  <a:srgbClr val="003B25"/>
                </a:solidFill>
                <a:latin typeface="Arial"/>
                <a:ea typeface="Arial"/>
                <a:cs typeface="Arial"/>
              </a:rPr>
              <a:t>Oracle Cloud</a:t>
            </a:r>
          </a:p>
        </p:txBody>
      </p:sp>
      <p:sp>
        <p:nvSpPr>
          <p:cNvPr id="13" name="Rectangle 12">
            <a:extLst xmlns:a="http://schemas.openxmlformats.org/drawingml/2006/main">
              <a:ext uri="{FF2B5EF4-FFF2-40B4-BE49-F238E27FC236}">
                <a16:creationId xmlns:a16="http://schemas.microsoft.com/office/drawing/2014/main" id="{013ED40B-2727-41E5-9FA9-6767E03C6F90}"/>
              </a:ext>
            </a:extLst>
          </p:cNvPr>
          <p:cNvSpPr>
            <a:spLocks xmlns:a="http://schemas.openxmlformats.org/drawingml/2006/main" noGrp="1"/>
          </p:cNvSpPr>
          <p:nvPr/>
        </p:nvSpPr>
        <p:spPr>
          <a:xfrm xmlns:a="http://schemas.openxmlformats.org/drawingml/2006/main">
            <a:off x="361950" y="2400300"/>
            <a:ext cx="590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4200" b="1" i="0">
                <a:solidFill>
                  <a:srgbClr val="003B25"/>
                </a:solidFill>
                <a:latin typeface="Arial"/>
                <a:ea typeface="Arial"/>
                <a:cs typeface="Arial"/>
              </a:defRPr>
            </a:pPr>
            <a:r>
              <a:rPr sz="4200" b="1" i="0">
                <a:solidFill>
                  <a:srgbClr val="003B25"/>
                </a:solidFill>
                <a:latin typeface="Arial"/>
                <a:ea typeface="Arial"/>
                <a:cs typeface="Arial"/>
              </a:rPr>
              <a:t>VMware Solution</a:t>
            </a:r>
          </a:p>
        </p:txBody>
      </p:sp>
      <p:sp>
        <p:nvSpPr>
          <p:cNvPr id="14" name="Rectangle 13">
            <a:extLst xmlns:a="http://schemas.openxmlformats.org/drawingml/2006/main">
              <a:ext uri="{FF2B5EF4-FFF2-40B4-BE49-F238E27FC236}">
                <a16:creationId xmlns:a16="http://schemas.microsoft.com/office/drawing/2014/main" id="{E87D35AF-65D4-4A89-A0BA-254325912F36}"/>
              </a:ext>
            </a:extLst>
          </p:cNvPr>
          <p:cNvSpPr>
            <a:spLocks xmlns:a="http://schemas.openxmlformats.org/drawingml/2006/main" noGrp="1"/>
          </p:cNvSpPr>
          <p:nvPr/>
        </p:nvSpPr>
        <p:spPr>
          <a:xfrm xmlns:a="http://schemas.openxmlformats.org/drawingml/2006/main">
            <a:off x="419100" y="3429000"/>
            <a:ext cx="514350" cy="38100"/>
          </a:xfrm>
          <a:prstGeom xmlns:a="http://schemas.openxmlformats.org/drawingml/2006/main" prst="rect">
            <a:avLst/>
          </a:prstGeom>
          <a:solidFill xmlns:a="http://schemas.openxmlformats.org/drawingml/2006/main">
            <a:srgbClr val="F0000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5" name="Rectangle 14">
            <a:extLst xmlns:a="http://schemas.openxmlformats.org/drawingml/2006/main">
              <a:ext uri="{FF2B5EF4-FFF2-40B4-BE49-F238E27FC236}">
                <a16:creationId xmlns:a16="http://schemas.microsoft.com/office/drawing/2014/main" id="{6DCC6015-522F-4A3D-A984-81E7C719726B}"/>
              </a:ext>
            </a:extLst>
          </p:cNvPr>
          <p:cNvSpPr>
            <a:spLocks xmlns:a="http://schemas.openxmlformats.org/drawingml/2006/main" noGrp="1"/>
          </p:cNvSpPr>
          <p:nvPr/>
        </p:nvSpPr>
        <p:spPr>
          <a:xfrm xmlns:a="http://schemas.openxmlformats.org/drawingml/2006/main">
            <a:off x="419100" y="3752850"/>
            <a:ext cx="2857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2250" b="0" i="0">
                <a:solidFill>
                  <a:srgbClr val="111111"/>
                </a:solidFill>
                <a:latin typeface="Arial"/>
                <a:ea typeface="Arial"/>
                <a:cs typeface="Arial"/>
              </a:defRPr>
            </a:pPr>
            <a:r>
              <a:rPr sz="2250" b="0" i="0">
                <a:solidFill>
                  <a:srgbClr val="111111"/>
                </a:solidFill>
                <a:latin typeface="Arial"/>
                <a:ea typeface="Arial"/>
                <a:cs typeface="Arial"/>
              </a:rPr>
              <a:t>Proposed Sizing</a:t>
            </a:r>
          </a:p>
        </p:txBody>
      </p:sp>
      <p:pic>
        <p:nvPicPr>
          <p:cNvPr id="51" name="Picture 43"/>
          <p:cNvPicPr>
            <a:picLocks xmlns:a="http://schemas.openxmlformats.org/drawingml/2006/main" noChangeAspect="1"/>
          </p:cNvPicPr>
          <p:nvPr/>
        </p:nvPicPr>
        <p:blipFill>
          <a:blip xmlns:r="http://schemas.openxmlformats.org/officeDocument/2006/relationships" xmlns:a="http://schemas.openxmlformats.org/drawingml/2006/main" r:embed="R9586dac0acba4b5c"/>
          <a:stretch xmlns:a="http://schemas.openxmlformats.org/drawingml/2006/main"/>
        </p:blipFill>
        <p:spPr>
          <a:xfrm xmlns:a="http://schemas.openxmlformats.org/drawingml/2006/main">
            <a:off x="409575" y="4514850"/>
            <a:ext cx="466725" cy="466725"/>
          </a:xfrm>
          <a:prstGeom xmlns:a="http://schemas.openxmlformats.org/drawingml/2006/main" prst="rect">
            <a:avLst/>
          </a:prstGeom>
        </p:spPr>
      </p:pic>
      <p:sp>
        <p:nvSpPr>
          <p:cNvPr id="17" name="Straight Connector 16">
            <a:extLst xmlns:a="http://schemas.openxmlformats.org/drawingml/2006/main">
              <a:ext uri="{FF2B5EF4-FFF2-40B4-BE49-F238E27FC236}">
                <a16:creationId xmlns:a16="http://schemas.microsoft.com/office/drawing/2014/main" id="{766A464C-B41C-4A32-B41D-BFAE1B316D1B}"/>
              </a:ext>
            </a:extLst>
          </p:cNvPr>
          <p:cNvSpPr>
            <a:spLocks xmlns:a="http://schemas.openxmlformats.org/drawingml/2006/main" noGrp="1"/>
          </p:cNvSpPr>
          <p:nvPr/>
        </p:nvSpPr>
        <p:spPr>
          <a:xfrm xmlns:a="http://schemas.openxmlformats.org/drawingml/2006/main">
            <a:off x="1028700" y="4533900"/>
            <a:ext cx="0" cy="457200"/>
          </a:xfrm>
          <a:prstGeom xmlns:a="http://schemas.openxmlformats.org/drawingml/2006/main" prst="line">
            <a:avLst/>
          </a:prstGeom>
          <a:noFill xmlns:a="http://schemas.openxmlformats.org/drawingml/2006/main"/>
          <a:ln xmlns:a="http://schemas.openxmlformats.org/drawingml/2006/main" w="9525">
            <a:solidFill>
              <a:srgbClr val="7A827E"/>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Rectangle 17">
            <a:extLst xmlns:a="http://schemas.openxmlformats.org/drawingml/2006/main">
              <a:ext uri="{FF2B5EF4-FFF2-40B4-BE49-F238E27FC236}">
                <a16:creationId xmlns:a16="http://schemas.microsoft.com/office/drawing/2014/main" id="{94955B22-66CD-4132-A773-8F5CF23333EC}"/>
              </a:ext>
            </a:extLst>
          </p:cNvPr>
          <p:cNvSpPr>
            <a:spLocks xmlns:a="http://schemas.openxmlformats.org/drawingml/2006/main" noGrp="1"/>
          </p:cNvSpPr>
          <p:nvPr/>
        </p:nvSpPr>
        <p:spPr>
          <a:xfrm xmlns:a="http://schemas.openxmlformats.org/drawingml/2006/main">
            <a:off x="1190625" y="4581525"/>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00" b="1" i="0">
                <a:solidFill>
                  <a:srgbClr val="003B25"/>
                </a:solidFill>
                <a:latin typeface="Arial"/>
                <a:ea typeface="Arial"/>
                <a:cs typeface="Arial"/>
              </a:defRPr>
            </a:pPr>
            <a:r>
              <a:rPr sz="1200" b="1" i="0">
                <a:solidFill>
                  <a:srgbClr val="003B25"/>
                </a:solidFill>
                <a:latin typeface="Arial"/>
                <a:ea typeface="Arial"/>
                <a:cs typeface="Arial"/>
              </a:rPr>
              <a:t>Customer</a:t>
            </a:r>
          </a:p>
        </p:txBody>
      </p:sp>
      <p:sp>
        <p:nvSpPr>
          <p:cNvPr id="19" name="editable-customer-value">
            <a:extLst xmlns:a="http://schemas.openxmlformats.org/drawingml/2006/main">
              <a:ext uri="{FF2B5EF4-FFF2-40B4-BE49-F238E27FC236}">
                <a16:creationId xmlns:a16="http://schemas.microsoft.com/office/drawing/2014/main" id="{BE76D494-55F5-4B36-BA24-6D15C411EBCA}"/>
              </a:ext>
            </a:extLst>
          </p:cNvPr>
          <p:cNvSpPr>
            <a:spLocks xmlns:a="http://schemas.openxmlformats.org/drawingml/2006/main" noGrp="1"/>
          </p:cNvSpPr>
          <p:nvPr/>
        </p:nvSpPr>
        <p:spPr>
          <a:xfrm xmlns:a="http://schemas.openxmlformats.org/drawingml/2006/main">
            <a:off x="1190625" y="48387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75" b="0" i="0">
                <a:solidFill>
                  <a:srgbClr val="111111"/>
                </a:solidFill>
                <a:latin typeface="Arial"/>
                <a:ea typeface="Arial"/>
                <a:cs typeface="Arial"/>
              </a:defRPr>
            </a:pPr>
            <a:r>
              <a:rPr sz="975" b="0" i="0">
                <a:solidFill>
                  <a:srgbClr val="111111"/>
                </a:solidFill>
                <a:latin typeface="Arial"/>
                <a:ea typeface="Arial"/>
                <a:cs typeface="Arial"/>
              </a:rPr>
              <a:t>CLIENT</a:t>
            </a:r>
          </a:p>
        </p:txBody>
      </p:sp>
      <p:pic>
        <p:nvPicPr>
          <p:cNvPr id="55" name="Picture 47"/>
          <p:cNvPicPr>
            <a:picLocks xmlns:a="http://schemas.openxmlformats.org/drawingml/2006/main" noChangeAspect="1"/>
          </p:cNvPicPr>
          <p:nvPr/>
        </p:nvPicPr>
        <p:blipFill>
          <a:blip xmlns:r="http://schemas.openxmlformats.org/officeDocument/2006/relationships" xmlns:a="http://schemas.openxmlformats.org/drawingml/2006/main" r:embed="R44b00d091b3c4395"/>
          <a:stretch xmlns:a="http://schemas.openxmlformats.org/drawingml/2006/main"/>
        </p:blipFill>
        <p:spPr>
          <a:xfrm xmlns:a="http://schemas.openxmlformats.org/drawingml/2006/main">
            <a:off x="409575" y="5133975"/>
            <a:ext cx="466725" cy="466725"/>
          </a:xfrm>
          <a:prstGeom xmlns:a="http://schemas.openxmlformats.org/drawingml/2006/main" prst="rect">
            <a:avLst/>
          </a:prstGeom>
        </p:spPr>
      </p:pic>
      <p:sp>
        <p:nvSpPr>
          <p:cNvPr id="21" name="Straight Connector 20">
            <a:extLst xmlns:a="http://schemas.openxmlformats.org/drawingml/2006/main">
              <a:ext uri="{FF2B5EF4-FFF2-40B4-BE49-F238E27FC236}">
                <a16:creationId xmlns:a16="http://schemas.microsoft.com/office/drawing/2014/main" id="{2C0F680F-8892-4F5E-9A05-8BE56BC3CA23}"/>
              </a:ext>
            </a:extLst>
          </p:cNvPr>
          <p:cNvSpPr>
            <a:spLocks xmlns:a="http://schemas.openxmlformats.org/drawingml/2006/main" noGrp="1"/>
          </p:cNvSpPr>
          <p:nvPr/>
        </p:nvSpPr>
        <p:spPr>
          <a:xfrm xmlns:a="http://schemas.openxmlformats.org/drawingml/2006/main">
            <a:off x="1028700" y="5153025"/>
            <a:ext cx="0" cy="457200"/>
          </a:xfrm>
          <a:prstGeom xmlns:a="http://schemas.openxmlformats.org/drawingml/2006/main" prst="line">
            <a:avLst/>
          </a:prstGeom>
          <a:noFill xmlns:a="http://schemas.openxmlformats.org/drawingml/2006/main"/>
          <a:ln xmlns:a="http://schemas.openxmlformats.org/drawingml/2006/main" w="9525">
            <a:solidFill>
              <a:srgbClr val="7A827E"/>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Rectangle 21">
            <a:extLst xmlns:a="http://schemas.openxmlformats.org/drawingml/2006/main">
              <a:ext uri="{FF2B5EF4-FFF2-40B4-BE49-F238E27FC236}">
                <a16:creationId xmlns:a16="http://schemas.microsoft.com/office/drawing/2014/main" id="{772916E2-4478-4F86-A366-DBB47E53E5DB}"/>
              </a:ext>
            </a:extLst>
          </p:cNvPr>
          <p:cNvSpPr>
            <a:spLocks xmlns:a="http://schemas.openxmlformats.org/drawingml/2006/main" noGrp="1"/>
          </p:cNvSpPr>
          <p:nvPr/>
        </p:nvSpPr>
        <p:spPr>
          <a:xfrm xmlns:a="http://schemas.openxmlformats.org/drawingml/2006/main">
            <a:off x="1190625" y="52006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00" b="1" i="0">
                <a:solidFill>
                  <a:srgbClr val="003B25"/>
                </a:solidFill>
                <a:latin typeface="Arial"/>
                <a:ea typeface="Arial"/>
                <a:cs typeface="Arial"/>
              </a:defRPr>
            </a:pPr>
            <a:r>
              <a:rPr sz="1200" b="1" i="0">
                <a:solidFill>
                  <a:srgbClr val="003B25"/>
                </a:solidFill>
                <a:latin typeface="Arial"/>
                <a:ea typeface="Arial"/>
                <a:cs typeface="Arial"/>
              </a:rPr>
              <a:t>Date</a:t>
            </a:r>
          </a:p>
        </p:txBody>
      </p:sp>
      <p:sp>
        <p:nvSpPr>
          <p:cNvPr id="23" name="editable-date-value">
            <a:extLst xmlns:a="http://schemas.openxmlformats.org/drawingml/2006/main">
              <a:ext uri="{FF2B5EF4-FFF2-40B4-BE49-F238E27FC236}">
                <a16:creationId xmlns:a16="http://schemas.microsoft.com/office/drawing/2014/main" id="{DD2D484A-CE83-4CF9-B570-03AA9C51BC3C}"/>
              </a:ext>
            </a:extLst>
          </p:cNvPr>
          <p:cNvSpPr>
            <a:spLocks xmlns:a="http://schemas.openxmlformats.org/drawingml/2006/main" noGrp="1"/>
          </p:cNvSpPr>
          <p:nvPr/>
        </p:nvSpPr>
        <p:spPr>
          <a:xfrm xmlns:a="http://schemas.openxmlformats.org/drawingml/2006/main">
            <a:off x="1190625" y="545782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75" b="0" i="0">
                <a:solidFill>
                  <a:srgbClr val="111111"/>
                </a:solidFill>
                <a:latin typeface="Arial"/>
                <a:ea typeface="Arial"/>
                <a:cs typeface="Arial"/>
              </a:defRPr>
            </a:pPr>
            <a:r>
              <a:rPr sz="975" b="0" i="0">
                <a:solidFill>
                  <a:srgbClr val="111111"/>
                </a:solidFill>
                <a:latin typeface="Arial"/>
                <a:ea typeface="Arial"/>
                <a:cs typeface="Arial"/>
              </a:rPr>
              <a:t>May 2025</a:t>
            </a:r>
          </a:p>
        </p:txBody>
      </p:sp>
      <p:pic>
        <p:nvPicPr>
          <p:cNvPr id="59" name="Picture 51"/>
          <p:cNvPicPr>
            <a:picLocks xmlns:a="http://schemas.openxmlformats.org/drawingml/2006/main" noChangeAspect="1"/>
          </p:cNvPicPr>
          <p:nvPr/>
        </p:nvPicPr>
        <p:blipFill>
          <a:blip xmlns:r="http://schemas.openxmlformats.org/officeDocument/2006/relationships" xmlns:a="http://schemas.openxmlformats.org/drawingml/2006/main" r:embed="R0f6c819869974f51"/>
          <a:stretch xmlns:a="http://schemas.openxmlformats.org/drawingml/2006/main"/>
        </p:blipFill>
        <p:spPr>
          <a:xfrm xmlns:a="http://schemas.openxmlformats.org/drawingml/2006/main">
            <a:off x="409575" y="5753100"/>
            <a:ext cx="466725" cy="466725"/>
          </a:xfrm>
          <a:prstGeom xmlns:a="http://schemas.openxmlformats.org/drawingml/2006/main" prst="rect">
            <a:avLst/>
          </a:prstGeom>
        </p:spPr>
      </p:pic>
      <p:sp>
        <p:nvSpPr>
          <p:cNvPr id="25" name="Straight Connector 24">
            <a:extLst xmlns:a="http://schemas.openxmlformats.org/drawingml/2006/main">
              <a:ext uri="{FF2B5EF4-FFF2-40B4-BE49-F238E27FC236}">
                <a16:creationId xmlns:a16="http://schemas.microsoft.com/office/drawing/2014/main" id="{B3390FB1-CD6B-41FD-9B09-6D5983025783}"/>
              </a:ext>
            </a:extLst>
          </p:cNvPr>
          <p:cNvSpPr>
            <a:spLocks xmlns:a="http://schemas.openxmlformats.org/drawingml/2006/main" noGrp="1"/>
          </p:cNvSpPr>
          <p:nvPr/>
        </p:nvSpPr>
        <p:spPr>
          <a:xfrm xmlns:a="http://schemas.openxmlformats.org/drawingml/2006/main">
            <a:off x="1028700" y="5772150"/>
            <a:ext cx="0" cy="457200"/>
          </a:xfrm>
          <a:prstGeom xmlns:a="http://schemas.openxmlformats.org/drawingml/2006/main" prst="line">
            <a:avLst/>
          </a:prstGeom>
          <a:noFill xmlns:a="http://schemas.openxmlformats.org/drawingml/2006/main"/>
          <a:ln xmlns:a="http://schemas.openxmlformats.org/drawingml/2006/main" w="9525">
            <a:solidFill>
              <a:srgbClr val="7A827E"/>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Rectangle 25">
            <a:extLst xmlns:a="http://schemas.openxmlformats.org/drawingml/2006/main">
              <a:ext uri="{FF2B5EF4-FFF2-40B4-BE49-F238E27FC236}">
                <a16:creationId xmlns:a16="http://schemas.microsoft.com/office/drawing/2014/main" id="{5530C77E-C4B2-416C-9770-1B40B5930109}"/>
              </a:ext>
            </a:extLst>
          </p:cNvPr>
          <p:cNvSpPr>
            <a:spLocks xmlns:a="http://schemas.openxmlformats.org/drawingml/2006/main" noGrp="1"/>
          </p:cNvSpPr>
          <p:nvPr/>
        </p:nvSpPr>
        <p:spPr>
          <a:xfrm xmlns:a="http://schemas.openxmlformats.org/drawingml/2006/main">
            <a:off x="1190625" y="5819775"/>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00" b="1" i="0">
                <a:solidFill>
                  <a:srgbClr val="003B25"/>
                </a:solidFill>
                <a:latin typeface="Arial"/>
                <a:ea typeface="Arial"/>
                <a:cs typeface="Arial"/>
              </a:defRPr>
            </a:pPr>
            <a:r>
              <a:rPr sz="1200" b="1" i="0">
                <a:solidFill>
                  <a:srgbClr val="003B25"/>
                </a:solidFill>
                <a:latin typeface="Arial"/>
                <a:ea typeface="Arial"/>
                <a:cs typeface="Arial"/>
              </a:rPr>
              <a:t>Prepared By</a:t>
            </a:r>
          </a:p>
        </p:txBody>
      </p:sp>
      <p:sp>
        <p:nvSpPr>
          <p:cNvPr id="27" name="Rectangle 26">
            <a:extLst xmlns:a="http://schemas.openxmlformats.org/drawingml/2006/main">
              <a:ext uri="{FF2B5EF4-FFF2-40B4-BE49-F238E27FC236}">
                <a16:creationId xmlns:a16="http://schemas.microsoft.com/office/drawing/2014/main" id="{6AA52625-B2E2-4958-9002-F06DCF489D85}"/>
              </a:ext>
            </a:extLst>
          </p:cNvPr>
          <p:cNvSpPr>
            <a:spLocks xmlns:a="http://schemas.openxmlformats.org/drawingml/2006/main" noGrp="1"/>
          </p:cNvSpPr>
          <p:nvPr/>
        </p:nvSpPr>
        <p:spPr>
          <a:xfrm xmlns:a="http://schemas.openxmlformats.org/drawingml/2006/main">
            <a:off x="1190625" y="60769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75" b="0" i="0">
                <a:solidFill>
                  <a:srgbClr val="111111"/>
                </a:solidFill>
                <a:latin typeface="Arial"/>
                <a:ea typeface="Arial"/>
                <a:cs typeface="Arial"/>
              </a:defRPr>
            </a:pPr>
            <a:r>
              <a:rPr sz="975" b="0" i="0">
                <a:solidFill>
                  <a:srgbClr val="111111"/>
                </a:solidFill>
                <a:latin typeface="Arial"/>
                <a:ea typeface="Arial"/>
                <a:cs typeface="Arial"/>
              </a:rPr>
              <a:t>Oracle Cloud VMware Specialist</a:t>
            </a:r>
          </a:p>
        </p:txBody>
      </p:sp>
      <p:pic>
        <p:nvPicPr>
          <p:cNvPr id="63" name="Picture 55"/>
          <p:cNvPicPr>
            <a:picLocks xmlns:a="http://schemas.openxmlformats.org/drawingml/2006/main" noChangeAspect="1"/>
          </p:cNvPicPr>
          <p:nvPr/>
        </p:nvPicPr>
        <p:blipFill>
          <a:blip xmlns:r="http://schemas.openxmlformats.org/officeDocument/2006/relationships" xmlns:a="http://schemas.openxmlformats.org/drawingml/2006/main" r:embed="R6d1f3e0c830d41af"/>
          <a:stretch xmlns:a="http://schemas.openxmlformats.org/drawingml/2006/main"/>
        </p:blipFill>
        <p:spPr>
          <a:xfrm xmlns:a="http://schemas.openxmlformats.org/drawingml/2006/main">
            <a:off x="11401979" y="6457950"/>
            <a:ext cx="446567" cy="400050"/>
          </a:xfrm>
          <a:prstGeom xmlns:a="http://schemas.openxmlformats.org/drawingml/2006/main" prst="rect">
            <a:avLst/>
          </a:prstGeom>
        </p:spPr>
      </p:pic>
    </p:spTree>
    <p:extLst>
      <p:ext uri="{BB962C8B-B14F-4D97-AF65-F5344CB8AC3E}">
        <p14:creationId xmlns:p14="http://schemas.microsoft.com/office/powerpoint/2010/main" val="1245070656"/>
      </p:ext>
    </p:extLst>
  </p:cSld>
</p:sld>
</file>

<file path=ppt/slides/slide2.xml><?xml version="1.0" encoding="utf-8"?>
<p:sld xmlns:p="http://schemas.openxmlformats.org/presentationml/2006/main">
  <p:cSld>
    <p:bg>
      <p:bgPr>
        <a:solidFill xmlns:a="http://schemas.openxmlformats.org/drawingml/2006/main">
          <a:srgbClr val="FDFCFA"/>
        </a:solidFill>
      </p:bgPr>
    </p:bg>
    <p:spTree>
      <p:nvGrpSpPr>
        <p:cNvPr id="1" name=""/>
        <p:cNvGrpSpPr/>
        <p:nvPr/>
      </p:nvGrpSpPr>
      <p:grpSpPr>
        <a:xfrm xmlns:a="http://schemas.openxmlformats.org/drawingml/2006/main"/>
      </p:grpSpPr>
      <p:sp>
        <p:nvSpPr>
          <p:cNvPr id="117" name="Oval 116">
            <a:extLst xmlns:a="http://schemas.openxmlformats.org/drawingml/2006/main">
              <a:ext uri="{FF2B5EF4-FFF2-40B4-BE49-F238E27FC236}">
                <a16:creationId xmlns:a16="http://schemas.microsoft.com/office/drawing/2014/main" id="{56FCBF68-CAA2-45CB-8207-B4E43DF056E9}"/>
              </a:ext>
            </a:extLst>
          </p:cNvPr>
          <p:cNvSpPr>
            <a:spLocks xmlns:a="http://schemas.openxmlformats.org/drawingml/2006/main" noGrp="1"/>
          </p:cNvSpPr>
          <p:nvPr/>
        </p:nvSpPr>
        <p:spPr>
          <a:xfrm xmlns:a="http://schemas.openxmlformats.org/drawingml/2006/main">
            <a:off x="7239000" y="371475"/>
            <a:ext cx="66675" cy="666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Oval 1">
            <a:extLst xmlns:a="http://schemas.openxmlformats.org/drawingml/2006/main">
              <a:ext uri="{FF2B5EF4-FFF2-40B4-BE49-F238E27FC236}">
                <a16:creationId xmlns:a16="http://schemas.microsoft.com/office/drawing/2014/main" id="{80F3D6DD-6291-40F6-9BCB-3A4B2C8E5C27}"/>
              </a:ext>
            </a:extLst>
          </p:cNvPr>
          <p:cNvSpPr>
            <a:spLocks xmlns:a="http://schemas.openxmlformats.org/drawingml/2006/main" noGrp="1"/>
          </p:cNvSpPr>
          <p:nvPr/>
        </p:nvSpPr>
        <p:spPr>
          <a:xfrm xmlns:a="http://schemas.openxmlformats.org/drawingml/2006/main">
            <a:off x="5143500" y="561975"/>
            <a:ext cx="38100" cy="38100"/>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Oval 2">
            <a:extLst xmlns:a="http://schemas.openxmlformats.org/drawingml/2006/main">
              <a:ext uri="{FF2B5EF4-FFF2-40B4-BE49-F238E27FC236}">
                <a16:creationId xmlns:a16="http://schemas.microsoft.com/office/drawing/2014/main" id="{E289F1B1-948D-4460-81A3-77577CD17398}"/>
              </a:ext>
            </a:extLst>
          </p:cNvPr>
          <p:cNvSpPr>
            <a:spLocks xmlns:a="http://schemas.openxmlformats.org/drawingml/2006/main" noGrp="1"/>
          </p:cNvSpPr>
          <p:nvPr/>
        </p:nvSpPr>
        <p:spPr>
          <a:xfrm xmlns:a="http://schemas.openxmlformats.org/drawingml/2006/main">
            <a:off x="4486275" y="981075"/>
            <a:ext cx="47625" cy="4762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Oval 3">
            <a:extLst xmlns:a="http://schemas.openxmlformats.org/drawingml/2006/main">
              <a:ext uri="{FF2B5EF4-FFF2-40B4-BE49-F238E27FC236}">
                <a16:creationId xmlns:a16="http://schemas.microsoft.com/office/drawing/2014/main" id="{33F06FF9-48BA-4281-A0E8-F149DE46CFE8}"/>
              </a:ext>
            </a:extLst>
          </p:cNvPr>
          <p:cNvSpPr>
            <a:spLocks xmlns:a="http://schemas.openxmlformats.org/drawingml/2006/main" noGrp="1"/>
          </p:cNvSpPr>
          <p:nvPr/>
        </p:nvSpPr>
        <p:spPr>
          <a:xfrm xmlns:a="http://schemas.openxmlformats.org/drawingml/2006/main">
            <a:off x="6191250" y="3714750"/>
            <a:ext cx="47625" cy="4762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Oval 4">
            <a:extLst xmlns:a="http://schemas.openxmlformats.org/drawingml/2006/main">
              <a:ext uri="{FF2B5EF4-FFF2-40B4-BE49-F238E27FC236}">
                <a16:creationId xmlns:a16="http://schemas.microsoft.com/office/drawing/2014/main" id="{05730687-2D75-40B4-9655-64B2A3B56588}"/>
              </a:ext>
            </a:extLst>
          </p:cNvPr>
          <p:cNvSpPr>
            <a:spLocks xmlns:a="http://schemas.openxmlformats.org/drawingml/2006/main" noGrp="1"/>
          </p:cNvSpPr>
          <p:nvPr/>
        </p:nvSpPr>
        <p:spPr>
          <a:xfrm xmlns:a="http://schemas.openxmlformats.org/drawingml/2006/main">
            <a:off x="11315700" y="704850"/>
            <a:ext cx="28575" cy="285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FA2F2A46-9BF8-45E1-8BAF-62F0788C5D64}"/>
              </a:ext>
            </a:extLst>
          </p:cNvPr>
          <p:cNvSpPr>
            <a:spLocks xmlns:a="http://schemas.openxmlformats.org/drawingml/2006/main" noGrp="1"/>
          </p:cNvSpPr>
          <p:nvPr/>
        </p:nvSpPr>
        <p:spPr>
          <a:xfrm xmlns:a="http://schemas.openxmlformats.org/drawingml/2006/main">
            <a:off x="11811000" y="704850"/>
            <a:ext cx="28575" cy="285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CBFC9DD0-865D-4BEF-AD66-93056BE1E459}"/>
              </a:ext>
            </a:extLst>
          </p:cNvPr>
          <p:cNvSpPr>
            <a:spLocks xmlns:a="http://schemas.openxmlformats.org/drawingml/2006/main" noGrp="1"/>
          </p:cNvSpPr>
          <p:nvPr/>
        </p:nvSpPr>
        <p:spPr>
          <a:xfrm xmlns:a="http://schemas.openxmlformats.org/drawingml/2006/main">
            <a:off x="11696700" y="6334125"/>
            <a:ext cx="38100" cy="38100"/>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Rectangle 7">
            <a:extLst xmlns:a="http://schemas.openxmlformats.org/drawingml/2006/main">
              <a:ext uri="{FF2B5EF4-FFF2-40B4-BE49-F238E27FC236}">
                <a16:creationId xmlns:a16="http://schemas.microsoft.com/office/drawing/2014/main" id="{F4665D1A-4623-4CF9-A20C-68CDF4C2ABE6}"/>
              </a:ext>
            </a:extLst>
          </p:cNvPr>
          <p:cNvSpPr>
            <a:spLocks xmlns:a="http://schemas.openxmlformats.org/drawingml/2006/main" noGrp="1"/>
          </p:cNvSpPr>
          <p:nvPr/>
        </p:nvSpPr>
        <p:spPr>
          <a:xfrm xmlns:a="http://schemas.openxmlformats.org/drawingml/2006/main">
            <a:off x="342900" y="295275"/>
            <a:ext cx="7953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2550" b="1" i="0">
                <a:solidFill>
                  <a:srgbClr val="003B25"/>
                </a:solidFill>
                <a:latin typeface="Arial"/>
                <a:ea typeface="Arial"/>
                <a:cs typeface="Arial"/>
              </a:defRPr>
            </a:pPr>
            <a:r>
              <a:rPr sz="2550" b="1" i="0">
                <a:solidFill>
                  <a:srgbClr val="003B25"/>
                </a:solidFill>
                <a:latin typeface="Arial"/>
                <a:ea typeface="Arial"/>
                <a:cs typeface="Arial"/>
              </a:rPr>
              <a:t>Disaster recovery with Oracle Cloud VMware Solution</a:t>
            </a:r>
          </a:p>
        </p:txBody>
      </p:sp>
      <p:sp>
        <p:nvSpPr>
          <p:cNvPr id="9" name="Rectangle 8">
            <a:extLst xmlns:a="http://schemas.openxmlformats.org/drawingml/2006/main">
              <a:ext uri="{FF2B5EF4-FFF2-40B4-BE49-F238E27FC236}">
                <a16:creationId xmlns:a16="http://schemas.microsoft.com/office/drawing/2014/main" id="{989F218F-13FB-4BC0-8923-1FE366F8A0F1}"/>
              </a:ext>
            </a:extLst>
          </p:cNvPr>
          <p:cNvSpPr>
            <a:spLocks xmlns:a="http://schemas.openxmlformats.org/drawingml/2006/main" noGrp="1"/>
          </p:cNvSpPr>
          <p:nvPr/>
        </p:nvSpPr>
        <p:spPr>
          <a:xfrm xmlns:a="http://schemas.openxmlformats.org/drawingml/2006/main">
            <a:off x="342900" y="800100"/>
            <a:ext cx="409575" cy="38100"/>
          </a:xfrm>
          <a:prstGeom xmlns:a="http://schemas.openxmlformats.org/drawingml/2006/main" prst="rect">
            <a:avLst/>
          </a:prstGeom>
          <a:solidFill xmlns:a="http://schemas.openxmlformats.org/drawingml/2006/main">
            <a:srgbClr val="E6000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0" name="Rectangle 9">
            <a:extLst xmlns:a="http://schemas.openxmlformats.org/drawingml/2006/main">
              <a:ext uri="{FF2B5EF4-FFF2-40B4-BE49-F238E27FC236}">
                <a16:creationId xmlns:a16="http://schemas.microsoft.com/office/drawing/2014/main" id="{4A88FE9F-F4BC-49FB-AA7D-E3404E80ADD4}"/>
              </a:ext>
            </a:extLst>
          </p:cNvPr>
          <p:cNvSpPr>
            <a:spLocks xmlns:a="http://schemas.openxmlformats.org/drawingml/2006/main" noGrp="1"/>
          </p:cNvSpPr>
          <p:nvPr/>
        </p:nvSpPr>
        <p:spPr>
          <a:xfrm xmlns:a="http://schemas.openxmlformats.org/drawingml/2006/main">
            <a:off x="342900" y="100012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75" b="0" i="0">
                <a:solidFill>
                  <a:srgbClr val="666666"/>
                </a:solidFill>
                <a:latin typeface="Arial"/>
                <a:ea typeface="Arial"/>
                <a:cs typeface="Arial"/>
              </a:defRPr>
            </a:pPr>
            <a:r>
              <a:rPr sz="1275" b="0" i="0">
                <a:solidFill>
                  <a:srgbClr val="666666"/>
                </a:solidFill>
                <a:latin typeface="Arial"/>
                <a:ea typeface="Arial"/>
                <a:cs typeface="Arial"/>
              </a:rPr>
              <a:t>Create a reliable DR environment in the cloud to ensure business continuity and resilience.</a:t>
            </a:r>
          </a:p>
        </p:txBody>
      </p:sp>
      <p:pic>
        <p:nvPicPr>
          <p:cNvPr id="157" name="Picture 126"/>
          <p:cNvPicPr>
            <a:picLocks xmlns:a="http://schemas.openxmlformats.org/drawingml/2006/main" noChangeAspect="1"/>
          </p:cNvPicPr>
          <p:nvPr/>
        </p:nvPicPr>
        <p:blipFill>
          <a:blip xmlns:r="http://schemas.openxmlformats.org/officeDocument/2006/relationships" xmlns:a="http://schemas.openxmlformats.org/drawingml/2006/main" r:embed="Rcbacdb0d3cda40fb"/>
          <a:stretch xmlns:a="http://schemas.openxmlformats.org/drawingml/2006/main"/>
        </p:blipFill>
        <p:spPr>
          <a:xfrm xmlns:a="http://schemas.openxmlformats.org/drawingml/2006/main">
            <a:off x="9239250" y="410680"/>
            <a:ext cx="2647950" cy="312116"/>
          </a:xfrm>
          <a:prstGeom xmlns:a="http://schemas.openxmlformats.org/drawingml/2006/main" prst="rect">
            <a:avLst/>
          </a:prstGeom>
        </p:spPr>
      </p:pic>
      <p:sp>
        <p:nvSpPr>
          <p:cNvPr id="12" name="Rounded Rectangle 11">
            <a:extLst xmlns:a="http://schemas.openxmlformats.org/drawingml/2006/main">
              <a:ext uri="{FF2B5EF4-FFF2-40B4-BE49-F238E27FC236}">
                <a16:creationId xmlns:a16="http://schemas.microsoft.com/office/drawing/2014/main" id="{786F4932-AB24-481B-95D0-E3179D3FF528}"/>
              </a:ext>
            </a:extLst>
          </p:cNvPr>
          <p:cNvSpPr>
            <a:spLocks xmlns:a="http://schemas.openxmlformats.org/drawingml/2006/main" noGrp="1"/>
          </p:cNvSpPr>
          <p:nvPr/>
        </p:nvSpPr>
        <p:spPr>
          <a:xfrm xmlns:a="http://schemas.openxmlformats.org/drawingml/2006/main">
            <a:off x="333375" y="1400175"/>
            <a:ext cx="9572625" cy="723900"/>
          </a:xfrm>
          <a:prstGeom xmlns:a="http://schemas.openxmlformats.org/drawingml/2006/main" prst="roundRect">
            <a:avLst>
              <a:gd name="adj" fmla="val 9211"/>
            </a:avLst>
          </a:prstGeom>
          <a:solidFill xmlns:a="http://schemas.openxmlformats.org/drawingml/2006/main">
            <a:srgbClr val="FFFFFF"/>
          </a:solidFill>
          <a:ln xmlns:a="http://schemas.openxmlformats.org/drawingml/2006/main" w="9525">
            <a:solidFill>
              <a:srgbClr val="D2DAD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pic>
        <p:nvPicPr>
          <p:cNvPr id="159" name="Picture 128"/>
          <p:cNvPicPr>
            <a:picLocks xmlns:a="http://schemas.openxmlformats.org/drawingml/2006/main" noChangeAspect="1"/>
          </p:cNvPicPr>
          <p:nvPr/>
        </p:nvPicPr>
        <p:blipFill>
          <a:blip xmlns:r="http://schemas.openxmlformats.org/officeDocument/2006/relationships" xmlns:a="http://schemas.openxmlformats.org/drawingml/2006/main" r:embed="R0006b6d71e3844df"/>
          <a:stretch xmlns:a="http://schemas.openxmlformats.org/drawingml/2006/main"/>
        </p:blipFill>
        <p:spPr>
          <a:xfrm xmlns:a="http://schemas.openxmlformats.org/drawingml/2006/main">
            <a:off x="542925" y="1595438"/>
            <a:ext cx="400050" cy="371475"/>
          </a:xfrm>
          <a:prstGeom xmlns:a="http://schemas.openxmlformats.org/drawingml/2006/main" prst="rect">
            <a:avLst/>
          </a:prstGeom>
        </p:spPr>
      </p:pic>
      <p:sp>
        <p:nvSpPr>
          <p:cNvPr id="14" name="Rectangle 13">
            <a:extLst xmlns:a="http://schemas.openxmlformats.org/drawingml/2006/main">
              <a:ext uri="{FF2B5EF4-FFF2-40B4-BE49-F238E27FC236}">
                <a16:creationId xmlns:a16="http://schemas.microsoft.com/office/drawing/2014/main" id="{5E5B05A7-8CAC-4DA1-AF73-A5CF6A840223}"/>
              </a:ext>
            </a:extLst>
          </p:cNvPr>
          <p:cNvSpPr>
            <a:spLocks xmlns:a="http://schemas.openxmlformats.org/drawingml/2006/main" noGrp="1"/>
          </p:cNvSpPr>
          <p:nvPr/>
        </p:nvSpPr>
        <p:spPr>
          <a:xfrm xmlns:a="http://schemas.openxmlformats.org/drawingml/2006/main">
            <a:off x="1047750" y="1628775"/>
            <a:ext cx="16573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5000"/>
              </a:lnSpc>
              <a:buNone/>
              <a:defRPr sz="788" b="1" i="0">
                <a:solidFill>
                  <a:srgbClr val="111111"/>
                </a:solidFill>
                <a:latin typeface="Arial"/>
                <a:ea typeface="Arial"/>
                <a:cs typeface="Arial"/>
              </a:defRPr>
            </a:pPr>
            <a:r>
              <a:rPr sz="788" b="1" i="0">
                <a:solidFill>
                  <a:srgbClr val="111111"/>
                </a:solidFill>
                <a:latin typeface="Arial"/>
                <a:ea typeface="Arial"/>
                <a:cs typeface="Arial"/>
              </a:rPr>
              <a:t>Business continuity for</a:t>
            </a:r>
          </a:p>
          <a:p xmlns:a="http://schemas.openxmlformats.org/drawingml/2006/main">
            <a:pPr algn="l">
              <a:lnSpc>
                <a:spcPct val="105000"/>
              </a:lnSpc>
              <a:buNone/>
              <a:defRPr sz="788" b="1" i="0">
                <a:solidFill>
                  <a:srgbClr val="111111"/>
                </a:solidFill>
                <a:latin typeface="Arial"/>
                <a:ea typeface="Arial"/>
                <a:cs typeface="Arial"/>
              </a:defRPr>
            </a:pPr>
            <a:r>
              <a:rPr sz="788" b="1" i="0">
                <a:solidFill>
                  <a:srgbClr val="111111"/>
                </a:solidFill>
                <a:latin typeface="Arial"/>
                <a:ea typeface="Arial"/>
                <a:cs typeface="Arial"/>
              </a:rPr>
              <a:t>mission-critical applications</a:t>
            </a:r>
          </a:p>
        </p:txBody>
      </p:sp>
      <p:pic>
        <p:nvPicPr>
          <p:cNvPr id="161" name="Picture 130"/>
          <p:cNvPicPr>
            <a:picLocks xmlns:a="http://schemas.openxmlformats.org/drawingml/2006/main" noChangeAspect="1"/>
          </p:cNvPicPr>
          <p:nvPr/>
        </p:nvPicPr>
        <p:blipFill>
          <a:blip xmlns:r="http://schemas.openxmlformats.org/officeDocument/2006/relationships" xmlns:a="http://schemas.openxmlformats.org/drawingml/2006/main" r:embed="R6a432e44c86b4655"/>
          <a:stretch xmlns:a="http://schemas.openxmlformats.org/drawingml/2006/main"/>
        </p:blipFill>
        <p:spPr>
          <a:xfrm xmlns:a="http://schemas.openxmlformats.org/drawingml/2006/main">
            <a:off x="3009900" y="1603375"/>
            <a:ext cx="400050" cy="355600"/>
          </a:xfrm>
          <a:prstGeom xmlns:a="http://schemas.openxmlformats.org/drawingml/2006/main" prst="rect">
            <a:avLst/>
          </a:prstGeom>
        </p:spPr>
      </p:pic>
      <p:sp>
        <p:nvSpPr>
          <p:cNvPr id="16" name="Rectangle 15">
            <a:extLst xmlns:a="http://schemas.openxmlformats.org/drawingml/2006/main">
              <a:ext uri="{FF2B5EF4-FFF2-40B4-BE49-F238E27FC236}">
                <a16:creationId xmlns:a16="http://schemas.microsoft.com/office/drawing/2014/main" id="{E618FC33-3E60-40C1-A9CC-8A11633BDAAA}"/>
              </a:ext>
            </a:extLst>
          </p:cNvPr>
          <p:cNvSpPr>
            <a:spLocks xmlns:a="http://schemas.openxmlformats.org/drawingml/2006/main" noGrp="1"/>
          </p:cNvSpPr>
          <p:nvPr/>
        </p:nvSpPr>
        <p:spPr>
          <a:xfrm xmlns:a="http://schemas.openxmlformats.org/drawingml/2006/main">
            <a:off x="3533775" y="1628775"/>
            <a:ext cx="16573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5000"/>
              </a:lnSpc>
              <a:buNone/>
              <a:defRPr sz="788" b="1" i="0">
                <a:solidFill>
                  <a:srgbClr val="111111"/>
                </a:solidFill>
                <a:latin typeface="Arial"/>
                <a:ea typeface="Arial"/>
                <a:cs typeface="Arial"/>
              </a:defRPr>
            </a:pPr>
            <a:r>
              <a:rPr sz="788" b="1" i="0">
                <a:solidFill>
                  <a:srgbClr val="111111"/>
                </a:solidFill>
                <a:latin typeface="Arial"/>
                <a:ea typeface="Arial"/>
                <a:cs typeface="Arial"/>
              </a:rPr>
              <a:t>Maintain systems without</a:t>
            </a:r>
          </a:p>
          <a:p xmlns:a="http://schemas.openxmlformats.org/drawingml/2006/main">
            <a:pPr algn="l">
              <a:lnSpc>
                <a:spcPct val="105000"/>
              </a:lnSpc>
              <a:buNone/>
              <a:defRPr sz="788" b="1" i="0">
                <a:solidFill>
                  <a:srgbClr val="111111"/>
                </a:solidFill>
                <a:latin typeface="Arial"/>
                <a:ea typeface="Arial"/>
                <a:cs typeface="Arial"/>
              </a:defRPr>
            </a:pPr>
            <a:r>
              <a:rPr sz="788" b="1" i="0">
                <a:solidFill>
                  <a:srgbClr val="111111"/>
                </a:solidFill>
                <a:latin typeface="Arial"/>
                <a:ea typeface="Arial"/>
                <a:cs typeface="Arial"/>
              </a:rPr>
              <a:t>service disruption</a:t>
            </a:r>
          </a:p>
        </p:txBody>
      </p:sp>
      <p:pic>
        <p:nvPicPr>
          <p:cNvPr id="163" name="Picture 132"/>
          <p:cNvPicPr>
            <a:picLocks xmlns:a="http://schemas.openxmlformats.org/drawingml/2006/main" noChangeAspect="1"/>
          </p:cNvPicPr>
          <p:nvPr/>
        </p:nvPicPr>
        <p:blipFill>
          <a:blip xmlns:r="http://schemas.openxmlformats.org/officeDocument/2006/relationships" xmlns:a="http://schemas.openxmlformats.org/drawingml/2006/main" r:embed="R142de722c1b24d17"/>
          <a:stretch xmlns:a="http://schemas.openxmlformats.org/drawingml/2006/main"/>
        </p:blipFill>
        <p:spPr>
          <a:xfrm xmlns:a="http://schemas.openxmlformats.org/drawingml/2006/main">
            <a:off x="5448300" y="1590242"/>
            <a:ext cx="400050" cy="381866"/>
          </a:xfrm>
          <a:prstGeom xmlns:a="http://schemas.openxmlformats.org/drawingml/2006/main" prst="rect">
            <a:avLst/>
          </a:prstGeom>
        </p:spPr>
      </p:pic>
      <p:sp>
        <p:nvSpPr>
          <p:cNvPr id="18" name="Rectangle 17">
            <a:extLst xmlns:a="http://schemas.openxmlformats.org/drawingml/2006/main">
              <a:ext uri="{FF2B5EF4-FFF2-40B4-BE49-F238E27FC236}">
                <a16:creationId xmlns:a16="http://schemas.microsoft.com/office/drawing/2014/main" id="{EA86944C-D13A-4B24-B4A7-3B4B8B6CF08B}"/>
              </a:ext>
            </a:extLst>
          </p:cNvPr>
          <p:cNvSpPr>
            <a:spLocks xmlns:a="http://schemas.openxmlformats.org/drawingml/2006/main" noGrp="1"/>
          </p:cNvSpPr>
          <p:nvPr/>
        </p:nvSpPr>
        <p:spPr>
          <a:xfrm xmlns:a="http://schemas.openxmlformats.org/drawingml/2006/main">
            <a:off x="5962650" y="1628775"/>
            <a:ext cx="16573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5000"/>
              </a:lnSpc>
              <a:buNone/>
              <a:defRPr sz="788" b="1" i="0">
                <a:solidFill>
                  <a:srgbClr val="111111"/>
                </a:solidFill>
                <a:latin typeface="Arial"/>
                <a:ea typeface="Arial"/>
                <a:cs typeface="Arial"/>
              </a:defRPr>
            </a:pPr>
            <a:r>
              <a:rPr sz="788" b="1" i="0">
                <a:solidFill>
                  <a:srgbClr val="111111"/>
                </a:solidFill>
                <a:latin typeface="Arial"/>
                <a:ea typeface="Arial"/>
                <a:cs typeface="Arial"/>
              </a:rPr>
              <a:t>Ensure recovery from</a:t>
            </a:r>
          </a:p>
          <a:p xmlns:a="http://schemas.openxmlformats.org/drawingml/2006/main">
            <a:pPr algn="l">
              <a:lnSpc>
                <a:spcPct val="105000"/>
              </a:lnSpc>
              <a:buNone/>
              <a:defRPr sz="788" b="1" i="0">
                <a:solidFill>
                  <a:srgbClr val="111111"/>
                </a:solidFill>
                <a:latin typeface="Arial"/>
                <a:ea typeface="Arial"/>
                <a:cs typeface="Arial"/>
              </a:defRPr>
            </a:pPr>
            <a:r>
              <a:rPr sz="788" b="1" i="0">
                <a:solidFill>
                  <a:srgbClr val="111111"/>
                </a:solidFill>
                <a:latin typeface="Arial"/>
                <a:ea typeface="Arial"/>
                <a:cs typeface="Arial"/>
              </a:rPr>
              <a:t>data corruption &amp; cyberattacks</a:t>
            </a:r>
          </a:p>
        </p:txBody>
      </p:sp>
      <p:pic>
        <p:nvPicPr>
          <p:cNvPr id="165" name="Picture 134"/>
          <p:cNvPicPr>
            <a:picLocks xmlns:a="http://schemas.openxmlformats.org/drawingml/2006/main" noChangeAspect="1"/>
          </p:cNvPicPr>
          <p:nvPr/>
        </p:nvPicPr>
        <p:blipFill>
          <a:blip xmlns:r="http://schemas.openxmlformats.org/officeDocument/2006/relationships" xmlns:a="http://schemas.openxmlformats.org/drawingml/2006/main" r:embed="Rd6792044c6d64c98"/>
          <a:stretch xmlns:a="http://schemas.openxmlformats.org/drawingml/2006/main"/>
        </p:blipFill>
        <p:spPr>
          <a:xfrm xmlns:a="http://schemas.openxmlformats.org/drawingml/2006/main">
            <a:off x="7972425" y="1594788"/>
            <a:ext cx="400050" cy="372774"/>
          </a:xfrm>
          <a:prstGeom xmlns:a="http://schemas.openxmlformats.org/drawingml/2006/main" prst="rect">
            <a:avLst/>
          </a:prstGeom>
        </p:spPr>
      </p:pic>
      <p:sp>
        <p:nvSpPr>
          <p:cNvPr id="20" name="Rectangle 19">
            <a:extLst xmlns:a="http://schemas.openxmlformats.org/drawingml/2006/main">
              <a:ext uri="{FF2B5EF4-FFF2-40B4-BE49-F238E27FC236}">
                <a16:creationId xmlns:a16="http://schemas.microsoft.com/office/drawing/2014/main" id="{020C0DCF-D439-4048-8F9A-835D67707AD8}"/>
              </a:ext>
            </a:extLst>
          </p:cNvPr>
          <p:cNvSpPr>
            <a:spLocks xmlns:a="http://schemas.openxmlformats.org/drawingml/2006/main" noGrp="1"/>
          </p:cNvSpPr>
          <p:nvPr/>
        </p:nvSpPr>
        <p:spPr>
          <a:xfrm xmlns:a="http://schemas.openxmlformats.org/drawingml/2006/main">
            <a:off x="8496300" y="1628775"/>
            <a:ext cx="16573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5000"/>
              </a:lnSpc>
              <a:buNone/>
              <a:defRPr sz="788" b="1" i="0">
                <a:solidFill>
                  <a:srgbClr val="111111"/>
                </a:solidFill>
                <a:latin typeface="Arial"/>
                <a:ea typeface="Arial"/>
                <a:cs typeface="Arial"/>
              </a:defRPr>
            </a:pPr>
            <a:r>
              <a:rPr sz="788" b="1" i="0">
                <a:solidFill>
                  <a:srgbClr val="111111"/>
                </a:solidFill>
                <a:latin typeface="Arial"/>
                <a:ea typeface="Arial"/>
                <a:cs typeface="Arial"/>
              </a:rPr>
              <a:t>Meet defined RTO &amp; RPO</a:t>
            </a:r>
          </a:p>
          <a:p xmlns:a="http://schemas.openxmlformats.org/drawingml/2006/main">
            <a:pPr algn="l">
              <a:lnSpc>
                <a:spcPct val="105000"/>
              </a:lnSpc>
              <a:buNone/>
              <a:defRPr sz="788" b="1" i="0">
                <a:solidFill>
                  <a:srgbClr val="111111"/>
                </a:solidFill>
                <a:latin typeface="Arial"/>
                <a:ea typeface="Arial"/>
                <a:cs typeface="Arial"/>
              </a:defRPr>
            </a:pPr>
            <a:r>
              <a:rPr sz="788" b="1" i="0">
                <a:solidFill>
                  <a:srgbClr val="111111"/>
                </a:solidFill>
                <a:latin typeface="Arial"/>
                <a:ea typeface="Arial"/>
                <a:cs typeface="Arial"/>
              </a:rPr>
              <a:t>with backups &amp; restores</a:t>
            </a:r>
          </a:p>
        </p:txBody>
      </p:sp>
      <p:sp>
        <p:nvSpPr>
          <p:cNvPr id="21" name="Straight Connector 20">
            <a:extLst xmlns:a="http://schemas.openxmlformats.org/drawingml/2006/main">
              <a:ext uri="{FF2B5EF4-FFF2-40B4-BE49-F238E27FC236}">
                <a16:creationId xmlns:a16="http://schemas.microsoft.com/office/drawing/2014/main" id="{341E699D-0E10-41F2-A6D0-918E054EF6DF}"/>
              </a:ext>
            </a:extLst>
          </p:cNvPr>
          <p:cNvSpPr>
            <a:spLocks xmlns:a="http://schemas.openxmlformats.org/drawingml/2006/main" noGrp="1"/>
          </p:cNvSpPr>
          <p:nvPr/>
        </p:nvSpPr>
        <p:spPr>
          <a:xfrm xmlns:a="http://schemas.openxmlformats.org/drawingml/2006/main">
            <a:off x="2790825" y="1552575"/>
            <a:ext cx="0" cy="457200"/>
          </a:xfrm>
          <a:prstGeom xmlns:a="http://schemas.openxmlformats.org/drawingml/2006/main" prst="line">
            <a:avLst/>
          </a:prstGeom>
          <a:noFill xmlns:a="http://schemas.openxmlformats.org/drawingml/2006/main"/>
          <a:ln xmlns:a="http://schemas.openxmlformats.org/drawingml/2006/main" w="9525">
            <a:solidFill>
              <a:srgbClr val="D8DEDA"/>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Straight Connector 21">
            <a:extLst xmlns:a="http://schemas.openxmlformats.org/drawingml/2006/main">
              <a:ext uri="{FF2B5EF4-FFF2-40B4-BE49-F238E27FC236}">
                <a16:creationId xmlns:a16="http://schemas.microsoft.com/office/drawing/2014/main" id="{AA3C1E6A-3277-45AB-9BB2-56CC6330710C}"/>
              </a:ext>
            </a:extLst>
          </p:cNvPr>
          <p:cNvSpPr>
            <a:spLocks xmlns:a="http://schemas.openxmlformats.org/drawingml/2006/main" noGrp="1"/>
          </p:cNvSpPr>
          <p:nvPr/>
        </p:nvSpPr>
        <p:spPr>
          <a:xfrm xmlns:a="http://schemas.openxmlformats.org/drawingml/2006/main">
            <a:off x="5200650" y="1552575"/>
            <a:ext cx="0" cy="457200"/>
          </a:xfrm>
          <a:prstGeom xmlns:a="http://schemas.openxmlformats.org/drawingml/2006/main" prst="line">
            <a:avLst/>
          </a:prstGeom>
          <a:noFill xmlns:a="http://schemas.openxmlformats.org/drawingml/2006/main"/>
          <a:ln xmlns:a="http://schemas.openxmlformats.org/drawingml/2006/main" w="9525">
            <a:solidFill>
              <a:srgbClr val="D8DEDA"/>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Straight Connector 22">
            <a:extLst xmlns:a="http://schemas.openxmlformats.org/drawingml/2006/main">
              <a:ext uri="{FF2B5EF4-FFF2-40B4-BE49-F238E27FC236}">
                <a16:creationId xmlns:a16="http://schemas.microsoft.com/office/drawing/2014/main" id="{2E09B376-0D97-4413-916B-C1F5FF0F81ED}"/>
              </a:ext>
            </a:extLst>
          </p:cNvPr>
          <p:cNvSpPr>
            <a:spLocks xmlns:a="http://schemas.openxmlformats.org/drawingml/2006/main" noGrp="1"/>
          </p:cNvSpPr>
          <p:nvPr/>
        </p:nvSpPr>
        <p:spPr>
          <a:xfrm xmlns:a="http://schemas.openxmlformats.org/drawingml/2006/main">
            <a:off x="7734300" y="1552575"/>
            <a:ext cx="0" cy="457200"/>
          </a:xfrm>
          <a:prstGeom xmlns:a="http://schemas.openxmlformats.org/drawingml/2006/main" prst="line">
            <a:avLst/>
          </a:prstGeom>
          <a:noFill xmlns:a="http://schemas.openxmlformats.org/drawingml/2006/main"/>
          <a:ln xmlns:a="http://schemas.openxmlformats.org/drawingml/2006/main" w="9525">
            <a:solidFill>
              <a:srgbClr val="D8DEDA"/>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Rounded Rectangle 23">
            <a:extLst xmlns:a="http://schemas.openxmlformats.org/drawingml/2006/main">
              <a:ext uri="{FF2B5EF4-FFF2-40B4-BE49-F238E27FC236}">
                <a16:creationId xmlns:a16="http://schemas.microsoft.com/office/drawing/2014/main" id="{57253317-CAEC-48A1-8F7C-20ADFAC33866}"/>
              </a:ext>
            </a:extLst>
          </p:cNvPr>
          <p:cNvSpPr>
            <a:spLocks xmlns:a="http://schemas.openxmlformats.org/drawingml/2006/main" noGrp="1"/>
          </p:cNvSpPr>
          <p:nvPr/>
        </p:nvSpPr>
        <p:spPr>
          <a:xfrm xmlns:a="http://schemas.openxmlformats.org/drawingml/2006/main">
            <a:off x="333375" y="2362200"/>
            <a:ext cx="2762250" cy="3333750"/>
          </a:xfrm>
          <a:prstGeom xmlns:a="http://schemas.openxmlformats.org/drawingml/2006/main" prst="roundRect">
            <a:avLst>
              <a:gd name="adj" fmla="val 2414"/>
            </a:avLst>
          </a:prstGeom>
          <a:solidFill xmlns:a="http://schemas.openxmlformats.org/drawingml/2006/main">
            <a:srgbClr val="FFFFFF"/>
          </a:solidFill>
          <a:ln xmlns:a="http://schemas.openxmlformats.org/drawingml/2006/main" w="9525">
            <a:solidFill>
              <a:srgbClr val="2A459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25" name="Rounded Rectangle 24">
            <a:extLst xmlns:a="http://schemas.openxmlformats.org/drawingml/2006/main">
              <a:ext uri="{FF2B5EF4-FFF2-40B4-BE49-F238E27FC236}">
                <a16:creationId xmlns:a16="http://schemas.microsoft.com/office/drawing/2014/main" id="{2FBE006E-8463-4626-AB6C-3C708795C9BC}"/>
              </a:ext>
            </a:extLst>
          </p:cNvPr>
          <p:cNvSpPr>
            <a:spLocks xmlns:a="http://schemas.openxmlformats.org/drawingml/2006/main" noGrp="1"/>
          </p:cNvSpPr>
          <p:nvPr/>
        </p:nvSpPr>
        <p:spPr>
          <a:xfrm xmlns:a="http://schemas.openxmlformats.org/drawingml/2006/main">
            <a:off x="333375" y="2362200"/>
            <a:ext cx="2762250" cy="304800"/>
          </a:xfrm>
          <a:prstGeom xmlns:a="http://schemas.openxmlformats.org/drawingml/2006/main" prst="roundRect">
            <a:avLst>
              <a:gd name="adj" fmla="val 21875"/>
            </a:avLst>
          </a:prstGeom>
          <a:solidFill xmlns:a="http://schemas.openxmlformats.org/drawingml/2006/main">
            <a:srgbClr val="0B2B7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6" name="Rectangle 25">
            <a:extLst xmlns:a="http://schemas.openxmlformats.org/drawingml/2006/main">
              <a:ext uri="{FF2B5EF4-FFF2-40B4-BE49-F238E27FC236}">
                <a16:creationId xmlns:a16="http://schemas.microsoft.com/office/drawing/2014/main" id="{DFB030EF-3D58-47DB-A6BD-CE57981113BD}"/>
              </a:ext>
            </a:extLst>
          </p:cNvPr>
          <p:cNvSpPr>
            <a:spLocks xmlns:a="http://schemas.openxmlformats.org/drawingml/2006/main" noGrp="1"/>
          </p:cNvSpPr>
          <p:nvPr/>
        </p:nvSpPr>
        <p:spPr>
          <a:xfrm xmlns:a="http://schemas.openxmlformats.org/drawingml/2006/main">
            <a:off x="333375" y="2600325"/>
            <a:ext cx="2762250" cy="76200"/>
          </a:xfrm>
          <a:prstGeom xmlns:a="http://schemas.openxmlformats.org/drawingml/2006/main" prst="rect">
            <a:avLst/>
          </a:prstGeom>
          <a:solidFill xmlns:a="http://schemas.openxmlformats.org/drawingml/2006/main">
            <a:srgbClr val="0B2B7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7" name="Rectangle 26">
            <a:extLst xmlns:a="http://schemas.openxmlformats.org/drawingml/2006/main">
              <a:ext uri="{FF2B5EF4-FFF2-40B4-BE49-F238E27FC236}">
                <a16:creationId xmlns:a16="http://schemas.microsoft.com/office/drawing/2014/main" id="{36FDDD9C-FB20-4D4F-B0A9-E0A322A457A4}"/>
              </a:ext>
            </a:extLst>
          </p:cNvPr>
          <p:cNvSpPr>
            <a:spLocks xmlns:a="http://schemas.openxmlformats.org/drawingml/2006/main" noGrp="1"/>
          </p:cNvSpPr>
          <p:nvPr/>
        </p:nvSpPr>
        <p:spPr>
          <a:xfrm xmlns:a="http://schemas.openxmlformats.org/drawingml/2006/main">
            <a:off x="876300" y="2466975"/>
            <a:ext cx="1714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00" b="1" i="0">
                <a:solidFill>
                  <a:srgbClr val="FFFFFF"/>
                </a:solidFill>
                <a:latin typeface="Arial"/>
                <a:ea typeface="Arial"/>
                <a:cs typeface="Arial"/>
              </a:defRPr>
            </a:pPr>
            <a:r>
              <a:rPr sz="900" b="1" i="0">
                <a:solidFill>
                  <a:srgbClr val="FFFFFF"/>
                </a:solidFill>
                <a:latin typeface="Arial"/>
                <a:ea typeface="Arial"/>
                <a:cs typeface="Arial"/>
              </a:rPr>
              <a:t>ON-PREMISES PRIMARY SITE</a:t>
            </a:r>
          </a:p>
        </p:txBody>
      </p:sp>
      <p:pic>
        <p:nvPicPr>
          <p:cNvPr id="174" name="Picture 143"/>
          <p:cNvPicPr>
            <a:picLocks xmlns:a="http://schemas.openxmlformats.org/drawingml/2006/main" noChangeAspect="1"/>
          </p:cNvPicPr>
          <p:nvPr/>
        </p:nvPicPr>
        <p:blipFill>
          <a:blip xmlns:r="http://schemas.openxmlformats.org/officeDocument/2006/relationships" xmlns:a="http://schemas.openxmlformats.org/drawingml/2006/main" r:embed="R97e1d3368f084ae9"/>
          <a:stretch xmlns:a="http://schemas.openxmlformats.org/drawingml/2006/main"/>
        </p:blipFill>
        <p:spPr>
          <a:xfrm xmlns:a="http://schemas.openxmlformats.org/drawingml/2006/main">
            <a:off x="504825" y="2905125"/>
            <a:ext cx="333375" cy="457200"/>
          </a:xfrm>
          <a:prstGeom xmlns:a="http://schemas.openxmlformats.org/drawingml/2006/main" prst="rect">
            <a:avLst/>
          </a:prstGeom>
        </p:spPr>
      </p:pic>
      <p:sp>
        <p:nvSpPr>
          <p:cNvPr id="29" name="Rounded Rectangle 28">
            <a:extLst xmlns:a="http://schemas.openxmlformats.org/drawingml/2006/main">
              <a:ext uri="{FF2B5EF4-FFF2-40B4-BE49-F238E27FC236}">
                <a16:creationId xmlns:a16="http://schemas.microsoft.com/office/drawing/2014/main" id="{015D1C53-1480-406E-95A5-3F548E019DA5}"/>
              </a:ext>
            </a:extLst>
          </p:cNvPr>
          <p:cNvSpPr>
            <a:spLocks xmlns:a="http://schemas.openxmlformats.org/drawingml/2006/main" noGrp="1"/>
          </p:cNvSpPr>
          <p:nvPr/>
        </p:nvSpPr>
        <p:spPr>
          <a:xfrm xmlns:a="http://schemas.openxmlformats.org/drawingml/2006/main">
            <a:off x="904875" y="2971800"/>
            <a:ext cx="295275" cy="295275"/>
          </a:xfrm>
          <a:prstGeom xmlns:a="http://schemas.openxmlformats.org/drawingml/2006/main" prst="roundRect">
            <a:avLst>
              <a:gd name="adj" fmla="val 12903"/>
            </a:avLst>
          </a:prstGeom>
          <a:solidFill xmlns:a="http://schemas.openxmlformats.org/drawingml/2006/main">
            <a:srgbClr val="FAFAFA"/>
          </a:solidFill>
          <a:ln xmlns:a="http://schemas.openxmlformats.org/drawingml/2006/main" w="9525">
            <a:solidFill>
              <a:srgbClr val="BAC5CF"/>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Rectangle 29">
            <a:extLst xmlns:a="http://schemas.openxmlformats.org/drawingml/2006/main">
              <a:ext uri="{FF2B5EF4-FFF2-40B4-BE49-F238E27FC236}">
                <a16:creationId xmlns:a16="http://schemas.microsoft.com/office/drawing/2014/main" id="{75F5758E-8241-416E-9235-D3365C8E06E1}"/>
              </a:ext>
            </a:extLst>
          </p:cNvPr>
          <p:cNvSpPr>
            <a:spLocks xmlns:a="http://schemas.openxmlformats.org/drawingml/2006/main" noGrp="1"/>
          </p:cNvSpPr>
          <p:nvPr/>
        </p:nvSpPr>
        <p:spPr>
          <a:xfrm xmlns:a="http://schemas.openxmlformats.org/drawingml/2006/main">
            <a:off x="952500" y="3048000"/>
            <a:ext cx="200025"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50" b="1" i="0">
                <a:solidFill>
                  <a:srgbClr val="111111"/>
                </a:solidFill>
                <a:latin typeface="Arial"/>
                <a:ea typeface="Arial"/>
                <a:cs typeface="Arial"/>
              </a:defRPr>
            </a:pPr>
            <a:r>
              <a:rPr sz="750" b="1" i="0">
                <a:solidFill>
                  <a:srgbClr val="111111"/>
                </a:solidFill>
                <a:latin typeface="Arial"/>
                <a:ea typeface="Arial"/>
                <a:cs typeface="Arial"/>
              </a:rPr>
              <a:t>VM</a:t>
            </a:r>
          </a:p>
        </p:txBody>
      </p:sp>
      <p:sp>
        <p:nvSpPr>
          <p:cNvPr id="31" name="Rounded Rectangle 30">
            <a:extLst xmlns:a="http://schemas.openxmlformats.org/drawingml/2006/main">
              <a:ext uri="{FF2B5EF4-FFF2-40B4-BE49-F238E27FC236}">
                <a16:creationId xmlns:a16="http://schemas.microsoft.com/office/drawing/2014/main" id="{8E3B7C8C-5401-4836-B7F1-F7215B718DC2}"/>
              </a:ext>
            </a:extLst>
          </p:cNvPr>
          <p:cNvSpPr>
            <a:spLocks xmlns:a="http://schemas.openxmlformats.org/drawingml/2006/main" noGrp="1"/>
          </p:cNvSpPr>
          <p:nvPr/>
        </p:nvSpPr>
        <p:spPr>
          <a:xfrm xmlns:a="http://schemas.openxmlformats.org/drawingml/2006/main">
            <a:off x="1285875" y="2971800"/>
            <a:ext cx="295275" cy="295275"/>
          </a:xfrm>
          <a:prstGeom xmlns:a="http://schemas.openxmlformats.org/drawingml/2006/main" prst="roundRect">
            <a:avLst>
              <a:gd name="adj" fmla="val 12903"/>
            </a:avLst>
          </a:prstGeom>
          <a:solidFill xmlns:a="http://schemas.openxmlformats.org/drawingml/2006/main">
            <a:srgbClr val="FAFAFA"/>
          </a:solidFill>
          <a:ln xmlns:a="http://schemas.openxmlformats.org/drawingml/2006/main" w="9525">
            <a:solidFill>
              <a:srgbClr val="BAC5CF"/>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Rectangle 31">
            <a:extLst xmlns:a="http://schemas.openxmlformats.org/drawingml/2006/main">
              <a:ext uri="{FF2B5EF4-FFF2-40B4-BE49-F238E27FC236}">
                <a16:creationId xmlns:a16="http://schemas.microsoft.com/office/drawing/2014/main" id="{D4D7B0E1-6573-4B2D-AA61-FBDF21A4D4D3}"/>
              </a:ext>
            </a:extLst>
          </p:cNvPr>
          <p:cNvSpPr>
            <a:spLocks xmlns:a="http://schemas.openxmlformats.org/drawingml/2006/main" noGrp="1"/>
          </p:cNvSpPr>
          <p:nvPr/>
        </p:nvSpPr>
        <p:spPr>
          <a:xfrm xmlns:a="http://schemas.openxmlformats.org/drawingml/2006/main">
            <a:off x="1333500" y="3048000"/>
            <a:ext cx="200025"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50" b="1" i="0">
                <a:solidFill>
                  <a:srgbClr val="111111"/>
                </a:solidFill>
                <a:latin typeface="Arial"/>
                <a:ea typeface="Arial"/>
                <a:cs typeface="Arial"/>
              </a:defRPr>
            </a:pPr>
            <a:r>
              <a:rPr sz="750" b="1" i="0">
                <a:solidFill>
                  <a:srgbClr val="111111"/>
                </a:solidFill>
                <a:latin typeface="Arial"/>
                <a:ea typeface="Arial"/>
                <a:cs typeface="Arial"/>
              </a:rPr>
              <a:t>VM</a:t>
            </a:r>
          </a:p>
        </p:txBody>
      </p:sp>
      <p:sp>
        <p:nvSpPr>
          <p:cNvPr id="33" name="Rounded Rectangle 32">
            <a:extLst xmlns:a="http://schemas.openxmlformats.org/drawingml/2006/main">
              <a:ext uri="{FF2B5EF4-FFF2-40B4-BE49-F238E27FC236}">
                <a16:creationId xmlns:a16="http://schemas.microsoft.com/office/drawing/2014/main" id="{21B2D86F-2090-4613-9A64-609220EF8D6C}"/>
              </a:ext>
            </a:extLst>
          </p:cNvPr>
          <p:cNvSpPr>
            <a:spLocks xmlns:a="http://schemas.openxmlformats.org/drawingml/2006/main" noGrp="1"/>
          </p:cNvSpPr>
          <p:nvPr/>
        </p:nvSpPr>
        <p:spPr>
          <a:xfrm xmlns:a="http://schemas.openxmlformats.org/drawingml/2006/main">
            <a:off x="1666875" y="2971800"/>
            <a:ext cx="295275" cy="295275"/>
          </a:xfrm>
          <a:prstGeom xmlns:a="http://schemas.openxmlformats.org/drawingml/2006/main" prst="roundRect">
            <a:avLst>
              <a:gd name="adj" fmla="val 12903"/>
            </a:avLst>
          </a:prstGeom>
          <a:solidFill xmlns:a="http://schemas.openxmlformats.org/drawingml/2006/main">
            <a:srgbClr val="FAFAFA"/>
          </a:solidFill>
          <a:ln xmlns:a="http://schemas.openxmlformats.org/drawingml/2006/main" w="9525">
            <a:solidFill>
              <a:srgbClr val="BAC5CF"/>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Rectangle 33">
            <a:extLst xmlns:a="http://schemas.openxmlformats.org/drawingml/2006/main">
              <a:ext uri="{FF2B5EF4-FFF2-40B4-BE49-F238E27FC236}">
                <a16:creationId xmlns:a16="http://schemas.microsoft.com/office/drawing/2014/main" id="{9BC1A62C-94B4-4D63-95EC-FA8D88A76B40}"/>
              </a:ext>
            </a:extLst>
          </p:cNvPr>
          <p:cNvSpPr>
            <a:spLocks xmlns:a="http://schemas.openxmlformats.org/drawingml/2006/main" noGrp="1"/>
          </p:cNvSpPr>
          <p:nvPr/>
        </p:nvSpPr>
        <p:spPr>
          <a:xfrm xmlns:a="http://schemas.openxmlformats.org/drawingml/2006/main">
            <a:off x="1714500" y="3048000"/>
            <a:ext cx="200025"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50" b="1" i="0">
                <a:solidFill>
                  <a:srgbClr val="111111"/>
                </a:solidFill>
                <a:latin typeface="Arial"/>
                <a:ea typeface="Arial"/>
                <a:cs typeface="Arial"/>
              </a:defRPr>
            </a:pPr>
            <a:r>
              <a:rPr sz="750" b="1" i="0">
                <a:solidFill>
                  <a:srgbClr val="111111"/>
                </a:solidFill>
                <a:latin typeface="Arial"/>
                <a:ea typeface="Arial"/>
                <a:cs typeface="Arial"/>
              </a:rPr>
              <a:t>VM</a:t>
            </a:r>
          </a:p>
        </p:txBody>
      </p:sp>
      <p:sp>
        <p:nvSpPr>
          <p:cNvPr id="35" name="Rectangle 34">
            <a:extLst xmlns:a="http://schemas.openxmlformats.org/drawingml/2006/main">
              <a:ext uri="{FF2B5EF4-FFF2-40B4-BE49-F238E27FC236}">
                <a16:creationId xmlns:a16="http://schemas.microsoft.com/office/drawing/2014/main" id="{8ED1F153-145B-4E46-B081-D559AD3B820D}"/>
              </a:ext>
            </a:extLst>
          </p:cNvPr>
          <p:cNvSpPr>
            <a:spLocks xmlns:a="http://schemas.openxmlformats.org/drawingml/2006/main" noGrp="1"/>
          </p:cNvSpPr>
          <p:nvPr/>
        </p:nvSpPr>
        <p:spPr>
          <a:xfrm xmlns:a="http://schemas.openxmlformats.org/drawingml/2006/main">
            <a:off x="2066925" y="3067050"/>
            <a:ext cx="2476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00" b="1" i="0">
                <a:solidFill>
                  <a:srgbClr val="111111"/>
                </a:solidFill>
                <a:latin typeface="Arial"/>
                <a:ea typeface="Arial"/>
                <a:cs typeface="Arial"/>
              </a:defRPr>
            </a:pPr>
            <a:r>
              <a:rPr sz="900" b="1" i="0">
                <a:solidFill>
                  <a:srgbClr val="111111"/>
                </a:solidFill>
                <a:latin typeface="Arial"/>
                <a:ea typeface="Arial"/>
                <a:cs typeface="Arial"/>
              </a:rPr>
              <a:t>...</a:t>
            </a:r>
          </a:p>
        </p:txBody>
      </p:sp>
      <p:sp>
        <p:nvSpPr>
          <p:cNvPr id="36" name="Rounded Rectangle 35">
            <a:extLst xmlns:a="http://schemas.openxmlformats.org/drawingml/2006/main">
              <a:ext uri="{FF2B5EF4-FFF2-40B4-BE49-F238E27FC236}">
                <a16:creationId xmlns:a16="http://schemas.microsoft.com/office/drawing/2014/main" id="{C10885AF-7600-40AB-9466-621230DABC67}"/>
              </a:ext>
            </a:extLst>
          </p:cNvPr>
          <p:cNvSpPr>
            <a:spLocks xmlns:a="http://schemas.openxmlformats.org/drawingml/2006/main" noGrp="1"/>
          </p:cNvSpPr>
          <p:nvPr/>
        </p:nvSpPr>
        <p:spPr>
          <a:xfrm xmlns:a="http://schemas.openxmlformats.org/drawingml/2006/main">
            <a:off x="2324100" y="2971800"/>
            <a:ext cx="295275" cy="295275"/>
          </a:xfrm>
          <a:prstGeom xmlns:a="http://schemas.openxmlformats.org/drawingml/2006/main" prst="roundRect">
            <a:avLst>
              <a:gd name="adj" fmla="val 12903"/>
            </a:avLst>
          </a:prstGeom>
          <a:solidFill xmlns:a="http://schemas.openxmlformats.org/drawingml/2006/main">
            <a:srgbClr val="FAFAFA"/>
          </a:solidFill>
          <a:ln xmlns:a="http://schemas.openxmlformats.org/drawingml/2006/main" w="9525">
            <a:solidFill>
              <a:srgbClr val="BAC5CF"/>
            </a:solidFill>
            <a:prstDash val="solid"/>
          </a:ln>
        </p:spPr>
        <p:txBody>
          <a:bodyPr xmlns:a="http://schemas.openxmlformats.org/drawingml/2006/main"/>
          <a:lstStyle xmlns:a="http://schemas.openxmlformats.org/drawingml/2006/main"/>
          <a:p xmlns:a="http://schemas.openxmlformats.org/drawingml/2006/main">
            <a:endParaRPr/>
          </a:p>
        </p:txBody>
      </p:sp>
      <p:sp>
        <p:nvSpPr>
          <p:cNvPr id="37" name="Rectangle 36">
            <a:extLst xmlns:a="http://schemas.openxmlformats.org/drawingml/2006/main">
              <a:ext uri="{FF2B5EF4-FFF2-40B4-BE49-F238E27FC236}">
                <a16:creationId xmlns:a16="http://schemas.microsoft.com/office/drawing/2014/main" id="{401619FC-A122-4911-A981-A20D4D07ED37}"/>
              </a:ext>
            </a:extLst>
          </p:cNvPr>
          <p:cNvSpPr>
            <a:spLocks xmlns:a="http://schemas.openxmlformats.org/drawingml/2006/main" noGrp="1"/>
          </p:cNvSpPr>
          <p:nvPr/>
        </p:nvSpPr>
        <p:spPr>
          <a:xfrm xmlns:a="http://schemas.openxmlformats.org/drawingml/2006/main">
            <a:off x="2371725" y="3048000"/>
            <a:ext cx="200025"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50" b="1" i="0">
                <a:solidFill>
                  <a:srgbClr val="111111"/>
                </a:solidFill>
                <a:latin typeface="Arial"/>
                <a:ea typeface="Arial"/>
                <a:cs typeface="Arial"/>
              </a:defRPr>
            </a:pPr>
            <a:r>
              <a:rPr sz="750" b="1" i="0">
                <a:solidFill>
                  <a:srgbClr val="111111"/>
                </a:solidFill>
                <a:latin typeface="Arial"/>
                <a:ea typeface="Arial"/>
                <a:cs typeface="Arial"/>
              </a:rPr>
              <a:t>VM</a:t>
            </a:r>
          </a:p>
        </p:txBody>
      </p:sp>
      <p:pic>
        <p:nvPicPr>
          <p:cNvPr id="184" name="Picture 153"/>
          <p:cNvPicPr>
            <a:picLocks xmlns:a="http://schemas.openxmlformats.org/drawingml/2006/main" noChangeAspect="1"/>
          </p:cNvPicPr>
          <p:nvPr/>
        </p:nvPicPr>
        <p:blipFill>
          <a:blip xmlns:r="http://schemas.openxmlformats.org/officeDocument/2006/relationships" xmlns:a="http://schemas.openxmlformats.org/drawingml/2006/main" r:embed="R251997ded8964cb1"/>
          <a:stretch xmlns:a="http://schemas.openxmlformats.org/drawingml/2006/main"/>
        </p:blipFill>
        <p:spPr>
          <a:xfrm xmlns:a="http://schemas.openxmlformats.org/drawingml/2006/main">
            <a:off x="2719388" y="2981325"/>
            <a:ext cx="247650" cy="381000"/>
          </a:xfrm>
          <a:prstGeom xmlns:a="http://schemas.openxmlformats.org/drawingml/2006/main" prst="rect">
            <a:avLst/>
          </a:prstGeom>
        </p:spPr>
      </p:pic>
      <p:sp>
        <p:nvSpPr>
          <p:cNvPr id="39" name="Rectangle 38">
            <a:extLst xmlns:a="http://schemas.openxmlformats.org/drawingml/2006/main">
              <a:ext uri="{FF2B5EF4-FFF2-40B4-BE49-F238E27FC236}">
                <a16:creationId xmlns:a16="http://schemas.microsoft.com/office/drawing/2014/main" id="{D6A4C0DD-5324-4975-84C9-42D699D718E7}"/>
              </a:ext>
            </a:extLst>
          </p:cNvPr>
          <p:cNvSpPr>
            <a:spLocks xmlns:a="http://schemas.openxmlformats.org/drawingml/2006/main" noGrp="1"/>
          </p:cNvSpPr>
          <p:nvPr/>
        </p:nvSpPr>
        <p:spPr>
          <a:xfrm xmlns:a="http://schemas.openxmlformats.org/drawingml/2006/main">
            <a:off x="1181100" y="3457575"/>
            <a:ext cx="1285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12000"/>
              </a:lnSpc>
              <a:buNone/>
              <a:defRPr sz="900" b="1" i="0">
                <a:solidFill>
                  <a:srgbClr val="0B2B78"/>
                </a:solidFill>
                <a:latin typeface="Arial"/>
                <a:ea typeface="Arial"/>
                <a:cs typeface="Arial"/>
              </a:defRPr>
            </a:pPr>
            <a:r>
              <a:rPr sz="900" b="1" i="0">
                <a:solidFill>
                  <a:srgbClr val="0B2B78"/>
                </a:solidFill>
                <a:latin typeface="Arial"/>
                <a:ea typeface="Arial"/>
                <a:cs typeface="Arial"/>
              </a:rPr>
              <a:t>Your Existing</a:t>
            </a:r>
          </a:p>
          <a:p xmlns:a="http://schemas.openxmlformats.org/drawingml/2006/main">
            <a:pPr algn="ctr">
              <a:lnSpc>
                <a:spcPct val="112000"/>
              </a:lnSpc>
              <a:buNone/>
              <a:defRPr sz="900" b="1" i="0">
                <a:solidFill>
                  <a:srgbClr val="0B2B78"/>
                </a:solidFill>
                <a:latin typeface="Arial"/>
                <a:ea typeface="Arial"/>
                <a:cs typeface="Arial"/>
              </a:defRPr>
            </a:pPr>
            <a:r>
              <a:rPr sz="900" b="1" i="0">
                <a:solidFill>
                  <a:srgbClr val="0B2B78"/>
                </a:solidFill>
                <a:latin typeface="Arial"/>
                <a:ea typeface="Arial"/>
                <a:cs typeface="Arial"/>
              </a:rPr>
              <a:t>VMware Environment</a:t>
            </a:r>
          </a:p>
        </p:txBody>
      </p:sp>
      <p:sp>
        <p:nvSpPr>
          <p:cNvPr id="40" name="Straight Connector 39">
            <a:extLst xmlns:a="http://schemas.openxmlformats.org/drawingml/2006/main">
              <a:ext uri="{FF2B5EF4-FFF2-40B4-BE49-F238E27FC236}">
                <a16:creationId xmlns:a16="http://schemas.microsoft.com/office/drawing/2014/main" id="{1E88FD78-23FD-4569-842E-4DC9FE17E197}"/>
              </a:ext>
            </a:extLst>
          </p:cNvPr>
          <p:cNvSpPr>
            <a:spLocks xmlns:a="http://schemas.openxmlformats.org/drawingml/2006/main" noGrp="1"/>
          </p:cNvSpPr>
          <p:nvPr/>
        </p:nvSpPr>
        <p:spPr>
          <a:xfrm xmlns:a="http://schemas.openxmlformats.org/drawingml/2006/main">
            <a:off x="523875" y="3933825"/>
            <a:ext cx="2400300" cy="0"/>
          </a:xfrm>
          <a:prstGeom xmlns:a="http://schemas.openxmlformats.org/drawingml/2006/main" prst="line">
            <a:avLst/>
          </a:prstGeom>
          <a:noFill xmlns:a="http://schemas.openxmlformats.org/drawingml/2006/main"/>
          <a:ln xmlns:a="http://schemas.openxmlformats.org/drawingml/2006/main" w="9525">
            <a:solidFill>
              <a:srgbClr val="D8DEDA"/>
            </a:solidFill>
            <a:prstDash val="solid"/>
          </a:ln>
        </p:spPr>
        <p:txBody>
          <a:bodyPr xmlns:a="http://schemas.openxmlformats.org/drawingml/2006/main"/>
          <a:lstStyle xmlns:a="http://schemas.openxmlformats.org/drawingml/2006/main"/>
          <a:p xmlns:a="http://schemas.openxmlformats.org/drawingml/2006/main">
            <a:endParaRPr/>
          </a:p>
        </p:txBody>
      </p:sp>
      <p:pic>
        <p:nvPicPr>
          <p:cNvPr id="187" name="Picture 156"/>
          <p:cNvPicPr>
            <a:picLocks xmlns:a="http://schemas.openxmlformats.org/drawingml/2006/main" noChangeAspect="1"/>
          </p:cNvPicPr>
          <p:nvPr/>
        </p:nvPicPr>
        <p:blipFill>
          <a:blip xmlns:r="http://schemas.openxmlformats.org/officeDocument/2006/relationships" xmlns:a="http://schemas.openxmlformats.org/drawingml/2006/main" r:embed="R315b422c8481469b"/>
          <a:stretch xmlns:a="http://schemas.openxmlformats.org/drawingml/2006/main"/>
        </p:blipFill>
        <p:spPr>
          <a:xfrm xmlns:a="http://schemas.openxmlformats.org/drawingml/2006/main">
            <a:off x="519113" y="4114800"/>
            <a:ext cx="228600" cy="238125"/>
          </a:xfrm>
          <a:prstGeom xmlns:a="http://schemas.openxmlformats.org/drawingml/2006/main" prst="rect">
            <a:avLst/>
          </a:prstGeom>
        </p:spPr>
      </p:pic>
      <p:sp>
        <p:nvSpPr>
          <p:cNvPr id="42" name="Rectangle 41">
            <a:extLst xmlns:a="http://schemas.openxmlformats.org/drawingml/2006/main">
              <a:ext uri="{FF2B5EF4-FFF2-40B4-BE49-F238E27FC236}">
                <a16:creationId xmlns:a16="http://schemas.microsoft.com/office/drawing/2014/main" id="{413622D2-8D66-42A6-A992-14BD39BC4D93}"/>
              </a:ext>
            </a:extLst>
          </p:cNvPr>
          <p:cNvSpPr>
            <a:spLocks xmlns:a="http://schemas.openxmlformats.org/drawingml/2006/main" noGrp="1"/>
          </p:cNvSpPr>
          <p:nvPr/>
        </p:nvSpPr>
        <p:spPr>
          <a:xfrm xmlns:a="http://schemas.openxmlformats.org/drawingml/2006/main">
            <a:off x="895350" y="4133850"/>
            <a:ext cx="1952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15000"/>
              </a:lnSpc>
              <a:buNone/>
              <a:defRPr sz="788" b="0" i="0">
                <a:solidFill>
                  <a:srgbClr val="111111"/>
                </a:solidFill>
                <a:latin typeface="Arial"/>
                <a:ea typeface="Arial"/>
                <a:cs typeface="Arial"/>
              </a:defRPr>
            </a:pPr>
            <a:r>
              <a:rPr sz="788" b="0" i="0">
                <a:solidFill>
                  <a:srgbClr val="111111"/>
                </a:solidFill>
                <a:latin typeface="Arial"/>
                <a:ea typeface="Arial"/>
                <a:cs typeface="Arial"/>
              </a:rPr>
              <a:t>Production workloads</a:t>
            </a:r>
          </a:p>
        </p:txBody>
      </p:sp>
      <p:pic>
        <p:nvPicPr>
          <p:cNvPr id="189" name="Picture 158"/>
          <p:cNvPicPr>
            <a:picLocks xmlns:a="http://schemas.openxmlformats.org/drawingml/2006/main" noChangeAspect="1"/>
          </p:cNvPicPr>
          <p:nvPr/>
        </p:nvPicPr>
        <p:blipFill>
          <a:blip xmlns:r="http://schemas.openxmlformats.org/officeDocument/2006/relationships" xmlns:a="http://schemas.openxmlformats.org/drawingml/2006/main" r:embed="Rf89e5b9bfc33495d"/>
          <a:stretch xmlns:a="http://schemas.openxmlformats.org/drawingml/2006/main"/>
        </p:blipFill>
        <p:spPr>
          <a:xfrm xmlns:a="http://schemas.openxmlformats.org/drawingml/2006/main">
            <a:off x="523509" y="4448175"/>
            <a:ext cx="219808" cy="238125"/>
          </a:xfrm>
          <a:prstGeom xmlns:a="http://schemas.openxmlformats.org/drawingml/2006/main" prst="rect">
            <a:avLst/>
          </a:prstGeom>
        </p:spPr>
      </p:pic>
      <p:sp>
        <p:nvSpPr>
          <p:cNvPr id="44" name="Rectangle 43">
            <a:extLst xmlns:a="http://schemas.openxmlformats.org/drawingml/2006/main">
              <a:ext uri="{FF2B5EF4-FFF2-40B4-BE49-F238E27FC236}">
                <a16:creationId xmlns:a16="http://schemas.microsoft.com/office/drawing/2014/main" id="{9A9ECA42-27F7-45FB-AE5F-6ECE73D0CB0A}"/>
              </a:ext>
            </a:extLst>
          </p:cNvPr>
          <p:cNvSpPr>
            <a:spLocks xmlns:a="http://schemas.openxmlformats.org/drawingml/2006/main" noGrp="1"/>
          </p:cNvSpPr>
          <p:nvPr/>
        </p:nvSpPr>
        <p:spPr>
          <a:xfrm xmlns:a="http://schemas.openxmlformats.org/drawingml/2006/main">
            <a:off x="895350" y="4467225"/>
            <a:ext cx="1952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15000"/>
              </a:lnSpc>
              <a:buNone/>
              <a:defRPr sz="788" b="0" i="0">
                <a:solidFill>
                  <a:srgbClr val="111111"/>
                </a:solidFill>
                <a:latin typeface="Arial"/>
                <a:ea typeface="Arial"/>
                <a:cs typeface="Arial"/>
              </a:defRPr>
            </a:pPr>
            <a:r>
              <a:rPr sz="788" b="0" i="0">
                <a:solidFill>
                  <a:srgbClr val="111111"/>
                </a:solidFill>
                <a:latin typeface="Arial"/>
                <a:ea typeface="Arial"/>
                <a:cs typeface="Arial"/>
              </a:rPr>
              <a:t>Critical business applications</a:t>
            </a:r>
          </a:p>
        </p:txBody>
      </p:sp>
      <p:pic>
        <p:nvPicPr>
          <p:cNvPr id="191" name="Picture 160"/>
          <p:cNvPicPr>
            <a:picLocks xmlns:a="http://schemas.openxmlformats.org/drawingml/2006/main" noChangeAspect="1"/>
          </p:cNvPicPr>
          <p:nvPr/>
        </p:nvPicPr>
        <p:blipFill>
          <a:blip xmlns:r="http://schemas.openxmlformats.org/officeDocument/2006/relationships" xmlns:a="http://schemas.openxmlformats.org/drawingml/2006/main" r:embed="R334f69e8f3e44bd2"/>
          <a:stretch xmlns:a="http://schemas.openxmlformats.org/drawingml/2006/main"/>
        </p:blipFill>
        <p:spPr>
          <a:xfrm xmlns:a="http://schemas.openxmlformats.org/drawingml/2006/main">
            <a:off x="514350" y="4791075"/>
            <a:ext cx="238125" cy="238125"/>
          </a:xfrm>
          <a:prstGeom xmlns:a="http://schemas.openxmlformats.org/drawingml/2006/main" prst="rect">
            <a:avLst/>
          </a:prstGeom>
        </p:spPr>
      </p:pic>
      <p:sp>
        <p:nvSpPr>
          <p:cNvPr id="46" name="Rectangle 45">
            <a:extLst xmlns:a="http://schemas.openxmlformats.org/drawingml/2006/main">
              <a:ext uri="{FF2B5EF4-FFF2-40B4-BE49-F238E27FC236}">
                <a16:creationId xmlns:a16="http://schemas.microsoft.com/office/drawing/2014/main" id="{40F552E1-9799-43B7-9524-BA39905F402D}"/>
              </a:ext>
            </a:extLst>
          </p:cNvPr>
          <p:cNvSpPr>
            <a:spLocks xmlns:a="http://schemas.openxmlformats.org/drawingml/2006/main" noGrp="1"/>
          </p:cNvSpPr>
          <p:nvPr/>
        </p:nvSpPr>
        <p:spPr>
          <a:xfrm xmlns:a="http://schemas.openxmlformats.org/drawingml/2006/main">
            <a:off x="895350" y="4810125"/>
            <a:ext cx="1952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15000"/>
              </a:lnSpc>
              <a:buNone/>
              <a:defRPr sz="788" b="0" i="0">
                <a:solidFill>
                  <a:srgbClr val="111111"/>
                </a:solidFill>
                <a:latin typeface="Arial"/>
                <a:ea typeface="Arial"/>
                <a:cs typeface="Arial"/>
              </a:defRPr>
            </a:pPr>
            <a:r>
              <a:rPr sz="788" b="0" i="0">
                <a:solidFill>
                  <a:srgbClr val="111111"/>
                </a:solidFill>
                <a:latin typeface="Arial"/>
                <a:ea typeface="Arial"/>
                <a:cs typeface="Arial"/>
              </a:rPr>
              <a:t>Users &amp; business operations</a:t>
            </a:r>
          </a:p>
        </p:txBody>
      </p:sp>
      <p:pic>
        <p:nvPicPr>
          <p:cNvPr id="193" name="Picture 162"/>
          <p:cNvPicPr>
            <a:picLocks xmlns:a="http://schemas.openxmlformats.org/drawingml/2006/main" noChangeAspect="1"/>
          </p:cNvPicPr>
          <p:nvPr/>
        </p:nvPicPr>
        <p:blipFill>
          <a:blip xmlns:r="http://schemas.openxmlformats.org/officeDocument/2006/relationships" xmlns:a="http://schemas.openxmlformats.org/drawingml/2006/main" r:embed="R283c48bbb56b4e1d"/>
          <a:stretch xmlns:a="http://schemas.openxmlformats.org/drawingml/2006/main"/>
        </p:blipFill>
        <p:spPr>
          <a:xfrm xmlns:a="http://schemas.openxmlformats.org/drawingml/2006/main">
            <a:off x="514350" y="5143500"/>
            <a:ext cx="238125" cy="238125"/>
          </a:xfrm>
          <a:prstGeom xmlns:a="http://schemas.openxmlformats.org/drawingml/2006/main" prst="rect">
            <a:avLst/>
          </a:prstGeom>
        </p:spPr>
      </p:pic>
      <p:sp>
        <p:nvSpPr>
          <p:cNvPr id="48" name="Rectangle 47">
            <a:extLst xmlns:a="http://schemas.openxmlformats.org/drawingml/2006/main">
              <a:ext uri="{FF2B5EF4-FFF2-40B4-BE49-F238E27FC236}">
                <a16:creationId xmlns:a16="http://schemas.microsoft.com/office/drawing/2014/main" id="{4F7F2423-F15C-468B-A5B7-0A1A72D1B906}"/>
              </a:ext>
            </a:extLst>
          </p:cNvPr>
          <p:cNvSpPr>
            <a:spLocks xmlns:a="http://schemas.openxmlformats.org/drawingml/2006/main" noGrp="1"/>
          </p:cNvSpPr>
          <p:nvPr/>
        </p:nvSpPr>
        <p:spPr>
          <a:xfrm xmlns:a="http://schemas.openxmlformats.org/drawingml/2006/main">
            <a:off x="895350" y="5162550"/>
            <a:ext cx="1952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15000"/>
              </a:lnSpc>
              <a:buNone/>
              <a:defRPr sz="788" b="0" i="0">
                <a:solidFill>
                  <a:srgbClr val="111111"/>
                </a:solidFill>
                <a:latin typeface="Arial"/>
                <a:ea typeface="Arial"/>
                <a:cs typeface="Arial"/>
              </a:defRPr>
            </a:pPr>
            <a:r>
              <a:rPr sz="788" b="0" i="0">
                <a:solidFill>
                  <a:srgbClr val="111111"/>
                </a:solidFill>
                <a:latin typeface="Arial"/>
                <a:ea typeface="Arial"/>
                <a:cs typeface="Arial"/>
              </a:rPr>
              <a:t>At risk from outages, disasters</a:t>
            </a:r>
          </a:p>
          <a:p xmlns:a="http://schemas.openxmlformats.org/drawingml/2006/main">
            <a:pPr algn="l">
              <a:lnSpc>
                <a:spcPct val="115000"/>
              </a:lnSpc>
              <a:buNone/>
              <a:defRPr sz="788" b="0" i="0">
                <a:solidFill>
                  <a:srgbClr val="111111"/>
                </a:solidFill>
                <a:latin typeface="Arial"/>
                <a:ea typeface="Arial"/>
                <a:cs typeface="Arial"/>
              </a:defRPr>
            </a:pPr>
            <a:r>
              <a:rPr sz="788" b="0" i="0">
                <a:solidFill>
                  <a:srgbClr val="111111"/>
                </a:solidFill>
                <a:latin typeface="Arial"/>
                <a:ea typeface="Arial"/>
                <a:cs typeface="Arial"/>
              </a:rPr>
              <a:t>or cyber incidents</a:t>
            </a:r>
          </a:p>
        </p:txBody>
      </p:sp>
      <p:sp>
        <p:nvSpPr>
          <p:cNvPr id="49" name="Right Arrow 48">
            <a:extLst xmlns:a="http://schemas.openxmlformats.org/drawingml/2006/main">
              <a:ext uri="{FF2B5EF4-FFF2-40B4-BE49-F238E27FC236}">
                <a16:creationId xmlns:a16="http://schemas.microsoft.com/office/drawing/2014/main" id="{5978E283-E303-4210-B94F-622F98F139BC}"/>
              </a:ext>
            </a:extLst>
          </p:cNvPr>
          <p:cNvSpPr>
            <a:spLocks xmlns:a="http://schemas.openxmlformats.org/drawingml/2006/main" noGrp="1"/>
          </p:cNvSpPr>
          <p:nvPr/>
        </p:nvSpPr>
        <p:spPr>
          <a:xfrm xmlns:a="http://schemas.openxmlformats.org/drawingml/2006/main">
            <a:off x="3133725" y="3533775"/>
            <a:ext cx="323850" cy="323850"/>
          </a:xfrm>
          <a:prstGeom xmlns:a="http://schemas.openxmlformats.org/drawingml/2006/main" prst="rightArrow">
            <a:avLst/>
          </a:prstGeom>
          <a:solidFill xmlns:a="http://schemas.openxmlformats.org/drawingml/2006/main">
            <a:srgbClr val="0B2B78"/>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0" name="Rounded Rectangle 49">
            <a:extLst xmlns:a="http://schemas.openxmlformats.org/drawingml/2006/main">
              <a:ext uri="{FF2B5EF4-FFF2-40B4-BE49-F238E27FC236}">
                <a16:creationId xmlns:a16="http://schemas.microsoft.com/office/drawing/2014/main" id="{14E2E48A-04D8-43E1-A13D-B5FFB876C2DC}"/>
              </a:ext>
            </a:extLst>
          </p:cNvPr>
          <p:cNvSpPr>
            <a:spLocks xmlns:a="http://schemas.openxmlformats.org/drawingml/2006/main" noGrp="1"/>
          </p:cNvSpPr>
          <p:nvPr/>
        </p:nvSpPr>
        <p:spPr>
          <a:xfrm xmlns:a="http://schemas.openxmlformats.org/drawingml/2006/main">
            <a:off x="3476625" y="2362200"/>
            <a:ext cx="2981325" cy="3333750"/>
          </a:xfrm>
          <a:prstGeom xmlns:a="http://schemas.openxmlformats.org/drawingml/2006/main" prst="roundRect">
            <a:avLst>
              <a:gd name="adj" fmla="val 2236"/>
            </a:avLst>
          </a:prstGeom>
          <a:solidFill xmlns:a="http://schemas.openxmlformats.org/drawingml/2006/main">
            <a:srgbClr val="FFFFFF"/>
          </a:solidFill>
          <a:ln xmlns:a="http://schemas.openxmlformats.org/drawingml/2006/main" w="9525">
            <a:solidFill>
              <a:srgbClr val="3B7C6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51" name="Rectangle 50">
            <a:extLst xmlns:a="http://schemas.openxmlformats.org/drawingml/2006/main">
              <a:ext uri="{FF2B5EF4-FFF2-40B4-BE49-F238E27FC236}">
                <a16:creationId xmlns:a16="http://schemas.microsoft.com/office/drawing/2014/main" id="{64288B55-B434-4E02-8A40-1D8BDB0810E3}"/>
              </a:ext>
            </a:extLst>
          </p:cNvPr>
          <p:cNvSpPr>
            <a:spLocks xmlns:a="http://schemas.openxmlformats.org/drawingml/2006/main" noGrp="1"/>
          </p:cNvSpPr>
          <p:nvPr/>
        </p:nvSpPr>
        <p:spPr>
          <a:xfrm xmlns:a="http://schemas.openxmlformats.org/drawingml/2006/main">
            <a:off x="4276725" y="250507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3RD PARTY DR SOLUTIONS</a:t>
            </a:r>
          </a:p>
        </p:txBody>
      </p:sp>
      <p:pic>
        <p:nvPicPr>
          <p:cNvPr id="198" name="Picture 167"/>
          <p:cNvPicPr>
            <a:picLocks xmlns:a="http://schemas.openxmlformats.org/drawingml/2006/main" noChangeAspect="1"/>
          </p:cNvPicPr>
          <p:nvPr/>
        </p:nvPicPr>
        <p:blipFill>
          <a:blip xmlns:r="http://schemas.openxmlformats.org/officeDocument/2006/relationships" xmlns:a="http://schemas.openxmlformats.org/drawingml/2006/main" r:embed="R49b3e76d799046be"/>
          <a:stretch xmlns:a="http://schemas.openxmlformats.org/drawingml/2006/main"/>
        </p:blipFill>
        <p:spPr>
          <a:xfrm xmlns:a="http://schemas.openxmlformats.org/drawingml/2006/main">
            <a:off x="3733800" y="3025461"/>
            <a:ext cx="619125" cy="597528"/>
          </a:xfrm>
          <a:prstGeom xmlns:a="http://schemas.openxmlformats.org/drawingml/2006/main" prst="rect">
            <a:avLst/>
          </a:prstGeom>
        </p:spPr>
      </p:pic>
      <p:pic>
        <p:nvPicPr>
          <p:cNvPr id="199" name="Picture 168"/>
          <p:cNvPicPr>
            <a:picLocks xmlns:a="http://schemas.openxmlformats.org/drawingml/2006/main" noChangeAspect="1"/>
          </p:cNvPicPr>
          <p:nvPr/>
        </p:nvPicPr>
        <p:blipFill>
          <a:blip xmlns:r="http://schemas.openxmlformats.org/officeDocument/2006/relationships" xmlns:a="http://schemas.openxmlformats.org/drawingml/2006/main" r:embed="Rdb3c1b13fd19444d"/>
          <a:stretch xmlns:a="http://schemas.openxmlformats.org/drawingml/2006/main"/>
        </p:blipFill>
        <p:spPr>
          <a:xfrm xmlns:a="http://schemas.openxmlformats.org/drawingml/2006/main">
            <a:off x="4480047" y="3028950"/>
            <a:ext cx="612531" cy="523875"/>
          </a:xfrm>
          <a:prstGeom xmlns:a="http://schemas.openxmlformats.org/drawingml/2006/main" prst="rect">
            <a:avLst/>
          </a:prstGeom>
        </p:spPr>
      </p:pic>
      <p:pic>
        <p:nvPicPr>
          <p:cNvPr id="200" name="Picture 169"/>
          <p:cNvPicPr>
            <a:picLocks xmlns:a="http://schemas.openxmlformats.org/drawingml/2006/main" noChangeAspect="1"/>
          </p:cNvPicPr>
          <p:nvPr/>
        </p:nvPicPr>
        <p:blipFill>
          <a:blip xmlns:r="http://schemas.openxmlformats.org/officeDocument/2006/relationships" xmlns:a="http://schemas.openxmlformats.org/drawingml/2006/main" r:embed="Ra821a02490e9407b"/>
          <a:stretch xmlns:a="http://schemas.openxmlformats.org/drawingml/2006/main"/>
        </p:blipFill>
        <p:spPr>
          <a:xfrm xmlns:a="http://schemas.openxmlformats.org/drawingml/2006/main">
            <a:off x="5241059" y="3028950"/>
            <a:ext cx="585932" cy="552450"/>
          </a:xfrm>
          <a:prstGeom xmlns:a="http://schemas.openxmlformats.org/drawingml/2006/main" prst="rect">
            <a:avLst/>
          </a:prstGeom>
        </p:spPr>
      </p:pic>
      <p:pic>
        <p:nvPicPr>
          <p:cNvPr id="201" name="Picture 170"/>
          <p:cNvPicPr>
            <a:picLocks xmlns:a="http://schemas.openxmlformats.org/drawingml/2006/main" noChangeAspect="1"/>
          </p:cNvPicPr>
          <p:nvPr/>
        </p:nvPicPr>
        <p:blipFill>
          <a:blip xmlns:r="http://schemas.openxmlformats.org/officeDocument/2006/relationships" xmlns:a="http://schemas.openxmlformats.org/drawingml/2006/main" r:embed="Rbe119da7423f45aa"/>
          <a:stretch xmlns:a="http://schemas.openxmlformats.org/drawingml/2006/main"/>
        </p:blipFill>
        <p:spPr>
          <a:xfrm xmlns:a="http://schemas.openxmlformats.org/drawingml/2006/main">
            <a:off x="5843043" y="3238500"/>
            <a:ext cx="582114" cy="295275"/>
          </a:xfrm>
          <a:prstGeom xmlns:a="http://schemas.openxmlformats.org/drawingml/2006/main" prst="rect">
            <a:avLst/>
          </a:prstGeom>
        </p:spPr>
      </p:pic>
      <p:sp>
        <p:nvSpPr>
          <p:cNvPr id="56" name="Rectangle 55">
            <a:extLst xmlns:a="http://schemas.openxmlformats.org/drawingml/2006/main">
              <a:ext uri="{FF2B5EF4-FFF2-40B4-BE49-F238E27FC236}">
                <a16:creationId xmlns:a16="http://schemas.microsoft.com/office/drawing/2014/main" id="{E89A1072-F524-4B73-94E3-67E4F56738D1}"/>
              </a:ext>
            </a:extLst>
          </p:cNvPr>
          <p:cNvSpPr>
            <a:spLocks xmlns:a="http://schemas.openxmlformats.org/drawingml/2006/main" noGrp="1"/>
          </p:cNvSpPr>
          <p:nvPr/>
        </p:nvSpPr>
        <p:spPr>
          <a:xfrm xmlns:a="http://schemas.openxmlformats.org/drawingml/2006/main">
            <a:off x="4171950" y="40005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50" b="1" i="0">
                <a:solidFill>
                  <a:srgbClr val="003B25"/>
                </a:solidFill>
                <a:latin typeface="Arial"/>
                <a:ea typeface="Arial"/>
                <a:cs typeface="Arial"/>
              </a:defRPr>
            </a:pPr>
            <a:r>
              <a:rPr sz="750" b="1" i="0">
                <a:solidFill>
                  <a:srgbClr val="003B25"/>
                </a:solidFill>
                <a:latin typeface="Arial"/>
                <a:ea typeface="Arial"/>
                <a:cs typeface="Arial"/>
              </a:rPr>
              <a:t>... and other 3rd party DR solutions</a:t>
            </a:r>
          </a:p>
        </p:txBody>
      </p:sp>
      <p:sp>
        <p:nvSpPr>
          <p:cNvPr id="57" name="Straight Connector 56">
            <a:extLst xmlns:a="http://schemas.openxmlformats.org/drawingml/2006/main">
              <a:ext uri="{FF2B5EF4-FFF2-40B4-BE49-F238E27FC236}">
                <a16:creationId xmlns:a16="http://schemas.microsoft.com/office/drawing/2014/main" id="{03A1097D-A240-42C8-AA9C-CBC85B2B1399}"/>
              </a:ext>
            </a:extLst>
          </p:cNvPr>
          <p:cNvSpPr>
            <a:spLocks xmlns:a="http://schemas.openxmlformats.org/drawingml/2006/main" noGrp="1"/>
          </p:cNvSpPr>
          <p:nvPr/>
        </p:nvSpPr>
        <p:spPr>
          <a:xfrm xmlns:a="http://schemas.openxmlformats.org/drawingml/2006/main">
            <a:off x="3609975" y="4362450"/>
            <a:ext cx="2714625" cy="0"/>
          </a:xfrm>
          <a:prstGeom xmlns:a="http://schemas.openxmlformats.org/drawingml/2006/main" prst="line">
            <a:avLst/>
          </a:prstGeom>
          <a:noFill xmlns:a="http://schemas.openxmlformats.org/drawingml/2006/main"/>
          <a:ln xmlns:a="http://schemas.openxmlformats.org/drawingml/2006/main" w="9525">
            <a:solidFill>
              <a:srgbClr val="D8DEDA"/>
            </a:solidFill>
            <a:prstDash val="dash"/>
          </a:ln>
        </p:spPr>
        <p:txBody>
          <a:bodyPr xmlns:a="http://schemas.openxmlformats.org/drawingml/2006/main"/>
          <a:lstStyle xmlns:a="http://schemas.openxmlformats.org/drawingml/2006/main"/>
          <a:p xmlns:a="http://schemas.openxmlformats.org/drawingml/2006/main">
            <a:endParaRPr/>
          </a:p>
        </p:txBody>
      </p:sp>
      <p:sp>
        <p:nvSpPr>
          <p:cNvPr id="58" name="Rectangle 57">
            <a:extLst xmlns:a="http://schemas.openxmlformats.org/drawingml/2006/main">
              <a:ext uri="{FF2B5EF4-FFF2-40B4-BE49-F238E27FC236}">
                <a16:creationId xmlns:a16="http://schemas.microsoft.com/office/drawing/2014/main" id="{C77214DA-7389-4BA9-BED3-B7D0C28FDA17}"/>
              </a:ext>
            </a:extLst>
          </p:cNvPr>
          <p:cNvSpPr>
            <a:spLocks xmlns:a="http://schemas.openxmlformats.org/drawingml/2006/main" noGrp="1"/>
          </p:cNvSpPr>
          <p:nvPr/>
        </p:nvSpPr>
        <p:spPr>
          <a:xfrm xmlns:a="http://schemas.openxmlformats.org/drawingml/2006/main">
            <a:off x="4324350" y="4543425"/>
            <a:ext cx="1333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CONNECTIVITY OPTIONS</a:t>
            </a:r>
          </a:p>
        </p:txBody>
      </p:sp>
      <p:pic>
        <p:nvPicPr>
          <p:cNvPr id="205" name="Picture 174"/>
          <p:cNvPicPr>
            <a:picLocks xmlns:a="http://schemas.openxmlformats.org/drawingml/2006/main" noChangeAspect="1"/>
          </p:cNvPicPr>
          <p:nvPr/>
        </p:nvPicPr>
        <p:blipFill>
          <a:blip xmlns:r="http://schemas.openxmlformats.org/officeDocument/2006/relationships" xmlns:a="http://schemas.openxmlformats.org/drawingml/2006/main" r:embed="Ra125fa390a65450b"/>
          <a:stretch xmlns:a="http://schemas.openxmlformats.org/drawingml/2006/main"/>
        </p:blipFill>
        <p:spPr>
          <a:xfrm xmlns:a="http://schemas.openxmlformats.org/drawingml/2006/main">
            <a:off x="3819525" y="4876800"/>
            <a:ext cx="438150" cy="438150"/>
          </a:xfrm>
          <a:prstGeom xmlns:a="http://schemas.openxmlformats.org/drawingml/2006/main" prst="rect">
            <a:avLst/>
          </a:prstGeom>
        </p:spPr>
      </p:pic>
      <p:sp>
        <p:nvSpPr>
          <p:cNvPr id="60" name="Rectangle 59">
            <a:extLst xmlns:a="http://schemas.openxmlformats.org/drawingml/2006/main">
              <a:ext uri="{FF2B5EF4-FFF2-40B4-BE49-F238E27FC236}">
                <a16:creationId xmlns:a16="http://schemas.microsoft.com/office/drawing/2014/main" id="{3D104460-6F4F-4530-9658-7A0B95326B53}"/>
              </a:ext>
            </a:extLst>
          </p:cNvPr>
          <p:cNvSpPr>
            <a:spLocks xmlns:a="http://schemas.openxmlformats.org/drawingml/2006/main" noGrp="1"/>
          </p:cNvSpPr>
          <p:nvPr/>
        </p:nvSpPr>
        <p:spPr>
          <a:xfrm xmlns:a="http://schemas.openxmlformats.org/drawingml/2006/main">
            <a:off x="3743325" y="5391150"/>
            <a:ext cx="6191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50" b="0" i="0">
                <a:solidFill>
                  <a:srgbClr val="111111"/>
                </a:solidFill>
                <a:latin typeface="Arial"/>
                <a:ea typeface="Arial"/>
                <a:cs typeface="Arial"/>
              </a:defRPr>
            </a:pPr>
            <a:r>
              <a:rPr sz="750" b="0" i="0">
                <a:solidFill>
                  <a:srgbClr val="111111"/>
                </a:solidFill>
                <a:latin typeface="Arial"/>
                <a:ea typeface="Arial"/>
                <a:cs typeface="Arial"/>
              </a:rPr>
              <a:t>Internet</a:t>
            </a:r>
          </a:p>
        </p:txBody>
      </p:sp>
      <p:pic>
        <p:nvPicPr>
          <p:cNvPr id="207" name="Picture 176"/>
          <p:cNvPicPr>
            <a:picLocks xmlns:a="http://schemas.openxmlformats.org/drawingml/2006/main" noChangeAspect="1"/>
          </p:cNvPicPr>
          <p:nvPr/>
        </p:nvPicPr>
        <p:blipFill>
          <a:blip xmlns:r="http://schemas.openxmlformats.org/officeDocument/2006/relationships" xmlns:a="http://schemas.openxmlformats.org/drawingml/2006/main" r:embed="R23df078dd4a54700"/>
          <a:stretch xmlns:a="http://schemas.openxmlformats.org/drawingml/2006/main"/>
        </p:blipFill>
        <p:spPr>
          <a:xfrm xmlns:a="http://schemas.openxmlformats.org/drawingml/2006/main">
            <a:off x="4778110" y="4876800"/>
            <a:ext cx="425979" cy="438150"/>
          </a:xfrm>
          <a:prstGeom xmlns:a="http://schemas.openxmlformats.org/drawingml/2006/main" prst="rect">
            <a:avLst/>
          </a:prstGeom>
        </p:spPr>
      </p:pic>
      <p:sp>
        <p:nvSpPr>
          <p:cNvPr id="62" name="Rectangle 61">
            <a:extLst xmlns:a="http://schemas.openxmlformats.org/drawingml/2006/main">
              <a:ext uri="{FF2B5EF4-FFF2-40B4-BE49-F238E27FC236}">
                <a16:creationId xmlns:a16="http://schemas.microsoft.com/office/drawing/2014/main" id="{F0A84327-6E14-4522-94EF-1952C646D14D}"/>
              </a:ext>
            </a:extLst>
          </p:cNvPr>
          <p:cNvSpPr>
            <a:spLocks xmlns:a="http://schemas.openxmlformats.org/drawingml/2006/main" noGrp="1"/>
          </p:cNvSpPr>
          <p:nvPr/>
        </p:nvSpPr>
        <p:spPr>
          <a:xfrm xmlns:a="http://schemas.openxmlformats.org/drawingml/2006/main">
            <a:off x="4695825" y="5391150"/>
            <a:ext cx="6191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50" b="0" i="0">
                <a:solidFill>
                  <a:srgbClr val="111111"/>
                </a:solidFill>
                <a:latin typeface="Arial"/>
                <a:ea typeface="Arial"/>
                <a:cs typeface="Arial"/>
              </a:defRPr>
            </a:pPr>
            <a:r>
              <a:rPr sz="750" b="0" i="0">
                <a:solidFill>
                  <a:srgbClr val="111111"/>
                </a:solidFill>
                <a:latin typeface="Arial"/>
                <a:ea typeface="Arial"/>
                <a:cs typeface="Arial"/>
              </a:rPr>
              <a:t>VPN</a:t>
            </a:r>
          </a:p>
        </p:txBody>
      </p:sp>
      <p:pic>
        <p:nvPicPr>
          <p:cNvPr id="209" name="Picture 178"/>
          <p:cNvPicPr>
            <a:picLocks xmlns:a="http://schemas.openxmlformats.org/drawingml/2006/main" noChangeAspect="1"/>
          </p:cNvPicPr>
          <p:nvPr/>
        </p:nvPicPr>
        <p:blipFill>
          <a:blip xmlns:r="http://schemas.openxmlformats.org/officeDocument/2006/relationships" xmlns:a="http://schemas.openxmlformats.org/drawingml/2006/main" r:embed="Rcf0a88de246c4693"/>
          <a:stretch xmlns:a="http://schemas.openxmlformats.org/drawingml/2006/main"/>
        </p:blipFill>
        <p:spPr>
          <a:xfrm xmlns:a="http://schemas.openxmlformats.org/drawingml/2006/main">
            <a:off x="5730446" y="4876800"/>
            <a:ext cx="426308" cy="438150"/>
          </a:xfrm>
          <a:prstGeom xmlns:a="http://schemas.openxmlformats.org/drawingml/2006/main" prst="rect">
            <a:avLst/>
          </a:prstGeom>
        </p:spPr>
      </p:pic>
      <p:sp>
        <p:nvSpPr>
          <p:cNvPr id="64" name="Rectangle 63">
            <a:extLst xmlns:a="http://schemas.openxmlformats.org/drawingml/2006/main">
              <a:ext uri="{FF2B5EF4-FFF2-40B4-BE49-F238E27FC236}">
                <a16:creationId xmlns:a16="http://schemas.microsoft.com/office/drawing/2014/main" id="{4E1CF4F6-B89D-477B-B1E8-6CC6F82959F0}"/>
              </a:ext>
            </a:extLst>
          </p:cNvPr>
          <p:cNvSpPr>
            <a:spLocks xmlns:a="http://schemas.openxmlformats.org/drawingml/2006/main" noGrp="1"/>
          </p:cNvSpPr>
          <p:nvPr/>
        </p:nvSpPr>
        <p:spPr>
          <a:xfrm xmlns:a="http://schemas.openxmlformats.org/drawingml/2006/main">
            <a:off x="5648325" y="5391150"/>
            <a:ext cx="6191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750" b="0" i="0">
                <a:solidFill>
                  <a:srgbClr val="111111"/>
                </a:solidFill>
                <a:latin typeface="Arial"/>
                <a:ea typeface="Arial"/>
                <a:cs typeface="Arial"/>
              </a:defRPr>
            </a:pPr>
            <a:r>
              <a:rPr sz="750" b="0" i="0">
                <a:solidFill>
                  <a:srgbClr val="111111"/>
                </a:solidFill>
                <a:latin typeface="Arial"/>
                <a:ea typeface="Arial"/>
                <a:cs typeface="Arial"/>
              </a:rPr>
              <a:t>FastConnect</a:t>
            </a:r>
          </a:p>
        </p:txBody>
      </p:sp>
      <p:sp>
        <p:nvSpPr>
          <p:cNvPr id="65" name="Right Arrow 64">
            <a:extLst xmlns:a="http://schemas.openxmlformats.org/drawingml/2006/main">
              <a:ext uri="{FF2B5EF4-FFF2-40B4-BE49-F238E27FC236}">
                <a16:creationId xmlns:a16="http://schemas.microsoft.com/office/drawing/2014/main" id="{A3966032-7426-420D-AEED-E02C51D501B5}"/>
              </a:ext>
            </a:extLst>
          </p:cNvPr>
          <p:cNvSpPr>
            <a:spLocks xmlns:a="http://schemas.openxmlformats.org/drawingml/2006/main" noGrp="1"/>
          </p:cNvSpPr>
          <p:nvPr/>
        </p:nvSpPr>
        <p:spPr>
          <a:xfrm xmlns:a="http://schemas.openxmlformats.org/drawingml/2006/main">
            <a:off x="6515100" y="3533775"/>
            <a:ext cx="323850" cy="323850"/>
          </a:xfrm>
          <a:prstGeom xmlns:a="http://schemas.openxmlformats.org/drawingml/2006/main" prst="rightArrow">
            <a:avLst/>
          </a:prstGeom>
          <a:solidFill xmlns:a="http://schemas.openxmlformats.org/drawingml/2006/main">
            <a:srgbClr val="E6000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6" name="Rounded Rectangle 65">
            <a:extLst xmlns:a="http://schemas.openxmlformats.org/drawingml/2006/main">
              <a:ext uri="{FF2B5EF4-FFF2-40B4-BE49-F238E27FC236}">
                <a16:creationId xmlns:a16="http://schemas.microsoft.com/office/drawing/2014/main" id="{560A6269-B85D-44CB-A8B2-2F895D402ACC}"/>
              </a:ext>
            </a:extLst>
          </p:cNvPr>
          <p:cNvSpPr>
            <a:spLocks xmlns:a="http://schemas.openxmlformats.org/drawingml/2006/main" noGrp="1"/>
          </p:cNvSpPr>
          <p:nvPr/>
        </p:nvSpPr>
        <p:spPr>
          <a:xfrm xmlns:a="http://schemas.openxmlformats.org/drawingml/2006/main">
            <a:off x="6858000" y="2362200"/>
            <a:ext cx="2838450" cy="3333750"/>
          </a:xfrm>
          <a:prstGeom xmlns:a="http://schemas.openxmlformats.org/drawingml/2006/main" prst="roundRect">
            <a:avLst>
              <a:gd name="adj" fmla="val 2349"/>
            </a:avLst>
          </a:prstGeom>
          <a:solidFill xmlns:a="http://schemas.openxmlformats.org/drawingml/2006/main">
            <a:srgbClr val="FFFFFF"/>
          </a:solidFill>
          <a:ln xmlns:a="http://schemas.openxmlformats.org/drawingml/2006/main" w="9525">
            <a:solidFill>
              <a:srgbClr val="E6000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67" name="Rounded Rectangle 66">
            <a:extLst xmlns:a="http://schemas.openxmlformats.org/drawingml/2006/main">
              <a:ext uri="{FF2B5EF4-FFF2-40B4-BE49-F238E27FC236}">
                <a16:creationId xmlns:a16="http://schemas.microsoft.com/office/drawing/2014/main" id="{3B882103-CB4B-4816-A3B9-02AF42EE0838}"/>
              </a:ext>
            </a:extLst>
          </p:cNvPr>
          <p:cNvSpPr>
            <a:spLocks xmlns:a="http://schemas.openxmlformats.org/drawingml/2006/main" noGrp="1"/>
          </p:cNvSpPr>
          <p:nvPr/>
        </p:nvSpPr>
        <p:spPr>
          <a:xfrm xmlns:a="http://schemas.openxmlformats.org/drawingml/2006/main">
            <a:off x="6858000" y="2362200"/>
            <a:ext cx="2838450" cy="304800"/>
          </a:xfrm>
          <a:prstGeom xmlns:a="http://schemas.openxmlformats.org/drawingml/2006/main" prst="roundRect">
            <a:avLst>
              <a:gd name="adj" fmla="val 21875"/>
            </a:avLst>
          </a:prstGeom>
          <a:gradFill xmlns:a="http://schemas.openxmlformats.org/drawingml/2006/main">
            <a:gsLst>
              <a:gs pos="0">
                <a:srgbClr val="D60000"/>
              </a:gs>
              <a:gs pos="100000">
                <a:srgbClr val="E0000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8" name="Rectangle 67">
            <a:extLst xmlns:a="http://schemas.openxmlformats.org/drawingml/2006/main">
              <a:ext uri="{FF2B5EF4-FFF2-40B4-BE49-F238E27FC236}">
                <a16:creationId xmlns:a16="http://schemas.microsoft.com/office/drawing/2014/main" id="{BB6FA99B-4050-403D-B087-3A230742973C}"/>
              </a:ext>
            </a:extLst>
          </p:cNvPr>
          <p:cNvSpPr>
            <a:spLocks xmlns:a="http://schemas.openxmlformats.org/drawingml/2006/main" noGrp="1"/>
          </p:cNvSpPr>
          <p:nvPr/>
        </p:nvSpPr>
        <p:spPr>
          <a:xfrm xmlns:a="http://schemas.openxmlformats.org/drawingml/2006/main">
            <a:off x="6858000" y="2600325"/>
            <a:ext cx="2838450" cy="76200"/>
          </a:xfrm>
          <a:prstGeom xmlns:a="http://schemas.openxmlformats.org/drawingml/2006/main" prst="rect">
            <a:avLst/>
          </a:prstGeom>
          <a:solidFill xmlns:a="http://schemas.openxmlformats.org/drawingml/2006/main">
            <a:srgbClr val="E0000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9" name="Rectangle 68">
            <a:extLst xmlns:a="http://schemas.openxmlformats.org/drawingml/2006/main">
              <a:ext uri="{FF2B5EF4-FFF2-40B4-BE49-F238E27FC236}">
                <a16:creationId xmlns:a16="http://schemas.microsoft.com/office/drawing/2014/main" id="{20D044B9-0754-4849-B95B-DEFA34102F4A}"/>
              </a:ext>
            </a:extLst>
          </p:cNvPr>
          <p:cNvSpPr>
            <a:spLocks xmlns:a="http://schemas.openxmlformats.org/drawingml/2006/main" noGrp="1"/>
          </p:cNvSpPr>
          <p:nvPr/>
        </p:nvSpPr>
        <p:spPr>
          <a:xfrm xmlns:a="http://schemas.openxmlformats.org/drawingml/2006/main">
            <a:off x="7000875" y="2466975"/>
            <a:ext cx="25527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25" b="1" i="0">
                <a:solidFill>
                  <a:srgbClr val="FFFFFF"/>
                </a:solidFill>
                <a:latin typeface="Arial"/>
                <a:ea typeface="Arial"/>
                <a:cs typeface="Arial"/>
              </a:defRPr>
            </a:pPr>
            <a:r>
              <a:rPr sz="825" b="1" i="0">
                <a:solidFill>
                  <a:srgbClr val="FFFFFF"/>
                </a:solidFill>
                <a:latin typeface="Arial"/>
                <a:ea typeface="Arial"/>
                <a:cs typeface="Arial"/>
              </a:rPr>
              <a:t>ORACLE CLOUD VMWARE SOLUTION (DR SITE)</a:t>
            </a:r>
          </a:p>
        </p:txBody>
      </p:sp>
      <p:sp>
        <p:nvSpPr>
          <p:cNvPr id="70" name="Rounded Rectangle 69">
            <a:extLst xmlns:a="http://schemas.openxmlformats.org/drawingml/2006/main">
              <a:ext uri="{FF2B5EF4-FFF2-40B4-BE49-F238E27FC236}">
                <a16:creationId xmlns:a16="http://schemas.microsoft.com/office/drawing/2014/main" id="{16CCC9E5-95F7-48D5-B8F0-0AD4B268C8F5}"/>
              </a:ext>
            </a:extLst>
          </p:cNvPr>
          <p:cNvSpPr>
            <a:spLocks xmlns:a="http://schemas.openxmlformats.org/drawingml/2006/main" noGrp="1"/>
          </p:cNvSpPr>
          <p:nvPr/>
        </p:nvSpPr>
        <p:spPr>
          <a:xfrm xmlns:a="http://schemas.openxmlformats.org/drawingml/2006/main">
            <a:off x="6962775" y="3000375"/>
            <a:ext cx="2600325" cy="1885950"/>
          </a:xfrm>
          <a:prstGeom xmlns:a="http://schemas.openxmlformats.org/drawingml/2006/main" prst="roundRect">
            <a:avLst>
              <a:gd name="adj" fmla="val 2525"/>
            </a:avLst>
          </a:prstGeom>
          <a:noFill xmlns:a="http://schemas.openxmlformats.org/drawingml/2006/main"/>
          <a:ln xmlns:a="http://schemas.openxmlformats.org/drawingml/2006/main" w="9525">
            <a:solidFill>
              <a:srgbClr val="FF3B30"/>
            </a:solidFill>
            <a:prstDash val="dash"/>
          </a:ln>
        </p:spPr>
        <p:txBody>
          <a:bodyPr xmlns:a="http://schemas.openxmlformats.org/drawingml/2006/main"/>
          <a:lstStyle xmlns:a="http://schemas.openxmlformats.org/drawingml/2006/main"/>
          <a:p xmlns:a="http://schemas.openxmlformats.org/drawingml/2006/main">
            <a:endParaRPr/>
          </a:p>
        </p:txBody>
      </p:sp>
      <p:sp>
        <p:nvSpPr>
          <p:cNvPr id="71" name="Rectangle 70">
            <a:extLst xmlns:a="http://schemas.openxmlformats.org/drawingml/2006/main">
              <a:ext uri="{FF2B5EF4-FFF2-40B4-BE49-F238E27FC236}">
                <a16:creationId xmlns:a16="http://schemas.microsoft.com/office/drawing/2014/main" id="{919D472F-82E2-48D8-9E3F-A7686BF6FC25}"/>
              </a:ext>
            </a:extLst>
          </p:cNvPr>
          <p:cNvSpPr>
            <a:spLocks xmlns:a="http://schemas.openxmlformats.org/drawingml/2006/main" noGrp="1"/>
          </p:cNvSpPr>
          <p:nvPr/>
        </p:nvSpPr>
        <p:spPr>
          <a:xfrm xmlns:a="http://schemas.openxmlformats.org/drawingml/2006/main">
            <a:off x="7191375" y="2838450"/>
            <a:ext cx="2095500" cy="3238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218" name="Picture 187"/>
          <p:cNvPicPr>
            <a:picLocks xmlns:a="http://schemas.openxmlformats.org/drawingml/2006/main" noChangeAspect="1"/>
          </p:cNvPicPr>
          <p:nvPr/>
        </p:nvPicPr>
        <p:blipFill>
          <a:blip xmlns:r="http://schemas.openxmlformats.org/officeDocument/2006/relationships" xmlns:a="http://schemas.openxmlformats.org/drawingml/2006/main" r:embed="Rd93ab17190b14e10"/>
          <a:stretch xmlns:a="http://schemas.openxmlformats.org/drawingml/2006/main"/>
        </p:blipFill>
        <p:spPr>
          <a:xfrm xmlns:a="http://schemas.openxmlformats.org/drawingml/2006/main">
            <a:off x="7348538" y="2857500"/>
            <a:ext cx="333375" cy="342900"/>
          </a:xfrm>
          <a:prstGeom xmlns:a="http://schemas.openxmlformats.org/drawingml/2006/main" prst="rect">
            <a:avLst/>
          </a:prstGeom>
        </p:spPr>
      </p:pic>
      <p:sp>
        <p:nvSpPr>
          <p:cNvPr id="73" name="Rectangle 72">
            <a:extLst xmlns:a="http://schemas.openxmlformats.org/drawingml/2006/main">
              <a:ext uri="{FF2B5EF4-FFF2-40B4-BE49-F238E27FC236}">
                <a16:creationId xmlns:a16="http://schemas.microsoft.com/office/drawing/2014/main" id="{B46BA02F-8ADF-404B-8A86-D364CB50F98F}"/>
              </a:ext>
            </a:extLst>
          </p:cNvPr>
          <p:cNvSpPr>
            <a:spLocks xmlns:a="http://schemas.openxmlformats.org/drawingml/2006/main" noGrp="1"/>
          </p:cNvSpPr>
          <p:nvPr/>
        </p:nvSpPr>
        <p:spPr>
          <a:xfrm xmlns:a="http://schemas.openxmlformats.org/drawingml/2006/main">
            <a:off x="7715250" y="2962275"/>
            <a:ext cx="17621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750" b="0" i="0">
                <a:solidFill>
                  <a:srgbClr val="111111"/>
                </a:solidFill>
                <a:latin typeface="Arial"/>
                <a:ea typeface="Arial"/>
                <a:cs typeface="Arial"/>
              </a:defRPr>
            </a:pPr>
            <a:r>
              <a:rPr sz="750" b="0" i="0">
                <a:solidFill>
                  <a:srgbClr val="111111"/>
                </a:solidFill>
                <a:latin typeface="Arial"/>
                <a:ea typeface="Arial"/>
                <a:cs typeface="Arial"/>
              </a:rPr>
              <a:t>OCI Virtual Cloud Network (VCN)</a:t>
            </a:r>
          </a:p>
        </p:txBody>
      </p:sp>
      <p:sp>
        <p:nvSpPr>
          <p:cNvPr id="74" name="Rounded Rectangle 73">
            <a:extLst xmlns:a="http://schemas.openxmlformats.org/drawingml/2006/main">
              <a:ext uri="{FF2B5EF4-FFF2-40B4-BE49-F238E27FC236}">
                <a16:creationId xmlns:a16="http://schemas.microsoft.com/office/drawing/2014/main" id="{5977D99C-A6C9-43F9-9115-F8976F00D1B3}"/>
              </a:ext>
            </a:extLst>
          </p:cNvPr>
          <p:cNvSpPr>
            <a:spLocks xmlns:a="http://schemas.openxmlformats.org/drawingml/2006/main" noGrp="1"/>
          </p:cNvSpPr>
          <p:nvPr/>
        </p:nvSpPr>
        <p:spPr>
          <a:xfrm xmlns:a="http://schemas.openxmlformats.org/drawingml/2006/main">
            <a:off x="7096125" y="3295650"/>
            <a:ext cx="2286000" cy="257175"/>
          </a:xfrm>
          <a:prstGeom xmlns:a="http://schemas.openxmlformats.org/drawingml/2006/main" prst="roundRect">
            <a:avLst>
              <a:gd name="adj" fmla="val 14815"/>
            </a:avLst>
          </a:prstGeom>
          <a:solidFill xmlns:a="http://schemas.openxmlformats.org/drawingml/2006/main">
            <a:srgbClr val="003B2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5" name="Rectangle 74">
            <a:extLst xmlns:a="http://schemas.openxmlformats.org/drawingml/2006/main">
              <a:ext uri="{FF2B5EF4-FFF2-40B4-BE49-F238E27FC236}">
                <a16:creationId xmlns:a16="http://schemas.microsoft.com/office/drawing/2014/main" id="{FA78F8CC-726F-414C-A83E-E8D3EFBCA7A4}"/>
              </a:ext>
            </a:extLst>
          </p:cNvPr>
          <p:cNvSpPr>
            <a:spLocks xmlns:a="http://schemas.openxmlformats.org/drawingml/2006/main" noGrp="1"/>
          </p:cNvSpPr>
          <p:nvPr/>
        </p:nvSpPr>
        <p:spPr>
          <a:xfrm xmlns:a="http://schemas.openxmlformats.org/drawingml/2006/main">
            <a:off x="7648575" y="3371850"/>
            <a:ext cx="123825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690" b="1" i="0">
                <a:solidFill>
                  <a:srgbClr val="FFFFFF"/>
                </a:solidFill>
                <a:latin typeface="Arial"/>
                <a:ea typeface="Arial"/>
                <a:cs typeface="Arial"/>
              </a:defRPr>
            </a:pPr>
            <a:r>
              <a:rPr sz="690" b="1" i="0">
                <a:solidFill>
                  <a:srgbClr val="FFFFFF"/>
                </a:solidFill>
                <a:latin typeface="Arial"/>
                <a:ea typeface="Arial"/>
                <a:cs typeface="Arial"/>
              </a:rPr>
              <a:t>VMware Environment (DR)</a:t>
            </a:r>
          </a:p>
        </p:txBody>
      </p:sp>
      <p:sp>
        <p:nvSpPr>
          <p:cNvPr id="76" name="Rounded Rectangle 75">
            <a:extLst xmlns:a="http://schemas.openxmlformats.org/drawingml/2006/main">
              <a:ext uri="{FF2B5EF4-FFF2-40B4-BE49-F238E27FC236}">
                <a16:creationId xmlns:a16="http://schemas.microsoft.com/office/drawing/2014/main" id="{99FF3F94-899E-4866-B995-4EE6A8CD0D64}"/>
              </a:ext>
            </a:extLst>
          </p:cNvPr>
          <p:cNvSpPr>
            <a:spLocks xmlns:a="http://schemas.openxmlformats.org/drawingml/2006/main" noGrp="1"/>
          </p:cNvSpPr>
          <p:nvPr/>
        </p:nvSpPr>
        <p:spPr>
          <a:xfrm xmlns:a="http://schemas.openxmlformats.org/drawingml/2006/main">
            <a:off x="7105650" y="3638550"/>
            <a:ext cx="638175" cy="257175"/>
          </a:xfrm>
          <a:prstGeom xmlns:a="http://schemas.openxmlformats.org/drawingml/2006/main" prst="roundRect">
            <a:avLst>
              <a:gd name="adj" fmla="val 14815"/>
            </a:avLst>
          </a:prstGeom>
          <a:solidFill xmlns:a="http://schemas.openxmlformats.org/drawingml/2006/main">
            <a:srgbClr val="003B2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7" name="Rectangle 76">
            <a:extLst xmlns:a="http://schemas.openxmlformats.org/drawingml/2006/main">
              <a:ext uri="{FF2B5EF4-FFF2-40B4-BE49-F238E27FC236}">
                <a16:creationId xmlns:a16="http://schemas.microsoft.com/office/drawing/2014/main" id="{72C6081C-E529-4DCA-84B2-51ADF3C67A76}"/>
              </a:ext>
            </a:extLst>
          </p:cNvPr>
          <p:cNvSpPr>
            <a:spLocks xmlns:a="http://schemas.openxmlformats.org/drawingml/2006/main" noGrp="1"/>
          </p:cNvSpPr>
          <p:nvPr/>
        </p:nvSpPr>
        <p:spPr>
          <a:xfrm xmlns:a="http://schemas.openxmlformats.org/drawingml/2006/main">
            <a:off x="7153275" y="3714750"/>
            <a:ext cx="542925"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630" b="0" i="0">
                <a:solidFill>
                  <a:srgbClr val="FFFFFF"/>
                </a:solidFill>
                <a:latin typeface="Arial"/>
                <a:ea typeface="Arial"/>
                <a:cs typeface="Arial"/>
              </a:defRPr>
            </a:pPr>
            <a:r>
              <a:rPr sz="630" b="0" i="0">
                <a:solidFill>
                  <a:srgbClr val="FFFFFF"/>
                </a:solidFill>
                <a:latin typeface="Arial"/>
                <a:ea typeface="Arial"/>
                <a:cs typeface="Arial"/>
              </a:rPr>
              <a:t>Compute</a:t>
            </a:r>
          </a:p>
        </p:txBody>
      </p:sp>
      <p:sp>
        <p:nvSpPr>
          <p:cNvPr id="78" name="Rounded Rectangle 77">
            <a:extLst xmlns:a="http://schemas.openxmlformats.org/drawingml/2006/main">
              <a:ext uri="{FF2B5EF4-FFF2-40B4-BE49-F238E27FC236}">
                <a16:creationId xmlns:a16="http://schemas.microsoft.com/office/drawing/2014/main" id="{653F52B6-717A-464E-83D9-28CC9EF4C63B}"/>
              </a:ext>
            </a:extLst>
          </p:cNvPr>
          <p:cNvSpPr>
            <a:spLocks xmlns:a="http://schemas.openxmlformats.org/drawingml/2006/main" noGrp="1"/>
          </p:cNvSpPr>
          <p:nvPr/>
        </p:nvSpPr>
        <p:spPr>
          <a:xfrm xmlns:a="http://schemas.openxmlformats.org/drawingml/2006/main">
            <a:off x="7915275" y="3638550"/>
            <a:ext cx="638175" cy="257175"/>
          </a:xfrm>
          <a:prstGeom xmlns:a="http://schemas.openxmlformats.org/drawingml/2006/main" prst="roundRect">
            <a:avLst>
              <a:gd name="adj" fmla="val 14815"/>
            </a:avLst>
          </a:prstGeom>
          <a:solidFill xmlns:a="http://schemas.openxmlformats.org/drawingml/2006/main">
            <a:srgbClr val="003B2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9" name="Rectangle 78">
            <a:extLst xmlns:a="http://schemas.openxmlformats.org/drawingml/2006/main">
              <a:ext uri="{FF2B5EF4-FFF2-40B4-BE49-F238E27FC236}">
                <a16:creationId xmlns:a16="http://schemas.microsoft.com/office/drawing/2014/main" id="{F41D1919-A544-4E8B-90E7-45802FE06DF6}"/>
              </a:ext>
            </a:extLst>
          </p:cNvPr>
          <p:cNvSpPr>
            <a:spLocks xmlns:a="http://schemas.openxmlformats.org/drawingml/2006/main" noGrp="1"/>
          </p:cNvSpPr>
          <p:nvPr/>
        </p:nvSpPr>
        <p:spPr>
          <a:xfrm xmlns:a="http://schemas.openxmlformats.org/drawingml/2006/main">
            <a:off x="7962900" y="3714750"/>
            <a:ext cx="542925"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630" b="0" i="0">
                <a:solidFill>
                  <a:srgbClr val="FFFFFF"/>
                </a:solidFill>
                <a:latin typeface="Arial"/>
                <a:ea typeface="Arial"/>
                <a:cs typeface="Arial"/>
              </a:defRPr>
            </a:pPr>
            <a:r>
              <a:rPr sz="630" b="0" i="0">
                <a:solidFill>
                  <a:srgbClr val="FFFFFF"/>
                </a:solidFill>
                <a:latin typeface="Arial"/>
                <a:ea typeface="Arial"/>
                <a:cs typeface="Arial"/>
              </a:rPr>
              <a:t>Storage</a:t>
            </a:r>
          </a:p>
        </p:txBody>
      </p:sp>
      <p:sp>
        <p:nvSpPr>
          <p:cNvPr id="80" name="Rounded Rectangle 79">
            <a:extLst xmlns:a="http://schemas.openxmlformats.org/drawingml/2006/main">
              <a:ext uri="{FF2B5EF4-FFF2-40B4-BE49-F238E27FC236}">
                <a16:creationId xmlns:a16="http://schemas.microsoft.com/office/drawing/2014/main" id="{4952F979-4C2B-4AB2-9F96-09B961F19A4D}"/>
              </a:ext>
            </a:extLst>
          </p:cNvPr>
          <p:cNvSpPr>
            <a:spLocks xmlns:a="http://schemas.openxmlformats.org/drawingml/2006/main" noGrp="1"/>
          </p:cNvSpPr>
          <p:nvPr/>
        </p:nvSpPr>
        <p:spPr>
          <a:xfrm xmlns:a="http://schemas.openxmlformats.org/drawingml/2006/main">
            <a:off x="8743950" y="3638550"/>
            <a:ext cx="638175" cy="257175"/>
          </a:xfrm>
          <a:prstGeom xmlns:a="http://schemas.openxmlformats.org/drawingml/2006/main" prst="roundRect">
            <a:avLst>
              <a:gd name="adj" fmla="val 14815"/>
            </a:avLst>
          </a:prstGeom>
          <a:solidFill xmlns:a="http://schemas.openxmlformats.org/drawingml/2006/main">
            <a:srgbClr val="003B2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1" name="Rectangle 80">
            <a:extLst xmlns:a="http://schemas.openxmlformats.org/drawingml/2006/main">
              <a:ext uri="{FF2B5EF4-FFF2-40B4-BE49-F238E27FC236}">
                <a16:creationId xmlns:a16="http://schemas.microsoft.com/office/drawing/2014/main" id="{E83AD443-5923-41E6-B0C8-F627A40BC82A}"/>
              </a:ext>
            </a:extLst>
          </p:cNvPr>
          <p:cNvSpPr>
            <a:spLocks xmlns:a="http://schemas.openxmlformats.org/drawingml/2006/main" noGrp="1"/>
          </p:cNvSpPr>
          <p:nvPr/>
        </p:nvSpPr>
        <p:spPr>
          <a:xfrm xmlns:a="http://schemas.openxmlformats.org/drawingml/2006/main">
            <a:off x="8791575" y="3714750"/>
            <a:ext cx="542925"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630" b="0" i="0">
                <a:solidFill>
                  <a:srgbClr val="FFFFFF"/>
                </a:solidFill>
                <a:latin typeface="Arial"/>
                <a:ea typeface="Arial"/>
                <a:cs typeface="Arial"/>
              </a:defRPr>
            </a:pPr>
            <a:r>
              <a:rPr sz="630" b="0" i="0">
                <a:solidFill>
                  <a:srgbClr val="FFFFFF"/>
                </a:solidFill>
                <a:latin typeface="Arial"/>
                <a:ea typeface="Arial"/>
                <a:cs typeface="Arial"/>
              </a:rPr>
              <a:t>Network</a:t>
            </a:r>
          </a:p>
        </p:txBody>
      </p:sp>
      <p:pic>
        <p:nvPicPr>
          <p:cNvPr id="228" name="Picture 197"/>
          <p:cNvPicPr>
            <a:picLocks xmlns:a="http://schemas.openxmlformats.org/drawingml/2006/main" noChangeAspect="1"/>
          </p:cNvPicPr>
          <p:nvPr/>
        </p:nvPicPr>
        <p:blipFill>
          <a:blip xmlns:r="http://schemas.openxmlformats.org/officeDocument/2006/relationships" xmlns:a="http://schemas.openxmlformats.org/drawingml/2006/main" r:embed="R065fa1d8a1b54d47"/>
          <a:stretch xmlns:a="http://schemas.openxmlformats.org/drawingml/2006/main"/>
        </p:blipFill>
        <p:spPr>
          <a:xfrm xmlns:a="http://schemas.openxmlformats.org/drawingml/2006/main">
            <a:off x="7229475" y="4115753"/>
            <a:ext cx="342900" cy="274320"/>
          </a:xfrm>
          <a:prstGeom xmlns:a="http://schemas.openxmlformats.org/drawingml/2006/main" prst="rect">
            <a:avLst/>
          </a:prstGeom>
        </p:spPr>
      </p:pic>
      <p:sp>
        <p:nvSpPr>
          <p:cNvPr id="83" name="Rectangle 82">
            <a:extLst xmlns:a="http://schemas.openxmlformats.org/drawingml/2006/main">
              <a:ext uri="{FF2B5EF4-FFF2-40B4-BE49-F238E27FC236}">
                <a16:creationId xmlns:a16="http://schemas.microsoft.com/office/drawing/2014/main" id="{CFEA1D03-7553-484B-93F3-86BD1F0F75AC}"/>
              </a:ext>
            </a:extLst>
          </p:cNvPr>
          <p:cNvSpPr>
            <a:spLocks xmlns:a="http://schemas.openxmlformats.org/drawingml/2006/main" noGrp="1"/>
          </p:cNvSpPr>
          <p:nvPr/>
        </p:nvSpPr>
        <p:spPr>
          <a:xfrm xmlns:a="http://schemas.openxmlformats.org/drawingml/2006/main">
            <a:off x="7105650" y="4514850"/>
            <a:ext cx="609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0000"/>
              </a:lnSpc>
              <a:buNone/>
              <a:defRPr sz="630" b="0" i="0">
                <a:solidFill>
                  <a:srgbClr val="111111"/>
                </a:solidFill>
                <a:latin typeface="Arial"/>
                <a:ea typeface="Arial"/>
                <a:cs typeface="Arial"/>
              </a:defRPr>
            </a:pPr>
            <a:r>
              <a:rPr sz="630" b="0" i="0">
                <a:solidFill>
                  <a:srgbClr val="111111"/>
                </a:solidFill>
                <a:latin typeface="Arial"/>
                <a:ea typeface="Arial"/>
                <a:cs typeface="Arial"/>
              </a:rPr>
              <a:t>Bare Metal</a:t>
            </a:r>
          </a:p>
          <a:p xmlns:a="http://schemas.openxmlformats.org/drawingml/2006/main">
            <a:pPr algn="ctr">
              <a:lnSpc>
                <a:spcPct val="100000"/>
              </a:lnSpc>
              <a:buNone/>
              <a:defRPr sz="630" b="0" i="0">
                <a:solidFill>
                  <a:srgbClr val="111111"/>
                </a:solidFill>
                <a:latin typeface="Arial"/>
                <a:ea typeface="Arial"/>
                <a:cs typeface="Arial"/>
              </a:defRPr>
            </a:pPr>
            <a:r>
              <a:rPr sz="630" b="0" i="0">
                <a:solidFill>
                  <a:srgbClr val="111111"/>
                </a:solidFill>
                <a:latin typeface="Arial"/>
                <a:ea typeface="Arial"/>
                <a:cs typeface="Arial"/>
              </a:rPr>
              <a:t>Compute</a:t>
            </a:r>
          </a:p>
        </p:txBody>
      </p:sp>
      <p:pic>
        <p:nvPicPr>
          <p:cNvPr id="230" name="Picture 199"/>
          <p:cNvPicPr>
            <a:picLocks xmlns:a="http://schemas.openxmlformats.org/drawingml/2006/main" noChangeAspect="1"/>
          </p:cNvPicPr>
          <p:nvPr/>
        </p:nvPicPr>
        <p:blipFill>
          <a:blip xmlns:r="http://schemas.openxmlformats.org/officeDocument/2006/relationships" xmlns:a="http://schemas.openxmlformats.org/drawingml/2006/main" r:embed="R065fa1d8a1b54d47"/>
          <a:stretch xmlns:a="http://schemas.openxmlformats.org/drawingml/2006/main"/>
        </p:blipFill>
        <p:spPr>
          <a:xfrm xmlns:a="http://schemas.openxmlformats.org/drawingml/2006/main">
            <a:off x="8086725" y="4115753"/>
            <a:ext cx="342900" cy="274320"/>
          </a:xfrm>
          <a:prstGeom xmlns:a="http://schemas.openxmlformats.org/drawingml/2006/main" prst="rect">
            <a:avLst/>
          </a:prstGeom>
        </p:spPr>
      </p:pic>
      <p:sp>
        <p:nvSpPr>
          <p:cNvPr id="85" name="Rectangle 84">
            <a:extLst xmlns:a="http://schemas.openxmlformats.org/drawingml/2006/main">
              <a:ext uri="{FF2B5EF4-FFF2-40B4-BE49-F238E27FC236}">
                <a16:creationId xmlns:a16="http://schemas.microsoft.com/office/drawing/2014/main" id="{AF36A18E-5127-4C0F-914F-C5E2D474995B}"/>
              </a:ext>
            </a:extLst>
          </p:cNvPr>
          <p:cNvSpPr>
            <a:spLocks xmlns:a="http://schemas.openxmlformats.org/drawingml/2006/main" noGrp="1"/>
          </p:cNvSpPr>
          <p:nvPr/>
        </p:nvSpPr>
        <p:spPr>
          <a:xfrm xmlns:a="http://schemas.openxmlformats.org/drawingml/2006/main">
            <a:off x="7962900" y="4514850"/>
            <a:ext cx="609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0000"/>
              </a:lnSpc>
              <a:buNone/>
              <a:defRPr sz="630" b="0" i="0">
                <a:solidFill>
                  <a:srgbClr val="111111"/>
                </a:solidFill>
                <a:latin typeface="Arial"/>
                <a:ea typeface="Arial"/>
                <a:cs typeface="Arial"/>
              </a:defRPr>
            </a:pPr>
            <a:r>
              <a:rPr sz="630" b="0" i="0">
                <a:solidFill>
                  <a:srgbClr val="111111"/>
                </a:solidFill>
                <a:latin typeface="Arial"/>
                <a:ea typeface="Arial"/>
                <a:cs typeface="Arial"/>
              </a:rPr>
              <a:t>Bare Metal</a:t>
            </a:r>
          </a:p>
          <a:p xmlns:a="http://schemas.openxmlformats.org/drawingml/2006/main">
            <a:pPr algn="ctr">
              <a:lnSpc>
                <a:spcPct val="100000"/>
              </a:lnSpc>
              <a:buNone/>
              <a:defRPr sz="630" b="0" i="0">
                <a:solidFill>
                  <a:srgbClr val="111111"/>
                </a:solidFill>
                <a:latin typeface="Arial"/>
                <a:ea typeface="Arial"/>
                <a:cs typeface="Arial"/>
              </a:defRPr>
            </a:pPr>
            <a:r>
              <a:rPr sz="630" b="0" i="0">
                <a:solidFill>
                  <a:srgbClr val="111111"/>
                </a:solidFill>
                <a:latin typeface="Arial"/>
                <a:ea typeface="Arial"/>
                <a:cs typeface="Arial"/>
              </a:rPr>
              <a:t>Compute</a:t>
            </a:r>
          </a:p>
        </p:txBody>
      </p:sp>
      <p:pic>
        <p:nvPicPr>
          <p:cNvPr id="232" name="Picture 201"/>
          <p:cNvPicPr>
            <a:picLocks xmlns:a="http://schemas.openxmlformats.org/drawingml/2006/main" noChangeAspect="1"/>
          </p:cNvPicPr>
          <p:nvPr/>
        </p:nvPicPr>
        <p:blipFill>
          <a:blip xmlns:r="http://schemas.openxmlformats.org/officeDocument/2006/relationships" xmlns:a="http://schemas.openxmlformats.org/drawingml/2006/main" r:embed="R065fa1d8a1b54d47"/>
          <a:stretch xmlns:a="http://schemas.openxmlformats.org/drawingml/2006/main"/>
        </p:blipFill>
        <p:spPr>
          <a:xfrm xmlns:a="http://schemas.openxmlformats.org/drawingml/2006/main">
            <a:off x="8943975" y="4115753"/>
            <a:ext cx="342900" cy="274320"/>
          </a:xfrm>
          <a:prstGeom xmlns:a="http://schemas.openxmlformats.org/drawingml/2006/main" prst="rect">
            <a:avLst/>
          </a:prstGeom>
        </p:spPr>
      </p:pic>
      <p:sp>
        <p:nvSpPr>
          <p:cNvPr id="87" name="Rectangle 86">
            <a:extLst xmlns:a="http://schemas.openxmlformats.org/drawingml/2006/main">
              <a:ext uri="{FF2B5EF4-FFF2-40B4-BE49-F238E27FC236}">
                <a16:creationId xmlns:a16="http://schemas.microsoft.com/office/drawing/2014/main" id="{4035C2C7-42A8-4877-95B3-0BA6FA8045EE}"/>
              </a:ext>
            </a:extLst>
          </p:cNvPr>
          <p:cNvSpPr>
            <a:spLocks xmlns:a="http://schemas.openxmlformats.org/drawingml/2006/main" noGrp="1"/>
          </p:cNvSpPr>
          <p:nvPr/>
        </p:nvSpPr>
        <p:spPr>
          <a:xfrm xmlns:a="http://schemas.openxmlformats.org/drawingml/2006/main">
            <a:off x="8820150" y="4514850"/>
            <a:ext cx="609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ctr">
              <a:lnSpc>
                <a:spcPct val="100000"/>
              </a:lnSpc>
              <a:buNone/>
              <a:defRPr sz="630" b="0" i="0">
                <a:solidFill>
                  <a:srgbClr val="111111"/>
                </a:solidFill>
                <a:latin typeface="Arial"/>
                <a:ea typeface="Arial"/>
                <a:cs typeface="Arial"/>
              </a:defRPr>
            </a:pPr>
            <a:r>
              <a:rPr sz="630" b="0" i="0">
                <a:solidFill>
                  <a:srgbClr val="111111"/>
                </a:solidFill>
                <a:latin typeface="Arial"/>
                <a:ea typeface="Arial"/>
                <a:cs typeface="Arial"/>
              </a:rPr>
              <a:t>Bare Metal</a:t>
            </a:r>
          </a:p>
          <a:p xmlns:a="http://schemas.openxmlformats.org/drawingml/2006/main">
            <a:pPr algn="ctr">
              <a:lnSpc>
                <a:spcPct val="100000"/>
              </a:lnSpc>
              <a:buNone/>
              <a:defRPr sz="630" b="0" i="0">
                <a:solidFill>
                  <a:srgbClr val="111111"/>
                </a:solidFill>
                <a:latin typeface="Arial"/>
                <a:ea typeface="Arial"/>
                <a:cs typeface="Arial"/>
              </a:defRPr>
            </a:pPr>
            <a:r>
              <a:rPr sz="630" b="0" i="0">
                <a:solidFill>
                  <a:srgbClr val="111111"/>
                </a:solidFill>
                <a:latin typeface="Arial"/>
                <a:ea typeface="Arial"/>
                <a:cs typeface="Arial"/>
              </a:rPr>
              <a:t>Compute</a:t>
            </a:r>
          </a:p>
        </p:txBody>
      </p:sp>
      <p:sp>
        <p:nvSpPr>
          <p:cNvPr id="88" name="Rounded Rectangle 87">
            <a:extLst xmlns:a="http://schemas.openxmlformats.org/drawingml/2006/main">
              <a:ext uri="{FF2B5EF4-FFF2-40B4-BE49-F238E27FC236}">
                <a16:creationId xmlns:a16="http://schemas.microsoft.com/office/drawing/2014/main" id="{5D9A0B81-CBDD-40FB-93B5-7F15AF614228}"/>
              </a:ext>
            </a:extLst>
          </p:cNvPr>
          <p:cNvSpPr>
            <a:spLocks xmlns:a="http://schemas.openxmlformats.org/drawingml/2006/main" noGrp="1"/>
          </p:cNvSpPr>
          <p:nvPr/>
        </p:nvSpPr>
        <p:spPr>
          <a:xfrm xmlns:a="http://schemas.openxmlformats.org/drawingml/2006/main">
            <a:off x="6962775" y="5029200"/>
            <a:ext cx="2600325" cy="523875"/>
          </a:xfrm>
          <a:prstGeom xmlns:a="http://schemas.openxmlformats.org/drawingml/2006/main" prst="roundRect">
            <a:avLst>
              <a:gd name="adj" fmla="val 10909"/>
            </a:avLst>
          </a:prstGeom>
          <a:solidFill xmlns:a="http://schemas.openxmlformats.org/drawingml/2006/main">
            <a:srgbClr val="FDEDE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235" name="Picture 204"/>
          <p:cNvPicPr>
            <a:picLocks xmlns:a="http://schemas.openxmlformats.org/drawingml/2006/main" noChangeAspect="1"/>
          </p:cNvPicPr>
          <p:nvPr/>
        </p:nvPicPr>
        <p:blipFill>
          <a:blip xmlns:r="http://schemas.openxmlformats.org/officeDocument/2006/relationships" xmlns:a="http://schemas.openxmlformats.org/drawingml/2006/main" r:embed="Rbf88505ca8b54ae8"/>
          <a:stretch xmlns:a="http://schemas.openxmlformats.org/drawingml/2006/main"/>
        </p:blipFill>
        <p:spPr>
          <a:xfrm xmlns:a="http://schemas.openxmlformats.org/drawingml/2006/main">
            <a:off x="7100739" y="5143500"/>
            <a:ext cx="286048" cy="295275"/>
          </a:xfrm>
          <a:prstGeom xmlns:a="http://schemas.openxmlformats.org/drawingml/2006/main" prst="rect">
            <a:avLst/>
          </a:prstGeom>
        </p:spPr>
      </p:pic>
      <p:sp>
        <p:nvSpPr>
          <p:cNvPr id="90" name="Rectangle 89">
            <a:extLst xmlns:a="http://schemas.openxmlformats.org/drawingml/2006/main">
              <a:ext uri="{FF2B5EF4-FFF2-40B4-BE49-F238E27FC236}">
                <a16:creationId xmlns:a16="http://schemas.microsoft.com/office/drawing/2014/main" id="{13863862-6F20-443B-8D66-53DF13D9A406}"/>
              </a:ext>
            </a:extLst>
          </p:cNvPr>
          <p:cNvSpPr>
            <a:spLocks xmlns:a="http://schemas.openxmlformats.org/drawingml/2006/main" noGrp="1"/>
          </p:cNvSpPr>
          <p:nvPr/>
        </p:nvSpPr>
        <p:spPr>
          <a:xfrm xmlns:a="http://schemas.openxmlformats.org/drawingml/2006/main">
            <a:off x="7496175" y="5153025"/>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0000"/>
              </a:lnSpc>
              <a:buNone/>
              <a:defRPr sz="750" b="0" i="0">
                <a:solidFill>
                  <a:srgbClr val="111111"/>
                </a:solidFill>
                <a:latin typeface="Arial"/>
                <a:ea typeface="Arial"/>
                <a:cs typeface="Arial"/>
              </a:defRPr>
            </a:pPr>
            <a:r>
              <a:rPr sz="750" b="0" i="0">
                <a:solidFill>
                  <a:srgbClr val="111111"/>
                </a:solidFill>
                <a:latin typeface="Arial"/>
                <a:ea typeface="Arial"/>
                <a:cs typeface="Arial"/>
              </a:rPr>
              <a:t>Isolated and protected DR environment</a:t>
            </a:r>
          </a:p>
          <a:p xmlns:a="http://schemas.openxmlformats.org/drawingml/2006/main">
            <a:pPr algn="l">
              <a:lnSpc>
                <a:spcPct val="110000"/>
              </a:lnSpc>
              <a:buNone/>
              <a:defRPr sz="750" b="0" i="0">
                <a:solidFill>
                  <a:srgbClr val="111111"/>
                </a:solidFill>
                <a:latin typeface="Arial"/>
                <a:ea typeface="Arial"/>
                <a:cs typeface="Arial"/>
              </a:defRPr>
            </a:pPr>
            <a:r>
              <a:rPr sz="750" b="0" i="0">
                <a:solidFill>
                  <a:srgbClr val="111111"/>
                </a:solidFill>
                <a:latin typeface="Arial"/>
                <a:ea typeface="Arial"/>
                <a:cs typeface="Arial"/>
              </a:rPr>
              <a:t>on native OCI infrastructure</a:t>
            </a:r>
          </a:p>
        </p:txBody>
      </p:sp>
      <p:sp>
        <p:nvSpPr>
          <p:cNvPr id="91" name="Straight Connector 90">
            <a:extLst xmlns:a="http://schemas.openxmlformats.org/drawingml/2006/main">
              <a:ext uri="{FF2B5EF4-FFF2-40B4-BE49-F238E27FC236}">
                <a16:creationId xmlns:a16="http://schemas.microsoft.com/office/drawing/2014/main" id="{FF5E0613-E6D8-40EE-A062-ACE6246B7A80}"/>
              </a:ext>
            </a:extLst>
          </p:cNvPr>
          <p:cNvSpPr>
            <a:spLocks xmlns:a="http://schemas.openxmlformats.org/drawingml/2006/main" noGrp="1"/>
          </p:cNvSpPr>
          <p:nvPr/>
        </p:nvSpPr>
        <p:spPr>
          <a:xfrm xmlns:a="http://schemas.openxmlformats.org/drawingml/2006/main">
            <a:off x="9953625" y="1409700"/>
            <a:ext cx="0" cy="4457700"/>
          </a:xfrm>
          <a:prstGeom xmlns:a="http://schemas.openxmlformats.org/drawingml/2006/main" prst="line">
            <a:avLst/>
          </a:prstGeom>
          <a:noFill xmlns:a="http://schemas.openxmlformats.org/drawingml/2006/main"/>
          <a:ln xmlns:a="http://schemas.openxmlformats.org/drawingml/2006/main" w="9525">
            <a:solidFill>
              <a:srgbClr val="D8DEDA"/>
            </a:solidFill>
            <a:prstDash val="solid"/>
          </a:ln>
        </p:spPr>
        <p:txBody>
          <a:bodyPr xmlns:a="http://schemas.openxmlformats.org/drawingml/2006/main"/>
          <a:lstStyle xmlns:a="http://schemas.openxmlformats.org/drawingml/2006/main"/>
          <a:p xmlns:a="http://schemas.openxmlformats.org/drawingml/2006/main">
            <a:endParaRPr/>
          </a:p>
        </p:txBody>
      </p:sp>
      <p:sp>
        <p:nvSpPr>
          <p:cNvPr id="92" name="Rectangle 91">
            <a:extLst xmlns:a="http://schemas.openxmlformats.org/drawingml/2006/main">
              <a:ext uri="{FF2B5EF4-FFF2-40B4-BE49-F238E27FC236}">
                <a16:creationId xmlns:a16="http://schemas.microsoft.com/office/drawing/2014/main" id="{12076F34-908A-47F8-A47F-E0D0CC6FD5CA}"/>
              </a:ext>
            </a:extLst>
          </p:cNvPr>
          <p:cNvSpPr>
            <a:spLocks xmlns:a="http://schemas.openxmlformats.org/drawingml/2006/main" noGrp="1"/>
          </p:cNvSpPr>
          <p:nvPr/>
        </p:nvSpPr>
        <p:spPr>
          <a:xfrm xmlns:a="http://schemas.openxmlformats.org/drawingml/2006/main">
            <a:off x="10144125" y="1752600"/>
            <a:ext cx="1524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BUSINESS OUTCOMES</a:t>
            </a:r>
          </a:p>
        </p:txBody>
      </p:sp>
      <p:sp>
        <p:nvSpPr>
          <p:cNvPr id="93" name="Straight Connector 92">
            <a:extLst xmlns:a="http://schemas.openxmlformats.org/drawingml/2006/main">
              <a:ext uri="{FF2B5EF4-FFF2-40B4-BE49-F238E27FC236}">
                <a16:creationId xmlns:a16="http://schemas.microsoft.com/office/drawing/2014/main" id="{4A857B32-5962-4564-AAF4-3426E2D07DF5}"/>
              </a:ext>
            </a:extLst>
          </p:cNvPr>
          <p:cNvSpPr>
            <a:spLocks xmlns:a="http://schemas.openxmlformats.org/drawingml/2006/main" noGrp="1"/>
          </p:cNvSpPr>
          <p:nvPr/>
        </p:nvSpPr>
        <p:spPr>
          <a:xfrm xmlns:a="http://schemas.openxmlformats.org/drawingml/2006/main">
            <a:off x="10144125" y="1981200"/>
            <a:ext cx="1809750" cy="0"/>
          </a:xfrm>
          <a:prstGeom xmlns:a="http://schemas.openxmlformats.org/drawingml/2006/main" prst="line">
            <a:avLst/>
          </a:prstGeom>
          <a:noFill xmlns:a="http://schemas.openxmlformats.org/drawingml/2006/main"/>
          <a:ln xmlns:a="http://schemas.openxmlformats.org/drawingml/2006/main" w="9525">
            <a:solidFill>
              <a:srgbClr val="5B7F70"/>
            </a:solidFill>
            <a:prstDash val="solid"/>
          </a:ln>
        </p:spPr>
        <p:txBody>
          <a:bodyPr xmlns:a="http://schemas.openxmlformats.org/drawingml/2006/main"/>
          <a:lstStyle xmlns:a="http://schemas.openxmlformats.org/drawingml/2006/main"/>
          <a:p xmlns:a="http://schemas.openxmlformats.org/drawingml/2006/main">
            <a:endParaRPr/>
          </a:p>
        </p:txBody>
      </p:sp>
      <p:pic>
        <p:nvPicPr>
          <p:cNvPr id="240" name="Picture 209"/>
          <p:cNvPicPr>
            <a:picLocks xmlns:a="http://schemas.openxmlformats.org/drawingml/2006/main" noChangeAspect="1"/>
          </p:cNvPicPr>
          <p:nvPr/>
        </p:nvPicPr>
        <p:blipFill>
          <a:blip xmlns:r="http://schemas.openxmlformats.org/officeDocument/2006/relationships" xmlns:a="http://schemas.openxmlformats.org/drawingml/2006/main" r:embed="Rd57345f07c354e8e"/>
          <a:stretch xmlns:a="http://schemas.openxmlformats.org/drawingml/2006/main"/>
        </p:blipFill>
        <p:spPr>
          <a:xfrm xmlns:a="http://schemas.openxmlformats.org/drawingml/2006/main">
            <a:off x="10163175" y="2152650"/>
            <a:ext cx="447675" cy="447675"/>
          </a:xfrm>
          <a:prstGeom xmlns:a="http://schemas.openxmlformats.org/drawingml/2006/main" prst="rect">
            <a:avLst/>
          </a:prstGeom>
        </p:spPr>
      </p:pic>
      <p:sp>
        <p:nvSpPr>
          <p:cNvPr id="95" name="Rectangle 94">
            <a:extLst xmlns:a="http://schemas.openxmlformats.org/drawingml/2006/main">
              <a:ext uri="{FF2B5EF4-FFF2-40B4-BE49-F238E27FC236}">
                <a16:creationId xmlns:a16="http://schemas.microsoft.com/office/drawing/2014/main" id="{BC0771C2-FA8B-42EB-ACFF-D87E67E7E659}"/>
              </a:ext>
            </a:extLst>
          </p:cNvPr>
          <p:cNvSpPr>
            <a:spLocks xmlns:a="http://schemas.openxmlformats.org/drawingml/2006/main" noGrp="1"/>
          </p:cNvSpPr>
          <p:nvPr/>
        </p:nvSpPr>
        <p:spPr>
          <a:xfrm xmlns:a="http://schemas.openxmlformats.org/drawingml/2006/main">
            <a:off x="10706100" y="2162175"/>
            <a:ext cx="1219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750" b="1" i="0">
                <a:solidFill>
                  <a:srgbClr val="003B25"/>
                </a:solidFill>
                <a:latin typeface="Arial"/>
                <a:ea typeface="Arial"/>
                <a:cs typeface="Arial"/>
              </a:defRPr>
            </a:pPr>
            <a:r>
              <a:rPr sz="750" b="1" i="0">
                <a:solidFill>
                  <a:srgbClr val="003B25"/>
                </a:solidFill>
                <a:latin typeface="Arial"/>
                <a:ea typeface="Arial"/>
                <a:cs typeface="Arial"/>
              </a:rPr>
              <a:t>Minimize downtime</a:t>
            </a:r>
          </a:p>
        </p:txBody>
      </p:sp>
      <p:sp>
        <p:nvSpPr>
          <p:cNvPr id="96" name="Rectangle 95">
            <a:extLst xmlns:a="http://schemas.openxmlformats.org/drawingml/2006/main">
              <a:ext uri="{FF2B5EF4-FFF2-40B4-BE49-F238E27FC236}">
                <a16:creationId xmlns:a16="http://schemas.microsoft.com/office/drawing/2014/main" id="{A18726DA-D31D-429F-B817-31A6D310FF0E}"/>
              </a:ext>
            </a:extLst>
          </p:cNvPr>
          <p:cNvSpPr>
            <a:spLocks xmlns:a="http://schemas.openxmlformats.org/drawingml/2006/main" noGrp="1"/>
          </p:cNvSpPr>
          <p:nvPr/>
        </p:nvSpPr>
        <p:spPr>
          <a:xfrm xmlns:a="http://schemas.openxmlformats.org/drawingml/2006/main">
            <a:off x="10706100" y="2324100"/>
            <a:ext cx="1295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0000"/>
              </a:lnSpc>
              <a:buNone/>
              <a:defRPr sz="653" b="0" i="0">
                <a:solidFill>
                  <a:srgbClr val="111111"/>
                </a:solidFill>
                <a:latin typeface="Arial"/>
                <a:ea typeface="Arial"/>
                <a:cs typeface="Arial"/>
              </a:defRPr>
            </a:pPr>
            <a:r>
              <a:rPr sz="653" b="0" i="0">
                <a:solidFill>
                  <a:srgbClr val="111111"/>
                </a:solidFill>
                <a:latin typeface="Arial"/>
                <a:ea typeface="Arial"/>
                <a:cs typeface="Arial"/>
              </a:rPr>
              <a:t>Quick recovery to meet</a:t>
            </a:r>
          </a:p>
          <a:p xmlns:a="http://schemas.openxmlformats.org/drawingml/2006/main">
            <a:pPr algn="l">
              <a:lnSpc>
                <a:spcPct val="110000"/>
              </a:lnSpc>
              <a:buNone/>
              <a:defRPr sz="653" b="0" i="0">
                <a:solidFill>
                  <a:srgbClr val="111111"/>
                </a:solidFill>
                <a:latin typeface="Arial"/>
                <a:ea typeface="Arial"/>
                <a:cs typeface="Arial"/>
              </a:defRPr>
            </a:pPr>
            <a:r>
              <a:rPr sz="653" b="0" i="0">
                <a:solidFill>
                  <a:srgbClr val="111111"/>
                </a:solidFill>
                <a:latin typeface="Arial"/>
                <a:ea typeface="Arial"/>
                <a:cs typeface="Arial"/>
              </a:rPr>
              <a:t>RTO &amp; RPO targets.</a:t>
            </a:r>
          </a:p>
        </p:txBody>
      </p:sp>
      <p:sp>
        <p:nvSpPr>
          <p:cNvPr id="97" name="Straight Connector 96">
            <a:extLst xmlns:a="http://schemas.openxmlformats.org/drawingml/2006/main">
              <a:ext uri="{FF2B5EF4-FFF2-40B4-BE49-F238E27FC236}">
                <a16:creationId xmlns:a16="http://schemas.microsoft.com/office/drawing/2014/main" id="{629B3057-CA35-4101-82F8-35D38737FEFC}"/>
              </a:ext>
            </a:extLst>
          </p:cNvPr>
          <p:cNvSpPr>
            <a:spLocks xmlns:a="http://schemas.openxmlformats.org/drawingml/2006/main" noGrp="1"/>
          </p:cNvSpPr>
          <p:nvPr/>
        </p:nvSpPr>
        <p:spPr>
          <a:xfrm xmlns:a="http://schemas.openxmlformats.org/drawingml/2006/main">
            <a:off x="10172700" y="2743200"/>
            <a:ext cx="1752600" cy="0"/>
          </a:xfrm>
          <a:prstGeom xmlns:a="http://schemas.openxmlformats.org/drawingml/2006/main" prst="line">
            <a:avLst/>
          </a:prstGeom>
          <a:noFill xmlns:a="http://schemas.openxmlformats.org/drawingml/2006/main"/>
          <a:ln xmlns:a="http://schemas.openxmlformats.org/drawingml/2006/main" w="9525">
            <a:solidFill>
              <a:srgbClr val="D8DEDA"/>
            </a:solidFill>
            <a:prstDash val="solid"/>
          </a:ln>
        </p:spPr>
        <p:txBody>
          <a:bodyPr xmlns:a="http://schemas.openxmlformats.org/drawingml/2006/main"/>
          <a:lstStyle xmlns:a="http://schemas.openxmlformats.org/drawingml/2006/main"/>
          <a:p xmlns:a="http://schemas.openxmlformats.org/drawingml/2006/main">
            <a:endParaRPr/>
          </a:p>
        </p:txBody>
      </p:sp>
      <p:pic>
        <p:nvPicPr>
          <p:cNvPr id="244" name="Picture 213"/>
          <p:cNvPicPr>
            <a:picLocks xmlns:a="http://schemas.openxmlformats.org/drawingml/2006/main" noChangeAspect="1"/>
          </p:cNvPicPr>
          <p:nvPr/>
        </p:nvPicPr>
        <p:blipFill>
          <a:blip xmlns:r="http://schemas.openxmlformats.org/officeDocument/2006/relationships" xmlns:a="http://schemas.openxmlformats.org/drawingml/2006/main" r:embed="R1b809a0b058446d0"/>
          <a:stretch xmlns:a="http://schemas.openxmlformats.org/drawingml/2006/main"/>
        </p:blipFill>
        <p:spPr>
          <a:xfrm xmlns:a="http://schemas.openxmlformats.org/drawingml/2006/main">
            <a:off x="10163175" y="2895600"/>
            <a:ext cx="447675" cy="447675"/>
          </a:xfrm>
          <a:prstGeom xmlns:a="http://schemas.openxmlformats.org/drawingml/2006/main" prst="rect">
            <a:avLst/>
          </a:prstGeom>
        </p:spPr>
      </p:pic>
      <p:sp>
        <p:nvSpPr>
          <p:cNvPr id="99" name="Rectangle 98">
            <a:extLst xmlns:a="http://schemas.openxmlformats.org/drawingml/2006/main">
              <a:ext uri="{FF2B5EF4-FFF2-40B4-BE49-F238E27FC236}">
                <a16:creationId xmlns:a16="http://schemas.microsoft.com/office/drawing/2014/main" id="{14B3E80C-1548-4CE3-A8B8-E151D17CE0C2}"/>
              </a:ext>
            </a:extLst>
          </p:cNvPr>
          <p:cNvSpPr>
            <a:spLocks xmlns:a="http://schemas.openxmlformats.org/drawingml/2006/main" noGrp="1"/>
          </p:cNvSpPr>
          <p:nvPr/>
        </p:nvSpPr>
        <p:spPr>
          <a:xfrm xmlns:a="http://schemas.openxmlformats.org/drawingml/2006/main">
            <a:off x="10706100" y="2905125"/>
            <a:ext cx="1219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750" b="1" i="0">
                <a:solidFill>
                  <a:srgbClr val="003B25"/>
                </a:solidFill>
                <a:latin typeface="Arial"/>
                <a:ea typeface="Arial"/>
                <a:cs typeface="Arial"/>
              </a:defRPr>
            </a:pPr>
            <a:r>
              <a:rPr sz="750" b="1" i="0">
                <a:solidFill>
                  <a:srgbClr val="003B25"/>
                </a:solidFill>
                <a:latin typeface="Arial"/>
                <a:ea typeface="Arial"/>
                <a:cs typeface="Arial"/>
              </a:rPr>
              <a:t>Protect your data</a:t>
            </a:r>
          </a:p>
        </p:txBody>
      </p:sp>
      <p:sp>
        <p:nvSpPr>
          <p:cNvPr id="100" name="Rectangle 99">
            <a:extLst xmlns:a="http://schemas.openxmlformats.org/drawingml/2006/main">
              <a:ext uri="{FF2B5EF4-FFF2-40B4-BE49-F238E27FC236}">
                <a16:creationId xmlns:a16="http://schemas.microsoft.com/office/drawing/2014/main" id="{41B1DEC2-09AD-4644-94D8-F1D9BD68C5B6}"/>
              </a:ext>
            </a:extLst>
          </p:cNvPr>
          <p:cNvSpPr>
            <a:spLocks xmlns:a="http://schemas.openxmlformats.org/drawingml/2006/main" noGrp="1"/>
          </p:cNvSpPr>
          <p:nvPr/>
        </p:nvSpPr>
        <p:spPr>
          <a:xfrm xmlns:a="http://schemas.openxmlformats.org/drawingml/2006/main">
            <a:off x="10706100" y="3067050"/>
            <a:ext cx="1295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0000"/>
              </a:lnSpc>
              <a:buNone/>
              <a:defRPr sz="653" b="0" i="0">
                <a:solidFill>
                  <a:srgbClr val="111111"/>
                </a:solidFill>
                <a:latin typeface="Arial"/>
                <a:ea typeface="Arial"/>
                <a:cs typeface="Arial"/>
              </a:defRPr>
            </a:pPr>
            <a:r>
              <a:rPr sz="653" b="0" i="0">
                <a:solidFill>
                  <a:srgbClr val="111111"/>
                </a:solidFill>
                <a:latin typeface="Arial"/>
                <a:ea typeface="Arial"/>
                <a:cs typeface="Arial"/>
              </a:rPr>
              <a:t>Recover from corruption,</a:t>
            </a:r>
          </a:p>
          <a:p xmlns:a="http://schemas.openxmlformats.org/drawingml/2006/main">
            <a:pPr algn="l">
              <a:lnSpc>
                <a:spcPct val="110000"/>
              </a:lnSpc>
              <a:buNone/>
              <a:defRPr sz="653" b="0" i="0">
                <a:solidFill>
                  <a:srgbClr val="111111"/>
                </a:solidFill>
                <a:latin typeface="Arial"/>
                <a:ea typeface="Arial"/>
                <a:cs typeface="Arial"/>
              </a:defRPr>
            </a:pPr>
            <a:r>
              <a:rPr sz="653" b="0" i="0">
                <a:solidFill>
                  <a:srgbClr val="111111"/>
                </a:solidFill>
                <a:latin typeface="Arial"/>
                <a:ea typeface="Arial"/>
                <a:cs typeface="Arial"/>
              </a:rPr>
              <a:t>ransomware or disasters.</a:t>
            </a:r>
          </a:p>
        </p:txBody>
      </p:sp>
      <p:sp>
        <p:nvSpPr>
          <p:cNvPr id="101" name="Straight Connector 100">
            <a:extLst xmlns:a="http://schemas.openxmlformats.org/drawingml/2006/main">
              <a:ext uri="{FF2B5EF4-FFF2-40B4-BE49-F238E27FC236}">
                <a16:creationId xmlns:a16="http://schemas.microsoft.com/office/drawing/2014/main" id="{F2D3C9CF-3DB8-4ED3-BCFD-536FDC82B6DB}"/>
              </a:ext>
            </a:extLst>
          </p:cNvPr>
          <p:cNvSpPr>
            <a:spLocks xmlns:a="http://schemas.openxmlformats.org/drawingml/2006/main" noGrp="1"/>
          </p:cNvSpPr>
          <p:nvPr/>
        </p:nvSpPr>
        <p:spPr>
          <a:xfrm xmlns:a="http://schemas.openxmlformats.org/drawingml/2006/main">
            <a:off x="10172700" y="3486150"/>
            <a:ext cx="1752600" cy="0"/>
          </a:xfrm>
          <a:prstGeom xmlns:a="http://schemas.openxmlformats.org/drawingml/2006/main" prst="line">
            <a:avLst/>
          </a:prstGeom>
          <a:noFill xmlns:a="http://schemas.openxmlformats.org/drawingml/2006/main"/>
          <a:ln xmlns:a="http://schemas.openxmlformats.org/drawingml/2006/main" w="9525">
            <a:solidFill>
              <a:srgbClr val="D8DEDA"/>
            </a:solidFill>
            <a:prstDash val="solid"/>
          </a:ln>
        </p:spPr>
        <p:txBody>
          <a:bodyPr xmlns:a="http://schemas.openxmlformats.org/drawingml/2006/main"/>
          <a:lstStyle xmlns:a="http://schemas.openxmlformats.org/drawingml/2006/main"/>
          <a:p xmlns:a="http://schemas.openxmlformats.org/drawingml/2006/main">
            <a:endParaRPr/>
          </a:p>
        </p:txBody>
      </p:sp>
      <p:pic>
        <p:nvPicPr>
          <p:cNvPr id="248" name="Picture 217"/>
          <p:cNvPicPr>
            <a:picLocks xmlns:a="http://schemas.openxmlformats.org/drawingml/2006/main" noChangeAspect="1"/>
          </p:cNvPicPr>
          <p:nvPr/>
        </p:nvPicPr>
        <p:blipFill>
          <a:blip xmlns:r="http://schemas.openxmlformats.org/officeDocument/2006/relationships" xmlns:a="http://schemas.openxmlformats.org/drawingml/2006/main" r:embed="R4f459428afad42fa"/>
          <a:stretch xmlns:a="http://schemas.openxmlformats.org/drawingml/2006/main"/>
        </p:blipFill>
        <p:spPr>
          <a:xfrm xmlns:a="http://schemas.openxmlformats.org/drawingml/2006/main">
            <a:off x="10163175" y="3638550"/>
            <a:ext cx="447675" cy="447675"/>
          </a:xfrm>
          <a:prstGeom xmlns:a="http://schemas.openxmlformats.org/drawingml/2006/main" prst="rect">
            <a:avLst/>
          </a:prstGeom>
        </p:spPr>
      </p:pic>
      <p:sp>
        <p:nvSpPr>
          <p:cNvPr id="103" name="Rectangle 102">
            <a:extLst xmlns:a="http://schemas.openxmlformats.org/drawingml/2006/main">
              <a:ext uri="{FF2B5EF4-FFF2-40B4-BE49-F238E27FC236}">
                <a16:creationId xmlns:a16="http://schemas.microsoft.com/office/drawing/2014/main" id="{469773F1-547B-4CC5-B79F-75602C0D55EA}"/>
              </a:ext>
            </a:extLst>
          </p:cNvPr>
          <p:cNvSpPr>
            <a:spLocks xmlns:a="http://schemas.openxmlformats.org/drawingml/2006/main" noGrp="1"/>
          </p:cNvSpPr>
          <p:nvPr/>
        </p:nvSpPr>
        <p:spPr>
          <a:xfrm xmlns:a="http://schemas.openxmlformats.org/drawingml/2006/main">
            <a:off x="10706100" y="3648075"/>
            <a:ext cx="1219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750" b="1" i="0">
                <a:solidFill>
                  <a:srgbClr val="003B25"/>
                </a:solidFill>
                <a:latin typeface="Arial"/>
                <a:ea typeface="Arial"/>
                <a:cs typeface="Arial"/>
              </a:defRPr>
            </a:pPr>
            <a:r>
              <a:rPr sz="750" b="1" i="0">
                <a:solidFill>
                  <a:srgbClr val="003B25"/>
                </a:solidFill>
                <a:latin typeface="Arial"/>
                <a:ea typeface="Arial"/>
                <a:cs typeface="Arial"/>
              </a:rPr>
              <a:t>Consistent VMware</a:t>
            </a:r>
          </a:p>
          <a:p xmlns:a="http://schemas.openxmlformats.org/drawingml/2006/main">
            <a:pPr algn="l">
              <a:lnSpc>
                <a:spcPct val="100000"/>
              </a:lnSpc>
              <a:buNone/>
              <a:defRPr sz="750" b="1" i="0">
                <a:solidFill>
                  <a:srgbClr val="003B25"/>
                </a:solidFill>
                <a:latin typeface="Arial"/>
                <a:ea typeface="Arial"/>
                <a:cs typeface="Arial"/>
              </a:defRPr>
            </a:pPr>
            <a:r>
              <a:rPr sz="750" b="1" i="0">
                <a:solidFill>
                  <a:srgbClr val="003B25"/>
                </a:solidFill>
                <a:latin typeface="Arial"/>
                <a:ea typeface="Arial"/>
                <a:cs typeface="Arial"/>
              </a:rPr>
              <a:t>experience</a:t>
            </a:r>
          </a:p>
        </p:txBody>
      </p:sp>
      <p:sp>
        <p:nvSpPr>
          <p:cNvPr id="104" name="Rectangle 103">
            <a:extLst xmlns:a="http://schemas.openxmlformats.org/drawingml/2006/main">
              <a:ext uri="{FF2B5EF4-FFF2-40B4-BE49-F238E27FC236}">
                <a16:creationId xmlns:a16="http://schemas.microsoft.com/office/drawing/2014/main" id="{2C1DCB54-2048-4A6C-A502-168BDAFBE704}"/>
              </a:ext>
            </a:extLst>
          </p:cNvPr>
          <p:cNvSpPr>
            <a:spLocks xmlns:a="http://schemas.openxmlformats.org/drawingml/2006/main" noGrp="1"/>
          </p:cNvSpPr>
          <p:nvPr/>
        </p:nvSpPr>
        <p:spPr>
          <a:xfrm xmlns:a="http://schemas.openxmlformats.org/drawingml/2006/main">
            <a:off x="10706100" y="3952875"/>
            <a:ext cx="1295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0000"/>
              </a:lnSpc>
              <a:buNone/>
              <a:defRPr sz="653" b="0" i="0">
                <a:solidFill>
                  <a:srgbClr val="111111"/>
                </a:solidFill>
                <a:latin typeface="Arial"/>
                <a:ea typeface="Arial"/>
                <a:cs typeface="Arial"/>
              </a:defRPr>
            </a:pPr>
            <a:r>
              <a:rPr sz="653" b="0" i="0">
                <a:solidFill>
                  <a:srgbClr val="111111"/>
                </a:solidFill>
                <a:latin typeface="Arial"/>
                <a:ea typeface="Arial"/>
                <a:cs typeface="Arial"/>
              </a:rPr>
              <a:t>Same tools, processes</a:t>
            </a:r>
          </a:p>
          <a:p xmlns:a="http://schemas.openxmlformats.org/drawingml/2006/main">
            <a:pPr algn="l">
              <a:lnSpc>
                <a:spcPct val="110000"/>
              </a:lnSpc>
              <a:buNone/>
              <a:defRPr sz="653" b="0" i="0">
                <a:solidFill>
                  <a:srgbClr val="111111"/>
                </a:solidFill>
                <a:latin typeface="Arial"/>
                <a:ea typeface="Arial"/>
                <a:cs typeface="Arial"/>
              </a:defRPr>
            </a:pPr>
            <a:r>
              <a:rPr sz="653" b="0" i="0">
                <a:solidFill>
                  <a:srgbClr val="111111"/>
                </a:solidFill>
                <a:latin typeface="Arial"/>
                <a:ea typeface="Arial"/>
                <a:cs typeface="Arial"/>
              </a:rPr>
              <a:t>and skillsets.</a:t>
            </a:r>
          </a:p>
        </p:txBody>
      </p:sp>
      <p:sp>
        <p:nvSpPr>
          <p:cNvPr id="105" name="Straight Connector 104">
            <a:extLst xmlns:a="http://schemas.openxmlformats.org/drawingml/2006/main">
              <a:ext uri="{FF2B5EF4-FFF2-40B4-BE49-F238E27FC236}">
                <a16:creationId xmlns:a16="http://schemas.microsoft.com/office/drawing/2014/main" id="{C2A6082F-710F-408B-AAC6-6690C837E37D}"/>
              </a:ext>
            </a:extLst>
          </p:cNvPr>
          <p:cNvSpPr>
            <a:spLocks xmlns:a="http://schemas.openxmlformats.org/drawingml/2006/main" noGrp="1"/>
          </p:cNvSpPr>
          <p:nvPr/>
        </p:nvSpPr>
        <p:spPr>
          <a:xfrm xmlns:a="http://schemas.openxmlformats.org/drawingml/2006/main">
            <a:off x="10172700" y="4229100"/>
            <a:ext cx="1752600" cy="0"/>
          </a:xfrm>
          <a:prstGeom xmlns:a="http://schemas.openxmlformats.org/drawingml/2006/main" prst="line">
            <a:avLst/>
          </a:prstGeom>
          <a:noFill xmlns:a="http://schemas.openxmlformats.org/drawingml/2006/main"/>
          <a:ln xmlns:a="http://schemas.openxmlformats.org/drawingml/2006/main" w="9525">
            <a:solidFill>
              <a:srgbClr val="D8DEDA"/>
            </a:solidFill>
            <a:prstDash val="solid"/>
          </a:ln>
        </p:spPr>
        <p:txBody>
          <a:bodyPr xmlns:a="http://schemas.openxmlformats.org/drawingml/2006/main"/>
          <a:lstStyle xmlns:a="http://schemas.openxmlformats.org/drawingml/2006/main"/>
          <a:p xmlns:a="http://schemas.openxmlformats.org/drawingml/2006/main">
            <a:endParaRPr/>
          </a:p>
        </p:txBody>
      </p:sp>
      <p:pic>
        <p:nvPicPr>
          <p:cNvPr id="252" name="Picture 221"/>
          <p:cNvPicPr>
            <a:picLocks xmlns:a="http://schemas.openxmlformats.org/drawingml/2006/main" noChangeAspect="1"/>
          </p:cNvPicPr>
          <p:nvPr/>
        </p:nvPicPr>
        <p:blipFill>
          <a:blip xmlns:r="http://schemas.openxmlformats.org/officeDocument/2006/relationships" xmlns:a="http://schemas.openxmlformats.org/drawingml/2006/main" r:embed="R62c17535d0cc4784"/>
          <a:stretch xmlns:a="http://schemas.openxmlformats.org/drawingml/2006/main"/>
        </p:blipFill>
        <p:spPr>
          <a:xfrm xmlns:a="http://schemas.openxmlformats.org/drawingml/2006/main">
            <a:off x="10163175" y="4381500"/>
            <a:ext cx="447675" cy="447675"/>
          </a:xfrm>
          <a:prstGeom xmlns:a="http://schemas.openxmlformats.org/drawingml/2006/main" prst="rect">
            <a:avLst/>
          </a:prstGeom>
        </p:spPr>
      </p:pic>
      <p:sp>
        <p:nvSpPr>
          <p:cNvPr id="107" name="Rectangle 106">
            <a:extLst xmlns:a="http://schemas.openxmlformats.org/drawingml/2006/main">
              <a:ext uri="{FF2B5EF4-FFF2-40B4-BE49-F238E27FC236}">
                <a16:creationId xmlns:a16="http://schemas.microsoft.com/office/drawing/2014/main" id="{ED13CF9F-B498-4921-99AB-319D71B97CC3}"/>
              </a:ext>
            </a:extLst>
          </p:cNvPr>
          <p:cNvSpPr>
            <a:spLocks xmlns:a="http://schemas.openxmlformats.org/drawingml/2006/main" noGrp="1"/>
          </p:cNvSpPr>
          <p:nvPr/>
        </p:nvSpPr>
        <p:spPr>
          <a:xfrm xmlns:a="http://schemas.openxmlformats.org/drawingml/2006/main">
            <a:off x="10706100" y="4391025"/>
            <a:ext cx="1219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750" b="1" i="0">
                <a:solidFill>
                  <a:srgbClr val="003B25"/>
                </a:solidFill>
                <a:latin typeface="Arial"/>
                <a:ea typeface="Arial"/>
                <a:cs typeface="Arial"/>
              </a:defRPr>
            </a:pPr>
            <a:r>
              <a:rPr sz="750" b="1" i="0">
                <a:solidFill>
                  <a:srgbClr val="003B25"/>
                </a:solidFill>
                <a:latin typeface="Arial"/>
                <a:ea typeface="Arial"/>
                <a:cs typeface="Arial"/>
              </a:rPr>
              <a:t>Test and validate</a:t>
            </a:r>
          </a:p>
        </p:txBody>
      </p:sp>
      <p:sp>
        <p:nvSpPr>
          <p:cNvPr id="108" name="Rectangle 107">
            <a:extLst xmlns:a="http://schemas.openxmlformats.org/drawingml/2006/main">
              <a:ext uri="{FF2B5EF4-FFF2-40B4-BE49-F238E27FC236}">
                <a16:creationId xmlns:a16="http://schemas.microsoft.com/office/drawing/2014/main" id="{FCA7281E-20F2-4C59-9155-B743AF9B1B48}"/>
              </a:ext>
            </a:extLst>
          </p:cNvPr>
          <p:cNvSpPr>
            <a:spLocks xmlns:a="http://schemas.openxmlformats.org/drawingml/2006/main" noGrp="1"/>
          </p:cNvSpPr>
          <p:nvPr/>
        </p:nvSpPr>
        <p:spPr>
          <a:xfrm xmlns:a="http://schemas.openxmlformats.org/drawingml/2006/main">
            <a:off x="10706100" y="4552950"/>
            <a:ext cx="1295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0000"/>
              </a:lnSpc>
              <a:buNone/>
              <a:defRPr sz="653" b="0" i="0">
                <a:solidFill>
                  <a:srgbClr val="111111"/>
                </a:solidFill>
                <a:latin typeface="Arial"/>
                <a:ea typeface="Arial"/>
                <a:cs typeface="Arial"/>
              </a:defRPr>
            </a:pPr>
            <a:r>
              <a:rPr sz="653" b="0" i="0">
                <a:solidFill>
                  <a:srgbClr val="111111"/>
                </a:solidFill>
                <a:latin typeface="Arial"/>
                <a:ea typeface="Arial"/>
                <a:cs typeface="Arial"/>
              </a:rPr>
              <a:t>Schedule DR drills</a:t>
            </a:r>
          </a:p>
          <a:p xmlns:a="http://schemas.openxmlformats.org/drawingml/2006/main">
            <a:pPr algn="l">
              <a:lnSpc>
                <a:spcPct val="110000"/>
              </a:lnSpc>
              <a:buNone/>
              <a:defRPr sz="653" b="0" i="0">
                <a:solidFill>
                  <a:srgbClr val="111111"/>
                </a:solidFill>
                <a:latin typeface="Arial"/>
                <a:ea typeface="Arial"/>
                <a:cs typeface="Arial"/>
              </a:defRPr>
            </a:pPr>
            <a:r>
              <a:rPr sz="653" b="0" i="0">
                <a:solidFill>
                  <a:srgbClr val="111111"/>
                </a:solidFill>
                <a:latin typeface="Arial"/>
                <a:ea typeface="Arial"/>
                <a:cs typeface="Arial"/>
              </a:rPr>
              <a:t>without impacting</a:t>
            </a:r>
          </a:p>
          <a:p xmlns:a="http://schemas.openxmlformats.org/drawingml/2006/main">
            <a:pPr algn="l">
              <a:lnSpc>
                <a:spcPct val="110000"/>
              </a:lnSpc>
              <a:buNone/>
              <a:defRPr sz="653" b="0" i="0">
                <a:solidFill>
                  <a:srgbClr val="111111"/>
                </a:solidFill>
                <a:latin typeface="Arial"/>
                <a:ea typeface="Arial"/>
                <a:cs typeface="Arial"/>
              </a:defRPr>
            </a:pPr>
            <a:r>
              <a:rPr sz="653" b="0" i="0">
                <a:solidFill>
                  <a:srgbClr val="111111"/>
                </a:solidFill>
                <a:latin typeface="Arial"/>
                <a:ea typeface="Arial"/>
                <a:cs typeface="Arial"/>
              </a:rPr>
              <a:t>production.</a:t>
            </a:r>
          </a:p>
        </p:txBody>
      </p:sp>
      <p:sp>
        <p:nvSpPr>
          <p:cNvPr id="109" name="Straight Connector 108">
            <a:extLst xmlns:a="http://schemas.openxmlformats.org/drawingml/2006/main">
              <a:ext uri="{FF2B5EF4-FFF2-40B4-BE49-F238E27FC236}">
                <a16:creationId xmlns:a16="http://schemas.microsoft.com/office/drawing/2014/main" id="{EB9FCB0A-5D65-49DB-873A-06D8422D58A5}"/>
              </a:ext>
            </a:extLst>
          </p:cNvPr>
          <p:cNvSpPr>
            <a:spLocks xmlns:a="http://schemas.openxmlformats.org/drawingml/2006/main" noGrp="1"/>
          </p:cNvSpPr>
          <p:nvPr/>
        </p:nvSpPr>
        <p:spPr>
          <a:xfrm xmlns:a="http://schemas.openxmlformats.org/drawingml/2006/main">
            <a:off x="10172700" y="4972050"/>
            <a:ext cx="1752600" cy="0"/>
          </a:xfrm>
          <a:prstGeom xmlns:a="http://schemas.openxmlformats.org/drawingml/2006/main" prst="line">
            <a:avLst/>
          </a:prstGeom>
          <a:noFill xmlns:a="http://schemas.openxmlformats.org/drawingml/2006/main"/>
          <a:ln xmlns:a="http://schemas.openxmlformats.org/drawingml/2006/main" w="9525">
            <a:solidFill>
              <a:srgbClr val="D8DEDA"/>
            </a:solidFill>
            <a:prstDash val="solid"/>
          </a:ln>
        </p:spPr>
        <p:txBody>
          <a:bodyPr xmlns:a="http://schemas.openxmlformats.org/drawingml/2006/main"/>
          <a:lstStyle xmlns:a="http://schemas.openxmlformats.org/drawingml/2006/main"/>
          <a:p xmlns:a="http://schemas.openxmlformats.org/drawingml/2006/main">
            <a:endParaRPr/>
          </a:p>
        </p:txBody>
      </p:sp>
      <p:pic>
        <p:nvPicPr>
          <p:cNvPr id="256" name="Picture 225"/>
          <p:cNvPicPr>
            <a:picLocks xmlns:a="http://schemas.openxmlformats.org/drawingml/2006/main" noChangeAspect="1"/>
          </p:cNvPicPr>
          <p:nvPr/>
        </p:nvPicPr>
        <p:blipFill>
          <a:blip xmlns:r="http://schemas.openxmlformats.org/officeDocument/2006/relationships" xmlns:a="http://schemas.openxmlformats.org/drawingml/2006/main" r:embed="Rd02dc6df632444bc"/>
          <a:stretch xmlns:a="http://schemas.openxmlformats.org/drawingml/2006/main"/>
        </p:blipFill>
        <p:spPr>
          <a:xfrm xmlns:a="http://schemas.openxmlformats.org/drawingml/2006/main">
            <a:off x="10163175" y="5172075"/>
            <a:ext cx="447675" cy="447675"/>
          </a:xfrm>
          <a:prstGeom xmlns:a="http://schemas.openxmlformats.org/drawingml/2006/main" prst="rect">
            <a:avLst/>
          </a:prstGeom>
        </p:spPr>
      </p:pic>
      <p:sp>
        <p:nvSpPr>
          <p:cNvPr id="111" name="Rectangle 110">
            <a:extLst xmlns:a="http://schemas.openxmlformats.org/drawingml/2006/main">
              <a:ext uri="{FF2B5EF4-FFF2-40B4-BE49-F238E27FC236}">
                <a16:creationId xmlns:a16="http://schemas.microsoft.com/office/drawing/2014/main" id="{C193FF7F-1E8C-48E6-9EDA-B8309E99D0CA}"/>
              </a:ext>
            </a:extLst>
          </p:cNvPr>
          <p:cNvSpPr>
            <a:spLocks xmlns:a="http://schemas.openxmlformats.org/drawingml/2006/main" noGrp="1"/>
          </p:cNvSpPr>
          <p:nvPr/>
        </p:nvSpPr>
        <p:spPr>
          <a:xfrm xmlns:a="http://schemas.openxmlformats.org/drawingml/2006/main">
            <a:off x="10706100" y="5181600"/>
            <a:ext cx="1219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750" b="1" i="0">
                <a:solidFill>
                  <a:srgbClr val="003B25"/>
                </a:solidFill>
                <a:latin typeface="Arial"/>
                <a:ea typeface="Arial"/>
                <a:cs typeface="Arial"/>
              </a:defRPr>
            </a:pPr>
            <a:r>
              <a:rPr sz="750" b="1" i="0">
                <a:solidFill>
                  <a:srgbClr val="003B25"/>
                </a:solidFill>
                <a:latin typeface="Arial"/>
                <a:ea typeface="Arial"/>
                <a:cs typeface="Arial"/>
              </a:rPr>
              <a:t>Cost effective</a:t>
            </a:r>
          </a:p>
        </p:txBody>
      </p:sp>
      <p:sp>
        <p:nvSpPr>
          <p:cNvPr id="112" name="Rectangle 111">
            <a:extLst xmlns:a="http://schemas.openxmlformats.org/drawingml/2006/main">
              <a:ext uri="{FF2B5EF4-FFF2-40B4-BE49-F238E27FC236}">
                <a16:creationId xmlns:a16="http://schemas.microsoft.com/office/drawing/2014/main" id="{D7203644-5C9D-47DD-B3CD-B6DE62E1813F}"/>
              </a:ext>
            </a:extLst>
          </p:cNvPr>
          <p:cNvSpPr>
            <a:spLocks xmlns:a="http://schemas.openxmlformats.org/drawingml/2006/main" noGrp="1"/>
          </p:cNvSpPr>
          <p:nvPr/>
        </p:nvSpPr>
        <p:spPr>
          <a:xfrm xmlns:a="http://schemas.openxmlformats.org/drawingml/2006/main">
            <a:off x="10706100" y="5343525"/>
            <a:ext cx="1295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0000"/>
              </a:lnSpc>
              <a:buNone/>
              <a:defRPr sz="653" b="0" i="0">
                <a:solidFill>
                  <a:srgbClr val="111111"/>
                </a:solidFill>
                <a:latin typeface="Arial"/>
                <a:ea typeface="Arial"/>
                <a:cs typeface="Arial"/>
              </a:defRPr>
            </a:pPr>
            <a:r>
              <a:rPr sz="653" b="0" i="0">
                <a:solidFill>
                  <a:srgbClr val="111111"/>
                </a:solidFill>
                <a:latin typeface="Arial"/>
                <a:ea typeface="Arial"/>
                <a:cs typeface="Arial"/>
              </a:rPr>
              <a:t>Pay for capacity only</a:t>
            </a:r>
          </a:p>
          <a:p xmlns:a="http://schemas.openxmlformats.org/drawingml/2006/main">
            <a:pPr algn="l">
              <a:lnSpc>
                <a:spcPct val="110000"/>
              </a:lnSpc>
              <a:buNone/>
              <a:defRPr sz="653" b="0" i="0">
                <a:solidFill>
                  <a:srgbClr val="111111"/>
                </a:solidFill>
                <a:latin typeface="Arial"/>
                <a:ea typeface="Arial"/>
                <a:cs typeface="Arial"/>
              </a:defRPr>
            </a:pPr>
            <a:r>
              <a:rPr sz="653" b="0" i="0">
                <a:solidFill>
                  <a:srgbClr val="111111"/>
                </a:solidFill>
                <a:latin typeface="Arial"/>
                <a:ea typeface="Arial"/>
                <a:cs typeface="Arial"/>
              </a:rPr>
              <a:t>when you need it.</a:t>
            </a:r>
          </a:p>
        </p:txBody>
      </p:sp>
      <p:sp>
        <p:nvSpPr>
          <p:cNvPr id="113" name="Rounded Rectangle 112">
            <a:extLst xmlns:a="http://schemas.openxmlformats.org/drawingml/2006/main">
              <a:ext uri="{FF2B5EF4-FFF2-40B4-BE49-F238E27FC236}">
                <a16:creationId xmlns:a16="http://schemas.microsoft.com/office/drawing/2014/main" id="{1F42245C-EE41-4BC5-B4DF-B62B4A980CFC}"/>
              </a:ext>
            </a:extLst>
          </p:cNvPr>
          <p:cNvSpPr>
            <a:spLocks xmlns:a="http://schemas.openxmlformats.org/drawingml/2006/main" noGrp="1"/>
          </p:cNvSpPr>
          <p:nvPr/>
        </p:nvSpPr>
        <p:spPr>
          <a:xfrm xmlns:a="http://schemas.openxmlformats.org/drawingml/2006/main">
            <a:off x="333375" y="5905500"/>
            <a:ext cx="9363075" cy="685800"/>
          </a:xfrm>
          <a:prstGeom xmlns:a="http://schemas.openxmlformats.org/drawingml/2006/main" prst="roundRect">
            <a:avLst>
              <a:gd name="adj" fmla="val 9722"/>
            </a:avLst>
          </a:prstGeom>
          <a:gradFill xmlns:a="http://schemas.openxmlformats.org/drawingml/2006/main">
            <a:gsLst>
              <a:gs pos="0">
                <a:srgbClr val="003B25"/>
              </a:gs>
              <a:gs pos="100000">
                <a:srgbClr val="06482D"/>
              </a:gs>
            </a:gsLst>
            <a:lin ang="5400000"/>
          </a:gra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pic>
        <p:nvPicPr>
          <p:cNvPr id="260" name="Picture 229"/>
          <p:cNvPicPr>
            <a:picLocks xmlns:a="http://schemas.openxmlformats.org/drawingml/2006/main" noChangeAspect="1"/>
          </p:cNvPicPr>
          <p:nvPr/>
        </p:nvPicPr>
        <p:blipFill>
          <a:blip xmlns:r="http://schemas.openxmlformats.org/officeDocument/2006/relationships" xmlns:a="http://schemas.openxmlformats.org/drawingml/2006/main" r:embed="R9c8aa21b2284402e"/>
          <a:stretch xmlns:a="http://schemas.openxmlformats.org/drawingml/2006/main"/>
        </p:blipFill>
        <p:spPr>
          <a:xfrm xmlns:a="http://schemas.openxmlformats.org/drawingml/2006/main">
            <a:off x="495300" y="5995829"/>
            <a:ext cx="552450" cy="543243"/>
          </a:xfrm>
          <a:prstGeom xmlns:a="http://schemas.openxmlformats.org/drawingml/2006/main" prst="rect">
            <a:avLst/>
          </a:prstGeom>
        </p:spPr>
      </p:pic>
      <p:sp>
        <p:nvSpPr>
          <p:cNvPr id="115" name="Rectangle 114">
            <a:extLst xmlns:a="http://schemas.openxmlformats.org/drawingml/2006/main">
              <a:ext uri="{FF2B5EF4-FFF2-40B4-BE49-F238E27FC236}">
                <a16:creationId xmlns:a16="http://schemas.microsoft.com/office/drawing/2014/main" id="{CFC41103-AE2F-44DE-A1AC-42A27133954E}"/>
              </a:ext>
            </a:extLst>
          </p:cNvPr>
          <p:cNvSpPr>
            <a:spLocks xmlns:a="http://schemas.openxmlformats.org/drawingml/2006/main" noGrp="1"/>
          </p:cNvSpPr>
          <p:nvPr/>
        </p:nvSpPr>
        <p:spPr>
          <a:xfrm xmlns:a="http://schemas.openxmlformats.org/drawingml/2006/main">
            <a:off x="1190625" y="606742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350" b="1" i="0">
                <a:solidFill>
                  <a:srgbClr val="FFFFFF"/>
                </a:solidFill>
                <a:latin typeface="Arial"/>
                <a:ea typeface="Arial"/>
                <a:cs typeface="Arial"/>
              </a:defRPr>
            </a:pPr>
            <a:r>
              <a:rPr sz="1350" b="1" i="0">
                <a:solidFill>
                  <a:srgbClr val="FFFFFF"/>
                </a:solidFill>
                <a:latin typeface="Arial"/>
                <a:ea typeface="Arial"/>
                <a:cs typeface="Arial"/>
              </a:rPr>
              <a:t>Schedule, test and execute your Disaster Recovery plan with confidence.</a:t>
            </a:r>
          </a:p>
        </p:txBody>
      </p:sp>
      <p:sp>
        <p:nvSpPr>
          <p:cNvPr id="116" name="Rectangle 115">
            <a:extLst xmlns:a="http://schemas.openxmlformats.org/drawingml/2006/main">
              <a:ext uri="{FF2B5EF4-FFF2-40B4-BE49-F238E27FC236}">
                <a16:creationId xmlns:a16="http://schemas.microsoft.com/office/drawing/2014/main" id="{D7A1E564-4CE8-4E81-A177-2B960F586A9A}"/>
              </a:ext>
            </a:extLst>
          </p:cNvPr>
          <p:cNvSpPr>
            <a:spLocks xmlns:a="http://schemas.openxmlformats.org/drawingml/2006/main" noGrp="1"/>
          </p:cNvSpPr>
          <p:nvPr/>
        </p:nvSpPr>
        <p:spPr>
          <a:xfrm xmlns:a="http://schemas.openxmlformats.org/drawingml/2006/main">
            <a:off x="1190625" y="6343650"/>
            <a:ext cx="6858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50" b="0" i="0">
                <a:solidFill>
                  <a:srgbClr val="FFFFFF"/>
                </a:solidFill>
                <a:latin typeface="Arial"/>
                <a:ea typeface="Arial"/>
                <a:cs typeface="Arial"/>
              </a:defRPr>
            </a:pPr>
            <a:r>
              <a:rPr sz="1050" b="0" i="0">
                <a:solidFill>
                  <a:srgbClr val="FFFFFF"/>
                </a:solidFill>
                <a:latin typeface="Arial"/>
                <a:ea typeface="Arial"/>
                <a:cs typeface="Arial"/>
              </a:rPr>
              <a:t>Move workloads on-demand and restore operations quickly when it matters most.</a:t>
            </a:r>
          </a:p>
        </p:txBody>
      </p:sp>
    </p:spTree>
    <p:extLst>
      <p:ext uri="{BB962C8B-B14F-4D97-AF65-F5344CB8AC3E}">
        <p14:creationId xmlns:p14="http://schemas.microsoft.com/office/powerpoint/2010/main" val="553220573"/>
      </p:ext>
    </p:extLst>
  </p:cSld>
</p:sld>
</file>

<file path=ppt/slides/slide3.xml><?xml version="1.0" encoding="utf-8"?>
<p:sld xmlns:p="http://schemas.openxmlformats.org/presentationml/2006/main">
  <p:cSld>
    <p:bg>
      <p:bgPr>
        <a:solidFill xmlns:a="http://schemas.openxmlformats.org/drawingml/2006/main">
          <a:srgbClr val="FAF9F7"/>
        </a:solidFill>
      </p:bgPr>
    </p:bg>
    <p:spTree>
      <p:nvGrpSpPr>
        <p:cNvPr id="1" name=""/>
        <p:cNvGrpSpPr/>
        <p:nvPr/>
      </p:nvGrpSpPr>
      <p:grpSpPr>
        <a:xfrm xmlns:a="http://schemas.openxmlformats.org/drawingml/2006/main"/>
      </p:grpSpPr>
      <p:sp>
        <p:nvSpPr>
          <p:cNvPr id="51" name="Oval 50">
            <a:extLst xmlns:a="http://schemas.openxmlformats.org/drawingml/2006/main">
              <a:ext uri="{FF2B5EF4-FFF2-40B4-BE49-F238E27FC236}">
                <a16:creationId xmlns:a16="http://schemas.microsoft.com/office/drawing/2014/main" id="{73A5942D-D23C-45E6-ACE1-2F77352B9317}"/>
              </a:ext>
            </a:extLst>
          </p:cNvPr>
          <p:cNvSpPr>
            <a:spLocks xmlns:a="http://schemas.openxmlformats.org/drawingml/2006/main" noGrp="1"/>
          </p:cNvSpPr>
          <p:nvPr/>
        </p:nvSpPr>
        <p:spPr>
          <a:xfrm xmlns:a="http://schemas.openxmlformats.org/drawingml/2006/main">
            <a:off x="5133975" y="657225"/>
            <a:ext cx="38100" cy="38100"/>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Oval 1">
            <a:extLst xmlns:a="http://schemas.openxmlformats.org/drawingml/2006/main">
              <a:ext uri="{FF2B5EF4-FFF2-40B4-BE49-F238E27FC236}">
                <a16:creationId xmlns:a16="http://schemas.microsoft.com/office/drawing/2014/main" id="{73088BEA-17DF-442D-9BC7-02155DD5C445}"/>
              </a:ext>
            </a:extLst>
          </p:cNvPr>
          <p:cNvSpPr>
            <a:spLocks xmlns:a="http://schemas.openxmlformats.org/drawingml/2006/main" noGrp="1"/>
          </p:cNvSpPr>
          <p:nvPr/>
        </p:nvSpPr>
        <p:spPr>
          <a:xfrm xmlns:a="http://schemas.openxmlformats.org/drawingml/2006/main">
            <a:off x="6181725" y="685800"/>
            <a:ext cx="28575" cy="28575"/>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Oval 2">
            <a:extLst xmlns:a="http://schemas.openxmlformats.org/drawingml/2006/main">
              <a:ext uri="{FF2B5EF4-FFF2-40B4-BE49-F238E27FC236}">
                <a16:creationId xmlns:a16="http://schemas.microsoft.com/office/drawing/2014/main" id="{FF40793F-68B7-4A09-857E-9B1E1E9D9BCF}"/>
              </a:ext>
            </a:extLst>
          </p:cNvPr>
          <p:cNvSpPr>
            <a:spLocks xmlns:a="http://schemas.openxmlformats.org/drawingml/2006/main" noGrp="1"/>
          </p:cNvSpPr>
          <p:nvPr/>
        </p:nvSpPr>
        <p:spPr>
          <a:xfrm xmlns:a="http://schemas.openxmlformats.org/drawingml/2006/main">
            <a:off x="7239000" y="504825"/>
            <a:ext cx="57150" cy="57150"/>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Oval 3">
            <a:extLst xmlns:a="http://schemas.openxmlformats.org/drawingml/2006/main">
              <a:ext uri="{FF2B5EF4-FFF2-40B4-BE49-F238E27FC236}">
                <a16:creationId xmlns:a16="http://schemas.microsoft.com/office/drawing/2014/main" id="{674B1F8E-B96D-4B16-B046-787E8702A629}"/>
              </a:ext>
            </a:extLst>
          </p:cNvPr>
          <p:cNvSpPr>
            <a:spLocks xmlns:a="http://schemas.openxmlformats.org/drawingml/2006/main" noGrp="1"/>
          </p:cNvSpPr>
          <p:nvPr/>
        </p:nvSpPr>
        <p:spPr>
          <a:xfrm xmlns:a="http://schemas.openxmlformats.org/drawingml/2006/main">
            <a:off x="11010900" y="1123950"/>
            <a:ext cx="19050" cy="19050"/>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Oval 4">
            <a:extLst xmlns:a="http://schemas.openxmlformats.org/drawingml/2006/main">
              <a:ext uri="{FF2B5EF4-FFF2-40B4-BE49-F238E27FC236}">
                <a16:creationId xmlns:a16="http://schemas.microsoft.com/office/drawing/2014/main" id="{ECE320BA-C63B-4BBF-94C5-92BE5192DC61}"/>
              </a:ext>
            </a:extLst>
          </p:cNvPr>
          <p:cNvSpPr>
            <a:spLocks xmlns:a="http://schemas.openxmlformats.org/drawingml/2006/main" noGrp="1"/>
          </p:cNvSpPr>
          <p:nvPr/>
        </p:nvSpPr>
        <p:spPr>
          <a:xfrm xmlns:a="http://schemas.openxmlformats.org/drawingml/2006/main">
            <a:off x="9220200" y="1581150"/>
            <a:ext cx="38100" cy="38100"/>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AF232F3B-1324-4364-BD60-137FAF1990F8}"/>
              </a:ext>
            </a:extLst>
          </p:cNvPr>
          <p:cNvSpPr>
            <a:spLocks xmlns:a="http://schemas.openxmlformats.org/drawingml/2006/main" noGrp="1"/>
          </p:cNvSpPr>
          <p:nvPr/>
        </p:nvSpPr>
        <p:spPr>
          <a:xfrm xmlns:a="http://schemas.openxmlformats.org/drawingml/2006/main">
            <a:off x="11410950" y="1647825"/>
            <a:ext cx="28575" cy="28575"/>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12DA0ADF-18D5-4143-BAFB-C1D4E0322D43}"/>
              </a:ext>
            </a:extLst>
          </p:cNvPr>
          <p:cNvSpPr>
            <a:spLocks xmlns:a="http://schemas.openxmlformats.org/drawingml/2006/main" noGrp="1"/>
          </p:cNvSpPr>
          <p:nvPr/>
        </p:nvSpPr>
        <p:spPr>
          <a:xfrm xmlns:a="http://schemas.openxmlformats.org/drawingml/2006/main">
            <a:off x="9982200" y="3000375"/>
            <a:ext cx="28575" cy="28575"/>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8EF1F3FD-6495-4F9F-8163-4CEB685C76C1}"/>
              </a:ext>
            </a:extLst>
          </p:cNvPr>
          <p:cNvSpPr>
            <a:spLocks xmlns:a="http://schemas.openxmlformats.org/drawingml/2006/main" noGrp="1"/>
          </p:cNvSpPr>
          <p:nvPr/>
        </p:nvSpPr>
        <p:spPr>
          <a:xfrm xmlns:a="http://schemas.openxmlformats.org/drawingml/2006/main">
            <a:off x="9344025" y="4781550"/>
            <a:ext cx="47625" cy="47625"/>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B3A8DECC-6222-4521-82D5-B349CA05389D}"/>
              </a:ext>
            </a:extLst>
          </p:cNvPr>
          <p:cNvSpPr>
            <a:spLocks xmlns:a="http://schemas.openxmlformats.org/drawingml/2006/main" noGrp="1"/>
          </p:cNvSpPr>
          <p:nvPr/>
        </p:nvSpPr>
        <p:spPr>
          <a:xfrm xmlns:a="http://schemas.openxmlformats.org/drawingml/2006/main">
            <a:off x="11658600" y="5848350"/>
            <a:ext cx="38100" cy="38100"/>
          </a:xfrm>
          <a:prstGeom xmlns:a="http://schemas.openxmlformats.org/drawingml/2006/main" prst="ellipse">
            <a:avLst/>
          </a:prstGeom>
          <a:solidFill xmlns:a="http://schemas.openxmlformats.org/drawingml/2006/main">
            <a:srgbClr val="E6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70" name="Picture 60"/>
          <p:cNvPicPr>
            <a:picLocks xmlns:a="http://schemas.openxmlformats.org/drawingml/2006/main" noChangeAspect="1"/>
          </p:cNvPicPr>
          <p:nvPr/>
        </p:nvPicPr>
        <p:blipFill>
          <a:blip xmlns:r="http://schemas.openxmlformats.org/officeDocument/2006/relationships" xmlns:a="http://schemas.openxmlformats.org/drawingml/2006/main" r:embed="R4ff695fa6d1e4edb"/>
          <a:stretch xmlns:a="http://schemas.openxmlformats.org/drawingml/2006/main"/>
        </p:blipFill>
        <p:spPr>
          <a:xfrm xmlns:a="http://schemas.openxmlformats.org/drawingml/2006/main">
            <a:off x="361950" y="357187"/>
            <a:ext cx="1927741" cy="600075"/>
          </a:xfrm>
          <a:prstGeom xmlns:a="http://schemas.openxmlformats.org/drawingml/2006/main" prst="rect">
            <a:avLst/>
          </a:prstGeom>
        </p:spPr>
      </p:pic>
      <p:sp>
        <p:nvSpPr>
          <p:cNvPr id="12" name="editable-methodology-title">
            <a:extLst xmlns:a="http://schemas.openxmlformats.org/drawingml/2006/main">
              <a:ext uri="{FF2B5EF4-FFF2-40B4-BE49-F238E27FC236}">
                <a16:creationId xmlns:a16="http://schemas.microsoft.com/office/drawing/2014/main" id="{181FA5E6-65B3-42DA-A23A-AE93E6720CB2}"/>
              </a:ext>
            </a:extLst>
          </p:cNvPr>
          <p:cNvSpPr>
            <a:spLocks xmlns:a="http://schemas.openxmlformats.org/drawingml/2006/main" noGrp="1"/>
          </p:cNvSpPr>
          <p:nvPr/>
        </p:nvSpPr>
        <p:spPr>
          <a:xfrm xmlns:a="http://schemas.openxmlformats.org/drawingml/2006/main">
            <a:off x="361950" y="1133475"/>
            <a:ext cx="628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3150" b="1" i="0">
                <a:solidFill>
                  <a:srgbClr val="003B25"/>
                </a:solidFill>
                <a:latin typeface="Arial"/>
                <a:ea typeface="Arial"/>
                <a:cs typeface="Arial"/>
              </a:defRPr>
            </a:pPr>
            <a:r>
              <a:rPr sz="3150" b="1" i="0">
                <a:solidFill>
                  <a:srgbClr val="003B25"/>
                </a:solidFill>
                <a:latin typeface="Arial"/>
                <a:ea typeface="Arial"/>
                <a:cs typeface="Arial"/>
              </a:rPr>
              <a:t>Assumptions &amp; Methodology</a:t>
            </a:r>
          </a:p>
        </p:txBody>
      </p:sp>
      <p:sp>
        <p:nvSpPr>
          <p:cNvPr id="13" name="Rectangle 12">
            <a:extLst xmlns:a="http://schemas.openxmlformats.org/drawingml/2006/main">
              <a:ext uri="{FF2B5EF4-FFF2-40B4-BE49-F238E27FC236}">
                <a16:creationId xmlns:a16="http://schemas.microsoft.com/office/drawing/2014/main" id="{B629860D-8183-4AA2-8F53-EEB151589651}"/>
              </a:ext>
            </a:extLst>
          </p:cNvPr>
          <p:cNvSpPr>
            <a:spLocks xmlns:a="http://schemas.openxmlformats.org/drawingml/2006/main" noGrp="1"/>
          </p:cNvSpPr>
          <p:nvPr/>
        </p:nvSpPr>
        <p:spPr>
          <a:xfrm xmlns:a="http://schemas.openxmlformats.org/drawingml/2006/main">
            <a:off x="371475" y="1676400"/>
            <a:ext cx="381000" cy="38100"/>
          </a:xfrm>
          <a:prstGeom xmlns:a="http://schemas.openxmlformats.org/drawingml/2006/main" prst="rect">
            <a:avLst/>
          </a:prstGeom>
          <a:solidFill xmlns:a="http://schemas.openxmlformats.org/drawingml/2006/main">
            <a:srgbClr val="F0000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3E173982-393B-42AC-A28E-FA0B0948FCC0}"/>
              </a:ext>
            </a:extLst>
          </p:cNvPr>
          <p:cNvSpPr>
            <a:spLocks xmlns:a="http://schemas.openxmlformats.org/drawingml/2006/main" noGrp="1"/>
          </p:cNvSpPr>
          <p:nvPr/>
        </p:nvSpPr>
        <p:spPr>
          <a:xfrm xmlns:a="http://schemas.openxmlformats.org/drawingml/2006/main">
            <a:off x="390525" y="1838325"/>
            <a:ext cx="609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5000"/>
              </a:lnSpc>
              <a:buNone/>
              <a:defRPr sz="1200" b="0" i="0">
                <a:solidFill>
                  <a:srgbClr val="111111"/>
                </a:solidFill>
                <a:latin typeface="Arial"/>
                <a:ea typeface="Arial"/>
                <a:cs typeface="Arial"/>
              </a:defRPr>
            </a:pPr>
            <a:r>
              <a:rPr sz="1200" b="0" i="0">
                <a:solidFill>
                  <a:srgbClr val="111111"/>
                </a:solidFill>
                <a:latin typeface="Arial"/>
                <a:ea typeface="Arial"/>
                <a:cs typeface="Arial"/>
              </a:rPr>
              <a:t>The proposed sizing is based on the information provided by the customer</a:t>
            </a:r>
          </a:p>
          <a:p xmlns:a="http://schemas.openxmlformats.org/drawingml/2006/main">
            <a:pPr algn="l">
              <a:lnSpc>
                <a:spcPct val="115000"/>
              </a:lnSpc>
              <a:buNone/>
              <a:defRPr sz="1200" b="0" i="0">
                <a:solidFill>
                  <a:srgbClr val="111111"/>
                </a:solidFill>
                <a:latin typeface="Arial"/>
                <a:ea typeface="Arial"/>
                <a:cs typeface="Arial"/>
              </a:defRPr>
            </a:pPr>
            <a:r>
              <a:rPr sz="1200" b="0" i="0">
                <a:solidFill>
                  <a:srgbClr val="111111"/>
                </a:solidFill>
                <a:latin typeface="Arial"/>
                <a:ea typeface="Arial"/>
                <a:cs typeface="Arial"/>
              </a:rPr>
              <a:t>and the following assumptions and methodology.</a:t>
            </a:r>
          </a:p>
        </p:txBody>
      </p:sp>
      <p:sp>
        <p:nvSpPr>
          <p:cNvPr id="15" name="Rounded Rectangle 14">
            <a:extLst xmlns:a="http://schemas.openxmlformats.org/drawingml/2006/main">
              <a:ext uri="{FF2B5EF4-FFF2-40B4-BE49-F238E27FC236}">
                <a16:creationId xmlns:a16="http://schemas.microsoft.com/office/drawing/2014/main" id="{D05FD567-6830-4B7C-A6B4-1C17F3F5C538}"/>
              </a:ext>
            </a:extLst>
          </p:cNvPr>
          <p:cNvSpPr>
            <a:spLocks xmlns:a="http://schemas.openxmlformats.org/drawingml/2006/main" noGrp="1"/>
          </p:cNvSpPr>
          <p:nvPr/>
        </p:nvSpPr>
        <p:spPr>
          <a:xfrm xmlns:a="http://schemas.openxmlformats.org/drawingml/2006/main">
            <a:off x="381000" y="2343150"/>
            <a:ext cx="7391400" cy="3676650"/>
          </a:xfrm>
          <a:prstGeom xmlns:a="http://schemas.openxmlformats.org/drawingml/2006/main" prst="roundRect">
            <a:avLst>
              <a:gd name="adj" fmla="val 1813"/>
            </a:avLst>
          </a:prstGeom>
          <a:solidFill xmlns:a="http://schemas.openxmlformats.org/drawingml/2006/main">
            <a:srgbClr val="FFFFFF"/>
          </a:solidFill>
          <a:ln xmlns:a="http://schemas.openxmlformats.org/drawingml/2006/main" w="9525">
            <a:solidFill>
              <a:srgbClr val="CED6D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6" name="Rounded Rectangle 15">
            <a:extLst xmlns:a="http://schemas.openxmlformats.org/drawingml/2006/main">
              <a:ext uri="{FF2B5EF4-FFF2-40B4-BE49-F238E27FC236}">
                <a16:creationId xmlns:a16="http://schemas.microsoft.com/office/drawing/2014/main" id="{7E7120EA-B371-422A-9F44-F023B4B89BD2}"/>
              </a:ext>
            </a:extLst>
          </p:cNvPr>
          <p:cNvSpPr>
            <a:spLocks xmlns:a="http://schemas.openxmlformats.org/drawingml/2006/main" noGrp="1"/>
          </p:cNvSpPr>
          <p:nvPr/>
        </p:nvSpPr>
        <p:spPr>
          <a:xfrm xmlns:a="http://schemas.openxmlformats.org/drawingml/2006/main">
            <a:off x="381000" y="2343150"/>
            <a:ext cx="7391400" cy="361950"/>
          </a:xfrm>
          <a:prstGeom xmlns:a="http://schemas.openxmlformats.org/drawingml/2006/main" prst="roundRect">
            <a:avLst>
              <a:gd name="adj" fmla="val 18421"/>
            </a:avLst>
          </a:prstGeom>
          <a:gradFill xmlns:a="http://schemas.openxmlformats.org/drawingml/2006/main">
            <a:gsLst>
              <a:gs pos="0">
                <a:srgbClr val="00351F"/>
              </a:gs>
              <a:gs pos="100000">
                <a:srgbClr val="075431"/>
              </a:gs>
            </a:gsLst>
            <a:lin ang="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76" name="Picture 66"/>
          <p:cNvPicPr>
            <a:picLocks xmlns:a="http://schemas.openxmlformats.org/drawingml/2006/main" noChangeAspect="1"/>
          </p:cNvPicPr>
          <p:nvPr/>
        </p:nvPicPr>
        <p:blipFill>
          <a:blip xmlns:r="http://schemas.openxmlformats.org/officeDocument/2006/relationships" xmlns:a="http://schemas.openxmlformats.org/drawingml/2006/main" r:embed="R87833043d7eb48be"/>
          <a:stretch xmlns:a="http://schemas.openxmlformats.org/drawingml/2006/main"/>
        </p:blipFill>
        <p:spPr>
          <a:xfrm xmlns:a="http://schemas.openxmlformats.org/drawingml/2006/main">
            <a:off x="617492" y="2390775"/>
            <a:ext cx="260441" cy="276225"/>
          </a:xfrm>
          <a:prstGeom xmlns:a="http://schemas.openxmlformats.org/drawingml/2006/main" prst="rect">
            <a:avLst/>
          </a:prstGeom>
        </p:spPr>
      </p:pic>
      <p:sp>
        <p:nvSpPr>
          <p:cNvPr id="18" name="Rectangle 17">
            <a:extLst xmlns:a="http://schemas.openxmlformats.org/drawingml/2006/main">
              <a:ext uri="{FF2B5EF4-FFF2-40B4-BE49-F238E27FC236}">
                <a16:creationId xmlns:a16="http://schemas.microsoft.com/office/drawing/2014/main" id="{E91505E6-4E87-4F2F-9412-FA897C3D79C8}"/>
              </a:ext>
            </a:extLst>
          </p:cNvPr>
          <p:cNvSpPr>
            <a:spLocks xmlns:a="http://schemas.openxmlformats.org/drawingml/2006/main" noGrp="1"/>
          </p:cNvSpPr>
          <p:nvPr/>
        </p:nvSpPr>
        <p:spPr>
          <a:xfrm xmlns:a="http://schemas.openxmlformats.org/drawingml/2006/main">
            <a:off x="1019175" y="24384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00" b="1" i="0">
                <a:solidFill>
                  <a:srgbClr val="FFFFFF"/>
                </a:solidFill>
                <a:latin typeface="Arial"/>
                <a:ea typeface="Arial"/>
                <a:cs typeface="Arial"/>
              </a:defRPr>
            </a:pPr>
            <a:r>
              <a:rPr sz="1200" b="1" i="0">
                <a:solidFill>
                  <a:srgbClr val="FFFFFF"/>
                </a:solidFill>
                <a:latin typeface="Arial"/>
                <a:ea typeface="Arial"/>
                <a:cs typeface="Arial"/>
              </a:rPr>
              <a:t>Sizing Methodology</a:t>
            </a:r>
          </a:p>
        </p:txBody>
      </p:sp>
      <p:pic>
        <p:nvPicPr>
          <p:cNvPr id="78" name="Picture 68"/>
          <p:cNvPicPr>
            <a:picLocks xmlns:a="http://schemas.openxmlformats.org/drawingml/2006/main" noChangeAspect="1"/>
          </p:cNvPicPr>
          <p:nvPr/>
        </p:nvPicPr>
        <p:blipFill>
          <a:blip xmlns:r="http://schemas.openxmlformats.org/officeDocument/2006/relationships" xmlns:a="http://schemas.openxmlformats.org/drawingml/2006/main" r:embed="Rb5434d42aac542f7"/>
          <a:stretch xmlns:a="http://schemas.openxmlformats.org/drawingml/2006/main"/>
        </p:blipFill>
        <p:spPr>
          <a:xfrm xmlns:a="http://schemas.openxmlformats.org/drawingml/2006/main">
            <a:off x="600075" y="2779303"/>
            <a:ext cx="466725" cy="451669"/>
          </a:xfrm>
          <a:prstGeom xmlns:a="http://schemas.openxmlformats.org/drawingml/2006/main" prst="rect">
            <a:avLst/>
          </a:prstGeom>
        </p:spPr>
      </p:pic>
      <p:sp>
        <p:nvSpPr>
          <p:cNvPr id="20" name="editable-methodology-data-source-label">
            <a:extLst xmlns:a="http://schemas.openxmlformats.org/drawingml/2006/main">
              <a:ext uri="{FF2B5EF4-FFF2-40B4-BE49-F238E27FC236}">
                <a16:creationId xmlns:a16="http://schemas.microsoft.com/office/drawing/2014/main" id="{42908386-5A93-4A58-A462-83A24A156EB4}"/>
              </a:ext>
            </a:extLst>
          </p:cNvPr>
          <p:cNvSpPr>
            <a:spLocks xmlns:a="http://schemas.openxmlformats.org/drawingml/2006/main" noGrp="1"/>
          </p:cNvSpPr>
          <p:nvPr/>
        </p:nvSpPr>
        <p:spPr>
          <a:xfrm xmlns:a="http://schemas.openxmlformats.org/drawingml/2006/main">
            <a:off x="1333500" y="2914650"/>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Data Source</a:t>
            </a:r>
          </a:p>
        </p:txBody>
      </p:sp>
      <p:sp>
        <p:nvSpPr>
          <p:cNvPr id="21" name="Straight Connector 20">
            <a:extLst xmlns:a="http://schemas.openxmlformats.org/drawingml/2006/main">
              <a:ext uri="{FF2B5EF4-FFF2-40B4-BE49-F238E27FC236}">
                <a16:creationId xmlns:a16="http://schemas.microsoft.com/office/drawing/2014/main" id="{74A58121-1B16-4F12-92B5-F259AF492CB0}"/>
              </a:ext>
            </a:extLst>
          </p:cNvPr>
          <p:cNvSpPr>
            <a:spLocks xmlns:a="http://schemas.openxmlformats.org/drawingml/2006/main" noGrp="1"/>
          </p:cNvSpPr>
          <p:nvPr/>
        </p:nvSpPr>
        <p:spPr>
          <a:xfrm xmlns:a="http://schemas.openxmlformats.org/drawingml/2006/main">
            <a:off x="3333750" y="2828925"/>
            <a:ext cx="0" cy="314325"/>
          </a:xfrm>
          <a:prstGeom xmlns:a="http://schemas.openxmlformats.org/drawingml/2006/main" prst="line">
            <a:avLst/>
          </a:prstGeom>
          <a:noFill xmlns:a="http://schemas.openxmlformats.org/drawingml/2006/main"/>
          <a:ln xmlns:a="http://schemas.openxmlformats.org/drawingml/2006/main" w="9525">
            <a:solidFill>
              <a:srgbClr val="CBD2CE"/>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editable-methodology-data-source">
            <a:extLst xmlns:a="http://schemas.openxmlformats.org/drawingml/2006/main">
              <a:ext uri="{FF2B5EF4-FFF2-40B4-BE49-F238E27FC236}">
                <a16:creationId xmlns:a16="http://schemas.microsoft.com/office/drawing/2014/main" id="{71D931CB-6DBE-4D20-B729-98885198EFAC}"/>
              </a:ext>
            </a:extLst>
          </p:cNvPr>
          <p:cNvSpPr>
            <a:spLocks xmlns:a="http://schemas.openxmlformats.org/drawingml/2006/main" noGrp="1"/>
          </p:cNvSpPr>
          <p:nvPr/>
        </p:nvSpPr>
        <p:spPr>
          <a:xfrm xmlns:a="http://schemas.openxmlformats.org/drawingml/2006/main">
            <a:off x="3676650" y="2828925"/>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RVTools export provided by the customer</a:t>
            </a:r>
          </a:p>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Analysis Date: {{ANALYSIS_DATE}}</a:t>
            </a:r>
          </a:p>
        </p:txBody>
      </p:sp>
      <p:sp>
        <p:nvSpPr>
          <p:cNvPr id="23" name="Straight Connector 22">
            <a:extLst xmlns:a="http://schemas.openxmlformats.org/drawingml/2006/main">
              <a:ext uri="{FF2B5EF4-FFF2-40B4-BE49-F238E27FC236}">
                <a16:creationId xmlns:a16="http://schemas.microsoft.com/office/drawing/2014/main" id="{23397379-0F76-4614-83F5-A13601AE9797}"/>
              </a:ext>
            </a:extLst>
          </p:cNvPr>
          <p:cNvSpPr>
            <a:spLocks xmlns:a="http://schemas.openxmlformats.org/drawingml/2006/main" noGrp="1"/>
          </p:cNvSpPr>
          <p:nvPr/>
        </p:nvSpPr>
        <p:spPr>
          <a:xfrm xmlns:a="http://schemas.openxmlformats.org/drawingml/2006/main">
            <a:off x="600075" y="3264218"/>
            <a:ext cx="6981825" cy="0"/>
          </a:xfrm>
          <a:prstGeom xmlns:a="http://schemas.openxmlformats.org/drawingml/2006/main" prst="line">
            <a:avLst/>
          </a:prstGeom>
          <a:noFill xmlns:a="http://schemas.openxmlformats.org/drawingml/2006/main"/>
          <a:ln xmlns:a="http://schemas.openxmlformats.org/drawingml/2006/main" w="9525">
            <a:solidFill>
              <a:srgbClr val="DDE2DE"/>
            </a:solidFill>
            <a:prstDash val="solid"/>
          </a:ln>
        </p:spPr>
        <p:txBody>
          <a:bodyPr xmlns:a="http://schemas.openxmlformats.org/drawingml/2006/main"/>
          <a:lstStyle xmlns:a="http://schemas.openxmlformats.org/drawingml/2006/main"/>
          <a:p xmlns:a="http://schemas.openxmlformats.org/drawingml/2006/main">
            <a:endParaRPr/>
          </a:p>
        </p:txBody>
      </p:sp>
      <p:pic>
        <p:nvPicPr>
          <p:cNvPr id="83" name="Picture 73"/>
          <p:cNvPicPr>
            <a:picLocks xmlns:a="http://schemas.openxmlformats.org/drawingml/2006/main" noChangeAspect="1"/>
          </p:cNvPicPr>
          <p:nvPr/>
        </p:nvPicPr>
        <p:blipFill>
          <a:blip xmlns:r="http://schemas.openxmlformats.org/officeDocument/2006/relationships" xmlns:a="http://schemas.openxmlformats.org/drawingml/2006/main" r:embed="R97f8922d225d4fd7"/>
          <a:stretch xmlns:a="http://schemas.openxmlformats.org/drawingml/2006/main"/>
        </p:blipFill>
        <p:spPr>
          <a:xfrm xmlns:a="http://schemas.openxmlformats.org/drawingml/2006/main">
            <a:off x="600075" y="3309845"/>
            <a:ext cx="466725" cy="451669"/>
          </a:xfrm>
          <a:prstGeom xmlns:a="http://schemas.openxmlformats.org/drawingml/2006/main" prst="rect">
            <a:avLst/>
          </a:prstGeom>
        </p:spPr>
      </p:pic>
      <p:sp>
        <p:nvSpPr>
          <p:cNvPr id="25" name="editable-methodology-sizing-approach-label">
            <a:extLst xmlns:a="http://schemas.openxmlformats.org/drawingml/2006/main">
              <a:ext uri="{FF2B5EF4-FFF2-40B4-BE49-F238E27FC236}">
                <a16:creationId xmlns:a16="http://schemas.microsoft.com/office/drawing/2014/main" id="{DE8908F2-D896-472D-AF70-B94F25AE6292}"/>
              </a:ext>
            </a:extLst>
          </p:cNvPr>
          <p:cNvSpPr>
            <a:spLocks xmlns:a="http://schemas.openxmlformats.org/drawingml/2006/main" noGrp="1"/>
          </p:cNvSpPr>
          <p:nvPr/>
        </p:nvSpPr>
        <p:spPr>
          <a:xfrm xmlns:a="http://schemas.openxmlformats.org/drawingml/2006/main">
            <a:off x="1333500" y="3445193"/>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Sizing Approach</a:t>
            </a:r>
          </a:p>
        </p:txBody>
      </p:sp>
      <p:sp>
        <p:nvSpPr>
          <p:cNvPr id="26" name="Straight Connector 25">
            <a:extLst xmlns:a="http://schemas.openxmlformats.org/drawingml/2006/main">
              <a:ext uri="{FF2B5EF4-FFF2-40B4-BE49-F238E27FC236}">
                <a16:creationId xmlns:a16="http://schemas.microsoft.com/office/drawing/2014/main" id="{CFDEC23A-6F66-49D5-87D3-62C87F39D16D}"/>
              </a:ext>
            </a:extLst>
          </p:cNvPr>
          <p:cNvSpPr>
            <a:spLocks xmlns:a="http://schemas.openxmlformats.org/drawingml/2006/main" noGrp="1"/>
          </p:cNvSpPr>
          <p:nvPr/>
        </p:nvSpPr>
        <p:spPr>
          <a:xfrm xmlns:a="http://schemas.openxmlformats.org/drawingml/2006/main">
            <a:off x="3333750" y="3359468"/>
            <a:ext cx="0" cy="314325"/>
          </a:xfrm>
          <a:prstGeom xmlns:a="http://schemas.openxmlformats.org/drawingml/2006/main" prst="line">
            <a:avLst/>
          </a:prstGeom>
          <a:noFill xmlns:a="http://schemas.openxmlformats.org/drawingml/2006/main"/>
          <a:ln xmlns:a="http://schemas.openxmlformats.org/drawingml/2006/main" w="9525">
            <a:solidFill>
              <a:srgbClr val="CBD2CE"/>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editable-methodology-sizing-approach">
            <a:extLst xmlns:a="http://schemas.openxmlformats.org/drawingml/2006/main">
              <a:ext uri="{FF2B5EF4-FFF2-40B4-BE49-F238E27FC236}">
                <a16:creationId xmlns:a16="http://schemas.microsoft.com/office/drawing/2014/main" id="{0ECE9441-9ABA-4D86-B0D0-CA3DF1A3EB96}"/>
              </a:ext>
            </a:extLst>
          </p:cNvPr>
          <p:cNvSpPr>
            <a:spLocks xmlns:a="http://schemas.openxmlformats.org/drawingml/2006/main" noGrp="1"/>
          </p:cNvSpPr>
          <p:nvPr/>
        </p:nvSpPr>
        <p:spPr>
          <a:xfrm xmlns:a="http://schemas.openxmlformats.org/drawingml/2006/main">
            <a:off x="3676650" y="3359468"/>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Selected VM scope, OCVS host profile,</a:t>
            </a:r>
          </a:p>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and configured capacity policy</a:t>
            </a:r>
          </a:p>
        </p:txBody>
      </p:sp>
      <p:sp>
        <p:nvSpPr>
          <p:cNvPr id="28" name="Straight Connector 27">
            <a:extLst xmlns:a="http://schemas.openxmlformats.org/drawingml/2006/main">
              <a:ext uri="{FF2B5EF4-FFF2-40B4-BE49-F238E27FC236}">
                <a16:creationId xmlns:a16="http://schemas.microsoft.com/office/drawing/2014/main" id="{45CE46C6-B9C0-4849-A834-96BE06538FA8}"/>
              </a:ext>
            </a:extLst>
          </p:cNvPr>
          <p:cNvSpPr>
            <a:spLocks xmlns:a="http://schemas.openxmlformats.org/drawingml/2006/main" noGrp="1"/>
          </p:cNvSpPr>
          <p:nvPr/>
        </p:nvSpPr>
        <p:spPr>
          <a:xfrm xmlns:a="http://schemas.openxmlformats.org/drawingml/2006/main">
            <a:off x="600075" y="3794760"/>
            <a:ext cx="6981825" cy="0"/>
          </a:xfrm>
          <a:prstGeom xmlns:a="http://schemas.openxmlformats.org/drawingml/2006/main" prst="line">
            <a:avLst/>
          </a:prstGeom>
          <a:noFill xmlns:a="http://schemas.openxmlformats.org/drawingml/2006/main"/>
          <a:ln xmlns:a="http://schemas.openxmlformats.org/drawingml/2006/main" w="9525">
            <a:solidFill>
              <a:srgbClr val="DDE2DE"/>
            </a:solidFill>
            <a:prstDash val="solid"/>
          </a:ln>
        </p:spPr>
        <p:txBody>
          <a:bodyPr xmlns:a="http://schemas.openxmlformats.org/drawingml/2006/main"/>
          <a:lstStyle xmlns:a="http://schemas.openxmlformats.org/drawingml/2006/main"/>
          <a:p xmlns:a="http://schemas.openxmlformats.org/drawingml/2006/main">
            <a:endParaRPr/>
          </a:p>
        </p:txBody>
      </p:sp>
      <p:pic>
        <p:nvPicPr>
          <p:cNvPr id="88" name="Picture 78"/>
          <p:cNvPicPr>
            <a:picLocks xmlns:a="http://schemas.openxmlformats.org/drawingml/2006/main" noChangeAspect="1"/>
          </p:cNvPicPr>
          <p:nvPr/>
        </p:nvPicPr>
        <p:blipFill>
          <a:blip xmlns:r="http://schemas.openxmlformats.org/officeDocument/2006/relationships" xmlns:a="http://schemas.openxmlformats.org/drawingml/2006/main" r:embed="R2d66b9f933694294"/>
          <a:stretch xmlns:a="http://schemas.openxmlformats.org/drawingml/2006/main"/>
        </p:blipFill>
        <p:spPr>
          <a:xfrm xmlns:a="http://schemas.openxmlformats.org/drawingml/2006/main">
            <a:off x="600075" y="3836686"/>
            <a:ext cx="466725" cy="459074"/>
          </a:xfrm>
          <a:prstGeom xmlns:a="http://schemas.openxmlformats.org/drawingml/2006/main" prst="rect">
            <a:avLst/>
          </a:prstGeom>
        </p:spPr>
      </p:pic>
      <p:sp>
        <p:nvSpPr>
          <p:cNvPr id="30" name="editable-methodology-compute-policy-label">
            <a:extLst xmlns:a="http://schemas.openxmlformats.org/drawingml/2006/main">
              <a:ext uri="{FF2B5EF4-FFF2-40B4-BE49-F238E27FC236}">
                <a16:creationId xmlns:a16="http://schemas.microsoft.com/office/drawing/2014/main" id="{78085D01-F2D9-4FF8-AFE8-59DAD7CB0343}"/>
              </a:ext>
            </a:extLst>
          </p:cNvPr>
          <p:cNvSpPr>
            <a:spLocks xmlns:a="http://schemas.openxmlformats.org/drawingml/2006/main" noGrp="1"/>
          </p:cNvSpPr>
          <p:nvPr/>
        </p:nvSpPr>
        <p:spPr>
          <a:xfrm xmlns:a="http://schemas.openxmlformats.org/drawingml/2006/main">
            <a:off x="1333500" y="3975735"/>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Compute &amp; Memory Policy</a:t>
            </a:r>
          </a:p>
        </p:txBody>
      </p:sp>
      <p:sp>
        <p:nvSpPr>
          <p:cNvPr id="31" name="Straight Connector 30">
            <a:extLst xmlns:a="http://schemas.openxmlformats.org/drawingml/2006/main">
              <a:ext uri="{FF2B5EF4-FFF2-40B4-BE49-F238E27FC236}">
                <a16:creationId xmlns:a16="http://schemas.microsoft.com/office/drawing/2014/main" id="{72944B4F-936E-4666-BCB5-19428C80B4D4}"/>
              </a:ext>
            </a:extLst>
          </p:cNvPr>
          <p:cNvSpPr>
            <a:spLocks xmlns:a="http://schemas.openxmlformats.org/drawingml/2006/main" noGrp="1"/>
          </p:cNvSpPr>
          <p:nvPr/>
        </p:nvSpPr>
        <p:spPr>
          <a:xfrm xmlns:a="http://schemas.openxmlformats.org/drawingml/2006/main">
            <a:off x="3333750" y="3890010"/>
            <a:ext cx="0" cy="314325"/>
          </a:xfrm>
          <a:prstGeom xmlns:a="http://schemas.openxmlformats.org/drawingml/2006/main" prst="line">
            <a:avLst/>
          </a:prstGeom>
          <a:noFill xmlns:a="http://schemas.openxmlformats.org/drawingml/2006/main"/>
          <a:ln xmlns:a="http://schemas.openxmlformats.org/drawingml/2006/main" w="9525">
            <a:solidFill>
              <a:srgbClr val="CBD2CE"/>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editable-methodology-vcpu-per-ocpu">
            <a:extLst xmlns:a="http://schemas.openxmlformats.org/drawingml/2006/main">
              <a:ext uri="{FF2B5EF4-FFF2-40B4-BE49-F238E27FC236}">
                <a16:creationId xmlns:a16="http://schemas.microsoft.com/office/drawing/2014/main" id="{4BB2C1F5-D562-49B2-9F9A-0CC0CC218F6B}"/>
              </a:ext>
            </a:extLst>
          </p:cNvPr>
          <p:cNvSpPr>
            <a:spLocks xmlns:a="http://schemas.openxmlformats.org/drawingml/2006/main" noGrp="1"/>
          </p:cNvSpPr>
          <p:nvPr/>
        </p:nvSpPr>
        <p:spPr>
          <a:xfrm xmlns:a="http://schemas.openxmlformats.org/drawingml/2006/main">
            <a:off x="3676650" y="389001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425" b="1" i="0">
                <a:solidFill>
                  <a:srgbClr val="111111"/>
                </a:solidFill>
                <a:latin typeface="Arial"/>
                <a:ea typeface="Arial"/>
                <a:cs typeface="Arial"/>
              </a:defRPr>
            </a:pPr>
            <a:r>
              <a:rPr sz="1425" b="1" i="0">
                <a:solidFill>
                  <a:srgbClr val="111111"/>
                </a:solidFill>
                <a:latin typeface="Arial"/>
                <a:ea typeface="Arial"/>
                <a:cs typeface="Arial"/>
              </a:rPr>
              <a:t>{{VCPU_PER_OCPU}}</a:t>
            </a:r>
          </a:p>
        </p:txBody>
      </p:sp>
      <p:sp>
        <p:nvSpPr>
          <p:cNvPr id="33" name="editable-methodology-compute-supporting-text">
            <a:extLst xmlns:a="http://schemas.openxmlformats.org/drawingml/2006/main">
              <a:ext uri="{FF2B5EF4-FFF2-40B4-BE49-F238E27FC236}">
                <a16:creationId xmlns:a16="http://schemas.microsoft.com/office/drawing/2014/main" id="{C1010FD1-CF72-4430-AE27-159930A3A4CD}"/>
              </a:ext>
            </a:extLst>
          </p:cNvPr>
          <p:cNvSpPr>
            <a:spLocks xmlns:a="http://schemas.openxmlformats.org/drawingml/2006/main" noGrp="1"/>
          </p:cNvSpPr>
          <p:nvPr/>
        </p:nvSpPr>
        <p:spPr>
          <a:xfrm xmlns:a="http://schemas.openxmlformats.org/drawingml/2006/main">
            <a:off x="3676650" y="4109085"/>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75" b="0" i="0">
                <a:solidFill>
                  <a:srgbClr val="111111"/>
                </a:solidFill>
                <a:latin typeface="Arial"/>
                <a:ea typeface="Arial"/>
                <a:cs typeface="Arial"/>
              </a:defRPr>
            </a:pPr>
            <a:r>
              <a:rPr sz="975" b="0" i="0">
                <a:solidFill>
                  <a:srgbClr val="111111"/>
                </a:solidFill>
                <a:latin typeface="Arial"/>
                <a:ea typeface="Arial"/>
                <a:cs typeface="Arial"/>
              </a:rPr>
              <a:t/>
            </a:r>
          </a:p>
        </p:txBody>
      </p:sp>
      <p:sp>
        <p:nvSpPr>
          <p:cNvPr id="34" name="Straight Connector 33">
            <a:extLst xmlns:a="http://schemas.openxmlformats.org/drawingml/2006/main">
              <a:ext uri="{FF2B5EF4-FFF2-40B4-BE49-F238E27FC236}">
                <a16:creationId xmlns:a16="http://schemas.microsoft.com/office/drawing/2014/main" id="{02CD068C-C8FC-47C9-BB57-3D4C64351CFA}"/>
              </a:ext>
            </a:extLst>
          </p:cNvPr>
          <p:cNvSpPr>
            <a:spLocks xmlns:a="http://schemas.openxmlformats.org/drawingml/2006/main" noGrp="1"/>
          </p:cNvSpPr>
          <p:nvPr/>
        </p:nvSpPr>
        <p:spPr>
          <a:xfrm xmlns:a="http://schemas.openxmlformats.org/drawingml/2006/main">
            <a:off x="600075" y="4325303"/>
            <a:ext cx="6981825" cy="0"/>
          </a:xfrm>
          <a:prstGeom xmlns:a="http://schemas.openxmlformats.org/drawingml/2006/main" prst="line">
            <a:avLst/>
          </a:prstGeom>
          <a:noFill xmlns:a="http://schemas.openxmlformats.org/drawingml/2006/main"/>
          <a:ln xmlns:a="http://schemas.openxmlformats.org/drawingml/2006/main" w="9525">
            <a:solidFill>
              <a:srgbClr val="DDE2DE"/>
            </a:solidFill>
            <a:prstDash val="solid"/>
          </a:ln>
        </p:spPr>
        <p:txBody>
          <a:bodyPr xmlns:a="http://schemas.openxmlformats.org/drawingml/2006/main"/>
          <a:lstStyle xmlns:a="http://schemas.openxmlformats.org/drawingml/2006/main"/>
          <a:p xmlns:a="http://schemas.openxmlformats.org/drawingml/2006/main">
            <a:endParaRPr/>
          </a:p>
        </p:txBody>
      </p:sp>
      <p:pic>
        <p:nvPicPr>
          <p:cNvPr id="94" name="Picture 84"/>
          <p:cNvPicPr>
            <a:picLocks xmlns:a="http://schemas.openxmlformats.org/drawingml/2006/main" noChangeAspect="1"/>
          </p:cNvPicPr>
          <p:nvPr/>
        </p:nvPicPr>
        <p:blipFill>
          <a:blip xmlns:r="http://schemas.openxmlformats.org/officeDocument/2006/relationships" xmlns:a="http://schemas.openxmlformats.org/drawingml/2006/main" r:embed="R5c1a99952c1446be"/>
          <a:stretch xmlns:a="http://schemas.openxmlformats.org/drawingml/2006/main"/>
        </p:blipFill>
        <p:spPr>
          <a:xfrm xmlns:a="http://schemas.openxmlformats.org/drawingml/2006/main">
            <a:off x="600075" y="4367228"/>
            <a:ext cx="466725" cy="459074"/>
          </a:xfrm>
          <a:prstGeom xmlns:a="http://schemas.openxmlformats.org/drawingml/2006/main" prst="rect">
            <a:avLst/>
          </a:prstGeom>
        </p:spPr>
      </p:pic>
      <p:sp>
        <p:nvSpPr>
          <p:cNvPr id="36" name="editable-methodology-cpu-headroom-label">
            <a:extLst xmlns:a="http://schemas.openxmlformats.org/drawingml/2006/main">
              <a:ext uri="{FF2B5EF4-FFF2-40B4-BE49-F238E27FC236}">
                <a16:creationId xmlns:a16="http://schemas.microsoft.com/office/drawing/2014/main" id="{35B0B338-2A00-4402-837C-6832FD369235}"/>
              </a:ext>
            </a:extLst>
          </p:cNvPr>
          <p:cNvSpPr>
            <a:spLocks xmlns:a="http://schemas.openxmlformats.org/drawingml/2006/main" noGrp="1"/>
          </p:cNvSpPr>
          <p:nvPr/>
        </p:nvSpPr>
        <p:spPr>
          <a:xfrm xmlns:a="http://schemas.openxmlformats.org/drawingml/2006/main">
            <a:off x="1333500" y="4506278"/>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CPU headroom</a:t>
            </a:r>
          </a:p>
        </p:txBody>
      </p:sp>
      <p:sp>
        <p:nvSpPr>
          <p:cNvPr id="37" name="Straight Connector 36">
            <a:extLst xmlns:a="http://schemas.openxmlformats.org/drawingml/2006/main">
              <a:ext uri="{FF2B5EF4-FFF2-40B4-BE49-F238E27FC236}">
                <a16:creationId xmlns:a16="http://schemas.microsoft.com/office/drawing/2014/main" id="{0004D49C-3CEF-4D64-8EE4-5C2EF19B65F0}"/>
              </a:ext>
            </a:extLst>
          </p:cNvPr>
          <p:cNvSpPr>
            <a:spLocks xmlns:a="http://schemas.openxmlformats.org/drawingml/2006/main" noGrp="1"/>
          </p:cNvSpPr>
          <p:nvPr/>
        </p:nvSpPr>
        <p:spPr>
          <a:xfrm xmlns:a="http://schemas.openxmlformats.org/drawingml/2006/main">
            <a:off x="3333750" y="4420553"/>
            <a:ext cx="0" cy="314325"/>
          </a:xfrm>
          <a:prstGeom xmlns:a="http://schemas.openxmlformats.org/drawingml/2006/main" prst="line">
            <a:avLst/>
          </a:prstGeom>
          <a:noFill xmlns:a="http://schemas.openxmlformats.org/drawingml/2006/main"/>
          <a:ln xmlns:a="http://schemas.openxmlformats.org/drawingml/2006/main" w="9525">
            <a:solidFill>
              <a:srgbClr val="CBD2CE"/>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editable-methodology-cpu-headroom">
            <a:extLst xmlns:a="http://schemas.openxmlformats.org/drawingml/2006/main">
              <a:ext uri="{FF2B5EF4-FFF2-40B4-BE49-F238E27FC236}">
                <a16:creationId xmlns:a16="http://schemas.microsoft.com/office/drawing/2014/main" id="{B09B219E-B635-42E5-8711-6CCAA05CC5BA}"/>
              </a:ext>
            </a:extLst>
          </p:cNvPr>
          <p:cNvSpPr>
            <a:spLocks xmlns:a="http://schemas.openxmlformats.org/drawingml/2006/main" noGrp="1"/>
          </p:cNvSpPr>
          <p:nvPr/>
        </p:nvSpPr>
        <p:spPr>
          <a:xfrm xmlns:a="http://schemas.openxmlformats.org/drawingml/2006/main">
            <a:off x="3676650" y="4420553"/>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{{CPU_HEADROOM}}</a:t>
            </a:r>
          </a:p>
        </p:txBody>
      </p:sp>
      <p:sp>
        <p:nvSpPr>
          <p:cNvPr id="39" name="Straight Connector 38">
            <a:extLst xmlns:a="http://schemas.openxmlformats.org/drawingml/2006/main">
              <a:ext uri="{FF2B5EF4-FFF2-40B4-BE49-F238E27FC236}">
                <a16:creationId xmlns:a16="http://schemas.microsoft.com/office/drawing/2014/main" id="{B5294845-2E5B-41F1-8CD4-A4D7AFAA9406}"/>
              </a:ext>
            </a:extLst>
          </p:cNvPr>
          <p:cNvSpPr>
            <a:spLocks xmlns:a="http://schemas.openxmlformats.org/drawingml/2006/main" noGrp="1"/>
          </p:cNvSpPr>
          <p:nvPr/>
        </p:nvSpPr>
        <p:spPr>
          <a:xfrm xmlns:a="http://schemas.openxmlformats.org/drawingml/2006/main">
            <a:off x="600075" y="4855845"/>
            <a:ext cx="6981825" cy="0"/>
          </a:xfrm>
          <a:prstGeom xmlns:a="http://schemas.openxmlformats.org/drawingml/2006/main" prst="line">
            <a:avLst/>
          </a:prstGeom>
          <a:noFill xmlns:a="http://schemas.openxmlformats.org/drawingml/2006/main"/>
          <a:ln xmlns:a="http://schemas.openxmlformats.org/drawingml/2006/main" w="9525">
            <a:solidFill>
              <a:srgbClr val="DDE2DE"/>
            </a:solidFill>
            <a:prstDash val="solid"/>
          </a:ln>
        </p:spPr>
        <p:txBody>
          <a:bodyPr xmlns:a="http://schemas.openxmlformats.org/drawingml/2006/main"/>
          <a:lstStyle xmlns:a="http://schemas.openxmlformats.org/drawingml/2006/main"/>
          <a:p xmlns:a="http://schemas.openxmlformats.org/drawingml/2006/main">
            <a:endParaRPr/>
          </a:p>
        </p:txBody>
      </p:sp>
      <p:pic>
        <p:nvPicPr>
          <p:cNvPr id="99" name="Picture 89"/>
          <p:cNvPicPr>
            <a:picLocks xmlns:a="http://schemas.openxmlformats.org/drawingml/2006/main" noChangeAspect="1"/>
          </p:cNvPicPr>
          <p:nvPr/>
        </p:nvPicPr>
        <p:blipFill>
          <a:blip xmlns:r="http://schemas.openxmlformats.org/officeDocument/2006/relationships" xmlns:a="http://schemas.openxmlformats.org/drawingml/2006/main" r:embed="R7ff177f4db2c4f55"/>
          <a:stretch xmlns:a="http://schemas.openxmlformats.org/drawingml/2006/main"/>
        </p:blipFill>
        <p:spPr>
          <a:xfrm xmlns:a="http://schemas.openxmlformats.org/drawingml/2006/main">
            <a:off x="600075" y="4897771"/>
            <a:ext cx="466725" cy="459074"/>
          </a:xfrm>
          <a:prstGeom xmlns:a="http://schemas.openxmlformats.org/drawingml/2006/main" prst="rect">
            <a:avLst/>
          </a:prstGeom>
        </p:spPr>
      </p:pic>
      <p:sp>
        <p:nvSpPr>
          <p:cNvPr id="41" name="editable-methodology-ram-headroom-label">
            <a:extLst xmlns:a="http://schemas.openxmlformats.org/drawingml/2006/main">
              <a:ext uri="{FF2B5EF4-FFF2-40B4-BE49-F238E27FC236}">
                <a16:creationId xmlns:a16="http://schemas.microsoft.com/office/drawing/2014/main" id="{3237AD7F-4836-4176-AF9D-C45EBA307DA5}"/>
              </a:ext>
            </a:extLst>
          </p:cNvPr>
          <p:cNvSpPr>
            <a:spLocks xmlns:a="http://schemas.openxmlformats.org/drawingml/2006/main" noGrp="1"/>
          </p:cNvSpPr>
          <p:nvPr/>
        </p:nvSpPr>
        <p:spPr>
          <a:xfrm xmlns:a="http://schemas.openxmlformats.org/drawingml/2006/main">
            <a:off x="1333500" y="5036820"/>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RAM headroom</a:t>
            </a:r>
          </a:p>
        </p:txBody>
      </p:sp>
      <p:sp>
        <p:nvSpPr>
          <p:cNvPr id="42" name="Straight Connector 41">
            <a:extLst xmlns:a="http://schemas.openxmlformats.org/drawingml/2006/main">
              <a:ext uri="{FF2B5EF4-FFF2-40B4-BE49-F238E27FC236}">
                <a16:creationId xmlns:a16="http://schemas.microsoft.com/office/drawing/2014/main" id="{4D9346C3-2665-41B0-99E5-1FA2EBA0C533}"/>
              </a:ext>
            </a:extLst>
          </p:cNvPr>
          <p:cNvSpPr>
            <a:spLocks xmlns:a="http://schemas.openxmlformats.org/drawingml/2006/main" noGrp="1"/>
          </p:cNvSpPr>
          <p:nvPr/>
        </p:nvSpPr>
        <p:spPr>
          <a:xfrm xmlns:a="http://schemas.openxmlformats.org/drawingml/2006/main">
            <a:off x="3333750" y="4951095"/>
            <a:ext cx="0" cy="314325"/>
          </a:xfrm>
          <a:prstGeom xmlns:a="http://schemas.openxmlformats.org/drawingml/2006/main" prst="line">
            <a:avLst/>
          </a:prstGeom>
          <a:noFill xmlns:a="http://schemas.openxmlformats.org/drawingml/2006/main"/>
          <a:ln xmlns:a="http://schemas.openxmlformats.org/drawingml/2006/main" w="9525">
            <a:solidFill>
              <a:srgbClr val="CBD2CE"/>
            </a:solidFill>
            <a:prstDash val="solid"/>
          </a:ln>
        </p:spPr>
        <p:txBody>
          <a:bodyPr xmlns:a="http://schemas.openxmlformats.org/drawingml/2006/main"/>
          <a:lstStyle xmlns:a="http://schemas.openxmlformats.org/drawingml/2006/main"/>
          <a:p xmlns:a="http://schemas.openxmlformats.org/drawingml/2006/main">
            <a:endParaRPr/>
          </a:p>
        </p:txBody>
      </p:sp>
      <p:sp>
        <p:nvSpPr>
          <p:cNvPr id="43" name="editable-methodology-ram-headroom">
            <a:extLst xmlns:a="http://schemas.openxmlformats.org/drawingml/2006/main">
              <a:ext uri="{FF2B5EF4-FFF2-40B4-BE49-F238E27FC236}">
                <a16:creationId xmlns:a16="http://schemas.microsoft.com/office/drawing/2014/main" id="{DBC0D906-17E6-4658-8738-8B3675430291}"/>
              </a:ext>
            </a:extLst>
          </p:cNvPr>
          <p:cNvSpPr>
            <a:spLocks xmlns:a="http://schemas.openxmlformats.org/drawingml/2006/main" noGrp="1"/>
          </p:cNvSpPr>
          <p:nvPr/>
        </p:nvSpPr>
        <p:spPr>
          <a:xfrm xmlns:a="http://schemas.openxmlformats.org/drawingml/2006/main">
            <a:off x="3676650" y="4951095"/>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{{RAM_HEADROOM}}</a:t>
            </a:r>
          </a:p>
        </p:txBody>
      </p:sp>
      <p:sp>
        <p:nvSpPr>
          <p:cNvPr id="44" name="Straight Connector 43">
            <a:extLst xmlns:a="http://schemas.openxmlformats.org/drawingml/2006/main">
              <a:ext uri="{FF2B5EF4-FFF2-40B4-BE49-F238E27FC236}">
                <a16:creationId xmlns:a16="http://schemas.microsoft.com/office/drawing/2014/main" id="{76C190DA-7557-4EF8-A3B4-C1CD1D532610}"/>
              </a:ext>
            </a:extLst>
          </p:cNvPr>
          <p:cNvSpPr>
            <a:spLocks xmlns:a="http://schemas.openxmlformats.org/drawingml/2006/main" noGrp="1"/>
          </p:cNvSpPr>
          <p:nvPr/>
        </p:nvSpPr>
        <p:spPr>
          <a:xfrm xmlns:a="http://schemas.openxmlformats.org/drawingml/2006/main">
            <a:off x="600075" y="5386388"/>
            <a:ext cx="6981825" cy="0"/>
          </a:xfrm>
          <a:prstGeom xmlns:a="http://schemas.openxmlformats.org/drawingml/2006/main" prst="line">
            <a:avLst/>
          </a:prstGeom>
          <a:noFill xmlns:a="http://schemas.openxmlformats.org/drawingml/2006/main"/>
          <a:ln xmlns:a="http://schemas.openxmlformats.org/drawingml/2006/main" w="9525">
            <a:solidFill>
              <a:srgbClr val="DDE2DE"/>
            </a:solidFill>
            <a:prstDash val="solid"/>
          </a:ln>
        </p:spPr>
        <p:txBody>
          <a:bodyPr xmlns:a="http://schemas.openxmlformats.org/drawingml/2006/main"/>
          <a:lstStyle xmlns:a="http://schemas.openxmlformats.org/drawingml/2006/main"/>
          <a:p xmlns:a="http://schemas.openxmlformats.org/drawingml/2006/main">
            <a:endParaRPr/>
          </a:p>
        </p:txBody>
      </p:sp>
      <p:pic>
        <p:nvPicPr>
          <p:cNvPr id="104" name="Picture 94"/>
          <p:cNvPicPr>
            <a:picLocks xmlns:a="http://schemas.openxmlformats.org/drawingml/2006/main" noChangeAspect="1"/>
          </p:cNvPicPr>
          <p:nvPr/>
        </p:nvPicPr>
        <p:blipFill>
          <a:blip xmlns:r="http://schemas.openxmlformats.org/officeDocument/2006/relationships" xmlns:a="http://schemas.openxmlformats.org/drawingml/2006/main" r:embed="Rfb4af23e9672449a"/>
          <a:stretch xmlns:a="http://schemas.openxmlformats.org/drawingml/2006/main"/>
        </p:blipFill>
        <p:spPr>
          <a:xfrm xmlns:a="http://schemas.openxmlformats.org/drawingml/2006/main">
            <a:off x="600075" y="5424488"/>
            <a:ext cx="466725" cy="466725"/>
          </a:xfrm>
          <a:prstGeom xmlns:a="http://schemas.openxmlformats.org/drawingml/2006/main" prst="rect">
            <a:avLst/>
          </a:prstGeom>
        </p:spPr>
      </p:pic>
      <p:sp>
        <p:nvSpPr>
          <p:cNvPr id="46" name="editable-methodology-storage-policy-label">
            <a:extLst xmlns:a="http://schemas.openxmlformats.org/drawingml/2006/main">
              <a:ext uri="{FF2B5EF4-FFF2-40B4-BE49-F238E27FC236}">
                <a16:creationId xmlns:a16="http://schemas.microsoft.com/office/drawing/2014/main" id="{1AAF8FDE-50FC-4C3F-9F81-15310F8F98EE}"/>
              </a:ext>
            </a:extLst>
          </p:cNvPr>
          <p:cNvSpPr>
            <a:spLocks xmlns:a="http://schemas.openxmlformats.org/drawingml/2006/main" noGrp="1"/>
          </p:cNvSpPr>
          <p:nvPr/>
        </p:nvSpPr>
        <p:spPr>
          <a:xfrm xmlns:a="http://schemas.openxmlformats.org/drawingml/2006/main">
            <a:off x="1333500" y="5567363"/>
            <a:ext cx="2047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Storage Policy — {{STORAGE_POLICY_NAME}}</a:t>
            </a:r>
          </a:p>
        </p:txBody>
      </p:sp>
      <p:sp>
        <p:nvSpPr>
          <p:cNvPr id="47" name="Straight Connector 46">
            <a:extLst xmlns:a="http://schemas.openxmlformats.org/drawingml/2006/main">
              <a:ext uri="{FF2B5EF4-FFF2-40B4-BE49-F238E27FC236}">
                <a16:creationId xmlns:a16="http://schemas.microsoft.com/office/drawing/2014/main" id="{FFEF831B-5985-4EBD-83C8-50668461DF24}"/>
              </a:ext>
            </a:extLst>
          </p:cNvPr>
          <p:cNvSpPr>
            <a:spLocks xmlns:a="http://schemas.openxmlformats.org/drawingml/2006/main" noGrp="1"/>
          </p:cNvSpPr>
          <p:nvPr/>
        </p:nvSpPr>
        <p:spPr>
          <a:xfrm xmlns:a="http://schemas.openxmlformats.org/drawingml/2006/main">
            <a:off x="3333750" y="5481638"/>
            <a:ext cx="0" cy="314325"/>
          </a:xfrm>
          <a:prstGeom xmlns:a="http://schemas.openxmlformats.org/drawingml/2006/main" prst="line">
            <a:avLst/>
          </a:prstGeom>
          <a:noFill xmlns:a="http://schemas.openxmlformats.org/drawingml/2006/main"/>
          <a:ln xmlns:a="http://schemas.openxmlformats.org/drawingml/2006/main" w="9525">
            <a:solidFill>
              <a:srgbClr val="CBD2CE"/>
            </a:solidFill>
            <a:prstDash val="solid"/>
          </a:ln>
        </p:spPr>
        <p:txBody>
          <a:bodyPr xmlns:a="http://schemas.openxmlformats.org/drawingml/2006/main"/>
          <a:lstStyle xmlns:a="http://schemas.openxmlformats.org/drawingml/2006/main"/>
          <a:p xmlns:a="http://schemas.openxmlformats.org/drawingml/2006/main">
            <a:endParaRPr/>
          </a:p>
        </p:txBody>
      </p:sp>
      <p:sp>
        <p:nvSpPr>
          <p:cNvPr id="48" name="editable-methodology-storage-policy-details">
            <a:extLst xmlns:a="http://schemas.openxmlformats.org/drawingml/2006/main">
              <a:ext uri="{FF2B5EF4-FFF2-40B4-BE49-F238E27FC236}">
                <a16:creationId xmlns:a16="http://schemas.microsoft.com/office/drawing/2014/main" id="{FCCC5123-50EE-49F7-9C4E-AD8B5F15572B}"/>
              </a:ext>
            </a:extLst>
          </p:cNvPr>
          <p:cNvSpPr>
            <a:spLocks xmlns:a="http://schemas.openxmlformats.org/drawingml/2006/main" noGrp="1"/>
          </p:cNvSpPr>
          <p:nvPr/>
        </p:nvSpPr>
        <p:spPr>
          <a:xfrm xmlns:a="http://schemas.openxmlformats.org/drawingml/2006/main">
            <a:off x="3676650" y="5481638"/>
            <a:ext cx="3714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Storage headroom: {{STORAGE_HEADROOM}}</a:t>
            </a:r>
          </a:p>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{{STORAGE_POLICY_DETAIL}}</a:t>
            </a:r>
          </a:p>
          <a:p xmlns:a="http://schemas.openxmlformats.org/drawingml/2006/main">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{{STORAGE_POLICY_SUPPORTING_TEXT}}</a:t>
            </a:r>
          </a:p>
        </p:txBody>
      </p:sp>
      <p:sp>
        <p:nvSpPr>
          <p:cNvPr id="49" name="Rectangle 48">
            <a:extLst xmlns:a="http://schemas.openxmlformats.org/drawingml/2006/main">
              <a:ext uri="{FF2B5EF4-FFF2-40B4-BE49-F238E27FC236}">
                <a16:creationId xmlns:a16="http://schemas.microsoft.com/office/drawing/2014/main" id="{16E4D860-FD45-4FE4-BDF9-3E6C0A6C9676}"/>
              </a:ext>
            </a:extLst>
          </p:cNvPr>
          <p:cNvSpPr>
            <a:spLocks xmlns:a="http://schemas.openxmlformats.org/drawingml/2006/main" noGrp="1"/>
          </p:cNvSpPr>
          <p:nvPr/>
        </p:nvSpPr>
        <p:spPr>
          <a:xfrm xmlns:a="http://schemas.openxmlformats.org/drawingml/2006/main">
            <a:off x="1133475" y="6553200"/>
            <a:ext cx="514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675" b="0" i="0">
                <a:solidFill>
                  <a:srgbClr val="555555"/>
                </a:solidFill>
                <a:latin typeface="Arial"/>
                <a:ea typeface="Arial"/>
                <a:cs typeface="Arial"/>
              </a:defRPr>
            </a:pPr>
            <a:r>
              <a:rPr sz="675" b="0" i="0">
                <a:solidFill>
                  <a:srgbClr val="555555"/>
                </a:solidFill>
                <a:latin typeface="Arial"/>
                <a:ea typeface="Arial"/>
                <a:cs typeface="Arial"/>
              </a:rPr>
              <a:t>Copyright © 2026, Oracle and/or its affiliates | Confidential: Internal/Restricted/Highly Restricted</a:t>
            </a:r>
          </a:p>
        </p:txBody>
      </p:sp>
      <p:pic>
        <p:nvPicPr>
          <p:cNvPr id="109" name="Picture 99"/>
          <p:cNvPicPr>
            <a:picLocks xmlns:a="http://schemas.openxmlformats.org/drawingml/2006/main" noChangeAspect="1"/>
          </p:cNvPicPr>
          <p:nvPr/>
        </p:nvPicPr>
        <p:blipFill>
          <a:blip xmlns:r="http://schemas.openxmlformats.org/officeDocument/2006/relationships" xmlns:a="http://schemas.openxmlformats.org/drawingml/2006/main" r:embed="Re6600d8efec64a4c"/>
          <a:stretch xmlns:a="http://schemas.openxmlformats.org/drawingml/2006/main"/>
        </p:blipFill>
        <p:spPr>
          <a:xfrm xmlns:a="http://schemas.openxmlformats.org/drawingml/2006/main">
            <a:off x="11391900" y="6479151"/>
            <a:ext cx="400050" cy="329073"/>
          </a:xfrm>
          <a:prstGeom xmlns:a="http://schemas.openxmlformats.org/drawingml/2006/main" prst="rect">
            <a:avLst/>
          </a:prstGeom>
        </p:spPr>
      </p:pic>
    </p:spTree>
    <p:extLst>
      <p:ext uri="{BB962C8B-B14F-4D97-AF65-F5344CB8AC3E}">
        <p14:creationId xmlns:p14="http://schemas.microsoft.com/office/powerpoint/2010/main" val="948357235"/>
      </p:ext>
    </p:extLst>
  </p:cSld>
</p:sld>
</file>

<file path=ppt/slides/slide4.xml><?xml version="1.0" encoding="utf-8"?>
<p:sld xmlns:p="http://schemas.openxmlformats.org/presentationml/2006/main">
  <p:cSld>
    <p:bg>
      <p:bgPr>
        <a:solidFill xmlns:a="http://schemas.openxmlformats.org/drawingml/2006/main">
          <a:srgbClr val="FBFAF8"/>
        </a:solidFill>
      </p:bgPr>
    </p:bg>
    <p:spTree>
      <p:nvGrpSpPr>
        <p:cNvPr id="1" name=""/>
        <p:cNvGrpSpPr/>
        <p:nvPr/>
      </p:nvGrpSpPr>
      <p:grpSpPr>
        <a:xfrm xmlns:a="http://schemas.openxmlformats.org/drawingml/2006/main"/>
      </p:grpSpPr>
      <p:sp>
        <p:nvSpPr>
          <p:cNvPr id="75" name="Oval 74">
            <a:extLst xmlns:a="http://schemas.openxmlformats.org/drawingml/2006/main">
              <a:ext uri="{FF2B5EF4-FFF2-40B4-BE49-F238E27FC236}">
                <a16:creationId xmlns:a16="http://schemas.microsoft.com/office/drawing/2014/main" id="{21F0DC85-8080-41CB-9F08-90BF24F47782}"/>
              </a:ext>
            </a:extLst>
          </p:cNvPr>
          <p:cNvSpPr>
            <a:spLocks xmlns:a="http://schemas.openxmlformats.org/drawingml/2006/main" noGrp="1"/>
          </p:cNvSpPr>
          <p:nvPr/>
        </p:nvSpPr>
        <p:spPr>
          <a:xfrm xmlns:a="http://schemas.openxmlformats.org/drawingml/2006/main">
            <a:off x="219075" y="2838450"/>
            <a:ext cx="47625" cy="4762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Oval 1">
            <a:extLst xmlns:a="http://schemas.openxmlformats.org/drawingml/2006/main">
              <a:ext uri="{FF2B5EF4-FFF2-40B4-BE49-F238E27FC236}">
                <a16:creationId xmlns:a16="http://schemas.microsoft.com/office/drawing/2014/main" id="{2F83E7F2-4739-496D-AEA1-9C7E9AF7442A}"/>
              </a:ext>
            </a:extLst>
          </p:cNvPr>
          <p:cNvSpPr>
            <a:spLocks xmlns:a="http://schemas.openxmlformats.org/drawingml/2006/main" noGrp="1"/>
          </p:cNvSpPr>
          <p:nvPr/>
        </p:nvSpPr>
        <p:spPr>
          <a:xfrm xmlns:a="http://schemas.openxmlformats.org/drawingml/2006/main">
            <a:off x="5133975" y="552450"/>
            <a:ext cx="38100" cy="3810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Oval 2">
            <a:extLst xmlns:a="http://schemas.openxmlformats.org/drawingml/2006/main">
              <a:ext uri="{FF2B5EF4-FFF2-40B4-BE49-F238E27FC236}">
                <a16:creationId xmlns:a16="http://schemas.microsoft.com/office/drawing/2014/main" id="{50365660-F790-4395-BCCA-A1B5A74443CB}"/>
              </a:ext>
            </a:extLst>
          </p:cNvPr>
          <p:cNvSpPr>
            <a:spLocks xmlns:a="http://schemas.openxmlformats.org/drawingml/2006/main" noGrp="1"/>
          </p:cNvSpPr>
          <p:nvPr/>
        </p:nvSpPr>
        <p:spPr>
          <a:xfrm xmlns:a="http://schemas.openxmlformats.org/drawingml/2006/main">
            <a:off x="5638800" y="933450"/>
            <a:ext cx="38100" cy="3810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Oval 3">
            <a:extLst xmlns:a="http://schemas.openxmlformats.org/drawingml/2006/main">
              <a:ext uri="{FF2B5EF4-FFF2-40B4-BE49-F238E27FC236}">
                <a16:creationId xmlns:a16="http://schemas.microsoft.com/office/drawing/2014/main" id="{9375D8DC-CA5F-40B0-B7BF-056CF93CA4C9}"/>
              </a:ext>
            </a:extLst>
          </p:cNvPr>
          <p:cNvSpPr>
            <a:spLocks xmlns:a="http://schemas.openxmlformats.org/drawingml/2006/main" noGrp="1"/>
          </p:cNvSpPr>
          <p:nvPr/>
        </p:nvSpPr>
        <p:spPr>
          <a:xfrm xmlns:a="http://schemas.openxmlformats.org/drawingml/2006/main">
            <a:off x="5810250" y="552450"/>
            <a:ext cx="28575" cy="285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Oval 4">
            <a:extLst xmlns:a="http://schemas.openxmlformats.org/drawingml/2006/main">
              <a:ext uri="{FF2B5EF4-FFF2-40B4-BE49-F238E27FC236}">
                <a16:creationId xmlns:a16="http://schemas.microsoft.com/office/drawing/2014/main" id="{9B4636DC-97BE-46CA-BEB6-6BF5B65A7B74}"/>
              </a:ext>
            </a:extLst>
          </p:cNvPr>
          <p:cNvSpPr>
            <a:spLocks xmlns:a="http://schemas.openxmlformats.org/drawingml/2006/main" noGrp="1"/>
          </p:cNvSpPr>
          <p:nvPr/>
        </p:nvSpPr>
        <p:spPr>
          <a:xfrm xmlns:a="http://schemas.openxmlformats.org/drawingml/2006/main">
            <a:off x="4505325" y="981075"/>
            <a:ext cx="57150" cy="5715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567805AE-F6C9-426B-897E-D76835211245}"/>
              </a:ext>
            </a:extLst>
          </p:cNvPr>
          <p:cNvSpPr>
            <a:spLocks xmlns:a="http://schemas.openxmlformats.org/drawingml/2006/main" noGrp="1"/>
          </p:cNvSpPr>
          <p:nvPr/>
        </p:nvSpPr>
        <p:spPr>
          <a:xfrm xmlns:a="http://schemas.openxmlformats.org/drawingml/2006/main">
            <a:off x="5705475" y="990600"/>
            <a:ext cx="38100" cy="3810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B71CAA8A-0646-4E30-A41C-31D47C1744F5}"/>
              </a:ext>
            </a:extLst>
          </p:cNvPr>
          <p:cNvSpPr>
            <a:spLocks xmlns:a="http://schemas.openxmlformats.org/drawingml/2006/main" noGrp="1"/>
          </p:cNvSpPr>
          <p:nvPr/>
        </p:nvSpPr>
        <p:spPr>
          <a:xfrm xmlns:a="http://schemas.openxmlformats.org/drawingml/2006/main">
            <a:off x="6096000" y="1162050"/>
            <a:ext cx="38100" cy="3810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8004BEBF-6AFB-4C2C-929C-BF89C0BEE4CC}"/>
              </a:ext>
            </a:extLst>
          </p:cNvPr>
          <p:cNvSpPr>
            <a:spLocks xmlns:a="http://schemas.openxmlformats.org/drawingml/2006/main" noGrp="1"/>
          </p:cNvSpPr>
          <p:nvPr/>
        </p:nvSpPr>
        <p:spPr>
          <a:xfrm xmlns:a="http://schemas.openxmlformats.org/drawingml/2006/main">
            <a:off x="6753225" y="1304925"/>
            <a:ext cx="28575" cy="285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971687F6-47A9-4150-89D4-7D270B8B3DC6}"/>
              </a:ext>
            </a:extLst>
          </p:cNvPr>
          <p:cNvSpPr>
            <a:spLocks xmlns:a="http://schemas.openxmlformats.org/drawingml/2006/main" noGrp="1"/>
          </p:cNvSpPr>
          <p:nvPr/>
        </p:nvSpPr>
        <p:spPr>
          <a:xfrm xmlns:a="http://schemas.openxmlformats.org/drawingml/2006/main">
            <a:off x="7239000" y="381000"/>
            <a:ext cx="66675" cy="666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0" name="Oval 9">
            <a:extLst xmlns:a="http://schemas.openxmlformats.org/drawingml/2006/main">
              <a:ext uri="{FF2B5EF4-FFF2-40B4-BE49-F238E27FC236}">
                <a16:creationId xmlns:a16="http://schemas.microsoft.com/office/drawing/2014/main" id="{22DB11DC-8AE3-4708-B895-9DCF02DCCDCD}"/>
              </a:ext>
            </a:extLst>
          </p:cNvPr>
          <p:cNvSpPr>
            <a:spLocks xmlns:a="http://schemas.openxmlformats.org/drawingml/2006/main" noGrp="1"/>
          </p:cNvSpPr>
          <p:nvPr/>
        </p:nvSpPr>
        <p:spPr>
          <a:xfrm xmlns:a="http://schemas.openxmlformats.org/drawingml/2006/main">
            <a:off x="8839200" y="790575"/>
            <a:ext cx="28575" cy="285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1" name="Oval 10">
            <a:extLst xmlns:a="http://schemas.openxmlformats.org/drawingml/2006/main">
              <a:ext uri="{FF2B5EF4-FFF2-40B4-BE49-F238E27FC236}">
                <a16:creationId xmlns:a16="http://schemas.microsoft.com/office/drawing/2014/main" id="{4170C531-2321-40E2-8044-BC5E8CA5BB58}"/>
              </a:ext>
            </a:extLst>
          </p:cNvPr>
          <p:cNvSpPr>
            <a:spLocks xmlns:a="http://schemas.openxmlformats.org/drawingml/2006/main" noGrp="1"/>
          </p:cNvSpPr>
          <p:nvPr/>
        </p:nvSpPr>
        <p:spPr>
          <a:xfrm xmlns:a="http://schemas.openxmlformats.org/drawingml/2006/main">
            <a:off x="9048750" y="1495425"/>
            <a:ext cx="28575" cy="285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Oval 11">
            <a:extLst xmlns:a="http://schemas.openxmlformats.org/drawingml/2006/main">
              <a:ext uri="{FF2B5EF4-FFF2-40B4-BE49-F238E27FC236}">
                <a16:creationId xmlns:a16="http://schemas.microsoft.com/office/drawing/2014/main" id="{7A4DA6F0-0E7F-4975-91FC-B8833E1EF25E}"/>
              </a:ext>
            </a:extLst>
          </p:cNvPr>
          <p:cNvSpPr>
            <a:spLocks xmlns:a="http://schemas.openxmlformats.org/drawingml/2006/main" noGrp="1"/>
          </p:cNvSpPr>
          <p:nvPr/>
        </p:nvSpPr>
        <p:spPr>
          <a:xfrm xmlns:a="http://schemas.openxmlformats.org/drawingml/2006/main">
            <a:off x="9239250" y="1647825"/>
            <a:ext cx="28575" cy="285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3" name="Oval 12">
            <a:extLst xmlns:a="http://schemas.openxmlformats.org/drawingml/2006/main">
              <a:ext uri="{FF2B5EF4-FFF2-40B4-BE49-F238E27FC236}">
                <a16:creationId xmlns:a16="http://schemas.microsoft.com/office/drawing/2014/main" id="{30D3E989-E565-43CA-B47B-51F6E2E6D5A5}"/>
              </a:ext>
            </a:extLst>
          </p:cNvPr>
          <p:cNvSpPr>
            <a:spLocks xmlns:a="http://schemas.openxmlformats.org/drawingml/2006/main" noGrp="1"/>
          </p:cNvSpPr>
          <p:nvPr/>
        </p:nvSpPr>
        <p:spPr>
          <a:xfrm xmlns:a="http://schemas.openxmlformats.org/drawingml/2006/main">
            <a:off x="9944100" y="2076450"/>
            <a:ext cx="47625" cy="4762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4" name="Oval 13">
            <a:extLst xmlns:a="http://schemas.openxmlformats.org/drawingml/2006/main">
              <a:ext uri="{FF2B5EF4-FFF2-40B4-BE49-F238E27FC236}">
                <a16:creationId xmlns:a16="http://schemas.microsoft.com/office/drawing/2014/main" id="{E90AC5F6-AD11-4372-9904-82389EC0DDD8}"/>
              </a:ext>
            </a:extLst>
          </p:cNvPr>
          <p:cNvSpPr>
            <a:spLocks xmlns:a="http://schemas.openxmlformats.org/drawingml/2006/main" noGrp="1"/>
          </p:cNvSpPr>
          <p:nvPr/>
        </p:nvSpPr>
        <p:spPr>
          <a:xfrm xmlns:a="http://schemas.openxmlformats.org/drawingml/2006/main">
            <a:off x="11258550" y="228600"/>
            <a:ext cx="28575" cy="2857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5" name="Oval 14">
            <a:extLst xmlns:a="http://schemas.openxmlformats.org/drawingml/2006/main">
              <a:ext uri="{FF2B5EF4-FFF2-40B4-BE49-F238E27FC236}">
                <a16:creationId xmlns:a16="http://schemas.microsoft.com/office/drawing/2014/main" id="{7B52B2D8-D6B9-4D4D-B2A5-2C8D8AA80805}"/>
              </a:ext>
            </a:extLst>
          </p:cNvPr>
          <p:cNvSpPr>
            <a:spLocks xmlns:a="http://schemas.openxmlformats.org/drawingml/2006/main" noGrp="1"/>
          </p:cNvSpPr>
          <p:nvPr/>
        </p:nvSpPr>
        <p:spPr>
          <a:xfrm xmlns:a="http://schemas.openxmlformats.org/drawingml/2006/main">
            <a:off x="11306175" y="466725"/>
            <a:ext cx="38100" cy="3810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6" name="Oval 15">
            <a:extLst xmlns:a="http://schemas.openxmlformats.org/drawingml/2006/main">
              <a:ext uri="{FF2B5EF4-FFF2-40B4-BE49-F238E27FC236}">
                <a16:creationId xmlns:a16="http://schemas.microsoft.com/office/drawing/2014/main" id="{69CE3ABD-20CA-492A-A395-49E29EFAB399}"/>
              </a:ext>
            </a:extLst>
          </p:cNvPr>
          <p:cNvSpPr>
            <a:spLocks xmlns:a="http://schemas.openxmlformats.org/drawingml/2006/main" noGrp="1"/>
          </p:cNvSpPr>
          <p:nvPr/>
        </p:nvSpPr>
        <p:spPr>
          <a:xfrm xmlns:a="http://schemas.openxmlformats.org/drawingml/2006/main">
            <a:off x="11811000" y="723900"/>
            <a:ext cx="38100" cy="38100"/>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7" name="Oval 16">
            <a:extLst xmlns:a="http://schemas.openxmlformats.org/drawingml/2006/main">
              <a:ext uri="{FF2B5EF4-FFF2-40B4-BE49-F238E27FC236}">
                <a16:creationId xmlns:a16="http://schemas.microsoft.com/office/drawing/2014/main" id="{B88F33C5-401C-4533-ABE2-633CA7C878A6}"/>
              </a:ext>
            </a:extLst>
          </p:cNvPr>
          <p:cNvSpPr>
            <a:spLocks xmlns:a="http://schemas.openxmlformats.org/drawingml/2006/main" noGrp="1"/>
          </p:cNvSpPr>
          <p:nvPr/>
        </p:nvSpPr>
        <p:spPr>
          <a:xfrm xmlns:a="http://schemas.openxmlformats.org/drawingml/2006/main">
            <a:off x="11991975" y="1181100"/>
            <a:ext cx="47625" cy="47625"/>
          </a:xfrm>
          <a:prstGeom xmlns:a="http://schemas.openxmlformats.org/drawingml/2006/main" prst="ellipse">
            <a:avLst/>
          </a:prstGeom>
          <a:solidFill xmlns:a="http://schemas.openxmlformats.org/drawingml/2006/main">
            <a:srgbClr val="E6E8E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8" name="Oval 17">
            <a:extLst xmlns:a="http://schemas.openxmlformats.org/drawingml/2006/main">
              <a:ext uri="{FF2B5EF4-FFF2-40B4-BE49-F238E27FC236}">
                <a16:creationId xmlns:a16="http://schemas.microsoft.com/office/drawing/2014/main" id="{81912CAD-A491-40CB-BE59-97E8CE401F65}"/>
              </a:ext>
            </a:extLst>
          </p:cNvPr>
          <p:cNvSpPr>
            <a:spLocks xmlns:a="http://schemas.openxmlformats.org/drawingml/2006/main" noGrp="1"/>
          </p:cNvSpPr>
          <p:nvPr/>
        </p:nvSpPr>
        <p:spPr>
          <a:xfrm xmlns:a="http://schemas.openxmlformats.org/drawingml/2006/main">
            <a:off x="0" y="3028950"/>
            <a:ext cx="1381125" cy="1219200"/>
          </a:xfrm>
          <a:prstGeom xmlns:a="http://schemas.openxmlformats.org/drawingml/2006/main" prst="ellipse">
            <a:avLst/>
          </a:prstGeom>
          <a:solidFill xmlns:a="http://schemas.openxmlformats.org/drawingml/2006/main">
            <a:srgbClr val="F5F8F6"/>
          </a:solidFill>
          <a:ln xmlns:a="http://schemas.openxmlformats.org/drawingml/2006/main" w="9525">
            <a:solidFill>
              <a:srgbClr val="E3E8E5"/>
            </a:solidFill>
            <a:prstDash val="dot"/>
          </a:ln>
        </p:spPr>
        <p:txBody>
          <a:bodyPr xmlns:a="http://schemas.openxmlformats.org/drawingml/2006/main"/>
          <a:lstStyle xmlns:a="http://schemas.openxmlformats.org/drawingml/2006/main"/>
          <a:p xmlns:a="http://schemas.openxmlformats.org/drawingml/2006/main">
            <a:endParaRPr/>
          </a:p>
        </p:txBody>
      </p:sp>
      <p:pic>
        <p:nvPicPr>
          <p:cNvPr id="107" name="Picture 93"/>
          <p:cNvPicPr>
            <a:picLocks xmlns:a="http://schemas.openxmlformats.org/drawingml/2006/main" noChangeAspect="1"/>
          </p:cNvPicPr>
          <p:nvPr/>
        </p:nvPicPr>
        <p:blipFill>
          <a:blip xmlns:r="http://schemas.openxmlformats.org/officeDocument/2006/relationships" xmlns:a="http://schemas.openxmlformats.org/drawingml/2006/main" r:embed="R031bd2b27ca54cf1"/>
          <a:stretch xmlns:a="http://schemas.openxmlformats.org/drawingml/2006/main"/>
        </p:blipFill>
        <p:spPr>
          <a:xfrm xmlns:a="http://schemas.openxmlformats.org/drawingml/2006/main">
            <a:off x="426149" y="276225"/>
            <a:ext cx="1824228" cy="542925"/>
          </a:xfrm>
          <a:prstGeom xmlns:a="http://schemas.openxmlformats.org/drawingml/2006/main" prst="rect">
            <a:avLst/>
          </a:prstGeom>
        </p:spPr>
      </p:pic>
      <p:sp>
        <p:nvSpPr>
          <p:cNvPr id="21" name="Rectangle 20">
            <a:extLst xmlns:a="http://schemas.openxmlformats.org/drawingml/2006/main">
              <a:ext uri="{FF2B5EF4-FFF2-40B4-BE49-F238E27FC236}">
                <a16:creationId xmlns:a16="http://schemas.microsoft.com/office/drawing/2014/main" id="{C287F6CF-5BDC-4BBA-BB60-B25AA48793ED}"/>
              </a:ext>
            </a:extLst>
          </p:cNvPr>
          <p:cNvSpPr>
            <a:spLocks xmlns:a="http://schemas.openxmlformats.org/drawingml/2006/main" noGrp="1"/>
          </p:cNvSpPr>
          <p:nvPr/>
        </p:nvSpPr>
        <p:spPr>
          <a:xfrm xmlns:a="http://schemas.openxmlformats.org/drawingml/2006/main">
            <a:off x="400050" y="1118185"/>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3150" b="1" i="0">
                <a:solidFill>
                  <a:srgbClr val="003B25"/>
                </a:solidFill>
                <a:latin typeface="Arial"/>
                <a:ea typeface="Arial"/>
                <a:cs typeface="Arial"/>
              </a:defRPr>
            </a:pPr>
            <a:r>
              <a:rPr sz="3150" b="1" i="0">
                <a:solidFill>
                  <a:srgbClr val="003B25"/>
                </a:solidFill>
                <a:latin typeface="Arial"/>
                <a:ea typeface="Arial"/>
                <a:cs typeface="Arial"/>
              </a:rPr>
              <a:t>Current Environment</a:t>
            </a:r>
          </a:p>
        </p:txBody>
      </p:sp>
      <p:sp>
        <p:nvSpPr>
          <p:cNvPr id="22" name="Rectangle 21">
            <a:extLst xmlns:a="http://schemas.openxmlformats.org/drawingml/2006/main">
              <a:ext uri="{FF2B5EF4-FFF2-40B4-BE49-F238E27FC236}">
                <a16:creationId xmlns:a16="http://schemas.microsoft.com/office/drawing/2014/main" id="{7181C17D-13DF-4692-BC64-FC2AD05459C9}"/>
              </a:ext>
            </a:extLst>
          </p:cNvPr>
          <p:cNvSpPr>
            <a:spLocks xmlns:a="http://schemas.openxmlformats.org/drawingml/2006/main" noGrp="1"/>
          </p:cNvSpPr>
          <p:nvPr/>
        </p:nvSpPr>
        <p:spPr>
          <a:xfrm xmlns:a="http://schemas.openxmlformats.org/drawingml/2006/main">
            <a:off x="400050" y="1704975"/>
            <a:ext cx="371475" cy="38100"/>
          </a:xfrm>
          <a:prstGeom xmlns:a="http://schemas.openxmlformats.org/drawingml/2006/main" prst="rect">
            <a:avLst/>
          </a:prstGeom>
          <a:solidFill xmlns:a="http://schemas.openxmlformats.org/drawingml/2006/main">
            <a:srgbClr val="F0000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3" name="Rectangle 22">
            <a:extLst xmlns:a="http://schemas.openxmlformats.org/drawingml/2006/main">
              <a:ext uri="{FF2B5EF4-FFF2-40B4-BE49-F238E27FC236}">
                <a16:creationId xmlns:a16="http://schemas.microsoft.com/office/drawing/2014/main" id="{CF1157D8-7FA6-44EE-9ABA-8C1B2D76EB92}"/>
              </a:ext>
            </a:extLst>
          </p:cNvPr>
          <p:cNvSpPr>
            <a:spLocks xmlns:a="http://schemas.openxmlformats.org/drawingml/2006/main" noGrp="1"/>
          </p:cNvSpPr>
          <p:nvPr/>
        </p:nvSpPr>
        <p:spPr>
          <a:xfrm xmlns:a="http://schemas.openxmlformats.org/drawingml/2006/main">
            <a:off x="400050" y="1885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200" b="0" i="0">
                <a:solidFill>
                  <a:srgbClr val="111111"/>
                </a:solidFill>
                <a:latin typeface="Arial"/>
                <a:ea typeface="Arial"/>
                <a:cs typeface="Arial"/>
              </a:defRPr>
            </a:pPr>
            <a:r>
              <a:rPr sz="1200" b="0" i="0">
                <a:solidFill>
                  <a:srgbClr val="111111"/>
                </a:solidFill>
                <a:latin typeface="Arial"/>
                <a:ea typeface="Arial"/>
                <a:cs typeface="Arial"/>
              </a:rPr>
              <a:t>Analysis based on RVTools data shared by the customer.</a:t>
            </a:r>
          </a:p>
        </p:txBody>
      </p:sp>
      <p:sp>
        <p:nvSpPr>
          <p:cNvPr id="24" name="Rounded Rectangle 23">
            <a:extLst xmlns:a="http://schemas.openxmlformats.org/drawingml/2006/main">
              <a:ext uri="{FF2B5EF4-FFF2-40B4-BE49-F238E27FC236}">
                <a16:creationId xmlns:a16="http://schemas.microsoft.com/office/drawing/2014/main" id="{7742F759-7FA3-4F04-BD5F-BC22AB94CD82}"/>
              </a:ext>
            </a:extLst>
          </p:cNvPr>
          <p:cNvSpPr>
            <a:spLocks xmlns:a="http://schemas.openxmlformats.org/drawingml/2006/main" noGrp="1"/>
          </p:cNvSpPr>
          <p:nvPr/>
        </p:nvSpPr>
        <p:spPr>
          <a:xfrm xmlns:a="http://schemas.openxmlformats.org/drawingml/2006/main">
            <a:off x="400050" y="2181225"/>
            <a:ext cx="11334750" cy="2152650"/>
          </a:xfrm>
          <a:prstGeom xmlns:a="http://schemas.openxmlformats.org/drawingml/2006/main" prst="roundRect">
            <a:avLst>
              <a:gd name="adj" fmla="val 3097"/>
            </a:avLst>
          </a:prstGeom>
          <a:solidFill xmlns:a="http://schemas.openxmlformats.org/drawingml/2006/main">
            <a:srgbClr val="FFFFFF"/>
          </a:solidFill>
          <a:ln xmlns:a="http://schemas.openxmlformats.org/drawingml/2006/main" w="9525">
            <a:solidFill>
              <a:srgbClr val="D9DED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25" name="Rounded Rectangle 24">
            <a:extLst xmlns:a="http://schemas.openxmlformats.org/drawingml/2006/main">
              <a:ext uri="{FF2B5EF4-FFF2-40B4-BE49-F238E27FC236}">
                <a16:creationId xmlns:a16="http://schemas.microsoft.com/office/drawing/2014/main" id="{B404DBE3-517A-4268-99D5-24CDE97D5A55}"/>
              </a:ext>
            </a:extLst>
          </p:cNvPr>
          <p:cNvSpPr>
            <a:spLocks xmlns:a="http://schemas.openxmlformats.org/drawingml/2006/main" noGrp="1"/>
          </p:cNvSpPr>
          <p:nvPr/>
        </p:nvSpPr>
        <p:spPr>
          <a:xfrm xmlns:a="http://schemas.openxmlformats.org/drawingml/2006/main">
            <a:off x="400050" y="2181225"/>
            <a:ext cx="11334750" cy="419100"/>
          </a:xfrm>
          <a:prstGeom xmlns:a="http://schemas.openxmlformats.org/drawingml/2006/main" prst="roundRect">
            <a:avLst>
              <a:gd name="adj" fmla="val 15909"/>
            </a:avLst>
          </a:prstGeom>
          <a:gradFill xmlns:a="http://schemas.openxmlformats.org/drawingml/2006/main">
            <a:gsLst>
              <a:gs pos="0">
                <a:srgbClr val="003B25"/>
              </a:gs>
              <a:gs pos="100000">
                <a:srgbClr val="0A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6" name="Rectangle 25">
            <a:extLst xmlns:a="http://schemas.openxmlformats.org/drawingml/2006/main">
              <a:ext uri="{FF2B5EF4-FFF2-40B4-BE49-F238E27FC236}">
                <a16:creationId xmlns:a16="http://schemas.microsoft.com/office/drawing/2014/main" id="{F149E187-8D0C-45BD-B937-45018F857AE1}"/>
              </a:ext>
            </a:extLst>
          </p:cNvPr>
          <p:cNvSpPr>
            <a:spLocks xmlns:a="http://schemas.openxmlformats.org/drawingml/2006/main" noGrp="1"/>
          </p:cNvSpPr>
          <p:nvPr/>
        </p:nvSpPr>
        <p:spPr>
          <a:xfrm xmlns:a="http://schemas.openxmlformats.org/drawingml/2006/main">
            <a:off x="400050" y="2514600"/>
            <a:ext cx="11334750" cy="85725"/>
          </a:xfrm>
          <a:prstGeom xmlns:a="http://schemas.openxmlformats.org/drawingml/2006/main" prst="rect">
            <a:avLst/>
          </a:prstGeom>
          <a:gradFill xmlns:a="http://schemas.openxmlformats.org/drawingml/2006/main">
            <a:gsLst>
              <a:gs pos="0">
                <a:srgbClr val="003B25"/>
              </a:gs>
              <a:gs pos="100000">
                <a:srgbClr val="0A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114" name="Picture 100"/>
          <p:cNvPicPr>
            <a:picLocks xmlns:a="http://schemas.openxmlformats.org/drawingml/2006/main" noChangeAspect="1"/>
          </p:cNvPicPr>
          <p:nvPr/>
        </p:nvPicPr>
        <p:blipFill>
          <a:blip xmlns:r="http://schemas.openxmlformats.org/officeDocument/2006/relationships" xmlns:a="http://schemas.openxmlformats.org/drawingml/2006/main" r:embed="Re56a45f950c54850"/>
          <a:stretch xmlns:a="http://schemas.openxmlformats.org/drawingml/2006/main"/>
        </p:blipFill>
        <p:spPr>
          <a:xfrm xmlns:a="http://schemas.openxmlformats.org/drawingml/2006/main">
            <a:off x="600075" y="2261185"/>
            <a:ext cx="285750" cy="278230"/>
          </a:xfrm>
          <a:prstGeom xmlns:a="http://schemas.openxmlformats.org/drawingml/2006/main" prst="rect">
            <a:avLst/>
          </a:prstGeom>
        </p:spPr>
      </p:pic>
      <p:sp>
        <p:nvSpPr>
          <p:cNvPr id="28" name="editable-current-datacenter">
            <a:extLst xmlns:a="http://schemas.openxmlformats.org/drawingml/2006/main">
              <a:ext uri="{FF2B5EF4-FFF2-40B4-BE49-F238E27FC236}">
                <a16:creationId xmlns:a16="http://schemas.microsoft.com/office/drawing/2014/main" id="{1FCDE930-188D-4EA2-8394-918FC60EA432}"/>
              </a:ext>
            </a:extLst>
          </p:cNvPr>
          <p:cNvSpPr>
            <a:spLocks xmlns:a="http://schemas.openxmlformats.org/drawingml/2006/main" noGrp="1"/>
          </p:cNvSpPr>
          <p:nvPr/>
        </p:nvSpPr>
        <p:spPr>
          <a:xfrm xmlns:a="http://schemas.openxmlformats.org/drawingml/2006/main">
            <a:off x="981075" y="233362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350" b="1" i="0">
                <a:solidFill>
                  <a:srgbClr val="FFFFFF"/>
                </a:solidFill>
                <a:latin typeface="Arial"/>
                <a:ea typeface="Arial"/>
                <a:cs typeface="Arial"/>
              </a:defRPr>
            </a:pPr>
            <a:r>
              <a:rPr sz="1350" b="1" i="0">
                <a:solidFill>
                  <a:srgbClr val="FFFFFF"/>
                </a:solidFill>
                <a:latin typeface="Arial"/>
                <a:ea typeface="Arial"/>
                <a:cs typeface="Arial"/>
              </a:rPr>
              <a:t>Datacenter 1 – CLIENT</a:t>
            </a:r>
          </a:p>
        </p:txBody>
      </p:sp>
      <p:sp>
        <p:nvSpPr>
          <p:cNvPr id="29" name="Straight Connector 28">
            <a:extLst xmlns:a="http://schemas.openxmlformats.org/drawingml/2006/main">
              <a:ext uri="{FF2B5EF4-FFF2-40B4-BE49-F238E27FC236}">
                <a16:creationId xmlns:a16="http://schemas.microsoft.com/office/drawing/2014/main" id="{073F4B3D-A689-436F-BCE6-8235406074F8}"/>
              </a:ext>
            </a:extLst>
          </p:cNvPr>
          <p:cNvSpPr>
            <a:spLocks xmlns:a="http://schemas.openxmlformats.org/drawingml/2006/main" noGrp="1"/>
          </p:cNvSpPr>
          <p:nvPr/>
        </p:nvSpPr>
        <p:spPr>
          <a:xfrm xmlns:a="http://schemas.openxmlformats.org/drawingml/2006/main">
            <a:off x="3200400" y="2857500"/>
            <a:ext cx="0" cy="1028700"/>
          </a:xfrm>
          <a:prstGeom xmlns:a="http://schemas.openxmlformats.org/drawingml/2006/main" prst="line">
            <a:avLst/>
          </a:prstGeom>
          <a:noFill xmlns:a="http://schemas.openxmlformats.org/drawingml/2006/main"/>
          <a:ln xmlns:a="http://schemas.openxmlformats.org/drawingml/2006/main" w="9525">
            <a:solidFill>
              <a:srgbClr val="C9CECA"/>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Straight Connector 29">
            <a:extLst xmlns:a="http://schemas.openxmlformats.org/drawingml/2006/main">
              <a:ext uri="{FF2B5EF4-FFF2-40B4-BE49-F238E27FC236}">
                <a16:creationId xmlns:a16="http://schemas.microsoft.com/office/drawing/2014/main" id="{FB60119E-4550-4C62-A1C7-2490DD52390F}"/>
              </a:ext>
            </a:extLst>
          </p:cNvPr>
          <p:cNvSpPr>
            <a:spLocks xmlns:a="http://schemas.openxmlformats.org/drawingml/2006/main" noGrp="1"/>
          </p:cNvSpPr>
          <p:nvPr/>
        </p:nvSpPr>
        <p:spPr>
          <a:xfrm xmlns:a="http://schemas.openxmlformats.org/drawingml/2006/main">
            <a:off x="5981700" y="2857500"/>
            <a:ext cx="0" cy="1028700"/>
          </a:xfrm>
          <a:prstGeom xmlns:a="http://schemas.openxmlformats.org/drawingml/2006/main" prst="line">
            <a:avLst/>
          </a:prstGeom>
          <a:noFill xmlns:a="http://schemas.openxmlformats.org/drawingml/2006/main"/>
          <a:ln xmlns:a="http://schemas.openxmlformats.org/drawingml/2006/main" w="9525">
            <a:solidFill>
              <a:srgbClr val="C9CECA"/>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Straight Connector 30">
            <a:extLst xmlns:a="http://schemas.openxmlformats.org/drawingml/2006/main">
              <a:ext uri="{FF2B5EF4-FFF2-40B4-BE49-F238E27FC236}">
                <a16:creationId xmlns:a16="http://schemas.microsoft.com/office/drawing/2014/main" id="{635B3C01-9C5E-4AA0-AC7B-F394D0687E36}"/>
              </a:ext>
            </a:extLst>
          </p:cNvPr>
          <p:cNvSpPr>
            <a:spLocks xmlns:a="http://schemas.openxmlformats.org/drawingml/2006/main" noGrp="1"/>
          </p:cNvSpPr>
          <p:nvPr/>
        </p:nvSpPr>
        <p:spPr>
          <a:xfrm xmlns:a="http://schemas.openxmlformats.org/drawingml/2006/main">
            <a:off x="8724900" y="2857500"/>
            <a:ext cx="0" cy="1028700"/>
          </a:xfrm>
          <a:prstGeom xmlns:a="http://schemas.openxmlformats.org/drawingml/2006/main" prst="line">
            <a:avLst/>
          </a:prstGeom>
          <a:noFill xmlns:a="http://schemas.openxmlformats.org/drawingml/2006/main"/>
          <a:ln xmlns:a="http://schemas.openxmlformats.org/drawingml/2006/main" w="9525">
            <a:solidFill>
              <a:srgbClr val="C9CECA"/>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Rectangle 31">
            <a:extLst xmlns:a="http://schemas.openxmlformats.org/drawingml/2006/main">
              <a:ext uri="{FF2B5EF4-FFF2-40B4-BE49-F238E27FC236}">
                <a16:creationId xmlns:a16="http://schemas.microsoft.com/office/drawing/2014/main" id="{B59BC397-1AED-455B-BFE0-6D1460C9CD8C}"/>
              </a:ext>
            </a:extLst>
          </p:cNvPr>
          <p:cNvSpPr>
            <a:spLocks xmlns:a="http://schemas.openxmlformats.org/drawingml/2006/main" noGrp="1"/>
          </p:cNvSpPr>
          <p:nvPr/>
        </p:nvSpPr>
        <p:spPr>
          <a:xfrm xmlns:a="http://schemas.openxmlformats.org/drawingml/2006/main">
            <a:off x="1171575" y="336232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VMs</a:t>
            </a:r>
          </a:p>
        </p:txBody>
      </p:sp>
      <p:sp>
        <p:nvSpPr>
          <p:cNvPr id="33" name="editable-current-vms">
            <a:extLst xmlns:a="http://schemas.openxmlformats.org/drawingml/2006/main">
              <a:ext uri="{FF2B5EF4-FFF2-40B4-BE49-F238E27FC236}">
                <a16:creationId xmlns:a16="http://schemas.microsoft.com/office/drawing/2014/main" id="{127C50D5-D813-45E0-8A65-C431BD0456FE}"/>
              </a:ext>
            </a:extLst>
          </p:cNvPr>
          <p:cNvSpPr>
            <a:spLocks xmlns:a="http://schemas.openxmlformats.org/drawingml/2006/main" noGrp="1"/>
          </p:cNvSpPr>
          <p:nvPr/>
        </p:nvSpPr>
        <p:spPr>
          <a:xfrm xmlns:a="http://schemas.openxmlformats.org/drawingml/2006/main">
            <a:off x="1171575" y="3609975"/>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650" b="1" i="0">
                <a:solidFill>
                  <a:srgbClr val="003B25"/>
                </a:solidFill>
                <a:latin typeface="Arial"/>
                <a:ea typeface="Arial"/>
                <a:cs typeface="Arial"/>
              </a:defRPr>
            </a:pPr>
            <a:r>
              <a:rPr sz="1650" b="1" i="0">
                <a:solidFill>
                  <a:srgbClr val="003B25"/>
                </a:solidFill>
                <a:latin typeface="Arial"/>
                <a:ea typeface="Arial"/>
                <a:cs typeface="Arial"/>
              </a:rPr>
              <a:t>20,100</a:t>
            </a:r>
          </a:p>
        </p:txBody>
      </p:sp>
      <p:pic>
        <p:nvPicPr>
          <p:cNvPr id="121" name="Picture 107"/>
          <p:cNvPicPr>
            <a:picLocks xmlns:a="http://schemas.openxmlformats.org/drawingml/2006/main" noChangeAspect="1"/>
          </p:cNvPicPr>
          <p:nvPr/>
        </p:nvPicPr>
        <p:blipFill>
          <a:blip xmlns:r="http://schemas.openxmlformats.org/officeDocument/2006/relationships" xmlns:a="http://schemas.openxmlformats.org/drawingml/2006/main" r:embed="R91fc3da701794efc"/>
          <a:stretch xmlns:a="http://schemas.openxmlformats.org/drawingml/2006/main"/>
        </p:blipFill>
        <p:spPr>
          <a:xfrm xmlns:a="http://schemas.openxmlformats.org/drawingml/2006/main">
            <a:off x="1590675" y="2781300"/>
            <a:ext cx="495300" cy="495300"/>
          </a:xfrm>
          <a:prstGeom xmlns:a="http://schemas.openxmlformats.org/drawingml/2006/main" prst="rect">
            <a:avLst/>
          </a:prstGeom>
        </p:spPr>
      </p:pic>
      <p:sp>
        <p:nvSpPr>
          <p:cNvPr id="35" name="Rectangle 34">
            <a:extLst xmlns:a="http://schemas.openxmlformats.org/drawingml/2006/main">
              <a:ext uri="{FF2B5EF4-FFF2-40B4-BE49-F238E27FC236}">
                <a16:creationId xmlns:a16="http://schemas.microsoft.com/office/drawing/2014/main" id="{CCA77633-015F-457C-984D-6673C096DB92}"/>
              </a:ext>
            </a:extLst>
          </p:cNvPr>
          <p:cNvSpPr>
            <a:spLocks xmlns:a="http://schemas.openxmlformats.org/drawingml/2006/main" noGrp="1"/>
          </p:cNvSpPr>
          <p:nvPr/>
        </p:nvSpPr>
        <p:spPr>
          <a:xfrm xmlns:a="http://schemas.openxmlformats.org/drawingml/2006/main">
            <a:off x="3952875" y="336232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vCPUs</a:t>
            </a:r>
          </a:p>
        </p:txBody>
      </p:sp>
      <p:sp>
        <p:nvSpPr>
          <p:cNvPr id="36" name="editable-current-vcpus">
            <a:extLst xmlns:a="http://schemas.openxmlformats.org/drawingml/2006/main">
              <a:ext uri="{FF2B5EF4-FFF2-40B4-BE49-F238E27FC236}">
                <a16:creationId xmlns:a16="http://schemas.microsoft.com/office/drawing/2014/main" id="{D3349B43-D610-4795-98E9-37BED54D9ECE}"/>
              </a:ext>
            </a:extLst>
          </p:cNvPr>
          <p:cNvSpPr>
            <a:spLocks xmlns:a="http://schemas.openxmlformats.org/drawingml/2006/main" noGrp="1"/>
          </p:cNvSpPr>
          <p:nvPr/>
        </p:nvSpPr>
        <p:spPr>
          <a:xfrm xmlns:a="http://schemas.openxmlformats.org/drawingml/2006/main">
            <a:off x="3952875" y="3609975"/>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650" b="1" i="0">
                <a:solidFill>
                  <a:srgbClr val="003B25"/>
                </a:solidFill>
                <a:latin typeface="Arial"/>
                <a:ea typeface="Arial"/>
                <a:cs typeface="Arial"/>
              </a:defRPr>
            </a:pPr>
            <a:r>
              <a:rPr sz="1650" b="1" i="0">
                <a:solidFill>
                  <a:srgbClr val="003B25"/>
                </a:solidFill>
                <a:latin typeface="Arial"/>
                <a:ea typeface="Arial"/>
                <a:cs typeface="Arial"/>
              </a:rPr>
              <a:t>3,000</a:t>
            </a:r>
          </a:p>
        </p:txBody>
      </p:sp>
      <p:pic>
        <p:nvPicPr>
          <p:cNvPr id="124" name="Picture 110"/>
          <p:cNvPicPr>
            <a:picLocks xmlns:a="http://schemas.openxmlformats.org/drawingml/2006/main" noChangeAspect="1"/>
          </p:cNvPicPr>
          <p:nvPr/>
        </p:nvPicPr>
        <p:blipFill>
          <a:blip xmlns:r="http://schemas.openxmlformats.org/officeDocument/2006/relationships" xmlns:a="http://schemas.openxmlformats.org/drawingml/2006/main" r:embed="R1d931288be874032"/>
          <a:stretch xmlns:a="http://schemas.openxmlformats.org/drawingml/2006/main"/>
        </p:blipFill>
        <p:spPr>
          <a:xfrm xmlns:a="http://schemas.openxmlformats.org/drawingml/2006/main">
            <a:off x="4371975" y="2781300"/>
            <a:ext cx="495300" cy="495300"/>
          </a:xfrm>
          <a:prstGeom xmlns:a="http://schemas.openxmlformats.org/drawingml/2006/main" prst="rect">
            <a:avLst/>
          </a:prstGeom>
        </p:spPr>
      </p:pic>
      <p:sp>
        <p:nvSpPr>
          <p:cNvPr id="38" name="Rectangle 37">
            <a:extLst xmlns:a="http://schemas.openxmlformats.org/drawingml/2006/main">
              <a:ext uri="{FF2B5EF4-FFF2-40B4-BE49-F238E27FC236}">
                <a16:creationId xmlns:a16="http://schemas.microsoft.com/office/drawing/2014/main" id="{52A61E4A-8FF4-4FA2-BD1B-74AD7A47DE93}"/>
              </a:ext>
            </a:extLst>
          </p:cNvPr>
          <p:cNvSpPr>
            <a:spLocks xmlns:a="http://schemas.openxmlformats.org/drawingml/2006/main" noGrp="1"/>
          </p:cNvSpPr>
          <p:nvPr/>
        </p:nvSpPr>
        <p:spPr>
          <a:xfrm xmlns:a="http://schemas.openxmlformats.org/drawingml/2006/main">
            <a:off x="6696075" y="336232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vRAM (GB)</a:t>
            </a:r>
          </a:p>
        </p:txBody>
      </p:sp>
      <p:sp>
        <p:nvSpPr>
          <p:cNvPr id="39" name="editable-current-vram">
            <a:extLst xmlns:a="http://schemas.openxmlformats.org/drawingml/2006/main">
              <a:ext uri="{FF2B5EF4-FFF2-40B4-BE49-F238E27FC236}">
                <a16:creationId xmlns:a16="http://schemas.microsoft.com/office/drawing/2014/main" id="{90A624D4-C31B-42AE-A588-376259BB8A49}"/>
              </a:ext>
            </a:extLst>
          </p:cNvPr>
          <p:cNvSpPr>
            <a:spLocks xmlns:a="http://schemas.openxmlformats.org/drawingml/2006/main" noGrp="1"/>
          </p:cNvSpPr>
          <p:nvPr/>
        </p:nvSpPr>
        <p:spPr>
          <a:xfrm xmlns:a="http://schemas.openxmlformats.org/drawingml/2006/main">
            <a:off x="6696075" y="3609975"/>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650" b="1" i="0">
                <a:solidFill>
                  <a:srgbClr val="003B25"/>
                </a:solidFill>
                <a:latin typeface="Arial"/>
                <a:ea typeface="Arial"/>
                <a:cs typeface="Arial"/>
              </a:defRPr>
            </a:pPr>
            <a:r>
              <a:rPr sz="1650" b="1" i="0">
                <a:solidFill>
                  <a:srgbClr val="003B25"/>
                </a:solidFill>
                <a:latin typeface="Arial"/>
                <a:ea typeface="Arial"/>
                <a:cs typeface="Arial"/>
              </a:rPr>
              <a:t>30,000</a:t>
            </a:r>
          </a:p>
        </p:txBody>
      </p:sp>
      <p:pic>
        <p:nvPicPr>
          <p:cNvPr id="127" name="Picture 113"/>
          <p:cNvPicPr>
            <a:picLocks xmlns:a="http://schemas.openxmlformats.org/drawingml/2006/main" noChangeAspect="1"/>
          </p:cNvPicPr>
          <p:nvPr/>
        </p:nvPicPr>
        <p:blipFill>
          <a:blip xmlns:r="http://schemas.openxmlformats.org/officeDocument/2006/relationships" xmlns:a="http://schemas.openxmlformats.org/drawingml/2006/main" r:embed="Rddfdbea1b0ce4ce7"/>
          <a:stretch xmlns:a="http://schemas.openxmlformats.org/drawingml/2006/main"/>
        </p:blipFill>
        <p:spPr>
          <a:xfrm xmlns:a="http://schemas.openxmlformats.org/drawingml/2006/main">
            <a:off x="7115175" y="2781300"/>
            <a:ext cx="495300" cy="495300"/>
          </a:xfrm>
          <a:prstGeom xmlns:a="http://schemas.openxmlformats.org/drawingml/2006/main" prst="rect">
            <a:avLst/>
          </a:prstGeom>
        </p:spPr>
      </p:pic>
      <p:sp>
        <p:nvSpPr>
          <p:cNvPr id="41" name="Rectangle 40">
            <a:extLst xmlns:a="http://schemas.openxmlformats.org/drawingml/2006/main">
              <a:ext uri="{FF2B5EF4-FFF2-40B4-BE49-F238E27FC236}">
                <a16:creationId xmlns:a16="http://schemas.microsoft.com/office/drawing/2014/main" id="{8F1EB62F-0498-4D60-9534-8F4AE5E5A7C5}"/>
              </a:ext>
            </a:extLst>
          </p:cNvPr>
          <p:cNvSpPr>
            <a:spLocks xmlns:a="http://schemas.openxmlformats.org/drawingml/2006/main" noGrp="1"/>
          </p:cNvSpPr>
          <p:nvPr/>
        </p:nvSpPr>
        <p:spPr>
          <a:xfrm xmlns:a="http://schemas.openxmlformats.org/drawingml/2006/main">
            <a:off x="9448800" y="336232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Storage (TB)</a:t>
            </a:r>
          </a:p>
        </p:txBody>
      </p:sp>
      <p:sp>
        <p:nvSpPr>
          <p:cNvPr id="42" name="editable-current-storage">
            <a:extLst xmlns:a="http://schemas.openxmlformats.org/drawingml/2006/main">
              <a:ext uri="{FF2B5EF4-FFF2-40B4-BE49-F238E27FC236}">
                <a16:creationId xmlns:a16="http://schemas.microsoft.com/office/drawing/2014/main" id="{84830E81-2535-4FE2-8239-D8779C43C1A8}"/>
              </a:ext>
            </a:extLst>
          </p:cNvPr>
          <p:cNvSpPr>
            <a:spLocks xmlns:a="http://schemas.openxmlformats.org/drawingml/2006/main" noGrp="1"/>
          </p:cNvSpPr>
          <p:nvPr/>
        </p:nvSpPr>
        <p:spPr>
          <a:xfrm xmlns:a="http://schemas.openxmlformats.org/drawingml/2006/main">
            <a:off x="9448800" y="3609975"/>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650" b="1" i="0">
                <a:solidFill>
                  <a:srgbClr val="003B25"/>
                </a:solidFill>
                <a:latin typeface="Arial"/>
                <a:ea typeface="Arial"/>
                <a:cs typeface="Arial"/>
              </a:defRPr>
            </a:pPr>
            <a:r>
              <a:rPr sz="1650" b="1" i="0">
                <a:solidFill>
                  <a:srgbClr val="003B25"/>
                </a:solidFill>
                <a:latin typeface="Arial"/>
                <a:ea typeface="Arial"/>
                <a:cs typeface="Arial"/>
              </a:rPr>
              <a:t>210</a:t>
            </a:r>
          </a:p>
        </p:txBody>
      </p:sp>
      <p:pic>
        <p:nvPicPr>
          <p:cNvPr id="130" name="Picture 116"/>
          <p:cNvPicPr>
            <a:picLocks xmlns:a="http://schemas.openxmlformats.org/drawingml/2006/main" noChangeAspect="1"/>
          </p:cNvPicPr>
          <p:nvPr/>
        </p:nvPicPr>
        <p:blipFill>
          <a:blip xmlns:r="http://schemas.openxmlformats.org/officeDocument/2006/relationships" xmlns:a="http://schemas.openxmlformats.org/drawingml/2006/main" r:embed="R591b0cecd9674850"/>
          <a:stretch xmlns:a="http://schemas.openxmlformats.org/drawingml/2006/main"/>
        </p:blipFill>
        <p:spPr>
          <a:xfrm xmlns:a="http://schemas.openxmlformats.org/drawingml/2006/main">
            <a:off x="9867900" y="2781300"/>
            <a:ext cx="495300" cy="495300"/>
          </a:xfrm>
          <a:prstGeom xmlns:a="http://schemas.openxmlformats.org/drawingml/2006/main" prst="rect">
            <a:avLst/>
          </a:prstGeom>
        </p:spPr>
      </p:pic>
      <p:sp>
        <p:nvSpPr>
          <p:cNvPr id="44" name="editable-current-powered-on">
            <a:extLst xmlns:a="http://schemas.openxmlformats.org/drawingml/2006/main">
              <a:ext uri="{FF2B5EF4-FFF2-40B4-BE49-F238E27FC236}">
                <a16:creationId xmlns:a16="http://schemas.microsoft.com/office/drawing/2014/main" id="{40B2A91E-AAE2-4FEB-AD52-D18E23D0EC0B}"/>
              </a:ext>
            </a:extLst>
          </p:cNvPr>
          <p:cNvSpPr>
            <a:spLocks xmlns:a="http://schemas.openxmlformats.org/drawingml/2006/main" noGrp="1"/>
          </p:cNvSpPr>
          <p:nvPr/>
        </p:nvSpPr>
        <p:spPr>
          <a:xfrm xmlns:a="http://schemas.openxmlformats.org/drawingml/2006/main">
            <a:off x="1323975" y="3876675"/>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r">
              <a:lnSpc>
                <a:spcPct val="100000"/>
              </a:lnSpc>
              <a:buNone/>
              <a:defRPr sz="825" b="0" i="0">
                <a:solidFill>
                  <a:srgbClr val="111111"/>
                </a:solidFill>
                <a:latin typeface="Arial"/>
                <a:ea typeface="Arial"/>
                <a:cs typeface="Arial"/>
              </a:defRPr>
            </a:pPr>
            <a:r>
              <a:rPr sz="825" b="0" i="0">
                <a:solidFill>
                  <a:srgbClr val="111111"/>
                </a:solidFill>
                <a:latin typeface="Arial"/>
                <a:ea typeface="Arial"/>
                <a:cs typeface="Arial"/>
              </a:rPr>
              <a:t>18,400</a:t>
            </a:r>
          </a:p>
        </p:txBody>
      </p:sp>
      <p:sp>
        <p:nvSpPr>
          <p:cNvPr id="45" name="Rectangle 44">
            <a:extLst xmlns:a="http://schemas.openxmlformats.org/drawingml/2006/main">
              <a:ext uri="{FF2B5EF4-FFF2-40B4-BE49-F238E27FC236}">
                <a16:creationId xmlns:a16="http://schemas.microsoft.com/office/drawing/2014/main" id="{277AB89B-0977-4880-A97D-D7648C371A3B}"/>
              </a:ext>
            </a:extLst>
          </p:cNvPr>
          <p:cNvSpPr>
            <a:spLocks xmlns:a="http://schemas.openxmlformats.org/drawingml/2006/main" noGrp="1"/>
          </p:cNvSpPr>
          <p:nvPr/>
        </p:nvSpPr>
        <p:spPr>
          <a:xfrm xmlns:a="http://schemas.openxmlformats.org/drawingml/2006/main">
            <a:off x="1800225" y="3876675"/>
            <a:ext cx="809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Powered On</a:t>
            </a:r>
          </a:p>
        </p:txBody>
      </p:sp>
      <p:sp>
        <p:nvSpPr>
          <p:cNvPr id="46" name="editable-current-powered-off">
            <a:extLst xmlns:a="http://schemas.openxmlformats.org/drawingml/2006/main">
              <a:ext uri="{FF2B5EF4-FFF2-40B4-BE49-F238E27FC236}">
                <a16:creationId xmlns:a16="http://schemas.microsoft.com/office/drawing/2014/main" id="{F7F48385-3BC4-475A-A935-67C101D814FB}"/>
              </a:ext>
            </a:extLst>
          </p:cNvPr>
          <p:cNvSpPr>
            <a:spLocks xmlns:a="http://schemas.openxmlformats.org/drawingml/2006/main" noGrp="1"/>
          </p:cNvSpPr>
          <p:nvPr/>
        </p:nvSpPr>
        <p:spPr>
          <a:xfrm xmlns:a="http://schemas.openxmlformats.org/drawingml/2006/main">
            <a:off x="1323975" y="4067175"/>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r">
              <a:lnSpc>
                <a:spcPct val="100000"/>
              </a:lnSpc>
              <a:buNone/>
              <a:defRPr sz="825" b="0" i="0">
                <a:solidFill>
                  <a:srgbClr val="111111"/>
                </a:solidFill>
                <a:latin typeface="Arial"/>
                <a:ea typeface="Arial"/>
                <a:cs typeface="Arial"/>
              </a:defRPr>
            </a:pPr>
            <a:r>
              <a:rPr sz="825" b="0" i="0">
                <a:solidFill>
                  <a:srgbClr val="111111"/>
                </a:solidFill>
                <a:latin typeface="Arial"/>
                <a:ea typeface="Arial"/>
                <a:cs typeface="Arial"/>
              </a:rPr>
              <a:t>1,700</a:t>
            </a:r>
          </a:p>
        </p:txBody>
      </p:sp>
      <p:sp>
        <p:nvSpPr>
          <p:cNvPr id="47" name="Rectangle 46">
            <a:extLst xmlns:a="http://schemas.openxmlformats.org/drawingml/2006/main">
              <a:ext uri="{FF2B5EF4-FFF2-40B4-BE49-F238E27FC236}">
                <a16:creationId xmlns:a16="http://schemas.microsoft.com/office/drawing/2014/main" id="{4F72CCE0-CF33-447A-9A99-12F0DB96E23B}"/>
              </a:ext>
            </a:extLst>
          </p:cNvPr>
          <p:cNvSpPr>
            <a:spLocks xmlns:a="http://schemas.openxmlformats.org/drawingml/2006/main" noGrp="1"/>
          </p:cNvSpPr>
          <p:nvPr/>
        </p:nvSpPr>
        <p:spPr>
          <a:xfrm xmlns:a="http://schemas.openxmlformats.org/drawingml/2006/main">
            <a:off x="1800225" y="4067175"/>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Powered Off</a:t>
            </a:r>
          </a:p>
        </p:txBody>
      </p:sp>
      <p:sp>
        <p:nvSpPr>
          <p:cNvPr id="48" name="Rounded Rectangle 47">
            <a:extLst xmlns:a="http://schemas.openxmlformats.org/drawingml/2006/main">
              <a:ext uri="{FF2B5EF4-FFF2-40B4-BE49-F238E27FC236}">
                <a16:creationId xmlns:a16="http://schemas.microsoft.com/office/drawing/2014/main" id="{298F7E7A-D055-437F-B62D-B044692E6F88}"/>
              </a:ext>
            </a:extLst>
          </p:cNvPr>
          <p:cNvSpPr>
            <a:spLocks xmlns:a="http://schemas.openxmlformats.org/drawingml/2006/main" noGrp="1"/>
          </p:cNvSpPr>
          <p:nvPr/>
        </p:nvSpPr>
        <p:spPr>
          <a:xfrm xmlns:a="http://schemas.openxmlformats.org/drawingml/2006/main">
            <a:off x="400050" y="4486275"/>
            <a:ext cx="11334750" cy="1009650"/>
          </a:xfrm>
          <a:prstGeom xmlns:a="http://schemas.openxmlformats.org/drawingml/2006/main" prst="roundRect">
            <a:avLst>
              <a:gd name="adj" fmla="val 6604"/>
            </a:avLst>
          </a:prstGeom>
          <a:solidFill xmlns:a="http://schemas.openxmlformats.org/drawingml/2006/main">
            <a:srgbClr val="F3F7F5"/>
          </a:solidFill>
          <a:ln xmlns:a="http://schemas.openxmlformats.org/drawingml/2006/main" w="9525">
            <a:solidFill>
              <a:srgbClr val="D9DED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49" name="Rounded Rectangle 48">
            <a:extLst xmlns:a="http://schemas.openxmlformats.org/drawingml/2006/main">
              <a:ext uri="{FF2B5EF4-FFF2-40B4-BE49-F238E27FC236}">
                <a16:creationId xmlns:a16="http://schemas.microsoft.com/office/drawing/2014/main" id="{F92C2AB9-B877-4DDB-BCDD-C92BBFD94A50}"/>
              </a:ext>
            </a:extLst>
          </p:cNvPr>
          <p:cNvSpPr>
            <a:spLocks xmlns:a="http://schemas.openxmlformats.org/drawingml/2006/main" noGrp="1"/>
          </p:cNvSpPr>
          <p:nvPr/>
        </p:nvSpPr>
        <p:spPr>
          <a:xfrm xmlns:a="http://schemas.openxmlformats.org/drawingml/2006/main">
            <a:off x="400050" y="4486275"/>
            <a:ext cx="1819275" cy="1009650"/>
          </a:xfrm>
          <a:prstGeom xmlns:a="http://schemas.openxmlformats.org/drawingml/2006/main" prst="roundRect">
            <a:avLst>
              <a:gd name="adj" fmla="val 6604"/>
            </a:avLst>
          </a:prstGeom>
          <a:gradFill xmlns:a="http://schemas.openxmlformats.org/drawingml/2006/main">
            <a:gsLst>
              <a:gs pos="0">
                <a:srgbClr val="003B25"/>
              </a:gs>
              <a:gs pos="100000">
                <a:srgbClr val="0A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0" name="Rectangle 49">
            <a:extLst xmlns:a="http://schemas.openxmlformats.org/drawingml/2006/main">
              <a:ext uri="{FF2B5EF4-FFF2-40B4-BE49-F238E27FC236}">
                <a16:creationId xmlns:a16="http://schemas.microsoft.com/office/drawing/2014/main" id="{47D07B68-7D3B-4636-AEC8-6CB4A4FC4595}"/>
              </a:ext>
            </a:extLst>
          </p:cNvPr>
          <p:cNvSpPr>
            <a:spLocks xmlns:a="http://schemas.openxmlformats.org/drawingml/2006/main" noGrp="1"/>
          </p:cNvSpPr>
          <p:nvPr/>
        </p:nvSpPr>
        <p:spPr>
          <a:xfrm xmlns:a="http://schemas.openxmlformats.org/drawingml/2006/main">
            <a:off x="1447800" y="4486275"/>
            <a:ext cx="771525" cy="1009650"/>
          </a:xfrm>
          <a:prstGeom xmlns:a="http://schemas.openxmlformats.org/drawingml/2006/main" prst="rect">
            <a:avLst/>
          </a:prstGeom>
          <a:gradFill xmlns:a="http://schemas.openxmlformats.org/drawingml/2006/main">
            <a:gsLst>
              <a:gs pos="0">
                <a:srgbClr val="003B25"/>
              </a:gs>
              <a:gs pos="100000">
                <a:srgbClr val="0A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138" name="Picture 124"/>
          <p:cNvPicPr>
            <a:picLocks xmlns:a="http://schemas.openxmlformats.org/drawingml/2006/main" noChangeAspect="1"/>
          </p:cNvPicPr>
          <p:nvPr/>
        </p:nvPicPr>
        <p:blipFill>
          <a:blip xmlns:r="http://schemas.openxmlformats.org/officeDocument/2006/relationships" xmlns:a="http://schemas.openxmlformats.org/drawingml/2006/main" r:embed="R953c823e0aab4753"/>
          <a:stretch xmlns:a="http://schemas.openxmlformats.org/drawingml/2006/main"/>
        </p:blipFill>
        <p:spPr>
          <a:xfrm xmlns:a="http://schemas.openxmlformats.org/drawingml/2006/main">
            <a:off x="1076325" y="4671030"/>
            <a:ext cx="476250" cy="468690"/>
          </a:xfrm>
          <a:prstGeom xmlns:a="http://schemas.openxmlformats.org/drawingml/2006/main" prst="rect">
            <a:avLst/>
          </a:prstGeom>
        </p:spPr>
      </p:pic>
      <p:sp>
        <p:nvSpPr>
          <p:cNvPr id="52" name="Rectangle 51">
            <a:extLst xmlns:a="http://schemas.openxmlformats.org/drawingml/2006/main">
              <a:ext uri="{FF2B5EF4-FFF2-40B4-BE49-F238E27FC236}">
                <a16:creationId xmlns:a16="http://schemas.microsoft.com/office/drawing/2014/main" id="{7135EB0C-DEDC-471B-8F07-A8F41F1E2D6A}"/>
              </a:ext>
            </a:extLst>
          </p:cNvPr>
          <p:cNvSpPr>
            <a:spLocks xmlns:a="http://schemas.openxmlformats.org/drawingml/2006/main" noGrp="1"/>
          </p:cNvSpPr>
          <p:nvPr/>
        </p:nvSpPr>
        <p:spPr>
          <a:xfrm xmlns:a="http://schemas.openxmlformats.org/drawingml/2006/main">
            <a:off x="666750" y="5162550"/>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200" b="1" i="0">
                <a:solidFill>
                  <a:srgbClr val="FFFFFF"/>
                </a:solidFill>
                <a:latin typeface="Arial"/>
                <a:ea typeface="Arial"/>
                <a:cs typeface="Arial"/>
              </a:defRPr>
            </a:pPr>
            <a:r>
              <a:rPr sz="1200" b="1" i="0">
                <a:solidFill>
                  <a:srgbClr val="FFFFFF"/>
                </a:solidFill>
                <a:latin typeface="Arial"/>
                <a:ea typeface="Arial"/>
                <a:cs typeface="Arial"/>
              </a:rPr>
              <a:t>Total Environment</a:t>
            </a:r>
          </a:p>
        </p:txBody>
      </p:sp>
      <p:sp>
        <p:nvSpPr>
          <p:cNvPr id="53" name="Straight Connector 52">
            <a:extLst xmlns:a="http://schemas.openxmlformats.org/drawingml/2006/main">
              <a:ext uri="{FF2B5EF4-FFF2-40B4-BE49-F238E27FC236}">
                <a16:creationId xmlns:a16="http://schemas.microsoft.com/office/drawing/2014/main" id="{6A04919F-C898-4046-9165-502C7FD7BAF0}"/>
              </a:ext>
            </a:extLst>
          </p:cNvPr>
          <p:cNvSpPr>
            <a:spLocks xmlns:a="http://schemas.openxmlformats.org/drawingml/2006/main" noGrp="1"/>
          </p:cNvSpPr>
          <p:nvPr/>
        </p:nvSpPr>
        <p:spPr>
          <a:xfrm xmlns:a="http://schemas.openxmlformats.org/drawingml/2006/main">
            <a:off x="4686300" y="4714875"/>
            <a:ext cx="0" cy="590550"/>
          </a:xfrm>
          <a:prstGeom xmlns:a="http://schemas.openxmlformats.org/drawingml/2006/main" prst="line">
            <a:avLst/>
          </a:prstGeom>
          <a:noFill xmlns:a="http://schemas.openxmlformats.org/drawingml/2006/main"/>
          <a:ln xmlns:a="http://schemas.openxmlformats.org/drawingml/2006/main" w="9525">
            <a:solidFill>
              <a:srgbClr val="C9CECA"/>
            </a:solidFill>
            <a:prstDash val="solid"/>
          </a:ln>
        </p:spPr>
        <p:txBody>
          <a:bodyPr xmlns:a="http://schemas.openxmlformats.org/drawingml/2006/main"/>
          <a:lstStyle xmlns:a="http://schemas.openxmlformats.org/drawingml/2006/main"/>
          <a:p xmlns:a="http://schemas.openxmlformats.org/drawingml/2006/main">
            <a:endParaRPr/>
          </a:p>
        </p:txBody>
      </p:sp>
      <p:sp>
        <p:nvSpPr>
          <p:cNvPr id="54" name="Straight Connector 53">
            <a:extLst xmlns:a="http://schemas.openxmlformats.org/drawingml/2006/main">
              <a:ext uri="{FF2B5EF4-FFF2-40B4-BE49-F238E27FC236}">
                <a16:creationId xmlns:a16="http://schemas.microsoft.com/office/drawing/2014/main" id="{279DB36C-681C-4FD2-A588-9A4BF85211F2}"/>
              </a:ext>
            </a:extLst>
          </p:cNvPr>
          <p:cNvSpPr>
            <a:spLocks xmlns:a="http://schemas.openxmlformats.org/drawingml/2006/main" noGrp="1"/>
          </p:cNvSpPr>
          <p:nvPr/>
        </p:nvSpPr>
        <p:spPr>
          <a:xfrm xmlns:a="http://schemas.openxmlformats.org/drawingml/2006/main">
            <a:off x="7029450" y="4714875"/>
            <a:ext cx="0" cy="590550"/>
          </a:xfrm>
          <a:prstGeom xmlns:a="http://schemas.openxmlformats.org/drawingml/2006/main" prst="line">
            <a:avLst/>
          </a:prstGeom>
          <a:noFill xmlns:a="http://schemas.openxmlformats.org/drawingml/2006/main"/>
          <a:ln xmlns:a="http://schemas.openxmlformats.org/drawingml/2006/main" w="9525">
            <a:solidFill>
              <a:srgbClr val="C9CECA"/>
            </a:solidFill>
            <a:prstDash val="solid"/>
          </a:ln>
        </p:spPr>
        <p:txBody>
          <a:bodyPr xmlns:a="http://schemas.openxmlformats.org/drawingml/2006/main"/>
          <a:lstStyle xmlns:a="http://schemas.openxmlformats.org/drawingml/2006/main"/>
          <a:p xmlns:a="http://schemas.openxmlformats.org/drawingml/2006/main">
            <a:endParaRPr/>
          </a:p>
        </p:txBody>
      </p:sp>
      <p:sp>
        <p:nvSpPr>
          <p:cNvPr id="55" name="Straight Connector 54">
            <a:extLst xmlns:a="http://schemas.openxmlformats.org/drawingml/2006/main">
              <a:ext uri="{FF2B5EF4-FFF2-40B4-BE49-F238E27FC236}">
                <a16:creationId xmlns:a16="http://schemas.microsoft.com/office/drawing/2014/main" id="{C8F92710-B721-4F19-B1ED-A9D5B1B54C85}"/>
              </a:ext>
            </a:extLst>
          </p:cNvPr>
          <p:cNvSpPr>
            <a:spLocks xmlns:a="http://schemas.openxmlformats.org/drawingml/2006/main" noGrp="1"/>
          </p:cNvSpPr>
          <p:nvPr/>
        </p:nvSpPr>
        <p:spPr>
          <a:xfrm xmlns:a="http://schemas.openxmlformats.org/drawingml/2006/main">
            <a:off x="9486900" y="4714875"/>
            <a:ext cx="0" cy="590550"/>
          </a:xfrm>
          <a:prstGeom xmlns:a="http://schemas.openxmlformats.org/drawingml/2006/main" prst="line">
            <a:avLst/>
          </a:prstGeom>
          <a:noFill xmlns:a="http://schemas.openxmlformats.org/drawingml/2006/main"/>
          <a:ln xmlns:a="http://schemas.openxmlformats.org/drawingml/2006/main" w="9525">
            <a:solidFill>
              <a:srgbClr val="C9CECA"/>
            </a:solidFill>
            <a:prstDash val="solid"/>
          </a:ln>
        </p:spPr>
        <p:txBody>
          <a:bodyPr xmlns:a="http://schemas.openxmlformats.org/drawingml/2006/main"/>
          <a:lstStyle xmlns:a="http://schemas.openxmlformats.org/drawingml/2006/main"/>
          <a:p xmlns:a="http://schemas.openxmlformats.org/drawingml/2006/main">
            <a:endParaRPr/>
          </a:p>
        </p:txBody>
      </p:sp>
      <p:sp>
        <p:nvSpPr>
          <p:cNvPr id="56" name="Rectangle 55">
            <a:extLst xmlns:a="http://schemas.openxmlformats.org/drawingml/2006/main">
              <a:ext uri="{FF2B5EF4-FFF2-40B4-BE49-F238E27FC236}">
                <a16:creationId xmlns:a16="http://schemas.microsoft.com/office/drawing/2014/main" id="{347AE0DB-5FC1-4C08-A3B9-5D2E17AF0014}"/>
              </a:ext>
            </a:extLst>
          </p:cNvPr>
          <p:cNvSpPr>
            <a:spLocks xmlns:a="http://schemas.openxmlformats.org/drawingml/2006/main" noGrp="1"/>
          </p:cNvSpPr>
          <p:nvPr/>
        </p:nvSpPr>
        <p:spPr>
          <a:xfrm xmlns:a="http://schemas.openxmlformats.org/drawingml/2006/main">
            <a:off x="3343275" y="47148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Total VMs</a:t>
            </a:r>
          </a:p>
        </p:txBody>
      </p:sp>
      <p:sp>
        <p:nvSpPr>
          <p:cNvPr id="57" name="editable-total-vms">
            <a:extLst xmlns:a="http://schemas.openxmlformats.org/drawingml/2006/main">
              <a:ext uri="{FF2B5EF4-FFF2-40B4-BE49-F238E27FC236}">
                <a16:creationId xmlns:a16="http://schemas.microsoft.com/office/drawing/2014/main" id="{51D8B33B-988C-462B-91B7-386F22B8BCA6}"/>
              </a:ext>
            </a:extLst>
          </p:cNvPr>
          <p:cNvSpPr>
            <a:spLocks xmlns:a="http://schemas.openxmlformats.org/drawingml/2006/main" noGrp="1"/>
          </p:cNvSpPr>
          <p:nvPr/>
        </p:nvSpPr>
        <p:spPr>
          <a:xfrm xmlns:a="http://schemas.openxmlformats.org/drawingml/2006/main">
            <a:off x="3343275" y="4972050"/>
            <a:ext cx="1143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725" b="1" i="0">
                <a:solidFill>
                  <a:srgbClr val="003B25"/>
                </a:solidFill>
                <a:latin typeface="Arial"/>
                <a:ea typeface="Arial"/>
                <a:cs typeface="Arial"/>
              </a:defRPr>
            </a:pPr>
            <a:r>
              <a:rPr sz="1725" b="1" i="0">
                <a:solidFill>
                  <a:srgbClr val="003B25"/>
                </a:solidFill>
                <a:latin typeface="Arial"/>
                <a:ea typeface="Arial"/>
                <a:cs typeface="Arial"/>
              </a:rPr>
              <a:t>20,100</a:t>
            </a:r>
          </a:p>
        </p:txBody>
      </p:sp>
      <p:pic>
        <p:nvPicPr>
          <p:cNvPr id="145" name="Picture 131"/>
          <p:cNvPicPr>
            <a:picLocks xmlns:a="http://schemas.openxmlformats.org/drawingml/2006/main" noChangeAspect="1"/>
          </p:cNvPicPr>
          <p:nvPr/>
        </p:nvPicPr>
        <p:blipFill>
          <a:blip xmlns:r="http://schemas.openxmlformats.org/officeDocument/2006/relationships" xmlns:a="http://schemas.openxmlformats.org/drawingml/2006/main" r:embed="R0be2e03510264b14"/>
          <a:stretch xmlns:a="http://schemas.openxmlformats.org/drawingml/2006/main"/>
        </p:blipFill>
        <p:spPr>
          <a:xfrm xmlns:a="http://schemas.openxmlformats.org/drawingml/2006/main">
            <a:off x="2887742" y="4905375"/>
            <a:ext cx="396716" cy="323850"/>
          </a:xfrm>
          <a:prstGeom xmlns:a="http://schemas.openxmlformats.org/drawingml/2006/main" prst="rect">
            <a:avLst/>
          </a:prstGeom>
        </p:spPr>
      </p:pic>
      <p:sp>
        <p:nvSpPr>
          <p:cNvPr id="59" name="editable-total-powered-on">
            <a:extLst xmlns:a="http://schemas.openxmlformats.org/drawingml/2006/main">
              <a:ext uri="{FF2B5EF4-FFF2-40B4-BE49-F238E27FC236}">
                <a16:creationId xmlns:a16="http://schemas.microsoft.com/office/drawing/2014/main" id="{8DF81488-E310-4D2F-9D0F-A65D6E2C5976}"/>
              </a:ext>
            </a:extLst>
          </p:cNvPr>
          <p:cNvSpPr>
            <a:spLocks xmlns:a="http://schemas.openxmlformats.org/drawingml/2006/main" noGrp="1"/>
          </p:cNvSpPr>
          <p:nvPr/>
        </p:nvSpPr>
        <p:spPr>
          <a:xfrm xmlns:a="http://schemas.openxmlformats.org/drawingml/2006/main">
            <a:off x="3286125" y="5229225"/>
            <a:ext cx="1285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25" b="1" i="0">
                <a:solidFill>
                  <a:srgbClr val="111111"/>
                </a:solidFill>
                <a:latin typeface="Arial"/>
                <a:ea typeface="Arial"/>
                <a:cs typeface="Arial"/>
              </a:defRPr>
            </a:pPr>
            <a:r>
              <a:rPr sz="825" b="1" i="0">
                <a:solidFill>
                  <a:srgbClr val="111111"/>
                </a:solidFill>
                <a:latin typeface="Arial"/>
                <a:ea typeface="Arial"/>
                <a:cs typeface="Arial"/>
              </a:rPr>
              <a:t>18,400 Powered On</a:t>
            </a:r>
          </a:p>
        </p:txBody>
      </p:sp>
      <p:sp>
        <p:nvSpPr>
          <p:cNvPr id="60" name="editable-total-powered-off">
            <a:extLst xmlns:a="http://schemas.openxmlformats.org/drawingml/2006/main">
              <a:ext uri="{FF2B5EF4-FFF2-40B4-BE49-F238E27FC236}">
                <a16:creationId xmlns:a16="http://schemas.microsoft.com/office/drawing/2014/main" id="{51FD95D0-64F2-4723-B4EF-3731265C852D}"/>
              </a:ext>
            </a:extLst>
          </p:cNvPr>
          <p:cNvSpPr>
            <a:spLocks xmlns:a="http://schemas.openxmlformats.org/drawingml/2006/main" noGrp="1"/>
          </p:cNvSpPr>
          <p:nvPr/>
        </p:nvSpPr>
        <p:spPr>
          <a:xfrm xmlns:a="http://schemas.openxmlformats.org/drawingml/2006/main">
            <a:off x="3286125" y="5391150"/>
            <a:ext cx="1285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825" b="1" i="0">
                <a:solidFill>
                  <a:srgbClr val="111111"/>
                </a:solidFill>
                <a:latin typeface="Arial"/>
                <a:ea typeface="Arial"/>
                <a:cs typeface="Arial"/>
              </a:defRPr>
            </a:pPr>
            <a:r>
              <a:rPr sz="825" b="1" i="0">
                <a:solidFill>
                  <a:srgbClr val="111111"/>
                </a:solidFill>
                <a:latin typeface="Arial"/>
                <a:ea typeface="Arial"/>
                <a:cs typeface="Arial"/>
              </a:rPr>
              <a:t>1,700 Powered Off</a:t>
            </a:r>
          </a:p>
        </p:txBody>
      </p:sp>
      <p:sp>
        <p:nvSpPr>
          <p:cNvPr id="61" name="Rectangle 60">
            <a:extLst xmlns:a="http://schemas.openxmlformats.org/drawingml/2006/main">
              <a:ext uri="{FF2B5EF4-FFF2-40B4-BE49-F238E27FC236}">
                <a16:creationId xmlns:a16="http://schemas.microsoft.com/office/drawing/2014/main" id="{9F4CC3CC-C30D-4DD3-B648-2B2F6B76145C}"/>
              </a:ext>
            </a:extLst>
          </p:cNvPr>
          <p:cNvSpPr>
            <a:spLocks xmlns:a="http://schemas.openxmlformats.org/drawingml/2006/main" noGrp="1"/>
          </p:cNvSpPr>
          <p:nvPr/>
        </p:nvSpPr>
        <p:spPr>
          <a:xfrm xmlns:a="http://schemas.openxmlformats.org/drawingml/2006/main">
            <a:off x="5743575" y="47148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Total vCPUs</a:t>
            </a:r>
          </a:p>
        </p:txBody>
      </p:sp>
      <p:sp>
        <p:nvSpPr>
          <p:cNvPr id="62" name="editable-total-vcpus">
            <a:extLst xmlns:a="http://schemas.openxmlformats.org/drawingml/2006/main">
              <a:ext uri="{FF2B5EF4-FFF2-40B4-BE49-F238E27FC236}">
                <a16:creationId xmlns:a16="http://schemas.microsoft.com/office/drawing/2014/main" id="{E325BBAA-CE89-47A2-A7F4-5A715EE06FCB}"/>
              </a:ext>
            </a:extLst>
          </p:cNvPr>
          <p:cNvSpPr>
            <a:spLocks xmlns:a="http://schemas.openxmlformats.org/drawingml/2006/main" noGrp="1"/>
          </p:cNvSpPr>
          <p:nvPr/>
        </p:nvSpPr>
        <p:spPr>
          <a:xfrm xmlns:a="http://schemas.openxmlformats.org/drawingml/2006/main">
            <a:off x="5743575" y="4972050"/>
            <a:ext cx="1143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725" b="1" i="0">
                <a:solidFill>
                  <a:srgbClr val="003B25"/>
                </a:solidFill>
                <a:latin typeface="Arial"/>
                <a:ea typeface="Arial"/>
                <a:cs typeface="Arial"/>
              </a:defRPr>
            </a:pPr>
            <a:r>
              <a:rPr sz="1725" b="1" i="0">
                <a:solidFill>
                  <a:srgbClr val="003B25"/>
                </a:solidFill>
                <a:latin typeface="Arial"/>
                <a:ea typeface="Arial"/>
                <a:cs typeface="Arial"/>
              </a:rPr>
              <a:t>3,000</a:t>
            </a:r>
          </a:p>
        </p:txBody>
      </p:sp>
      <p:pic>
        <p:nvPicPr>
          <p:cNvPr id="150" name="Picture 136"/>
          <p:cNvPicPr>
            <a:picLocks xmlns:a="http://schemas.openxmlformats.org/drawingml/2006/main" noChangeAspect="1"/>
          </p:cNvPicPr>
          <p:nvPr/>
        </p:nvPicPr>
        <p:blipFill>
          <a:blip xmlns:r="http://schemas.openxmlformats.org/officeDocument/2006/relationships" xmlns:a="http://schemas.openxmlformats.org/drawingml/2006/main" r:embed="R24b843a442614513"/>
          <a:stretch xmlns:a="http://schemas.openxmlformats.org/drawingml/2006/main"/>
        </p:blipFill>
        <p:spPr>
          <a:xfrm xmlns:a="http://schemas.openxmlformats.org/drawingml/2006/main">
            <a:off x="5190898" y="4905375"/>
            <a:ext cx="362404" cy="323850"/>
          </a:xfrm>
          <a:prstGeom xmlns:a="http://schemas.openxmlformats.org/drawingml/2006/main" prst="rect">
            <a:avLst/>
          </a:prstGeom>
        </p:spPr>
      </p:pic>
      <p:sp>
        <p:nvSpPr>
          <p:cNvPr id="64" name="Rectangle 63">
            <a:extLst xmlns:a="http://schemas.openxmlformats.org/drawingml/2006/main">
              <a:ext uri="{FF2B5EF4-FFF2-40B4-BE49-F238E27FC236}">
                <a16:creationId xmlns:a16="http://schemas.microsoft.com/office/drawing/2014/main" id="{E2B940B4-7B6B-4837-992C-0BD50611487D}"/>
              </a:ext>
            </a:extLst>
          </p:cNvPr>
          <p:cNvSpPr>
            <a:spLocks xmlns:a="http://schemas.openxmlformats.org/drawingml/2006/main" noGrp="1"/>
          </p:cNvSpPr>
          <p:nvPr/>
        </p:nvSpPr>
        <p:spPr>
          <a:xfrm xmlns:a="http://schemas.openxmlformats.org/drawingml/2006/main">
            <a:off x="8048625" y="471487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Total vRAM (GB)</a:t>
            </a:r>
          </a:p>
        </p:txBody>
      </p:sp>
      <p:sp>
        <p:nvSpPr>
          <p:cNvPr id="65" name="editable-total-vram">
            <a:extLst xmlns:a="http://schemas.openxmlformats.org/drawingml/2006/main">
              <a:ext uri="{FF2B5EF4-FFF2-40B4-BE49-F238E27FC236}">
                <a16:creationId xmlns:a16="http://schemas.microsoft.com/office/drawing/2014/main" id="{56B58190-EEA5-42BC-BCEE-C9F09864DABB}"/>
              </a:ext>
            </a:extLst>
          </p:cNvPr>
          <p:cNvSpPr>
            <a:spLocks xmlns:a="http://schemas.openxmlformats.org/drawingml/2006/main" noGrp="1"/>
          </p:cNvSpPr>
          <p:nvPr/>
        </p:nvSpPr>
        <p:spPr>
          <a:xfrm xmlns:a="http://schemas.openxmlformats.org/drawingml/2006/main">
            <a:off x="8048625" y="4972050"/>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725" b="1" i="0">
                <a:solidFill>
                  <a:srgbClr val="003B25"/>
                </a:solidFill>
                <a:latin typeface="Arial"/>
                <a:ea typeface="Arial"/>
                <a:cs typeface="Arial"/>
              </a:defRPr>
            </a:pPr>
            <a:r>
              <a:rPr sz="1725" b="1" i="0">
                <a:solidFill>
                  <a:srgbClr val="003B25"/>
                </a:solidFill>
                <a:latin typeface="Arial"/>
                <a:ea typeface="Arial"/>
                <a:cs typeface="Arial"/>
              </a:rPr>
              <a:t>30,000</a:t>
            </a:r>
          </a:p>
        </p:txBody>
      </p:sp>
      <p:pic>
        <p:nvPicPr>
          <p:cNvPr id="153" name="Picture 139"/>
          <p:cNvPicPr>
            <a:picLocks xmlns:a="http://schemas.openxmlformats.org/drawingml/2006/main" noChangeAspect="1"/>
          </p:cNvPicPr>
          <p:nvPr/>
        </p:nvPicPr>
        <p:blipFill>
          <a:blip xmlns:r="http://schemas.openxmlformats.org/officeDocument/2006/relationships" xmlns:a="http://schemas.openxmlformats.org/drawingml/2006/main" r:embed="R044c69e98b9c4094"/>
          <a:stretch xmlns:a="http://schemas.openxmlformats.org/drawingml/2006/main"/>
        </p:blipFill>
        <p:spPr>
          <a:xfrm xmlns:a="http://schemas.openxmlformats.org/drawingml/2006/main">
            <a:off x="7477125" y="4907280"/>
            <a:ext cx="400050" cy="320040"/>
          </a:xfrm>
          <a:prstGeom xmlns:a="http://schemas.openxmlformats.org/drawingml/2006/main" prst="rect">
            <a:avLst/>
          </a:prstGeom>
        </p:spPr>
      </p:pic>
      <p:sp>
        <p:nvSpPr>
          <p:cNvPr id="67" name="Rectangle 66">
            <a:extLst xmlns:a="http://schemas.openxmlformats.org/drawingml/2006/main">
              <a:ext uri="{FF2B5EF4-FFF2-40B4-BE49-F238E27FC236}">
                <a16:creationId xmlns:a16="http://schemas.microsoft.com/office/drawing/2014/main" id="{BA2E8F4D-19EC-4045-BD00-D33C490582FA}"/>
              </a:ext>
            </a:extLst>
          </p:cNvPr>
          <p:cNvSpPr>
            <a:spLocks xmlns:a="http://schemas.openxmlformats.org/drawingml/2006/main" noGrp="1"/>
          </p:cNvSpPr>
          <p:nvPr/>
        </p:nvSpPr>
        <p:spPr>
          <a:xfrm xmlns:a="http://schemas.openxmlformats.org/drawingml/2006/main">
            <a:off x="10306050" y="4714875"/>
            <a:ext cx="1504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Total Storage (TB)</a:t>
            </a:r>
          </a:p>
        </p:txBody>
      </p:sp>
      <p:sp>
        <p:nvSpPr>
          <p:cNvPr id="68" name="editable-total-storage">
            <a:extLst xmlns:a="http://schemas.openxmlformats.org/drawingml/2006/main">
              <a:ext uri="{FF2B5EF4-FFF2-40B4-BE49-F238E27FC236}">
                <a16:creationId xmlns:a16="http://schemas.microsoft.com/office/drawing/2014/main" id="{53CE7ECC-6CED-4750-B06E-332986EBDB45}"/>
              </a:ext>
            </a:extLst>
          </p:cNvPr>
          <p:cNvSpPr>
            <a:spLocks xmlns:a="http://schemas.openxmlformats.org/drawingml/2006/main" noGrp="1"/>
          </p:cNvSpPr>
          <p:nvPr/>
        </p:nvSpPr>
        <p:spPr>
          <a:xfrm xmlns:a="http://schemas.openxmlformats.org/drawingml/2006/main">
            <a:off x="10306050" y="4972050"/>
            <a:ext cx="15049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ctr">
              <a:lnSpc>
                <a:spcPct val="100000"/>
              </a:lnSpc>
              <a:buNone/>
              <a:defRPr sz="1725" b="1" i="0">
                <a:solidFill>
                  <a:srgbClr val="003B25"/>
                </a:solidFill>
                <a:latin typeface="Arial"/>
                <a:ea typeface="Arial"/>
                <a:cs typeface="Arial"/>
              </a:defRPr>
            </a:pPr>
            <a:r>
              <a:rPr sz="1725" b="1" i="0">
                <a:solidFill>
                  <a:srgbClr val="003B25"/>
                </a:solidFill>
                <a:latin typeface="Arial"/>
                <a:ea typeface="Arial"/>
                <a:cs typeface="Arial"/>
              </a:rPr>
              <a:t>210</a:t>
            </a:r>
          </a:p>
        </p:txBody>
      </p:sp>
      <p:pic>
        <p:nvPicPr>
          <p:cNvPr id="156" name="Picture 142"/>
          <p:cNvPicPr>
            <a:picLocks xmlns:a="http://schemas.openxmlformats.org/drawingml/2006/main" noChangeAspect="1"/>
          </p:cNvPicPr>
          <p:nvPr/>
        </p:nvPicPr>
        <p:blipFill>
          <a:blip xmlns:r="http://schemas.openxmlformats.org/officeDocument/2006/relationships" xmlns:a="http://schemas.openxmlformats.org/drawingml/2006/main" r:embed="Rdab3669603254e86"/>
          <a:stretch xmlns:a="http://schemas.openxmlformats.org/drawingml/2006/main"/>
        </p:blipFill>
        <p:spPr>
          <a:xfrm xmlns:a="http://schemas.openxmlformats.org/drawingml/2006/main">
            <a:off x="9960531" y="4905375"/>
            <a:ext cx="348139" cy="323850"/>
          </a:xfrm>
          <a:prstGeom xmlns:a="http://schemas.openxmlformats.org/drawingml/2006/main" prst="rect">
            <a:avLst/>
          </a:prstGeom>
        </p:spPr>
      </p:pic>
      <p:sp>
        <p:nvSpPr>
          <p:cNvPr id="70" name="Rounded Rectangle 69">
            <a:extLst xmlns:a="http://schemas.openxmlformats.org/drawingml/2006/main">
              <a:ext uri="{FF2B5EF4-FFF2-40B4-BE49-F238E27FC236}">
                <a16:creationId xmlns:a16="http://schemas.microsoft.com/office/drawing/2014/main" id="{B6E9607F-C2EC-477A-BAF6-C5E067CAF87D}"/>
              </a:ext>
            </a:extLst>
          </p:cNvPr>
          <p:cNvSpPr>
            <a:spLocks xmlns:a="http://schemas.openxmlformats.org/drawingml/2006/main" noGrp="1"/>
          </p:cNvSpPr>
          <p:nvPr/>
        </p:nvSpPr>
        <p:spPr>
          <a:xfrm xmlns:a="http://schemas.openxmlformats.org/drawingml/2006/main">
            <a:off x="400050" y="5734050"/>
            <a:ext cx="11334750" cy="47625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D9DEDA"/>
            </a:solidFill>
            <a:prstDash val="solid"/>
          </a:ln>
        </p:spPr>
        <p:txBody>
          <a:bodyPr xmlns:a="http://schemas.openxmlformats.org/drawingml/2006/main"/>
          <a:lstStyle xmlns:a="http://schemas.openxmlformats.org/drawingml/2006/main"/>
          <a:p xmlns:a="http://schemas.openxmlformats.org/drawingml/2006/main">
            <a:endParaRPr/>
          </a:p>
        </p:txBody>
      </p:sp>
      <p:pic>
        <p:nvPicPr>
          <p:cNvPr id="158" name="Picture 144"/>
          <p:cNvPicPr>
            <a:picLocks xmlns:a="http://schemas.openxmlformats.org/drawingml/2006/main" noChangeAspect="1"/>
          </p:cNvPicPr>
          <p:nvPr/>
        </p:nvPicPr>
        <p:blipFill>
          <a:blip xmlns:r="http://schemas.openxmlformats.org/officeDocument/2006/relationships" xmlns:a="http://schemas.openxmlformats.org/drawingml/2006/main" r:embed="Rde9c21ac232b49b0"/>
          <a:stretch xmlns:a="http://schemas.openxmlformats.org/drawingml/2006/main"/>
        </p:blipFill>
        <p:spPr>
          <a:xfrm xmlns:a="http://schemas.openxmlformats.org/drawingml/2006/main">
            <a:off x="632416" y="5838825"/>
            <a:ext cx="316319" cy="323850"/>
          </a:xfrm>
          <a:prstGeom xmlns:a="http://schemas.openxmlformats.org/drawingml/2006/main" prst="rect">
            <a:avLst/>
          </a:prstGeom>
        </p:spPr>
      </p:pic>
      <p:sp>
        <p:nvSpPr>
          <p:cNvPr id="72" name="Rectangle 71">
            <a:extLst xmlns:a="http://schemas.openxmlformats.org/drawingml/2006/main">
              <a:ext uri="{FF2B5EF4-FFF2-40B4-BE49-F238E27FC236}">
                <a16:creationId xmlns:a16="http://schemas.microsoft.com/office/drawing/2014/main" id="{C928459C-9AA2-4970-83C9-66B7F0DEE5BA}"/>
              </a:ext>
            </a:extLst>
          </p:cNvPr>
          <p:cNvSpPr>
            <a:spLocks xmlns:a="http://schemas.openxmlformats.org/drawingml/2006/main" noGrp="1"/>
          </p:cNvSpPr>
          <p:nvPr/>
        </p:nvSpPr>
        <p:spPr>
          <a:xfrm xmlns:a="http://schemas.openxmlformats.org/drawingml/2006/main">
            <a:off x="1085850" y="5934075"/>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50" b="0" i="0">
                <a:solidFill>
                  <a:srgbClr val="111111"/>
                </a:solidFill>
                <a:latin typeface="Arial"/>
                <a:ea typeface="Arial"/>
                <a:cs typeface="Arial"/>
              </a:defRPr>
            </a:pPr>
            <a:r>
              <a:rPr sz="1050" b="0" i="0">
                <a:solidFill>
                  <a:srgbClr val="111111"/>
                </a:solidFill>
                <a:latin typeface="Arial"/>
                <a:ea typeface="Arial"/>
                <a:cs typeface="Arial"/>
              </a:rPr>
              <a:t>This sizing is based on the information available at the time of analysis and should be validated during the detailed design phase.</a:t>
            </a:r>
          </a:p>
        </p:txBody>
      </p:sp>
      <p:sp>
        <p:nvSpPr>
          <p:cNvPr id="73" name="Rectangle 72">
            <a:extLst xmlns:a="http://schemas.openxmlformats.org/drawingml/2006/main">
              <a:ext uri="{FF2B5EF4-FFF2-40B4-BE49-F238E27FC236}">
                <a16:creationId xmlns:a16="http://schemas.microsoft.com/office/drawing/2014/main" id="{B0FDF0E8-75F0-4E20-AB65-98949A664606}"/>
              </a:ext>
            </a:extLst>
          </p:cNvPr>
          <p:cNvSpPr>
            <a:spLocks xmlns:a="http://schemas.openxmlformats.org/drawingml/2006/main" noGrp="1"/>
          </p:cNvSpPr>
          <p:nvPr/>
        </p:nvSpPr>
        <p:spPr>
          <a:xfrm xmlns:a="http://schemas.openxmlformats.org/drawingml/2006/main">
            <a:off x="1133475" y="6553200"/>
            <a:ext cx="5334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675" b="0" i="0">
                <a:solidFill>
                  <a:srgbClr val="5E5E5E"/>
                </a:solidFill>
                <a:latin typeface="Arial"/>
                <a:ea typeface="Arial"/>
                <a:cs typeface="Arial"/>
              </a:defRPr>
            </a:pPr>
            <a:r>
              <a:rPr sz="675" b="0" i="0">
                <a:solidFill>
                  <a:srgbClr val="5E5E5E"/>
                </a:solidFill>
                <a:latin typeface="Arial"/>
                <a:ea typeface="Arial"/>
                <a:cs typeface="Arial"/>
              </a:rPr>
              <a:t>Copyright © 2026, Oracle and/or its affiliates | Confidential: Internal/Restricted/Highly Restricted</a:t>
            </a:r>
          </a:p>
        </p:txBody>
      </p:sp>
      <p:pic>
        <p:nvPicPr>
          <p:cNvPr id="161" name="Picture 147"/>
          <p:cNvPicPr>
            <a:picLocks xmlns:a="http://schemas.openxmlformats.org/drawingml/2006/main" noChangeAspect="1"/>
          </p:cNvPicPr>
          <p:nvPr/>
        </p:nvPicPr>
        <p:blipFill>
          <a:blip xmlns:r="http://schemas.openxmlformats.org/officeDocument/2006/relationships" xmlns:a="http://schemas.openxmlformats.org/drawingml/2006/main" r:embed="Rce52e40ead344032"/>
          <a:stretch xmlns:a="http://schemas.openxmlformats.org/drawingml/2006/main"/>
        </p:blipFill>
        <p:spPr>
          <a:xfrm xmlns:a="http://schemas.openxmlformats.org/drawingml/2006/main">
            <a:off x="11382375" y="6459855"/>
            <a:ext cx="419100" cy="396240"/>
          </a:xfrm>
          <a:prstGeom xmlns:a="http://schemas.openxmlformats.org/drawingml/2006/main" prst="rect">
            <a:avLst/>
          </a:prstGeom>
        </p:spPr>
      </p:pic>
    </p:spTree>
    <p:extLst>
      <p:ext uri="{BB962C8B-B14F-4D97-AF65-F5344CB8AC3E}">
        <p14:creationId xmlns:p14="http://schemas.microsoft.com/office/powerpoint/2010/main" val="1621222433"/>
      </p:ext>
    </p:extLst>
  </p:cSld>
</p:sld>
</file>

<file path=ppt/slides/slide5.xml><?xml version="1.0" encoding="utf-8"?>
<p:sld xmlns:p="http://schemas.openxmlformats.org/presentationml/2006/main">
  <p:cSld>
    <p:bg>
      <p:bgPr>
        <a:solidFill xmlns:a="http://schemas.openxmlformats.org/drawingml/2006/main">
          <a:srgbClr val="FBFAF8"/>
        </a:solidFill>
      </p:bgPr>
    </p:bg>
    <p:spTree>
      <p:nvGrpSpPr>
        <p:cNvPr id="1" name=""/>
        <p:cNvGrpSpPr/>
        <p:nvPr/>
      </p:nvGrpSpPr>
      <p:grpSpPr>
        <a:xfrm xmlns:a="http://schemas.openxmlformats.org/drawingml/2006/main"/>
      </p:grpSpPr>
      <p:sp>
        <p:nvSpPr>
          <p:cNvPr id="65" name="Oval 64">
            <a:extLst xmlns:a="http://schemas.openxmlformats.org/drawingml/2006/main">
              <a:ext uri="{FF2B5EF4-FFF2-40B4-BE49-F238E27FC236}">
                <a16:creationId xmlns:a16="http://schemas.microsoft.com/office/drawing/2014/main" id="{903C0CCB-6C32-4383-BD8E-369B89B3B108}"/>
              </a:ext>
            </a:extLst>
          </p:cNvPr>
          <p:cNvSpPr>
            <a:spLocks xmlns:a="http://schemas.openxmlformats.org/drawingml/2006/main" noGrp="1"/>
          </p:cNvSpPr>
          <p:nvPr/>
        </p:nvSpPr>
        <p:spPr>
          <a:xfrm xmlns:a="http://schemas.openxmlformats.org/drawingml/2006/main">
            <a:off x="7239000" y="371475"/>
            <a:ext cx="66675" cy="666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Oval 1">
            <a:extLst xmlns:a="http://schemas.openxmlformats.org/drawingml/2006/main">
              <a:ext uri="{FF2B5EF4-FFF2-40B4-BE49-F238E27FC236}">
                <a16:creationId xmlns:a16="http://schemas.microsoft.com/office/drawing/2014/main" id="{B7552526-EDFC-4FEC-8429-83B0C3678D1B}"/>
              </a:ext>
            </a:extLst>
          </p:cNvPr>
          <p:cNvSpPr>
            <a:spLocks xmlns:a="http://schemas.openxmlformats.org/drawingml/2006/main" noGrp="1"/>
          </p:cNvSpPr>
          <p:nvPr/>
        </p:nvSpPr>
        <p:spPr>
          <a:xfrm xmlns:a="http://schemas.openxmlformats.org/drawingml/2006/main">
            <a:off x="4495800" y="981075"/>
            <a:ext cx="47625" cy="4762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Oval 2">
            <a:extLst xmlns:a="http://schemas.openxmlformats.org/drawingml/2006/main">
              <a:ext uri="{FF2B5EF4-FFF2-40B4-BE49-F238E27FC236}">
                <a16:creationId xmlns:a16="http://schemas.microsoft.com/office/drawing/2014/main" id="{B1DA383F-3F21-4112-BBDC-0AB1B2A8C67B}"/>
              </a:ext>
            </a:extLst>
          </p:cNvPr>
          <p:cNvSpPr>
            <a:spLocks xmlns:a="http://schemas.openxmlformats.org/drawingml/2006/main" noGrp="1"/>
          </p:cNvSpPr>
          <p:nvPr/>
        </p:nvSpPr>
        <p:spPr>
          <a:xfrm xmlns:a="http://schemas.openxmlformats.org/drawingml/2006/main">
            <a:off x="5133975" y="552450"/>
            <a:ext cx="38100" cy="38100"/>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 name="Oval 3">
            <a:extLst xmlns:a="http://schemas.openxmlformats.org/drawingml/2006/main">
              <a:ext uri="{FF2B5EF4-FFF2-40B4-BE49-F238E27FC236}">
                <a16:creationId xmlns:a16="http://schemas.microsoft.com/office/drawing/2014/main" id="{20059669-08BE-4709-8AB5-5D775C69905A}"/>
              </a:ext>
            </a:extLst>
          </p:cNvPr>
          <p:cNvSpPr>
            <a:spLocks xmlns:a="http://schemas.openxmlformats.org/drawingml/2006/main" noGrp="1"/>
          </p:cNvSpPr>
          <p:nvPr/>
        </p:nvSpPr>
        <p:spPr>
          <a:xfrm xmlns:a="http://schemas.openxmlformats.org/drawingml/2006/main">
            <a:off x="5810250" y="866775"/>
            <a:ext cx="28575" cy="285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Oval 4">
            <a:extLst xmlns:a="http://schemas.openxmlformats.org/drawingml/2006/main">
              <a:ext uri="{FF2B5EF4-FFF2-40B4-BE49-F238E27FC236}">
                <a16:creationId xmlns:a16="http://schemas.microsoft.com/office/drawing/2014/main" id="{7DF4C908-95C0-454C-90C3-9D496D1DDD44}"/>
              </a:ext>
            </a:extLst>
          </p:cNvPr>
          <p:cNvSpPr>
            <a:spLocks xmlns:a="http://schemas.openxmlformats.org/drawingml/2006/main" noGrp="1"/>
          </p:cNvSpPr>
          <p:nvPr/>
        </p:nvSpPr>
        <p:spPr>
          <a:xfrm xmlns:a="http://schemas.openxmlformats.org/drawingml/2006/main">
            <a:off x="11306175" y="666750"/>
            <a:ext cx="28575" cy="285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42AFBF0C-6A20-4CF1-81BA-ACD71ECCA01D}"/>
              </a:ext>
            </a:extLst>
          </p:cNvPr>
          <p:cNvSpPr>
            <a:spLocks xmlns:a="http://schemas.openxmlformats.org/drawingml/2006/main" noGrp="1"/>
          </p:cNvSpPr>
          <p:nvPr/>
        </p:nvSpPr>
        <p:spPr>
          <a:xfrm xmlns:a="http://schemas.openxmlformats.org/drawingml/2006/main">
            <a:off x="11801475" y="714375"/>
            <a:ext cx="28575" cy="2857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8A1E2B4B-12C6-4379-BB5F-CD7BD45CDC67}"/>
              </a:ext>
            </a:extLst>
          </p:cNvPr>
          <p:cNvSpPr>
            <a:spLocks xmlns:a="http://schemas.openxmlformats.org/drawingml/2006/main" noGrp="1"/>
          </p:cNvSpPr>
          <p:nvPr/>
        </p:nvSpPr>
        <p:spPr>
          <a:xfrm xmlns:a="http://schemas.openxmlformats.org/drawingml/2006/main">
            <a:off x="4972050" y="3371850"/>
            <a:ext cx="38100" cy="38100"/>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392CB55E-0957-4BA5-9E15-5C689F4C062B}"/>
              </a:ext>
            </a:extLst>
          </p:cNvPr>
          <p:cNvSpPr>
            <a:spLocks xmlns:a="http://schemas.openxmlformats.org/drawingml/2006/main" noGrp="1"/>
          </p:cNvSpPr>
          <p:nvPr/>
        </p:nvSpPr>
        <p:spPr>
          <a:xfrm xmlns:a="http://schemas.openxmlformats.org/drawingml/2006/main">
            <a:off x="12020550" y="6353175"/>
            <a:ext cx="47625" cy="47625"/>
          </a:xfrm>
          <a:prstGeom xmlns:a="http://schemas.openxmlformats.org/drawingml/2006/main" prst="ellipse">
            <a:avLst/>
          </a:prstGeom>
          <a:solidFill xmlns:a="http://schemas.openxmlformats.org/drawingml/2006/main">
            <a:srgbClr val="E7E9E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93CED1F2-9B01-4DEB-8205-9F726CA98EFC}"/>
              </a:ext>
            </a:extLst>
          </p:cNvPr>
          <p:cNvSpPr>
            <a:spLocks xmlns:a="http://schemas.openxmlformats.org/drawingml/2006/main" noGrp="1"/>
          </p:cNvSpPr>
          <p:nvPr/>
        </p:nvSpPr>
        <p:spPr>
          <a:xfrm xmlns:a="http://schemas.openxmlformats.org/drawingml/2006/main">
            <a:off x="0" y="3714750"/>
            <a:ext cx="1381125" cy="1714500"/>
          </a:xfrm>
          <a:prstGeom xmlns:a="http://schemas.openxmlformats.org/drawingml/2006/main" prst="ellipse">
            <a:avLst/>
          </a:prstGeom>
          <a:solidFill xmlns:a="http://schemas.openxmlformats.org/drawingml/2006/main">
            <a:srgbClr val="F7FAF8"/>
          </a:solidFill>
          <a:ln xmlns:a="http://schemas.openxmlformats.org/drawingml/2006/main" w="9525">
            <a:solidFill>
              <a:srgbClr val="E0E6E2"/>
            </a:solidFill>
            <a:prstDash val="dot"/>
          </a:ln>
        </p:spPr>
        <p:txBody>
          <a:bodyPr xmlns:a="http://schemas.openxmlformats.org/drawingml/2006/main"/>
          <a:lstStyle xmlns:a="http://schemas.openxmlformats.org/drawingml/2006/main"/>
          <a:p xmlns:a="http://schemas.openxmlformats.org/drawingml/2006/main">
            <a:endParaRPr/>
          </a:p>
        </p:txBody>
      </p:sp>
      <p:sp>
        <p:nvSpPr>
          <p:cNvPr id="10" name="Oval 9">
            <a:extLst xmlns:a="http://schemas.openxmlformats.org/drawingml/2006/main">
              <a:ext uri="{FF2B5EF4-FFF2-40B4-BE49-F238E27FC236}">
                <a16:creationId xmlns:a16="http://schemas.microsoft.com/office/drawing/2014/main" id="{0CD4014B-8B32-4715-85BA-46C6B837B943}"/>
              </a:ext>
            </a:extLst>
          </p:cNvPr>
          <p:cNvSpPr>
            <a:spLocks xmlns:a="http://schemas.openxmlformats.org/drawingml/2006/main" noGrp="1"/>
          </p:cNvSpPr>
          <p:nvPr/>
        </p:nvSpPr>
        <p:spPr>
          <a:xfrm xmlns:a="http://schemas.openxmlformats.org/drawingml/2006/main">
            <a:off x="0" y="5762625"/>
            <a:ext cx="2952750" cy="1095375"/>
          </a:xfrm>
          <a:prstGeom xmlns:a="http://schemas.openxmlformats.org/drawingml/2006/main" prst="ellipse">
            <a:avLst/>
          </a:prstGeom>
          <a:solidFill xmlns:a="http://schemas.openxmlformats.org/drawingml/2006/main">
            <a:srgbClr val="F7FAF8"/>
          </a:solidFill>
          <a:ln xmlns:a="http://schemas.openxmlformats.org/drawingml/2006/main" w="9525">
            <a:solidFill>
              <a:srgbClr val="E0E6E2"/>
            </a:solidFill>
            <a:prstDash val="dot"/>
          </a:ln>
        </p:spPr>
        <p:txBody>
          <a:bodyPr xmlns:a="http://schemas.openxmlformats.org/drawingml/2006/main"/>
          <a:lstStyle xmlns:a="http://schemas.openxmlformats.org/drawingml/2006/main"/>
          <a:p xmlns:a="http://schemas.openxmlformats.org/drawingml/2006/main">
            <a:endParaRPr/>
          </a:p>
        </p:txBody>
      </p:sp>
      <p:pic>
        <p:nvPicPr>
          <p:cNvPr id="90" name="Picture 74"/>
          <p:cNvPicPr>
            <a:picLocks xmlns:a="http://schemas.openxmlformats.org/drawingml/2006/main" noChangeAspect="1"/>
          </p:cNvPicPr>
          <p:nvPr/>
        </p:nvPicPr>
        <p:blipFill>
          <a:blip xmlns:r="http://schemas.openxmlformats.org/officeDocument/2006/relationships" xmlns:a="http://schemas.openxmlformats.org/drawingml/2006/main" r:embed="Rc2a76cfe73d34a42"/>
          <a:stretch xmlns:a="http://schemas.openxmlformats.org/drawingml/2006/main"/>
        </p:blipFill>
        <p:spPr>
          <a:xfrm xmlns:a="http://schemas.openxmlformats.org/drawingml/2006/main">
            <a:off x="342900" y="266700"/>
            <a:ext cx="1876425" cy="523875"/>
          </a:xfrm>
          <a:prstGeom xmlns:a="http://schemas.openxmlformats.org/drawingml/2006/main" prst="rect">
            <a:avLst/>
          </a:prstGeom>
        </p:spPr>
      </p:pic>
      <p:sp>
        <p:nvSpPr>
          <p:cNvPr id="12" name="Rectangle 11">
            <a:extLst xmlns:a="http://schemas.openxmlformats.org/drawingml/2006/main">
              <a:ext uri="{FF2B5EF4-FFF2-40B4-BE49-F238E27FC236}">
                <a16:creationId xmlns:a16="http://schemas.microsoft.com/office/drawing/2014/main" id="{441D191A-36BA-4DDF-9CD4-DD0DD4AEEDDC}"/>
              </a:ext>
            </a:extLst>
          </p:cNvPr>
          <p:cNvSpPr>
            <a:spLocks xmlns:a="http://schemas.openxmlformats.org/drawingml/2006/main" noGrp="1"/>
          </p:cNvSpPr>
          <p:nvPr/>
        </p:nvSpPr>
        <p:spPr>
          <a:xfrm xmlns:a="http://schemas.openxmlformats.org/drawingml/2006/main">
            <a:off x="352425" y="1200150"/>
            <a:ext cx="495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2700" b="1" i="0">
                <a:solidFill>
                  <a:srgbClr val="003B25"/>
                </a:solidFill>
                <a:latin typeface="Arial"/>
                <a:ea typeface="Arial"/>
                <a:cs typeface="Arial"/>
              </a:defRPr>
            </a:pPr>
            <a:r>
              <a:rPr sz="2700" b="1" i="0">
                <a:solidFill>
                  <a:srgbClr val="003B25"/>
                </a:solidFill>
                <a:latin typeface="Arial"/>
                <a:ea typeface="Arial"/>
                <a:cs typeface="Arial"/>
              </a:rPr>
              <a:t>Infrastructure Sizing Summary</a:t>
            </a:r>
          </a:p>
        </p:txBody>
      </p:sp>
      <p:sp>
        <p:nvSpPr>
          <p:cNvPr id="13" name="Rectangle 12">
            <a:extLst xmlns:a="http://schemas.openxmlformats.org/drawingml/2006/main">
              <a:ext uri="{FF2B5EF4-FFF2-40B4-BE49-F238E27FC236}">
                <a16:creationId xmlns:a16="http://schemas.microsoft.com/office/drawing/2014/main" id="{A3B2E046-C85F-4A39-BEEF-139B34452E9C}"/>
              </a:ext>
            </a:extLst>
          </p:cNvPr>
          <p:cNvSpPr>
            <a:spLocks xmlns:a="http://schemas.openxmlformats.org/drawingml/2006/main" noGrp="1"/>
          </p:cNvSpPr>
          <p:nvPr/>
        </p:nvSpPr>
        <p:spPr>
          <a:xfrm xmlns:a="http://schemas.openxmlformats.org/drawingml/2006/main">
            <a:off x="352425" y="1657350"/>
            <a:ext cx="381000" cy="38100"/>
          </a:xfrm>
          <a:prstGeom xmlns:a="http://schemas.openxmlformats.org/drawingml/2006/main" prst="rect">
            <a:avLst/>
          </a:prstGeom>
          <a:solidFill xmlns:a="http://schemas.openxmlformats.org/drawingml/2006/main">
            <a:srgbClr val="F0000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D5DD4476-54EB-446C-A8D2-4D5A415824F4}"/>
              </a:ext>
            </a:extLst>
          </p:cNvPr>
          <p:cNvSpPr>
            <a:spLocks xmlns:a="http://schemas.openxmlformats.org/drawingml/2006/main" noGrp="1"/>
          </p:cNvSpPr>
          <p:nvPr/>
        </p:nvSpPr>
        <p:spPr>
          <a:xfrm xmlns:a="http://schemas.openxmlformats.org/drawingml/2006/main">
            <a:off x="352425" y="1876425"/>
            <a:ext cx="6286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10000"/>
              </a:lnSpc>
              <a:buNone/>
              <a:defRPr sz="1013" b="0" i="0">
                <a:solidFill>
                  <a:srgbClr val="111111"/>
                </a:solidFill>
                <a:latin typeface="Arial"/>
                <a:ea typeface="Arial"/>
                <a:cs typeface="Arial"/>
              </a:defRPr>
            </a:pPr>
            <a:r>
              <a:rPr sz="1013" b="0" i="0">
                <a:solidFill>
                  <a:srgbClr val="111111"/>
                </a:solidFill>
                <a:latin typeface="Arial"/>
                <a:ea typeface="Arial"/>
                <a:cs typeface="Arial"/>
              </a:rPr>
              <a:t>The following architecture on Oracle Cloud VMware Solution (OCVS) has been designed</a:t>
            </a:r>
          </a:p>
          <a:p xmlns:a="http://schemas.openxmlformats.org/drawingml/2006/main">
            <a:pPr algn="l">
              <a:lnSpc>
                <a:spcPct val="110000"/>
              </a:lnSpc>
              <a:buNone/>
              <a:defRPr sz="1013" b="0" i="0">
                <a:solidFill>
                  <a:srgbClr val="111111"/>
                </a:solidFill>
                <a:latin typeface="Arial"/>
                <a:ea typeface="Arial"/>
                <a:cs typeface="Arial"/>
              </a:defRPr>
            </a:pPr>
            <a:r>
              <a:rPr sz="1013" b="0" i="0">
                <a:solidFill>
                  <a:srgbClr val="111111"/>
                </a:solidFill>
                <a:latin typeface="Arial"/>
                <a:ea typeface="Arial"/>
                <a:cs typeface="Arial"/>
              </a:rPr>
              <a:t>to support the customer's current environment with room for future growth.</a:t>
            </a:r>
          </a:p>
        </p:txBody>
      </p:sp>
      <p:sp>
        <p:nvSpPr>
          <p:cNvPr id="15" name="Rounded Rectangle 14">
            <a:extLst xmlns:a="http://schemas.openxmlformats.org/drawingml/2006/main">
              <a:ext uri="{FF2B5EF4-FFF2-40B4-BE49-F238E27FC236}">
                <a16:creationId xmlns:a16="http://schemas.microsoft.com/office/drawing/2014/main" id="{63B7720D-CE76-4909-8B22-13176D9406FD}"/>
              </a:ext>
            </a:extLst>
          </p:cNvPr>
          <p:cNvSpPr>
            <a:spLocks xmlns:a="http://schemas.openxmlformats.org/drawingml/2006/main" noGrp="1"/>
          </p:cNvSpPr>
          <p:nvPr/>
        </p:nvSpPr>
        <p:spPr>
          <a:xfrm xmlns:a="http://schemas.openxmlformats.org/drawingml/2006/main">
            <a:off x="361950" y="2600325"/>
            <a:ext cx="4572000" cy="2790825"/>
          </a:xfrm>
          <a:prstGeom xmlns:a="http://schemas.openxmlformats.org/drawingml/2006/main" prst="roundRect">
            <a:avLst>
              <a:gd name="adj" fmla="val 2389"/>
            </a:avLst>
          </a:prstGeom>
          <a:solidFill xmlns:a="http://schemas.openxmlformats.org/drawingml/2006/main">
            <a:srgbClr val="FFFFFF"/>
          </a:solidFill>
          <a:ln xmlns:a="http://schemas.openxmlformats.org/drawingml/2006/main" w="9525">
            <a:solidFill>
              <a:srgbClr val="D9DED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6" name="Rounded Rectangle 15">
            <a:extLst xmlns:a="http://schemas.openxmlformats.org/drawingml/2006/main">
              <a:ext uri="{FF2B5EF4-FFF2-40B4-BE49-F238E27FC236}">
                <a16:creationId xmlns:a16="http://schemas.microsoft.com/office/drawing/2014/main" id="{0DF6C480-65BB-494C-9EC9-69955CD78592}"/>
              </a:ext>
            </a:extLst>
          </p:cNvPr>
          <p:cNvSpPr>
            <a:spLocks xmlns:a="http://schemas.openxmlformats.org/drawingml/2006/main" noGrp="1"/>
          </p:cNvSpPr>
          <p:nvPr/>
        </p:nvSpPr>
        <p:spPr>
          <a:xfrm xmlns:a="http://schemas.openxmlformats.org/drawingml/2006/main">
            <a:off x="361950" y="2600325"/>
            <a:ext cx="4572000" cy="342900"/>
          </a:xfrm>
          <a:prstGeom xmlns:a="http://schemas.openxmlformats.org/drawingml/2006/main" prst="roundRect">
            <a:avLst>
              <a:gd name="adj" fmla="val 19444"/>
            </a:avLst>
          </a:prstGeom>
          <a:gradFill xmlns:a="http://schemas.openxmlformats.org/drawingml/2006/main">
            <a:gsLst>
              <a:gs pos="0">
                <a:srgbClr val="003B25"/>
              </a:gs>
              <a:gs pos="100000">
                <a:srgbClr val="0B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7" name="Rectangle 16">
            <a:extLst xmlns:a="http://schemas.openxmlformats.org/drawingml/2006/main">
              <a:ext uri="{FF2B5EF4-FFF2-40B4-BE49-F238E27FC236}">
                <a16:creationId xmlns:a16="http://schemas.microsoft.com/office/drawing/2014/main" id="{79235A43-973B-49B6-A560-C27C9DB572AA}"/>
              </a:ext>
            </a:extLst>
          </p:cNvPr>
          <p:cNvSpPr>
            <a:spLocks xmlns:a="http://schemas.openxmlformats.org/drawingml/2006/main" noGrp="1"/>
          </p:cNvSpPr>
          <p:nvPr/>
        </p:nvSpPr>
        <p:spPr>
          <a:xfrm xmlns:a="http://schemas.openxmlformats.org/drawingml/2006/main">
            <a:off x="361950" y="2876550"/>
            <a:ext cx="4572000" cy="66675"/>
          </a:xfrm>
          <a:prstGeom xmlns:a="http://schemas.openxmlformats.org/drawingml/2006/main" prst="rect">
            <a:avLst/>
          </a:prstGeom>
          <a:gradFill xmlns:a="http://schemas.openxmlformats.org/drawingml/2006/main">
            <a:gsLst>
              <a:gs pos="0">
                <a:srgbClr val="003B25"/>
              </a:gs>
              <a:gs pos="100000">
                <a:srgbClr val="0B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97" name="Picture 81"/>
          <p:cNvPicPr>
            <a:picLocks xmlns:a="http://schemas.openxmlformats.org/drawingml/2006/main" noChangeAspect="1"/>
          </p:cNvPicPr>
          <p:nvPr/>
        </p:nvPicPr>
        <p:blipFill>
          <a:blip xmlns:r="http://schemas.openxmlformats.org/officeDocument/2006/relationships" xmlns:a="http://schemas.openxmlformats.org/drawingml/2006/main" r:embed="Ref50f31e827442dc"/>
          <a:stretch xmlns:a="http://schemas.openxmlformats.org/drawingml/2006/main"/>
        </p:blipFill>
        <p:spPr>
          <a:xfrm xmlns:a="http://schemas.openxmlformats.org/drawingml/2006/main">
            <a:off x="604647" y="2676525"/>
            <a:ext cx="219456" cy="228600"/>
          </a:xfrm>
          <a:prstGeom xmlns:a="http://schemas.openxmlformats.org/drawingml/2006/main" prst="rect">
            <a:avLst/>
          </a:prstGeom>
        </p:spPr>
      </p:pic>
      <p:sp>
        <p:nvSpPr>
          <p:cNvPr id="19" name="Rectangle 18">
            <a:extLst xmlns:a="http://schemas.openxmlformats.org/drawingml/2006/main">
              <a:ext uri="{FF2B5EF4-FFF2-40B4-BE49-F238E27FC236}">
                <a16:creationId xmlns:a16="http://schemas.microsoft.com/office/drawing/2014/main" id="{84BF706F-C741-4C7C-970A-E6742E5CFC29}"/>
              </a:ext>
            </a:extLst>
          </p:cNvPr>
          <p:cNvSpPr>
            <a:spLocks xmlns:a="http://schemas.openxmlformats.org/drawingml/2006/main" noGrp="1"/>
          </p:cNvSpPr>
          <p:nvPr/>
        </p:nvSpPr>
        <p:spPr>
          <a:xfrm xmlns:a="http://schemas.openxmlformats.org/drawingml/2006/main">
            <a:off x="962025" y="2724150"/>
            <a:ext cx="1714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Proposed Architecture</a:t>
            </a:r>
          </a:p>
        </p:txBody>
      </p:sp>
      <p:pic>
        <p:nvPicPr>
          <p:cNvPr id="99" name="Picture 83"/>
          <p:cNvPicPr>
            <a:picLocks xmlns:a="http://schemas.openxmlformats.org/drawingml/2006/main" noChangeAspect="1"/>
          </p:cNvPicPr>
          <p:nvPr/>
        </p:nvPicPr>
        <p:blipFill>
          <a:blip xmlns:r="http://schemas.openxmlformats.org/officeDocument/2006/relationships" xmlns:a="http://schemas.openxmlformats.org/drawingml/2006/main" r:embed="R077297b4023549e8"/>
          <a:stretch xmlns:a="http://schemas.openxmlformats.org/drawingml/2006/main"/>
        </p:blipFill>
        <p:spPr>
          <a:xfrm xmlns:a="http://schemas.openxmlformats.org/drawingml/2006/main">
            <a:off x="600075" y="3098346"/>
            <a:ext cx="304800" cy="261257"/>
          </a:xfrm>
          <a:prstGeom xmlns:a="http://schemas.openxmlformats.org/drawingml/2006/main" prst="rect">
            <a:avLst/>
          </a:prstGeom>
        </p:spPr>
      </p:pic>
      <p:sp>
        <p:nvSpPr>
          <p:cNvPr id="21" name="Rectangle 20">
            <a:extLst xmlns:a="http://schemas.openxmlformats.org/drawingml/2006/main">
              <a:ext uri="{FF2B5EF4-FFF2-40B4-BE49-F238E27FC236}">
                <a16:creationId xmlns:a16="http://schemas.microsoft.com/office/drawing/2014/main" id="{509699EE-677C-42DF-8083-4185311A3D1D}"/>
              </a:ext>
            </a:extLst>
          </p:cNvPr>
          <p:cNvSpPr>
            <a:spLocks xmlns:a="http://schemas.openxmlformats.org/drawingml/2006/main" noGrp="1"/>
          </p:cNvSpPr>
          <p:nvPr/>
        </p:nvSpPr>
        <p:spPr>
          <a:xfrm xmlns:a="http://schemas.openxmlformats.org/drawingml/2006/main">
            <a:off x="1095375" y="314325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1" i="0">
                <a:solidFill>
                  <a:srgbClr val="003B25"/>
                </a:solidFill>
                <a:latin typeface="Arial"/>
                <a:ea typeface="Arial"/>
                <a:cs typeface="Arial"/>
              </a:defRPr>
            </a:pPr>
            <a:r>
              <a:rPr sz="1013" b="1" i="0">
                <a:solidFill>
                  <a:srgbClr val="003B25"/>
                </a:solidFill>
                <a:latin typeface="Arial"/>
                <a:ea typeface="Arial"/>
                <a:cs typeface="Arial"/>
              </a:rPr>
              <a:t>SDDCs</a:t>
            </a:r>
          </a:p>
        </p:txBody>
      </p:sp>
      <p:sp>
        <p:nvSpPr>
          <p:cNvPr id="22" name="editable-ocvs-sddcs">
            <a:extLst xmlns:a="http://schemas.openxmlformats.org/drawingml/2006/main">
              <a:ext uri="{FF2B5EF4-FFF2-40B4-BE49-F238E27FC236}">
                <a16:creationId xmlns:a16="http://schemas.microsoft.com/office/drawing/2014/main" id="{EA0CDC46-31BA-4F3B-B2F7-0CD1DB4E4ACD}"/>
              </a:ext>
            </a:extLst>
          </p:cNvPr>
          <p:cNvSpPr>
            <a:spLocks xmlns:a="http://schemas.openxmlformats.org/drawingml/2006/main" noGrp="1"/>
          </p:cNvSpPr>
          <p:nvPr/>
        </p:nvSpPr>
        <p:spPr>
          <a:xfrm xmlns:a="http://schemas.openxmlformats.org/drawingml/2006/main">
            <a:off x="2714625" y="31432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0" i="0">
                <a:solidFill>
                  <a:srgbClr val="111111"/>
                </a:solidFill>
                <a:latin typeface="Arial"/>
                <a:ea typeface="Arial"/>
                <a:cs typeface="Arial"/>
              </a:defRPr>
            </a:pPr>
            <a:r>
              <a:rPr sz="1013" b="0" i="0">
                <a:solidFill>
                  <a:srgbClr val="111111"/>
                </a:solidFill>
                <a:latin typeface="Arial"/>
                <a:ea typeface="Arial"/>
                <a:cs typeface="Arial"/>
              </a:rPr>
              <a:t>1</a:t>
            </a:r>
          </a:p>
        </p:txBody>
      </p:sp>
      <p:sp>
        <p:nvSpPr>
          <p:cNvPr id="23" name="Straight Connector 22">
            <a:extLst xmlns:a="http://schemas.openxmlformats.org/drawingml/2006/main">
              <a:ext uri="{FF2B5EF4-FFF2-40B4-BE49-F238E27FC236}">
                <a16:creationId xmlns:a16="http://schemas.microsoft.com/office/drawing/2014/main" id="{C28279BA-06DE-441C-B66F-073288F09C70}"/>
              </a:ext>
            </a:extLst>
          </p:cNvPr>
          <p:cNvSpPr>
            <a:spLocks xmlns:a="http://schemas.openxmlformats.org/drawingml/2006/main" noGrp="1"/>
          </p:cNvSpPr>
          <p:nvPr/>
        </p:nvSpPr>
        <p:spPr>
          <a:xfrm xmlns:a="http://schemas.openxmlformats.org/drawingml/2006/main">
            <a:off x="971550" y="3390900"/>
            <a:ext cx="3743325" cy="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pic>
        <p:nvPicPr>
          <p:cNvPr id="103" name="Picture 87"/>
          <p:cNvPicPr>
            <a:picLocks xmlns:a="http://schemas.openxmlformats.org/drawingml/2006/main" noChangeAspect="1"/>
          </p:cNvPicPr>
          <p:nvPr/>
        </p:nvPicPr>
        <p:blipFill>
          <a:blip xmlns:r="http://schemas.openxmlformats.org/officeDocument/2006/relationships" xmlns:a="http://schemas.openxmlformats.org/drawingml/2006/main" r:embed="R34a6e507e4b54af6"/>
          <a:stretch xmlns:a="http://schemas.openxmlformats.org/drawingml/2006/main"/>
        </p:blipFill>
        <p:spPr>
          <a:xfrm xmlns:a="http://schemas.openxmlformats.org/drawingml/2006/main">
            <a:off x="628015" y="3495675"/>
            <a:ext cx="248920" cy="266700"/>
          </a:xfrm>
          <a:prstGeom xmlns:a="http://schemas.openxmlformats.org/drawingml/2006/main" prst="rect">
            <a:avLst/>
          </a:prstGeom>
        </p:spPr>
      </p:pic>
      <p:sp>
        <p:nvSpPr>
          <p:cNvPr id="25" name="Rectangle 24">
            <a:extLst xmlns:a="http://schemas.openxmlformats.org/drawingml/2006/main">
              <a:ext uri="{FF2B5EF4-FFF2-40B4-BE49-F238E27FC236}">
                <a16:creationId xmlns:a16="http://schemas.microsoft.com/office/drawing/2014/main" id="{256F7DCC-DF91-4471-A4FF-4A3AD34D84C7}"/>
              </a:ext>
            </a:extLst>
          </p:cNvPr>
          <p:cNvSpPr>
            <a:spLocks xmlns:a="http://schemas.openxmlformats.org/drawingml/2006/main" noGrp="1"/>
          </p:cNvSpPr>
          <p:nvPr/>
        </p:nvSpPr>
        <p:spPr>
          <a:xfrm xmlns:a="http://schemas.openxmlformats.org/drawingml/2006/main">
            <a:off x="1095375" y="35433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1" i="0">
                <a:solidFill>
                  <a:srgbClr val="003B25"/>
                </a:solidFill>
                <a:latin typeface="Arial"/>
                <a:ea typeface="Arial"/>
                <a:cs typeface="Arial"/>
              </a:defRPr>
            </a:pPr>
            <a:r>
              <a:rPr sz="1013" b="1" i="0">
                <a:solidFill>
                  <a:srgbClr val="003B25"/>
                </a:solidFill>
                <a:latin typeface="Arial"/>
                <a:ea typeface="Arial"/>
                <a:cs typeface="Arial"/>
              </a:rPr>
              <a:t>Clusters</a:t>
            </a:r>
          </a:p>
        </p:txBody>
      </p:sp>
      <p:sp>
        <p:nvSpPr>
          <p:cNvPr id="26" name="editable-ocvs-clusters">
            <a:extLst xmlns:a="http://schemas.openxmlformats.org/drawingml/2006/main">
              <a:ext uri="{FF2B5EF4-FFF2-40B4-BE49-F238E27FC236}">
                <a16:creationId xmlns:a16="http://schemas.microsoft.com/office/drawing/2014/main" id="{3732A7B4-3A88-4F3B-85BE-10458DDFFC15}"/>
              </a:ext>
            </a:extLst>
          </p:cNvPr>
          <p:cNvSpPr>
            <a:spLocks xmlns:a="http://schemas.openxmlformats.org/drawingml/2006/main" noGrp="1"/>
          </p:cNvSpPr>
          <p:nvPr/>
        </p:nvSpPr>
        <p:spPr>
          <a:xfrm xmlns:a="http://schemas.openxmlformats.org/drawingml/2006/main">
            <a:off x="2714625" y="354330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0" i="0">
                <a:solidFill>
                  <a:srgbClr val="111111"/>
                </a:solidFill>
                <a:latin typeface="Arial"/>
                <a:ea typeface="Arial"/>
                <a:cs typeface="Arial"/>
              </a:defRPr>
            </a:pPr>
            <a:r>
              <a:rPr sz="1013" b="0" i="0">
                <a:solidFill>
                  <a:srgbClr val="111111"/>
                </a:solidFill>
                <a:latin typeface="Arial"/>
                <a:ea typeface="Arial"/>
                <a:cs typeface="Arial"/>
              </a:rPr>
              <a:t>1</a:t>
            </a:r>
          </a:p>
        </p:txBody>
      </p:sp>
      <p:sp>
        <p:nvSpPr>
          <p:cNvPr id="27" name="Straight Connector 26">
            <a:extLst xmlns:a="http://schemas.openxmlformats.org/drawingml/2006/main">
              <a:ext uri="{FF2B5EF4-FFF2-40B4-BE49-F238E27FC236}">
                <a16:creationId xmlns:a16="http://schemas.microsoft.com/office/drawing/2014/main" id="{FBF22472-0225-4133-8415-2EA7ECD90EFA}"/>
              </a:ext>
            </a:extLst>
          </p:cNvPr>
          <p:cNvSpPr>
            <a:spLocks xmlns:a="http://schemas.openxmlformats.org/drawingml/2006/main" noGrp="1"/>
          </p:cNvSpPr>
          <p:nvPr/>
        </p:nvSpPr>
        <p:spPr>
          <a:xfrm xmlns:a="http://schemas.openxmlformats.org/drawingml/2006/main">
            <a:off x="971550" y="3790950"/>
            <a:ext cx="3743325" cy="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pic>
        <p:nvPicPr>
          <p:cNvPr id="107" name="Picture 91"/>
          <p:cNvPicPr>
            <a:picLocks xmlns:a="http://schemas.openxmlformats.org/drawingml/2006/main" noChangeAspect="1"/>
          </p:cNvPicPr>
          <p:nvPr/>
        </p:nvPicPr>
        <p:blipFill>
          <a:blip xmlns:r="http://schemas.openxmlformats.org/officeDocument/2006/relationships" xmlns:a="http://schemas.openxmlformats.org/drawingml/2006/main" r:embed="Rdc29d7f26c4747dc"/>
          <a:stretch xmlns:a="http://schemas.openxmlformats.org/drawingml/2006/main"/>
        </p:blipFill>
        <p:spPr>
          <a:xfrm xmlns:a="http://schemas.openxmlformats.org/drawingml/2006/main">
            <a:off x="619125" y="3876675"/>
            <a:ext cx="266700" cy="266700"/>
          </a:xfrm>
          <a:prstGeom xmlns:a="http://schemas.openxmlformats.org/drawingml/2006/main" prst="rect">
            <a:avLst/>
          </a:prstGeom>
        </p:spPr>
      </p:pic>
      <p:sp>
        <p:nvSpPr>
          <p:cNvPr id="29" name="Rectangle 28">
            <a:extLst xmlns:a="http://schemas.openxmlformats.org/drawingml/2006/main">
              <a:ext uri="{FF2B5EF4-FFF2-40B4-BE49-F238E27FC236}">
                <a16:creationId xmlns:a16="http://schemas.microsoft.com/office/drawing/2014/main" id="{92EBD8D0-6200-44BB-B234-8E0C2461857E}"/>
              </a:ext>
            </a:extLst>
          </p:cNvPr>
          <p:cNvSpPr>
            <a:spLocks xmlns:a="http://schemas.openxmlformats.org/drawingml/2006/main" noGrp="1"/>
          </p:cNvSpPr>
          <p:nvPr/>
        </p:nvSpPr>
        <p:spPr>
          <a:xfrm xmlns:a="http://schemas.openxmlformats.org/drawingml/2006/main">
            <a:off x="1095375" y="39243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1" i="0">
                <a:solidFill>
                  <a:srgbClr val="003B25"/>
                </a:solidFill>
                <a:latin typeface="Arial"/>
                <a:ea typeface="Arial"/>
                <a:cs typeface="Arial"/>
              </a:defRPr>
            </a:pPr>
            <a:r>
              <a:rPr sz="1013" b="1" i="0">
                <a:solidFill>
                  <a:srgbClr val="003B25"/>
                </a:solidFill>
                <a:latin typeface="Arial"/>
                <a:ea typeface="Arial"/>
                <a:cs typeface="Arial"/>
              </a:rPr>
              <a:t>Hosts</a:t>
            </a:r>
          </a:p>
        </p:txBody>
      </p:sp>
      <p:sp>
        <p:nvSpPr>
          <p:cNvPr id="30" name="editable-ocvs-hosts">
            <a:extLst xmlns:a="http://schemas.openxmlformats.org/drawingml/2006/main">
              <a:ext uri="{FF2B5EF4-FFF2-40B4-BE49-F238E27FC236}">
                <a16:creationId xmlns:a16="http://schemas.microsoft.com/office/drawing/2014/main" id="{8BCBCBFE-8FBA-4B24-AE05-54385D787A82}"/>
              </a:ext>
            </a:extLst>
          </p:cNvPr>
          <p:cNvSpPr>
            <a:spLocks xmlns:a="http://schemas.openxmlformats.org/drawingml/2006/main" noGrp="1"/>
          </p:cNvSpPr>
          <p:nvPr/>
        </p:nvSpPr>
        <p:spPr>
          <a:xfrm xmlns:a="http://schemas.openxmlformats.org/drawingml/2006/main">
            <a:off x="2714625" y="392430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0" i="0">
                <a:solidFill>
                  <a:srgbClr val="111111"/>
                </a:solidFill>
                <a:latin typeface="Arial"/>
                <a:ea typeface="Arial"/>
                <a:cs typeface="Arial"/>
              </a:defRPr>
            </a:pPr>
            <a:r>
              <a:rPr sz="1013" b="0" i="0">
                <a:solidFill>
                  <a:srgbClr val="111111"/>
                </a:solidFill>
                <a:latin typeface="Arial"/>
                <a:ea typeface="Arial"/>
                <a:cs typeface="Arial"/>
              </a:rPr>
              <a:t>4</a:t>
            </a:r>
          </a:p>
        </p:txBody>
      </p:sp>
      <p:sp>
        <p:nvSpPr>
          <p:cNvPr id="31" name="Straight Connector 30">
            <a:extLst xmlns:a="http://schemas.openxmlformats.org/drawingml/2006/main">
              <a:ext uri="{FF2B5EF4-FFF2-40B4-BE49-F238E27FC236}">
                <a16:creationId xmlns:a16="http://schemas.microsoft.com/office/drawing/2014/main" id="{97B67929-BE78-46B8-BE26-E454604B77F2}"/>
              </a:ext>
            </a:extLst>
          </p:cNvPr>
          <p:cNvSpPr>
            <a:spLocks xmlns:a="http://schemas.openxmlformats.org/drawingml/2006/main" noGrp="1"/>
          </p:cNvSpPr>
          <p:nvPr/>
        </p:nvSpPr>
        <p:spPr>
          <a:xfrm xmlns:a="http://schemas.openxmlformats.org/drawingml/2006/main">
            <a:off x="971550" y="4171950"/>
            <a:ext cx="3743325" cy="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pic>
        <p:nvPicPr>
          <p:cNvPr id="111" name="Picture 95"/>
          <p:cNvPicPr>
            <a:picLocks xmlns:a="http://schemas.openxmlformats.org/drawingml/2006/main" noChangeAspect="1"/>
          </p:cNvPicPr>
          <p:nvPr/>
        </p:nvPicPr>
        <p:blipFill>
          <a:blip xmlns:r="http://schemas.openxmlformats.org/officeDocument/2006/relationships" xmlns:a="http://schemas.openxmlformats.org/drawingml/2006/main" r:embed="R1ae9054c4b7e4413"/>
          <a:stretch xmlns:a="http://schemas.openxmlformats.org/drawingml/2006/main"/>
        </p:blipFill>
        <p:spPr>
          <a:xfrm xmlns:a="http://schemas.openxmlformats.org/drawingml/2006/main">
            <a:off x="619125" y="4267200"/>
            <a:ext cx="266700" cy="266700"/>
          </a:xfrm>
          <a:prstGeom xmlns:a="http://schemas.openxmlformats.org/drawingml/2006/main" prst="rect">
            <a:avLst/>
          </a:prstGeom>
        </p:spPr>
      </p:pic>
      <p:sp>
        <p:nvSpPr>
          <p:cNvPr id="33" name="Rectangle 32">
            <a:extLst xmlns:a="http://schemas.openxmlformats.org/drawingml/2006/main">
              <a:ext uri="{FF2B5EF4-FFF2-40B4-BE49-F238E27FC236}">
                <a16:creationId xmlns:a16="http://schemas.microsoft.com/office/drawing/2014/main" id="{611C5C49-7C43-4926-A4CD-0D62BD0CA685}"/>
              </a:ext>
            </a:extLst>
          </p:cNvPr>
          <p:cNvSpPr>
            <a:spLocks xmlns:a="http://schemas.openxmlformats.org/drawingml/2006/main" noGrp="1"/>
          </p:cNvSpPr>
          <p:nvPr/>
        </p:nvSpPr>
        <p:spPr>
          <a:xfrm xmlns:a="http://schemas.openxmlformats.org/drawingml/2006/main">
            <a:off x="1095375" y="431482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1" i="0">
                <a:solidFill>
                  <a:srgbClr val="003B25"/>
                </a:solidFill>
                <a:latin typeface="Arial"/>
                <a:ea typeface="Arial"/>
                <a:cs typeface="Arial"/>
              </a:defRPr>
            </a:pPr>
            <a:r>
              <a:rPr sz="1013" b="1" i="0">
                <a:solidFill>
                  <a:srgbClr val="003B25"/>
                </a:solidFill>
                <a:latin typeface="Arial"/>
                <a:ea typeface="Arial"/>
                <a:cs typeface="Arial"/>
              </a:rPr>
              <a:t>Shape</a:t>
            </a:r>
          </a:p>
        </p:txBody>
      </p:sp>
      <p:sp>
        <p:nvSpPr>
          <p:cNvPr id="34" name="editable-ocvs-shape">
            <a:extLst xmlns:a="http://schemas.openxmlformats.org/drawingml/2006/main">
              <a:ext uri="{FF2B5EF4-FFF2-40B4-BE49-F238E27FC236}">
                <a16:creationId xmlns:a16="http://schemas.microsoft.com/office/drawing/2014/main" id="{9DB25AF8-EA9B-43F4-A3C2-ED13FE3B18C4}"/>
              </a:ext>
            </a:extLst>
          </p:cNvPr>
          <p:cNvSpPr>
            <a:spLocks xmlns:a="http://schemas.openxmlformats.org/drawingml/2006/main" noGrp="1"/>
          </p:cNvSpPr>
          <p:nvPr/>
        </p:nvSpPr>
        <p:spPr>
          <a:xfrm xmlns:a="http://schemas.openxmlformats.org/drawingml/2006/main">
            <a:off x="2714625" y="4314825"/>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0" i="0">
                <a:solidFill>
                  <a:srgbClr val="111111"/>
                </a:solidFill>
                <a:latin typeface="Arial"/>
                <a:ea typeface="Arial"/>
                <a:cs typeface="Arial"/>
              </a:defRPr>
            </a:pPr>
            <a:r>
              <a:rPr sz="1013" b="0" i="0">
                <a:solidFill>
                  <a:srgbClr val="111111"/>
                </a:solidFill>
                <a:latin typeface="Arial"/>
                <a:ea typeface="Arial"/>
                <a:cs typeface="Arial"/>
              </a:rPr>
              <a:t>AMD E4</a:t>
            </a:r>
          </a:p>
        </p:txBody>
      </p:sp>
      <p:sp>
        <p:nvSpPr>
          <p:cNvPr id="35" name="Straight Connector 34">
            <a:extLst xmlns:a="http://schemas.openxmlformats.org/drawingml/2006/main">
              <a:ext uri="{FF2B5EF4-FFF2-40B4-BE49-F238E27FC236}">
                <a16:creationId xmlns:a16="http://schemas.microsoft.com/office/drawing/2014/main" id="{174C5339-3927-452C-833D-022327F62FE9}"/>
              </a:ext>
            </a:extLst>
          </p:cNvPr>
          <p:cNvSpPr>
            <a:spLocks xmlns:a="http://schemas.openxmlformats.org/drawingml/2006/main" noGrp="1"/>
          </p:cNvSpPr>
          <p:nvPr/>
        </p:nvSpPr>
        <p:spPr>
          <a:xfrm xmlns:a="http://schemas.openxmlformats.org/drawingml/2006/main">
            <a:off x="971550" y="4562475"/>
            <a:ext cx="3743325" cy="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pic>
        <p:nvPicPr>
          <p:cNvPr id="115" name="Picture 99"/>
          <p:cNvPicPr>
            <a:picLocks xmlns:a="http://schemas.openxmlformats.org/drawingml/2006/main" noChangeAspect="1"/>
          </p:cNvPicPr>
          <p:nvPr/>
        </p:nvPicPr>
        <p:blipFill>
          <a:blip xmlns:r="http://schemas.openxmlformats.org/officeDocument/2006/relationships" xmlns:a="http://schemas.openxmlformats.org/drawingml/2006/main" r:embed="R3c6f8c74cee94db1"/>
          <a:stretch xmlns:a="http://schemas.openxmlformats.org/drawingml/2006/main"/>
        </p:blipFill>
        <p:spPr>
          <a:xfrm xmlns:a="http://schemas.openxmlformats.org/drawingml/2006/main">
            <a:off x="623427" y="4657725"/>
            <a:ext cx="258097" cy="266700"/>
          </a:xfrm>
          <a:prstGeom xmlns:a="http://schemas.openxmlformats.org/drawingml/2006/main" prst="rect">
            <a:avLst/>
          </a:prstGeom>
        </p:spPr>
      </p:pic>
      <p:sp>
        <p:nvSpPr>
          <p:cNvPr id="37" name="Rectangle 36">
            <a:extLst xmlns:a="http://schemas.openxmlformats.org/drawingml/2006/main">
              <a:ext uri="{FF2B5EF4-FFF2-40B4-BE49-F238E27FC236}">
                <a16:creationId xmlns:a16="http://schemas.microsoft.com/office/drawing/2014/main" id="{A296B6A2-1EAE-4DF0-B44E-8318BD4233C2}"/>
              </a:ext>
            </a:extLst>
          </p:cNvPr>
          <p:cNvSpPr>
            <a:spLocks xmlns:a="http://schemas.openxmlformats.org/drawingml/2006/main" noGrp="1"/>
          </p:cNvSpPr>
          <p:nvPr/>
        </p:nvSpPr>
        <p:spPr>
          <a:xfrm xmlns:a="http://schemas.openxmlformats.org/drawingml/2006/main">
            <a:off x="1095375" y="470535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1" i="0">
                <a:solidFill>
                  <a:srgbClr val="003B25"/>
                </a:solidFill>
                <a:latin typeface="Arial"/>
                <a:ea typeface="Arial"/>
                <a:cs typeface="Arial"/>
              </a:defRPr>
            </a:pPr>
            <a:r>
              <a:rPr sz="1013" b="1" i="0">
                <a:solidFill>
                  <a:srgbClr val="003B25"/>
                </a:solidFill>
                <a:latin typeface="Arial"/>
                <a:ea typeface="Arial"/>
                <a:cs typeface="Arial"/>
              </a:rPr>
              <a:t>Storage</a:t>
            </a:r>
          </a:p>
        </p:txBody>
      </p:sp>
      <p:sp>
        <p:nvSpPr>
          <p:cNvPr id="38" name="editable-ocvs-storage">
            <a:extLst xmlns:a="http://schemas.openxmlformats.org/drawingml/2006/main">
              <a:ext uri="{FF2B5EF4-FFF2-40B4-BE49-F238E27FC236}">
                <a16:creationId xmlns:a16="http://schemas.microsoft.com/office/drawing/2014/main" id="{571D8DEA-6CCE-4396-A35E-1C8C5E110E93}"/>
              </a:ext>
            </a:extLst>
          </p:cNvPr>
          <p:cNvSpPr>
            <a:spLocks xmlns:a="http://schemas.openxmlformats.org/drawingml/2006/main" noGrp="1"/>
          </p:cNvSpPr>
          <p:nvPr/>
        </p:nvSpPr>
        <p:spPr>
          <a:xfrm xmlns:a="http://schemas.openxmlformats.org/drawingml/2006/main">
            <a:off x="2714625" y="47053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0" i="0">
                <a:solidFill>
                  <a:srgbClr val="111111"/>
                </a:solidFill>
                <a:latin typeface="Arial"/>
                <a:ea typeface="Arial"/>
                <a:cs typeface="Arial"/>
              </a:defRPr>
            </a:pPr>
            <a:r>
              <a:rPr sz="1013" b="0" i="0">
                <a:solidFill>
                  <a:srgbClr val="111111"/>
                </a:solidFill>
                <a:latin typeface="Arial"/>
                <a:ea typeface="Arial"/>
                <a:cs typeface="Arial"/>
              </a:rPr>
              <a:t>200 TB</a:t>
            </a:r>
          </a:p>
        </p:txBody>
      </p:sp>
      <p:sp>
        <p:nvSpPr>
          <p:cNvPr id="39" name="Straight Connector 38">
            <a:extLst xmlns:a="http://schemas.openxmlformats.org/drawingml/2006/main">
              <a:ext uri="{FF2B5EF4-FFF2-40B4-BE49-F238E27FC236}">
                <a16:creationId xmlns:a16="http://schemas.microsoft.com/office/drawing/2014/main" id="{5520A562-CFAF-4530-A6B7-7E28A96260E0}"/>
              </a:ext>
            </a:extLst>
          </p:cNvPr>
          <p:cNvSpPr>
            <a:spLocks xmlns:a="http://schemas.openxmlformats.org/drawingml/2006/main" noGrp="1"/>
          </p:cNvSpPr>
          <p:nvPr/>
        </p:nvSpPr>
        <p:spPr>
          <a:xfrm xmlns:a="http://schemas.openxmlformats.org/drawingml/2006/main">
            <a:off x="971550" y="4953000"/>
            <a:ext cx="3743325" cy="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pic>
        <p:nvPicPr>
          <p:cNvPr id="119" name="Picture 103"/>
          <p:cNvPicPr>
            <a:picLocks xmlns:a="http://schemas.openxmlformats.org/drawingml/2006/main" noChangeAspect="1"/>
          </p:cNvPicPr>
          <p:nvPr/>
        </p:nvPicPr>
        <p:blipFill>
          <a:blip xmlns:r="http://schemas.openxmlformats.org/officeDocument/2006/relationships" xmlns:a="http://schemas.openxmlformats.org/drawingml/2006/main" r:embed="R9c51d93661894ac8"/>
          <a:stretch xmlns:a="http://schemas.openxmlformats.org/drawingml/2006/main"/>
        </p:blipFill>
        <p:spPr>
          <a:xfrm xmlns:a="http://schemas.openxmlformats.org/drawingml/2006/main">
            <a:off x="600075" y="5059680"/>
            <a:ext cx="304800" cy="243840"/>
          </a:xfrm>
          <a:prstGeom xmlns:a="http://schemas.openxmlformats.org/drawingml/2006/main" prst="rect">
            <a:avLst/>
          </a:prstGeom>
        </p:spPr>
      </p:pic>
      <p:sp>
        <p:nvSpPr>
          <p:cNvPr id="41" name="Rectangle 40">
            <a:extLst xmlns:a="http://schemas.openxmlformats.org/drawingml/2006/main">
              <a:ext uri="{FF2B5EF4-FFF2-40B4-BE49-F238E27FC236}">
                <a16:creationId xmlns:a16="http://schemas.microsoft.com/office/drawing/2014/main" id="{F1AC0AF7-CEAD-416C-835F-A8E4E0E9D4ED}"/>
              </a:ext>
            </a:extLst>
          </p:cNvPr>
          <p:cNvSpPr>
            <a:spLocks xmlns:a="http://schemas.openxmlformats.org/drawingml/2006/main" noGrp="1"/>
          </p:cNvSpPr>
          <p:nvPr/>
        </p:nvSpPr>
        <p:spPr>
          <a:xfrm xmlns:a="http://schemas.openxmlformats.org/drawingml/2006/main">
            <a:off x="1095375" y="50958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1" i="0">
                <a:solidFill>
                  <a:srgbClr val="003B25"/>
                </a:solidFill>
                <a:latin typeface="Arial"/>
                <a:ea typeface="Arial"/>
                <a:cs typeface="Arial"/>
              </a:defRPr>
            </a:pPr>
            <a:r>
              <a:rPr sz="1013" b="1" i="0">
                <a:solidFill>
                  <a:srgbClr val="003B25"/>
                </a:solidFill>
                <a:latin typeface="Arial"/>
                <a:ea typeface="Arial"/>
                <a:cs typeface="Arial"/>
              </a:rPr>
              <a:t>Storage Type</a:t>
            </a:r>
          </a:p>
        </p:txBody>
      </p:sp>
      <p:sp>
        <p:nvSpPr>
          <p:cNvPr id="42" name="editable-ocvs-storage-type">
            <a:extLst xmlns:a="http://schemas.openxmlformats.org/drawingml/2006/main">
              <a:ext uri="{FF2B5EF4-FFF2-40B4-BE49-F238E27FC236}">
                <a16:creationId xmlns:a16="http://schemas.microsoft.com/office/drawing/2014/main" id="{0D164D0D-8AB5-4407-9EE9-E57C7BA98C66}"/>
              </a:ext>
            </a:extLst>
          </p:cNvPr>
          <p:cNvSpPr>
            <a:spLocks xmlns:a="http://schemas.openxmlformats.org/drawingml/2006/main" noGrp="1"/>
          </p:cNvSpPr>
          <p:nvPr/>
        </p:nvSpPr>
        <p:spPr>
          <a:xfrm xmlns:a="http://schemas.openxmlformats.org/drawingml/2006/main">
            <a:off x="2714625" y="5095875"/>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13" b="0" i="0">
                <a:solidFill>
                  <a:srgbClr val="111111"/>
                </a:solidFill>
                <a:latin typeface="Arial"/>
                <a:ea typeface="Arial"/>
                <a:cs typeface="Arial"/>
              </a:defRPr>
            </a:pPr>
            <a:r>
              <a:rPr sz="1013" b="0" i="0">
                <a:solidFill>
                  <a:srgbClr val="111111"/>
                </a:solidFill>
                <a:latin typeface="Arial"/>
                <a:ea typeface="Arial"/>
                <a:cs typeface="Arial"/>
              </a:rPr>
              <a:t>OCI Block Volume</a:t>
            </a:r>
          </a:p>
        </p:txBody>
      </p:sp>
      <p:sp>
        <p:nvSpPr>
          <p:cNvPr id="43" name="Rounded Rectangle 42">
            <a:extLst xmlns:a="http://schemas.openxmlformats.org/drawingml/2006/main">
              <a:ext uri="{FF2B5EF4-FFF2-40B4-BE49-F238E27FC236}">
                <a16:creationId xmlns:a16="http://schemas.microsoft.com/office/drawing/2014/main" id="{F4A93DB1-0C11-4F07-995E-5594E63F6BCF}"/>
              </a:ext>
            </a:extLst>
          </p:cNvPr>
          <p:cNvSpPr>
            <a:spLocks xmlns:a="http://schemas.openxmlformats.org/drawingml/2006/main" noGrp="1"/>
          </p:cNvSpPr>
          <p:nvPr/>
        </p:nvSpPr>
        <p:spPr>
          <a:xfrm xmlns:a="http://schemas.openxmlformats.org/drawingml/2006/main">
            <a:off x="5153025" y="2600325"/>
            <a:ext cx="6657975" cy="2790825"/>
          </a:xfrm>
          <a:prstGeom xmlns:a="http://schemas.openxmlformats.org/drawingml/2006/main" prst="roundRect">
            <a:avLst>
              <a:gd name="adj" fmla="val 2389"/>
            </a:avLst>
          </a:prstGeom>
          <a:solidFill xmlns:a="http://schemas.openxmlformats.org/drawingml/2006/main">
            <a:srgbClr val="FFFFFF"/>
          </a:solidFill>
          <a:ln xmlns:a="http://schemas.openxmlformats.org/drawingml/2006/main" w="9525">
            <a:solidFill>
              <a:srgbClr val="D9DED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44" name="Rounded Rectangle 43">
            <a:extLst xmlns:a="http://schemas.openxmlformats.org/drawingml/2006/main">
              <a:ext uri="{FF2B5EF4-FFF2-40B4-BE49-F238E27FC236}">
                <a16:creationId xmlns:a16="http://schemas.microsoft.com/office/drawing/2014/main" id="{19693974-293E-4E08-91F3-7697E0B7E601}"/>
              </a:ext>
            </a:extLst>
          </p:cNvPr>
          <p:cNvSpPr>
            <a:spLocks xmlns:a="http://schemas.openxmlformats.org/drawingml/2006/main" noGrp="1"/>
          </p:cNvSpPr>
          <p:nvPr/>
        </p:nvSpPr>
        <p:spPr>
          <a:xfrm xmlns:a="http://schemas.openxmlformats.org/drawingml/2006/main">
            <a:off x="5153025" y="2600325"/>
            <a:ext cx="6657975" cy="342900"/>
          </a:xfrm>
          <a:prstGeom xmlns:a="http://schemas.openxmlformats.org/drawingml/2006/main" prst="roundRect">
            <a:avLst>
              <a:gd name="adj" fmla="val 19444"/>
            </a:avLst>
          </a:prstGeom>
          <a:gradFill xmlns:a="http://schemas.openxmlformats.org/drawingml/2006/main">
            <a:gsLst>
              <a:gs pos="0">
                <a:srgbClr val="003B25"/>
              </a:gs>
              <a:gs pos="100000">
                <a:srgbClr val="0B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45" name="Rectangle 44">
            <a:extLst xmlns:a="http://schemas.openxmlformats.org/drawingml/2006/main">
              <a:ext uri="{FF2B5EF4-FFF2-40B4-BE49-F238E27FC236}">
                <a16:creationId xmlns:a16="http://schemas.microsoft.com/office/drawing/2014/main" id="{D3A91228-06D1-492A-84C7-F52EB6AE30B6}"/>
              </a:ext>
            </a:extLst>
          </p:cNvPr>
          <p:cNvSpPr>
            <a:spLocks xmlns:a="http://schemas.openxmlformats.org/drawingml/2006/main" noGrp="1"/>
          </p:cNvSpPr>
          <p:nvPr/>
        </p:nvSpPr>
        <p:spPr>
          <a:xfrm xmlns:a="http://schemas.openxmlformats.org/drawingml/2006/main">
            <a:off x="5153025" y="2876550"/>
            <a:ext cx="6657975" cy="66675"/>
          </a:xfrm>
          <a:prstGeom xmlns:a="http://schemas.openxmlformats.org/drawingml/2006/main" prst="rect">
            <a:avLst/>
          </a:prstGeom>
          <a:gradFill xmlns:a="http://schemas.openxmlformats.org/drawingml/2006/main">
            <a:gsLst>
              <a:gs pos="0">
                <a:srgbClr val="003B25"/>
              </a:gs>
              <a:gs pos="100000">
                <a:srgbClr val="0B4B30"/>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125" name="Picture 109"/>
          <p:cNvPicPr>
            <a:picLocks xmlns:a="http://schemas.openxmlformats.org/drawingml/2006/main" noChangeAspect="1"/>
          </p:cNvPicPr>
          <p:nvPr/>
        </p:nvPicPr>
        <p:blipFill>
          <a:blip xmlns:r="http://schemas.openxmlformats.org/officeDocument/2006/relationships" xmlns:a="http://schemas.openxmlformats.org/drawingml/2006/main" r:embed="R3af0a355e8d34705"/>
          <a:stretch xmlns:a="http://schemas.openxmlformats.org/drawingml/2006/main"/>
        </p:blipFill>
        <p:spPr>
          <a:xfrm xmlns:a="http://schemas.openxmlformats.org/drawingml/2006/main">
            <a:off x="5377053" y="2676525"/>
            <a:ext cx="237744" cy="228600"/>
          </a:xfrm>
          <a:prstGeom xmlns:a="http://schemas.openxmlformats.org/drawingml/2006/main" prst="rect">
            <a:avLst/>
          </a:prstGeom>
        </p:spPr>
      </p:pic>
      <p:sp>
        <p:nvSpPr>
          <p:cNvPr id="47" name="Rectangle 46">
            <a:extLst xmlns:a="http://schemas.openxmlformats.org/drawingml/2006/main">
              <a:ext uri="{FF2B5EF4-FFF2-40B4-BE49-F238E27FC236}">
                <a16:creationId xmlns:a16="http://schemas.microsoft.com/office/drawing/2014/main" id="{C1C7126B-261C-4305-996E-A098C771BD53}"/>
              </a:ext>
            </a:extLst>
          </p:cNvPr>
          <p:cNvSpPr>
            <a:spLocks xmlns:a="http://schemas.openxmlformats.org/drawingml/2006/main" noGrp="1"/>
          </p:cNvSpPr>
          <p:nvPr/>
        </p:nvSpPr>
        <p:spPr>
          <a:xfrm xmlns:a="http://schemas.openxmlformats.org/drawingml/2006/main">
            <a:off x="5734050" y="2724150"/>
            <a:ext cx="1714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Cluster Distribution</a:t>
            </a:r>
          </a:p>
        </p:txBody>
      </p:sp>
      <p:sp>
        <p:nvSpPr>
          <p:cNvPr id="48" name="Rounded Rectangle 47">
            <a:extLst xmlns:a="http://schemas.openxmlformats.org/drawingml/2006/main">
              <a:ext uri="{FF2B5EF4-FFF2-40B4-BE49-F238E27FC236}">
                <a16:creationId xmlns:a16="http://schemas.microsoft.com/office/drawing/2014/main" id="{0402606C-82ED-44F9-89DE-F2BB23C1D685}"/>
              </a:ext>
            </a:extLst>
          </p:cNvPr>
          <p:cNvSpPr>
            <a:spLocks xmlns:a="http://schemas.openxmlformats.org/drawingml/2006/main" noGrp="1"/>
          </p:cNvSpPr>
          <p:nvPr/>
        </p:nvSpPr>
        <p:spPr>
          <a:xfrm xmlns:a="http://schemas.openxmlformats.org/drawingml/2006/main">
            <a:off x="5372100" y="3152775"/>
            <a:ext cx="6134100" cy="2105025"/>
          </a:xfrm>
          <a:prstGeom xmlns:a="http://schemas.openxmlformats.org/drawingml/2006/main" prst="roundRect">
            <a:avLst>
              <a:gd name="adj" fmla="val 3167"/>
            </a:avLst>
          </a:prstGeom>
          <a:solidFill xmlns:a="http://schemas.openxmlformats.org/drawingml/2006/main">
            <a:srgbClr val="FFFFFF"/>
          </a:solidFill>
          <a:ln xmlns:a="http://schemas.openxmlformats.org/drawingml/2006/main" w="9525">
            <a:solidFill>
              <a:srgbClr val="D9DEDA"/>
            </a:solidFill>
            <a:prstDash val="solid"/>
          </a:ln>
        </p:spPr>
        <p:txBody>
          <a:bodyPr xmlns:a="http://schemas.openxmlformats.org/drawingml/2006/main"/>
          <a:lstStyle xmlns:a="http://schemas.openxmlformats.org/drawingml/2006/main"/>
          <a:p xmlns:a="http://schemas.openxmlformats.org/drawingml/2006/main">
            <a:endParaRPr/>
          </a:p>
        </p:txBody>
      </p:sp>
      <p:sp>
        <p:nvSpPr>
          <p:cNvPr id="49" name="Rectangle 48">
            <a:extLst xmlns:a="http://schemas.openxmlformats.org/drawingml/2006/main">
              <a:ext uri="{FF2B5EF4-FFF2-40B4-BE49-F238E27FC236}">
                <a16:creationId xmlns:a16="http://schemas.microsoft.com/office/drawing/2014/main" id="{5F9F1C6B-88CC-42AF-8D36-9A21C96472C5}"/>
              </a:ext>
            </a:extLst>
          </p:cNvPr>
          <p:cNvSpPr>
            <a:spLocks xmlns:a="http://schemas.openxmlformats.org/drawingml/2006/main" noGrp="1"/>
          </p:cNvSpPr>
          <p:nvPr/>
        </p:nvSpPr>
        <p:spPr>
          <a:xfrm xmlns:a="http://schemas.openxmlformats.org/drawingml/2006/main">
            <a:off x="5381625" y="3162300"/>
            <a:ext cx="6115050" cy="723900"/>
          </a:xfrm>
          <a:prstGeom xmlns:a="http://schemas.openxmlformats.org/drawingml/2006/main" prst="rect">
            <a:avLst/>
          </a:prstGeom>
          <a:solidFill xmlns:a="http://schemas.openxmlformats.org/drawingml/2006/main">
            <a:srgbClr val="F4F8F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129" name="Picture 113"/>
          <p:cNvPicPr>
            <a:picLocks xmlns:a="http://schemas.openxmlformats.org/drawingml/2006/main" noChangeAspect="1"/>
          </p:cNvPicPr>
          <p:nvPr/>
        </p:nvPicPr>
        <p:blipFill>
          <a:blip xmlns:r="http://schemas.openxmlformats.org/officeDocument/2006/relationships" xmlns:a="http://schemas.openxmlformats.org/drawingml/2006/main" r:embed="R128faff4a77c4d18"/>
          <a:stretch xmlns:a="http://schemas.openxmlformats.org/drawingml/2006/main"/>
        </p:blipFill>
        <p:spPr>
          <a:xfrm xmlns:a="http://schemas.openxmlformats.org/drawingml/2006/main">
            <a:off x="7172325" y="3209925"/>
            <a:ext cx="714375" cy="666750"/>
          </a:xfrm>
          <a:prstGeom xmlns:a="http://schemas.openxmlformats.org/drawingml/2006/main" prst="rect">
            <a:avLst/>
          </a:prstGeom>
        </p:spPr>
      </p:pic>
      <p:sp>
        <p:nvSpPr>
          <p:cNvPr id="51" name="Rectangle 50">
            <a:extLst xmlns:a="http://schemas.openxmlformats.org/drawingml/2006/main">
              <a:ext uri="{FF2B5EF4-FFF2-40B4-BE49-F238E27FC236}">
                <a16:creationId xmlns:a16="http://schemas.microsoft.com/office/drawing/2014/main" id="{8DC09F75-7A31-4E16-A176-3E722DEDC7AA}"/>
              </a:ext>
            </a:extLst>
          </p:cNvPr>
          <p:cNvSpPr>
            <a:spLocks xmlns:a="http://schemas.openxmlformats.org/drawingml/2006/main" noGrp="1"/>
          </p:cNvSpPr>
          <p:nvPr/>
        </p:nvSpPr>
        <p:spPr>
          <a:xfrm xmlns:a="http://schemas.openxmlformats.org/drawingml/2006/main">
            <a:off x="7934325" y="347662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350" b="1" i="0">
                <a:solidFill>
                  <a:srgbClr val="003B25"/>
                </a:solidFill>
                <a:latin typeface="Arial"/>
                <a:ea typeface="Arial"/>
                <a:cs typeface="Arial"/>
              </a:defRPr>
            </a:pPr>
            <a:r>
              <a:rPr sz="1350" b="1" i="0">
                <a:solidFill>
                  <a:srgbClr val="003B25"/>
                </a:solidFill>
                <a:latin typeface="Arial"/>
                <a:ea typeface="Arial"/>
                <a:cs typeface="Arial"/>
              </a:rPr>
              <a:t>Production</a:t>
            </a:r>
          </a:p>
        </p:txBody>
      </p:sp>
      <p:sp>
        <p:nvSpPr>
          <p:cNvPr id="52" name="Straight Connector 51">
            <a:extLst xmlns:a="http://schemas.openxmlformats.org/drawingml/2006/main">
              <a:ext uri="{FF2B5EF4-FFF2-40B4-BE49-F238E27FC236}">
                <a16:creationId xmlns:a16="http://schemas.microsoft.com/office/drawing/2014/main" id="{1A3A9718-8C44-4242-B34F-F001FA6307F6}"/>
              </a:ext>
            </a:extLst>
          </p:cNvPr>
          <p:cNvSpPr>
            <a:spLocks xmlns:a="http://schemas.openxmlformats.org/drawingml/2006/main" noGrp="1"/>
          </p:cNvSpPr>
          <p:nvPr/>
        </p:nvSpPr>
        <p:spPr>
          <a:xfrm xmlns:a="http://schemas.openxmlformats.org/drawingml/2006/main">
            <a:off x="5505450" y="4619625"/>
            <a:ext cx="5705475" cy="0"/>
          </a:xfrm>
          <a:prstGeom xmlns:a="http://schemas.openxmlformats.org/drawingml/2006/main" prst="line">
            <a:avLst/>
          </a:prstGeom>
          <a:noFill xmlns:a="http://schemas.openxmlformats.org/drawingml/2006/main"/>
          <a:ln xmlns:a="http://schemas.openxmlformats.org/drawingml/2006/main" w="9525">
            <a:solidFill>
              <a:srgbClr val="D8DDD9"/>
            </a:solidFill>
            <a:prstDash val="solid"/>
          </a:ln>
        </p:spPr>
        <p:txBody>
          <a:bodyPr xmlns:a="http://schemas.openxmlformats.org/drawingml/2006/main"/>
          <a:lstStyle xmlns:a="http://schemas.openxmlformats.org/drawingml/2006/main"/>
          <a:p xmlns:a="http://schemas.openxmlformats.org/drawingml/2006/main">
            <a:endParaRPr/>
          </a:p>
        </p:txBody>
      </p:sp>
      <p:pic>
        <p:nvPicPr>
          <p:cNvPr id="132" name="Picture 116"/>
          <p:cNvPicPr>
            <a:picLocks xmlns:a="http://schemas.openxmlformats.org/drawingml/2006/main" noChangeAspect="1"/>
          </p:cNvPicPr>
          <p:nvPr/>
        </p:nvPicPr>
        <p:blipFill>
          <a:blip xmlns:r="http://schemas.openxmlformats.org/officeDocument/2006/relationships" xmlns:a="http://schemas.openxmlformats.org/drawingml/2006/main" r:embed="Rb9f012d64f5a46c8"/>
          <a:stretch xmlns:a="http://schemas.openxmlformats.org/drawingml/2006/main"/>
        </p:blipFill>
        <p:spPr>
          <a:xfrm xmlns:a="http://schemas.openxmlformats.org/drawingml/2006/main">
            <a:off x="7305675" y="4171950"/>
            <a:ext cx="352425" cy="285750"/>
          </a:xfrm>
          <a:prstGeom xmlns:a="http://schemas.openxmlformats.org/drawingml/2006/main" prst="rect">
            <a:avLst/>
          </a:prstGeom>
        </p:spPr>
      </p:pic>
      <p:sp>
        <p:nvSpPr>
          <p:cNvPr id="54" name="editable-ocvs-production-hosts">
            <a:extLst xmlns:a="http://schemas.openxmlformats.org/drawingml/2006/main">
              <a:ext uri="{FF2B5EF4-FFF2-40B4-BE49-F238E27FC236}">
                <a16:creationId xmlns:a16="http://schemas.microsoft.com/office/drawing/2014/main" id="{DBA146ED-B71C-4C3A-ADBC-410FE533740C}"/>
              </a:ext>
            </a:extLst>
          </p:cNvPr>
          <p:cNvSpPr>
            <a:spLocks xmlns:a="http://schemas.openxmlformats.org/drawingml/2006/main" noGrp="1"/>
          </p:cNvSpPr>
          <p:nvPr/>
        </p:nvSpPr>
        <p:spPr>
          <a:xfrm xmlns:a="http://schemas.openxmlformats.org/drawingml/2006/main">
            <a:off x="7972425" y="4210050"/>
            <a:ext cx="228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800" b="1" i="0">
                <a:solidFill>
                  <a:srgbClr val="003B25"/>
                </a:solidFill>
                <a:latin typeface="Arial"/>
                <a:ea typeface="Arial"/>
                <a:cs typeface="Arial"/>
              </a:defRPr>
            </a:pPr>
            <a:r>
              <a:rPr sz="1800" b="1" i="0">
                <a:solidFill>
                  <a:srgbClr val="003B25"/>
                </a:solidFill>
                <a:latin typeface="Arial"/>
                <a:ea typeface="Arial"/>
                <a:cs typeface="Arial"/>
              </a:rPr>
              <a:t>4</a:t>
            </a:r>
          </a:p>
        </p:txBody>
      </p:sp>
      <p:sp>
        <p:nvSpPr>
          <p:cNvPr id="55" name="editable-ocvs-production-shape">
            <a:extLst xmlns:a="http://schemas.openxmlformats.org/drawingml/2006/main">
              <a:ext uri="{FF2B5EF4-FFF2-40B4-BE49-F238E27FC236}">
                <a16:creationId xmlns:a16="http://schemas.microsoft.com/office/drawing/2014/main" id="{5DBF9DD8-F59D-478A-A27E-79BABD53E9CC}"/>
              </a:ext>
            </a:extLst>
          </p:cNvPr>
          <p:cNvSpPr>
            <a:spLocks xmlns:a="http://schemas.openxmlformats.org/drawingml/2006/main" noGrp="1"/>
          </p:cNvSpPr>
          <p:nvPr/>
        </p:nvSpPr>
        <p:spPr>
          <a:xfrm xmlns:a="http://schemas.openxmlformats.org/drawingml/2006/main">
            <a:off x="8239125" y="428625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50" b="0" i="0">
                <a:solidFill>
                  <a:srgbClr val="111111"/>
                </a:solidFill>
                <a:latin typeface="Arial"/>
                <a:ea typeface="Arial"/>
                <a:cs typeface="Arial"/>
              </a:defRPr>
            </a:pPr>
            <a:r>
              <a:rPr sz="1050" b="0" i="0">
                <a:solidFill>
                  <a:srgbClr val="111111"/>
                </a:solidFill>
                <a:latin typeface="Arial"/>
                <a:ea typeface="Arial"/>
                <a:cs typeface="Arial"/>
              </a:rPr>
              <a:t>x AMD E4</a:t>
            </a:r>
          </a:p>
        </p:txBody>
      </p:sp>
      <p:pic>
        <p:nvPicPr>
          <p:cNvPr id="135" name="Picture 119"/>
          <p:cNvPicPr>
            <a:picLocks xmlns:a="http://schemas.openxmlformats.org/drawingml/2006/main" noChangeAspect="1"/>
          </p:cNvPicPr>
          <p:nvPr/>
        </p:nvPicPr>
        <p:blipFill>
          <a:blip xmlns:r="http://schemas.openxmlformats.org/officeDocument/2006/relationships" xmlns:a="http://schemas.openxmlformats.org/drawingml/2006/main" r:embed="R06699a828c7049eb"/>
          <a:stretch xmlns:a="http://schemas.openxmlformats.org/drawingml/2006/main"/>
        </p:blipFill>
        <p:spPr>
          <a:xfrm xmlns:a="http://schemas.openxmlformats.org/drawingml/2006/main">
            <a:off x="7315200" y="4756735"/>
            <a:ext cx="342900" cy="306805"/>
          </a:xfrm>
          <a:prstGeom xmlns:a="http://schemas.openxmlformats.org/drawingml/2006/main" prst="rect">
            <a:avLst/>
          </a:prstGeom>
        </p:spPr>
      </p:pic>
      <p:sp>
        <p:nvSpPr>
          <p:cNvPr id="57" name="editable-ocvs-production-storage">
            <a:extLst xmlns:a="http://schemas.openxmlformats.org/drawingml/2006/main">
              <a:ext uri="{FF2B5EF4-FFF2-40B4-BE49-F238E27FC236}">
                <a16:creationId xmlns:a16="http://schemas.microsoft.com/office/drawing/2014/main" id="{61B41578-806C-4401-935D-8C6BDB5BD3B9}"/>
              </a:ext>
            </a:extLst>
          </p:cNvPr>
          <p:cNvSpPr>
            <a:spLocks xmlns:a="http://schemas.openxmlformats.org/drawingml/2006/main" noGrp="1"/>
          </p:cNvSpPr>
          <p:nvPr/>
        </p:nvSpPr>
        <p:spPr>
          <a:xfrm xmlns:a="http://schemas.openxmlformats.org/drawingml/2006/main">
            <a:off x="7991475" y="4810125"/>
            <a:ext cx="5429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800" b="1" i="0">
                <a:solidFill>
                  <a:srgbClr val="003B25"/>
                </a:solidFill>
                <a:latin typeface="Arial"/>
                <a:ea typeface="Arial"/>
                <a:cs typeface="Arial"/>
              </a:defRPr>
            </a:pPr>
            <a:r>
              <a:rPr sz="1800" b="1" i="0">
                <a:solidFill>
                  <a:srgbClr val="003B25"/>
                </a:solidFill>
                <a:latin typeface="Arial"/>
                <a:ea typeface="Arial"/>
                <a:cs typeface="Arial"/>
              </a:rPr>
              <a:t>200</a:t>
            </a:r>
          </a:p>
        </p:txBody>
      </p:sp>
      <p:sp>
        <p:nvSpPr>
          <p:cNvPr id="58" name="Rectangle 57">
            <a:extLst xmlns:a="http://schemas.openxmlformats.org/drawingml/2006/main">
              <a:ext uri="{FF2B5EF4-FFF2-40B4-BE49-F238E27FC236}">
                <a16:creationId xmlns:a16="http://schemas.microsoft.com/office/drawing/2014/main" id="{98B6B2C4-DDC4-44ED-9B4E-5C1A4C0A5328}"/>
              </a:ext>
            </a:extLst>
          </p:cNvPr>
          <p:cNvSpPr>
            <a:spLocks xmlns:a="http://schemas.openxmlformats.org/drawingml/2006/main" noGrp="1"/>
          </p:cNvSpPr>
          <p:nvPr/>
        </p:nvSpPr>
        <p:spPr>
          <a:xfrm xmlns:a="http://schemas.openxmlformats.org/drawingml/2006/main">
            <a:off x="8524875" y="489585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050" b="1" i="0">
                <a:solidFill>
                  <a:srgbClr val="003B25"/>
                </a:solidFill>
                <a:latin typeface="Arial"/>
                <a:ea typeface="Arial"/>
                <a:cs typeface="Arial"/>
              </a:defRPr>
            </a:pPr>
            <a:r>
              <a:rPr sz="1050" b="1" i="0">
                <a:solidFill>
                  <a:srgbClr val="003B25"/>
                </a:solidFill>
                <a:latin typeface="Arial"/>
                <a:ea typeface="Arial"/>
                <a:cs typeface="Arial"/>
              </a:rPr>
              <a:t>TB</a:t>
            </a:r>
          </a:p>
        </p:txBody>
      </p:sp>
      <p:sp>
        <p:nvSpPr>
          <p:cNvPr id="59" name="Rounded Rectangle 58">
            <a:extLst xmlns:a="http://schemas.openxmlformats.org/drawingml/2006/main">
              <a:ext uri="{FF2B5EF4-FFF2-40B4-BE49-F238E27FC236}">
                <a16:creationId xmlns:a16="http://schemas.microsoft.com/office/drawing/2014/main" id="{FEA89CD6-5A66-491C-901C-25FF456DC8A4}"/>
              </a:ext>
            </a:extLst>
          </p:cNvPr>
          <p:cNvSpPr>
            <a:spLocks xmlns:a="http://schemas.openxmlformats.org/drawingml/2006/main" noGrp="1"/>
          </p:cNvSpPr>
          <p:nvPr/>
        </p:nvSpPr>
        <p:spPr>
          <a:xfrm xmlns:a="http://schemas.openxmlformats.org/drawingml/2006/main">
            <a:off x="361950" y="5553075"/>
            <a:ext cx="11449050" cy="619125"/>
          </a:xfrm>
          <a:prstGeom xmlns:a="http://schemas.openxmlformats.org/drawingml/2006/main" prst="roundRect">
            <a:avLst>
              <a:gd name="adj" fmla="val 6154"/>
            </a:avLst>
          </a:prstGeom>
          <a:gradFill xmlns:a="http://schemas.openxmlformats.org/drawingml/2006/main">
            <a:gsLst>
              <a:gs pos="0">
                <a:srgbClr val="F0F6F2"/>
              </a:gs>
              <a:gs pos="100000">
                <a:srgbClr val="F7FAF8"/>
              </a:gs>
            </a:gsLst>
            <a:lin ang="5400000"/>
          </a:gra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pic>
        <p:nvPicPr>
          <p:cNvPr id="139" name="Picture 123"/>
          <p:cNvPicPr>
            <a:picLocks xmlns:a="http://schemas.openxmlformats.org/drawingml/2006/main" noChangeAspect="1"/>
          </p:cNvPicPr>
          <p:nvPr/>
        </p:nvPicPr>
        <p:blipFill>
          <a:blip xmlns:r="http://schemas.openxmlformats.org/officeDocument/2006/relationships" xmlns:a="http://schemas.openxmlformats.org/drawingml/2006/main" r:embed="Ra47261668e564c1f"/>
          <a:stretch xmlns:a="http://schemas.openxmlformats.org/drawingml/2006/main"/>
        </p:blipFill>
        <p:spPr>
          <a:xfrm xmlns:a="http://schemas.openxmlformats.org/drawingml/2006/main">
            <a:off x="542925" y="5647619"/>
            <a:ext cx="476250" cy="458611"/>
          </a:xfrm>
          <a:prstGeom xmlns:a="http://schemas.openxmlformats.org/drawingml/2006/main" prst="rect">
            <a:avLst/>
          </a:prstGeom>
        </p:spPr>
      </p:pic>
      <p:sp>
        <p:nvSpPr>
          <p:cNvPr id="61" name="Rectangle 60">
            <a:extLst xmlns:a="http://schemas.openxmlformats.org/drawingml/2006/main">
              <a:ext uri="{FF2B5EF4-FFF2-40B4-BE49-F238E27FC236}">
                <a16:creationId xmlns:a16="http://schemas.microsoft.com/office/drawing/2014/main" id="{5DAD0D36-AD01-4390-AC74-7C58CD1446C4}"/>
              </a:ext>
            </a:extLst>
          </p:cNvPr>
          <p:cNvSpPr>
            <a:spLocks xmlns:a="http://schemas.openxmlformats.org/drawingml/2006/main" noGrp="1"/>
          </p:cNvSpPr>
          <p:nvPr/>
        </p:nvSpPr>
        <p:spPr>
          <a:xfrm xmlns:a="http://schemas.openxmlformats.org/drawingml/2006/main">
            <a:off x="1200150" y="5695950"/>
            <a:ext cx="647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63" b="1" i="0">
                <a:solidFill>
                  <a:srgbClr val="003B25"/>
                </a:solidFill>
                <a:latin typeface="Arial"/>
                <a:ea typeface="Arial"/>
                <a:cs typeface="Arial"/>
              </a:defRPr>
            </a:pPr>
            <a:r>
              <a:rPr sz="1163" b="1" i="0">
                <a:solidFill>
                  <a:srgbClr val="003B25"/>
                </a:solidFill>
                <a:latin typeface="Arial"/>
                <a:ea typeface="Arial"/>
                <a:cs typeface="Arial"/>
              </a:rPr>
              <a:t>Right-sized architecture designed to support current workloads and future growth</a:t>
            </a:r>
          </a:p>
        </p:txBody>
      </p:sp>
      <p:sp>
        <p:nvSpPr>
          <p:cNvPr id="62" name="Rectangle 61">
            <a:extLst xmlns:a="http://schemas.openxmlformats.org/drawingml/2006/main">
              <a:ext uri="{FF2B5EF4-FFF2-40B4-BE49-F238E27FC236}">
                <a16:creationId xmlns:a16="http://schemas.microsoft.com/office/drawing/2014/main" id="{68EC56A3-D2EC-4108-96A2-02243E8CFF9E}"/>
              </a:ext>
            </a:extLst>
          </p:cNvPr>
          <p:cNvSpPr>
            <a:spLocks xmlns:a="http://schemas.openxmlformats.org/drawingml/2006/main" noGrp="1"/>
          </p:cNvSpPr>
          <p:nvPr/>
        </p:nvSpPr>
        <p:spPr>
          <a:xfrm xmlns:a="http://schemas.openxmlformats.org/drawingml/2006/main">
            <a:off x="1200150" y="5924550"/>
            <a:ext cx="3524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1125" b="0" i="0">
                <a:solidFill>
                  <a:srgbClr val="111111"/>
                </a:solidFill>
                <a:latin typeface="Arial"/>
                <a:ea typeface="Arial"/>
                <a:cs typeface="Arial"/>
              </a:defRPr>
            </a:pPr>
            <a:r>
              <a:rPr sz="1125" b="0" i="0">
                <a:solidFill>
                  <a:srgbClr val="111111"/>
                </a:solidFill>
                <a:latin typeface="Arial"/>
                <a:ea typeface="Arial"/>
                <a:cs typeface="Arial"/>
              </a:rPr>
              <a:t>while optimizing cost and performance.</a:t>
            </a:r>
          </a:p>
        </p:txBody>
      </p:sp>
      <p:sp>
        <p:nvSpPr>
          <p:cNvPr id="63" name="Rectangle 62">
            <a:extLst xmlns:a="http://schemas.openxmlformats.org/drawingml/2006/main">
              <a:ext uri="{FF2B5EF4-FFF2-40B4-BE49-F238E27FC236}">
                <a16:creationId xmlns:a16="http://schemas.microsoft.com/office/drawing/2014/main" id="{37F63975-8C02-4B96-9126-5015455BA972}"/>
              </a:ext>
            </a:extLst>
          </p:cNvPr>
          <p:cNvSpPr>
            <a:spLocks xmlns:a="http://schemas.openxmlformats.org/drawingml/2006/main" noGrp="1"/>
          </p:cNvSpPr>
          <p:nvPr/>
        </p:nvSpPr>
        <p:spPr>
          <a:xfrm xmlns:a="http://schemas.openxmlformats.org/drawingml/2006/main">
            <a:off x="1133475" y="6553200"/>
            <a:ext cx="5334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p xmlns:a="http://schemas.openxmlformats.org/drawingml/2006/main">
            <a:pPr algn="l">
              <a:lnSpc>
                <a:spcPct val="100000"/>
              </a:lnSpc>
              <a:buNone/>
              <a:defRPr sz="675" b="0" i="0">
                <a:solidFill>
                  <a:srgbClr val="5C5C5C"/>
                </a:solidFill>
                <a:latin typeface="Arial"/>
                <a:ea typeface="Arial"/>
                <a:cs typeface="Arial"/>
              </a:defRPr>
            </a:pPr>
            <a:r>
              <a:rPr sz="675" b="0" i="0">
                <a:solidFill>
                  <a:srgbClr val="5C5C5C"/>
                </a:solidFill>
                <a:latin typeface="Arial"/>
                <a:ea typeface="Arial"/>
                <a:cs typeface="Arial"/>
              </a:rPr>
              <a:t>Copyright © 2026, Oracle and/or its affiliates | Confidential: Internal/Restricted/Highly Restricted</a:t>
            </a:r>
          </a:p>
        </p:txBody>
      </p:sp>
      <p:pic>
        <p:nvPicPr>
          <p:cNvPr id="143" name="Picture 127"/>
          <p:cNvPicPr>
            <a:picLocks xmlns:a="http://schemas.openxmlformats.org/drawingml/2006/main" noChangeAspect="1"/>
          </p:cNvPicPr>
          <p:nvPr/>
        </p:nvPicPr>
        <p:blipFill>
          <a:blip xmlns:r="http://schemas.openxmlformats.org/officeDocument/2006/relationships" xmlns:a="http://schemas.openxmlformats.org/drawingml/2006/main" r:embed="R495fb14583364bc1"/>
          <a:stretch xmlns:a="http://schemas.openxmlformats.org/drawingml/2006/main"/>
        </p:blipFill>
        <p:spPr>
          <a:xfrm xmlns:a="http://schemas.openxmlformats.org/drawingml/2006/main">
            <a:off x="11401979" y="6457950"/>
            <a:ext cx="446567" cy="400050"/>
          </a:xfrm>
          <a:prstGeom xmlns:a="http://schemas.openxmlformats.org/drawingml/2006/main" prst="rect">
            <a:avLst/>
          </a:prstGeom>
        </p:spPr>
      </p:pic>
    </p:spTree>
    <p:extLst>
      <p:ext uri="{BB962C8B-B14F-4D97-AF65-F5344CB8AC3E}">
        <p14:creationId xmlns:p14="http://schemas.microsoft.com/office/powerpoint/2010/main" val="789669987"/>
      </p:ext>
    </p:extLst>
  </p:cSld>
</p:sld>
</file>

<file path=ppt/slides/slide6.xml><?xml version="1.0" encoding="utf-8"?>
<p:sld xmlns:p="http://schemas.openxmlformats.org/presentationml/2006/main">
  <p:cSld>
    <p:bg>
      <p:bgPr>
        <a:solidFill xmlns:a="http://schemas.openxmlformats.org/drawingml/2006/main">
          <a:srgbClr val="E8E8E8"/>
        </a:solidFill>
      </p:bgPr>
    </p:bg>
    <p:spTree>
      <p:nvGrpSpPr>
        <p:cNvPr id="1" name=""/>
        <p:cNvGrpSpPr/>
        <p:nvPr/>
      </p:nvGrpSpPr>
      <p:grpSpPr>
        <a:xfrm xmlns:a="http://schemas.openxmlformats.org/drawingml/2006/main"/>
      </p:grpSpPr>
      <p:sp>
        <p:nvSpPr>
          <p:cNvPr id="4" name="Rectangle 3">
            <a:extLst xmlns:a="http://schemas.openxmlformats.org/drawingml/2006/main">
              <a:ext uri="{FF2B5EF4-FFF2-40B4-BE49-F238E27FC236}">
                <a16:creationId xmlns:a16="http://schemas.microsoft.com/office/drawing/2014/main" id="{A3030B4A-2296-4E67-AE3A-90D3730F76AA}"/>
              </a:ext>
            </a:extLst>
          </p:cNvPr>
          <p:cNvSpPr>
            <a:spLocks xmlns:a="http://schemas.openxmlformats.org/drawingml/2006/main" noGrp="1"/>
          </p:cNvSpPr>
          <p:nvPr/>
        </p:nvSpPr>
        <p:spPr>
          <a:xfrm xmlns:a="http://schemas.openxmlformats.org/drawingml/2006/main">
            <a:off x="66675" y="85725"/>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5000"/>
              </a:lnSpc>
              <a:buNone/>
              <a:defRPr sz="825" b="0" i="0">
                <a:solidFill>
                  <a:srgbClr val="777777"/>
                </a:solidFill>
                <a:latin typeface="Arial"/>
                <a:ea typeface="Arial"/>
                <a:cs typeface="Arial"/>
              </a:defRPr>
            </a:pPr>
            <a:r>
              <a:rPr sz="825" b="0" i="0">
                <a:solidFill>
                  <a:srgbClr val="777777"/>
                </a:solidFill>
                <a:latin typeface="Arial"/>
                <a:ea typeface="Arial"/>
                <a:cs typeface="Arial"/>
              </a:rPr>
              <a:t>Confidential - Oracle Restricted \Employees</a:t>
            </a:r>
          </a:p>
          <a:p xmlns:a="http://schemas.openxmlformats.org/drawingml/2006/main">
            <a:pPr algn="l">
              <a:lnSpc>
                <a:spcPct val="105000"/>
              </a:lnSpc>
              <a:buNone/>
              <a:defRPr sz="825" b="0" i="0">
                <a:solidFill>
                  <a:srgbClr val="777777"/>
                </a:solidFill>
                <a:latin typeface="Arial"/>
                <a:ea typeface="Arial"/>
                <a:cs typeface="Arial"/>
              </a:defRPr>
            </a:pPr>
            <a:r>
              <a:rPr sz="825" b="0" i="0">
                <a:solidFill>
                  <a:srgbClr val="777777"/>
                </a:solidFill>
                <a:latin typeface="Arial"/>
                <a:ea typeface="Arial"/>
                <a:cs typeface="Arial"/>
              </a:rPr>
              <a:t>Only</a:t>
            </a:r>
          </a:p>
        </p:txBody>
      </p:sp>
      <p:pic>
        <p:nvPicPr>
          <p:cNvPr id="7" name="Picture 4"/>
          <p:cNvPicPr>
            <a:picLocks xmlns:a="http://schemas.openxmlformats.org/drawingml/2006/main" noChangeAspect="1"/>
          </p:cNvPicPr>
          <p:nvPr/>
        </p:nvPicPr>
        <p:blipFill>
          <a:blip xmlns:r="http://schemas.openxmlformats.org/officeDocument/2006/relationships" xmlns:a="http://schemas.openxmlformats.org/drawingml/2006/main" r:embed="Rcc7ac9a1abc94bba"/>
          <a:stretch xmlns:a="http://schemas.openxmlformats.org/drawingml/2006/main"/>
        </p:blipFill>
        <p:spPr>
          <a:xfrm xmlns:a="http://schemas.openxmlformats.org/drawingml/2006/main">
            <a:off x="4219575" y="3185422"/>
            <a:ext cx="3752850" cy="534781"/>
          </a:xfrm>
          <a:prstGeom xmlns:a="http://schemas.openxmlformats.org/drawingml/2006/main" prst="rect">
            <a:avLst/>
          </a:prstGeom>
        </p:spPr>
      </p:pic>
      <p:sp>
        <p:nvSpPr>
          <p:cNvPr id="3" name="Rectangle 2">
            <a:extLst xmlns:a="http://schemas.openxmlformats.org/drawingml/2006/main">
              <a:ext uri="{FF2B5EF4-FFF2-40B4-BE49-F238E27FC236}">
                <a16:creationId xmlns:a16="http://schemas.microsoft.com/office/drawing/2014/main" id="{E17D35F5-2CF6-43F3-9813-9C11FDF9362B}"/>
              </a:ext>
            </a:extLst>
          </p:cNvPr>
          <p:cNvSpPr>
            <a:spLocks xmlns:a="http://schemas.openxmlformats.org/drawingml/2006/main" noGrp="1"/>
          </p:cNvSpPr>
          <p:nvPr/>
        </p:nvSpPr>
        <p:spPr>
          <a:xfrm xmlns:a="http://schemas.openxmlformats.org/drawingml/2006/main">
            <a:off x="66675" y="6486525"/>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p xmlns:a="http://schemas.openxmlformats.org/drawingml/2006/main">
            <a:pPr algn="l">
              <a:lnSpc>
                <a:spcPct val="105000"/>
              </a:lnSpc>
              <a:buNone/>
              <a:defRPr sz="825" b="0" i="0">
                <a:solidFill>
                  <a:srgbClr val="777777"/>
                </a:solidFill>
                <a:latin typeface="Arial"/>
                <a:ea typeface="Arial"/>
                <a:cs typeface="Arial"/>
              </a:defRPr>
            </a:pPr>
            <a:r>
              <a:rPr sz="825" b="0" i="0">
                <a:solidFill>
                  <a:srgbClr val="777777"/>
                </a:solidFill>
                <a:latin typeface="Arial"/>
                <a:ea typeface="Arial"/>
                <a:cs typeface="Arial"/>
              </a:rPr>
              <a:t>Confidential - Oracle Restricted \Employees</a:t>
            </a:r>
          </a:p>
          <a:p xmlns:a="http://schemas.openxmlformats.org/drawingml/2006/main">
            <a:pPr algn="l">
              <a:lnSpc>
                <a:spcPct val="105000"/>
              </a:lnSpc>
              <a:buNone/>
              <a:defRPr sz="825" b="0" i="0">
                <a:solidFill>
                  <a:srgbClr val="777777"/>
                </a:solidFill>
                <a:latin typeface="Arial"/>
                <a:ea typeface="Arial"/>
                <a:cs typeface="Arial"/>
              </a:defRPr>
            </a:pPr>
            <a:r>
              <a:rPr sz="825" b="0" i="0">
                <a:solidFill>
                  <a:srgbClr val="777777"/>
                </a:solidFill>
                <a:latin typeface="Arial"/>
                <a:ea typeface="Arial"/>
                <a:cs typeface="Arial"/>
              </a:rPr>
              <a:t>Only</a:t>
            </a:r>
          </a:p>
        </p:txBody>
      </p:sp>
    </p:spTree>
    <p:extLst>
      <p:ext uri="{BB962C8B-B14F-4D97-AF65-F5344CB8AC3E}">
        <p14:creationId xmlns:p14="http://schemas.microsoft.com/office/powerpoint/2010/main" val="10444929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2026-09-03T08:11:21.4690000Z</dcterms:created>
  <dcterms:modified xsi:type="dcterms:W3CDTF">2026-09-03T08:11:21.4690000Z</dcterms:modified>
</coreProperties>
</file>