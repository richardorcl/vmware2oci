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62271bd06c448e" /><Relationship Type="http://schemas.openxmlformats.org/officeDocument/2006/relationships/extended-properties" Target="/docProps/app.xml" Id="Rfc26cb30057a4ef8" /><Relationship Type="http://schemas.openxmlformats.org/officeDocument/2006/relationships/officeDocument" Target="/ppt/presentation.xml" Id="Rf3b613f5a00247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4076046ec5478a"/>
  </p:sldMasterIdLst>
  <p:notesMasterIdLst>
    <p:notesMasterId xmlns:r="http://schemas.openxmlformats.org/officeDocument/2006/relationships" r:id="R6d59f2a8f77941f0"/>
  </p:notesMasterIdLst>
  <p:sldIdLst>
    <p:sldId xmlns:r="http://schemas.openxmlformats.org/officeDocument/2006/relationships" id="256" r:id="Rfe78b24b095f4aef"/>
    <p:sldId xmlns:r="http://schemas.openxmlformats.org/officeDocument/2006/relationships" id="257" r:id="R681ed421f8304d7b"/>
    <p:sldId xmlns:r="http://schemas.openxmlformats.org/officeDocument/2006/relationships" id="258" r:id="Rb9b289d979c945a6"/>
    <p:sldId xmlns:r="http://schemas.openxmlformats.org/officeDocument/2006/relationships" id="259" r:id="R0555c33907d44b7b"/>
    <p:sldId xmlns:r="http://schemas.openxmlformats.org/officeDocument/2006/relationships" id="260" r:id="R5547e10dd2244ee3"/>
    <p:sldId xmlns:r="http://schemas.openxmlformats.org/officeDocument/2006/relationships" id="261" r:id="R41fefca1cd114ad8"/>
    <p:sldId xmlns:r="http://schemas.openxmlformats.org/officeDocument/2006/relationships" id="262" r:id="R9c8e79b10a7045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5cb4ca70e244a4" /><Relationship Type="http://schemas.openxmlformats.org/officeDocument/2006/relationships/slideMaster" Target="/ppt/slideMasters/slideMaster1.xml" Id="R454076046ec5478a" /><Relationship Type="http://schemas.openxmlformats.org/officeDocument/2006/relationships/notesMaster" Target="/ppt/notesMasters/notesMaster1.xml" Id="R6d59f2a8f77941f0" /><Relationship Type="http://schemas.openxmlformats.org/officeDocument/2006/relationships/presProps" Target="/ppt/presProps.xml" Id="R991b1eb711f74a89" /><Relationship Type="http://schemas.openxmlformats.org/officeDocument/2006/relationships/viewProps" Target="/ppt/viewProps.xml" Id="Re2e30f30ba4c476c" /><Relationship Type="http://schemas.openxmlformats.org/officeDocument/2006/relationships/tableStyles" Target="/ppt/tableStyles.xml" Id="R92e84b8126e3498d" /><Relationship Type="http://schemas.openxmlformats.org/officeDocument/2006/relationships/slide" Target="/ppt/slides/slide1.xml" Id="Rfe78b24b095f4aef" /><Relationship Type="http://schemas.openxmlformats.org/officeDocument/2006/relationships/slide" Target="/ppt/slides/slide2.xml" Id="R681ed421f8304d7b" /><Relationship Type="http://schemas.openxmlformats.org/officeDocument/2006/relationships/slide" Target="/ppt/slides/slide3.xml" Id="Rb9b289d979c945a6" /><Relationship Type="http://schemas.openxmlformats.org/officeDocument/2006/relationships/slide" Target="/ppt/slides/slide4.xml" Id="R0555c33907d44b7b" /><Relationship Type="http://schemas.openxmlformats.org/officeDocument/2006/relationships/slide" Target="/ppt/slides/slide5.xml" Id="R5547e10dd2244ee3" /><Relationship Type="http://schemas.openxmlformats.org/officeDocument/2006/relationships/slide" Target="/ppt/slides/slide6.xml" Id="R41fefca1cd114ad8" /><Relationship Type="http://schemas.openxmlformats.org/officeDocument/2006/relationships/slide" Target="/ppt/slides/slide7.xml" Id="R9c8e79b10a7045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4080b1a7b42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2fd9ee7884da0" /><Relationship Type="http://schemas.openxmlformats.org/officeDocument/2006/relationships/notesMaster" Target="/ppt/notesMasters/notesMaster1.xml" Id="Re3a1dd9bf5bd4a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af0dfef274a3d" /><Relationship Type="http://schemas.openxmlformats.org/officeDocument/2006/relationships/notesMaster" Target="/ppt/notesMasters/notesMaster1.xml" Id="R4a863b28f9e444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b8ca7380f34ae6" /><Relationship Type="http://schemas.openxmlformats.org/officeDocument/2006/relationships/notesMaster" Target="/ppt/notesMasters/notesMaster1.xml" Id="R3398d3d18aec45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065a9e43414db6" /><Relationship Type="http://schemas.openxmlformats.org/officeDocument/2006/relationships/notesMaster" Target="/ppt/notesMasters/notesMaster1.xml" Id="R862bf994dbfb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d3d5cabf646eb" /><Relationship Type="http://schemas.openxmlformats.org/officeDocument/2006/relationships/notesMaster" Target="/ppt/notesMasters/notesMaster1.xml" Id="Re8a6d75c5a4245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3840e624d94c7c" /><Relationship Type="http://schemas.openxmlformats.org/officeDocument/2006/relationships/notesMaster" Target="/ppt/notesMasters/notesMaster1.xml" Id="Re6b07033ae8a4a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3bcfc5925e426d" /><Relationship Type="http://schemas.openxmlformats.org/officeDocument/2006/relationships/notesMaster" Target="/ppt/notesMasters/notesMaster1.xml" Id="R5a8b9695648f41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1 of the provided PowerPoint. Oracle logo, Oracle mark, row icons, and the right-side Oracle Cloud VMware Solution illustration are kept as cropped image assets from the source. Visible title, sizing label, and customer/date/prepared-by text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user-provided screenshot. Oracle/OCI logo, VMware cloud logo, top benefit icons, on-premises icons, capacity expansion icons, target-card icons, business-outcome icons, and bottom target icon are retained as cropped image assets from the screenshot. Title, subtitle, panels, arrows, labels, descriptions, callout and footer are recreated as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4 of the provided PowerPoint. Oracle logo is kept as a cropped image asset from the source; confidentiality labels and grey background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bbe3d2a1a4a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ec47f4d1440ec" /><Relationship Type="http://schemas.openxmlformats.org/officeDocument/2006/relationships/slideLayout" Target="/ppt/slideLayouts/slideLayout1.xml" Id="R2fcacc33f2554b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acc33f2554b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c0c056d604a5c" /><Relationship Type="http://schemas.openxmlformats.org/officeDocument/2006/relationships/image" Target="/ppt/media/image.png" Id="Re6694d8748364eed" /><Relationship Type="http://schemas.openxmlformats.org/officeDocument/2006/relationships/image" Target="/ppt/media/image2.png" Id="R279cabef973e4216" /><Relationship Type="http://schemas.openxmlformats.org/officeDocument/2006/relationships/image" Target="/ppt/media/image3.png" Id="Ree70f2c878b64826" /><Relationship Type="http://schemas.openxmlformats.org/officeDocument/2006/relationships/image" Target="/ppt/media/image4.png" Id="R5acd372224df4426" /><Relationship Type="http://schemas.openxmlformats.org/officeDocument/2006/relationships/image" Target="/ppt/media/image5.png" Id="Ra783e4341ec4455d" /><Relationship Type="http://schemas.openxmlformats.org/officeDocument/2006/relationships/image" Target="/ppt/media/image6.png" Id="Ra6a881a9d7d14486" /><Relationship Type="http://schemas.openxmlformats.org/officeDocument/2006/relationships/notesSlide" Target="/ppt/notesSlides/notesSlide1.xml" Id="R1f9aa50c2a5141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a9477a6af4a55" /><Relationship Type="http://schemas.openxmlformats.org/officeDocument/2006/relationships/image" Target="/ppt/media/image7.png" Id="R354b378d09ce4ba6" /><Relationship Type="http://schemas.openxmlformats.org/officeDocument/2006/relationships/image" Target="/ppt/media/image8.png" Id="Re5b251b732214ac2" /><Relationship Type="http://schemas.openxmlformats.org/officeDocument/2006/relationships/image" Target="/ppt/media/image9.png" Id="R712eb5f6c65345ba" /><Relationship Type="http://schemas.openxmlformats.org/officeDocument/2006/relationships/image" Target="/ppt/media/image10.png" Id="Rc056977480534ace" /><Relationship Type="http://schemas.openxmlformats.org/officeDocument/2006/relationships/image" Target="/ppt/media/image11.png" Id="Rcc3633c0783c4831" /><Relationship Type="http://schemas.openxmlformats.org/officeDocument/2006/relationships/image" Target="/ppt/media/image12.png" Id="R61d544cc6e6244dd" /><Relationship Type="http://schemas.openxmlformats.org/officeDocument/2006/relationships/image" Target="/ppt/media/image13.png" Id="Rf10cca703fea4ff9" /><Relationship Type="http://schemas.openxmlformats.org/officeDocument/2006/relationships/image" Target="/ppt/media/image14.png" Id="R47b9c12b11304283" /><Relationship Type="http://schemas.openxmlformats.org/officeDocument/2006/relationships/image" Target="/ppt/media/image15.png" Id="R678dd439af6a4faf" /><Relationship Type="http://schemas.openxmlformats.org/officeDocument/2006/relationships/image" Target="/ppt/media/image16.png" Id="Rc94bab1774ba4cd7" /><Relationship Type="http://schemas.openxmlformats.org/officeDocument/2006/relationships/image" Target="/ppt/media/image17.png" Id="R059decdc80844396" /><Relationship Type="http://schemas.openxmlformats.org/officeDocument/2006/relationships/image" Target="/ppt/media/image18.png" Id="R42feb1d4e6804cba" /><Relationship Type="http://schemas.openxmlformats.org/officeDocument/2006/relationships/image" Target="/ppt/media/image19.png" Id="Rc815e24cc7c84912" /><Relationship Type="http://schemas.openxmlformats.org/officeDocument/2006/relationships/image" Target="/ppt/media/image20.png" Id="Re8676476e0a94759" /><Relationship Type="http://schemas.openxmlformats.org/officeDocument/2006/relationships/image" Target="/ppt/media/image21.png" Id="R41311e517b4d4331" /><Relationship Type="http://schemas.openxmlformats.org/officeDocument/2006/relationships/image" Target="/ppt/media/image22.png" Id="Radf9028b71504295" /><Relationship Type="http://schemas.openxmlformats.org/officeDocument/2006/relationships/image" Target="/ppt/media/image23.png" Id="R9e6300befe204b4f" /><Relationship Type="http://schemas.openxmlformats.org/officeDocument/2006/relationships/image" Target="/ppt/media/image24.png" Id="R8d39e3db3a184f6d" /><Relationship Type="http://schemas.openxmlformats.org/officeDocument/2006/relationships/image" Target="/ppt/media/image25.png" Id="R43a277a684b54383" /><Relationship Type="http://schemas.openxmlformats.org/officeDocument/2006/relationships/image" Target="/ppt/media/image26.png" Id="R2e7a7b156d6f4db7" /><Relationship Type="http://schemas.openxmlformats.org/officeDocument/2006/relationships/image" Target="/ppt/media/image27.png" Id="Rbc2263a3a1674de1" /><Relationship Type="http://schemas.openxmlformats.org/officeDocument/2006/relationships/image" Target="/ppt/media/image28.png" Id="R03ea07b120a7431a" /><Relationship Type="http://schemas.openxmlformats.org/officeDocument/2006/relationships/image" Target="/ppt/media/image29.png" Id="R3b782ea89eab4955" /><Relationship Type="http://schemas.openxmlformats.org/officeDocument/2006/relationships/image" Target="/ppt/media/image30.png" Id="R49a1fd0f8b134810" /><Relationship Type="http://schemas.openxmlformats.org/officeDocument/2006/relationships/image" Target="/ppt/media/image31.png" Id="R6858f3b60beb44ef" /><Relationship Type="http://schemas.openxmlformats.org/officeDocument/2006/relationships/image" Target="/ppt/media/image32.png" Id="Rbc8ed23000bd4db2" /><Relationship Type="http://schemas.openxmlformats.org/officeDocument/2006/relationships/image" Target="/ppt/media/image33.png" Id="R7bffd572d5ab4395" /><Relationship Type="http://schemas.openxmlformats.org/officeDocument/2006/relationships/image" Target="/ppt/media/image34.png" Id="R1341e735604a43e6" /><Relationship Type="http://schemas.openxmlformats.org/officeDocument/2006/relationships/image" Target="/ppt/media/image35.png" Id="Rbc0d289ecf104a6a" /><Relationship Type="http://schemas.openxmlformats.org/officeDocument/2006/relationships/image" Target="/ppt/media/image36.png" Id="Re25adb2fed8e4791" /><Relationship Type="http://schemas.openxmlformats.org/officeDocument/2006/relationships/notesSlide" Target="/ppt/notesSlides/notesSlide2.xml" Id="R41b7686b8459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2bca4435d476d" /><Relationship Type="http://schemas.openxmlformats.org/officeDocument/2006/relationships/image" Target="/ppt/media/image37.png" Id="R4b4033d1ea0f4cb0" /><Relationship Type="http://schemas.openxmlformats.org/officeDocument/2006/relationships/image" Target="/ppt/media/image38.png" Id="Re484e5c7880741b5" /><Relationship Type="http://schemas.openxmlformats.org/officeDocument/2006/relationships/notesSlide" Target="/ppt/notesSlides/notesSlide3.xml" Id="Rb4ffaf88eba144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d0220784a4ccb" /><Relationship Type="http://schemas.openxmlformats.org/officeDocument/2006/relationships/image" Target="/ppt/media/image39.png" Id="R57c32e918eb54ec0" /><Relationship Type="http://schemas.openxmlformats.org/officeDocument/2006/relationships/image" Target="/ppt/media/image40.png" Id="Rdfa60776703c4845" /><Relationship Type="http://schemas.openxmlformats.org/officeDocument/2006/relationships/image" Target="/ppt/media/image41.png" Id="R3b7a2a58cbf34398" /><Relationship Type="http://schemas.openxmlformats.org/officeDocument/2006/relationships/image" Target="/ppt/media/image42.png" Id="R342300af52924e31" /><Relationship Type="http://schemas.openxmlformats.org/officeDocument/2006/relationships/image" Target="/ppt/media/image43.png" Id="R02c50e8b5f504bbb" /><Relationship Type="http://schemas.openxmlformats.org/officeDocument/2006/relationships/image" Target="/ppt/media/image44.png" Id="Rf7924c29cd864b77" /><Relationship Type="http://schemas.openxmlformats.org/officeDocument/2006/relationships/image" Target="/ppt/media/image45.png" Id="R7ffeaf897e764b17" /><Relationship Type="http://schemas.openxmlformats.org/officeDocument/2006/relationships/image" Target="/ppt/media/image46.png" Id="Rd0517019eb5145f6" /><Relationship Type="http://schemas.openxmlformats.org/officeDocument/2006/relationships/image" Target="/ppt/media/image47.png" Id="R199e29113a8e40bb" /><Relationship Type="http://schemas.openxmlformats.org/officeDocument/2006/relationships/notesSlide" Target="/ppt/notesSlides/notesSlide4.xml" Id="R0bd14c8c87994e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e6a4a1207497b" /><Relationship Type="http://schemas.openxmlformats.org/officeDocument/2006/relationships/image" Target="/ppt/media/image48.png" Id="R34f7ce4d11394f0e" /><Relationship Type="http://schemas.openxmlformats.org/officeDocument/2006/relationships/image" Target="/ppt/media/image49.png" Id="Rf1c5855521754c84" /><Relationship Type="http://schemas.openxmlformats.org/officeDocument/2006/relationships/notesSlide" Target="/ppt/notesSlides/notesSlide5.xml" Id="R466813743fa4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17809e3254305" /><Relationship Type="http://schemas.openxmlformats.org/officeDocument/2006/relationships/image" Target="/ppt/media/image50.png" Id="R99b8de14db5c4fbc" /><Relationship Type="http://schemas.openxmlformats.org/officeDocument/2006/relationships/image" Target="/ppt/media/image51.png" Id="Ra548bff32f604b73" /><Relationship Type="http://schemas.openxmlformats.org/officeDocument/2006/relationships/notesSlide" Target="/ppt/notesSlides/notesSlide6.xml" Id="R5700edcff46641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f297be8284e5b" /><Relationship Type="http://schemas.openxmlformats.org/officeDocument/2006/relationships/image" Target="/ppt/media/image52.png" Id="R5b3bb110b1704954" /><Relationship Type="http://schemas.openxmlformats.org/officeDocument/2006/relationships/notesSlide" Target="/ppt/notesSlides/notesSlide7.xml" Id="R0bb551eff96940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4696C5B5-BCFA-4425-B931-C6A2F4C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75AA658-C774-489C-98AA-71460C4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98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F6E5068-3122-4247-9AB7-38EBFA2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BF01C8E-6137-4231-8D77-A754E49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10343F5-2252-4F30-81D6-73B3376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6BA590D-5274-475F-AEBD-A987F53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F11CAD1-90ED-4491-A3BE-A83AEE7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76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7FB2515-F71F-4A18-8796-33CCAB4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381125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52F6077-993B-4744-8476-4A5DEA1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2625"/>
            <a:ext cx="2952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94d8748364eed"/>
          <a:stretch xmlns:a="http://schemas.openxmlformats.org/drawingml/2006/main"/>
        </p:blipFill>
        <p:spPr>
          <a:xfrm xmlns:a="http://schemas.openxmlformats.org/drawingml/2006/main">
            <a:off x="333375" y="295275"/>
            <a:ext cx="2152650" cy="704850"/>
          </a:xfrm>
          <a:prstGeom xmlns:a="http://schemas.openxmlformats.org/drawingml/2006/main" prst="rect">
            <a:avLst/>
          </a:prstGeom>
        </p:spPr>
      </p:pic>
      <p:pic>
        <p:nvPicPr>
          <p:cNvPr id="4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cabef973e4216"/>
          <a:stretch xmlns:a="http://schemas.openxmlformats.org/drawingml/2006/main"/>
        </p:blipFill>
        <p:spPr>
          <a:xfrm xmlns:a="http://schemas.openxmlformats.org/drawingml/2006/main">
            <a:off x="6096000" y="476250"/>
            <a:ext cx="5524500" cy="500062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E18B706-8D3E-4081-9607-FAFE11CA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335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Oracle Cloud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13ED40B-2727-41E5-9FA9-6767E03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00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VMware Solution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7D35AF-65D4-4A89-A0BA-2543259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CC6015-522F-4A3D-A984-81E7C71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Sizing</a:t>
            </a:r>
          </a:p>
        </p:txBody>
      </p:sp>
      <p:pic>
        <p:nvPicPr>
          <p:cNvPr id="51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0f2c878b64826"/>
          <a:stretch xmlns:a="http://schemas.openxmlformats.org/drawingml/2006/main"/>
        </p:blipFill>
        <p:spPr>
          <a:xfrm xmlns:a="http://schemas.openxmlformats.org/drawingml/2006/main">
            <a:off x="409575" y="451485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766A464C-B41C-4A32-B41D-BFAE1B3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4955B22-66CD-4132-A773-8F5CF233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81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9" name="editable-customer-value">
            <a:extLst xmlns:a="http://schemas.openxmlformats.org/drawingml/2006/main">
              <a:ext uri="{FF2B5EF4-FFF2-40B4-BE49-F238E27FC236}">
                <a16:creationId xmlns:a16="http://schemas.microsoft.com/office/drawing/2014/main" id="{BE76D494-55F5-4B36-BA24-6D15C41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pic>
        <p:nvPicPr>
          <p:cNvPr id="55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d372224df4426"/>
          <a:stretch xmlns:a="http://schemas.openxmlformats.org/drawingml/2006/main"/>
        </p:blipFill>
        <p:spPr>
          <a:xfrm xmlns:a="http://schemas.openxmlformats.org/drawingml/2006/main">
            <a:off x="409575" y="5133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C0F680F-8892-4F5E-9A05-8BE56BC3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53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2916E2-4478-4F86-A366-DBB47E5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3" name="editable-date-value">
            <a:extLst xmlns:a="http://schemas.openxmlformats.org/drawingml/2006/main">
              <a:ext uri="{FF2B5EF4-FFF2-40B4-BE49-F238E27FC236}">
                <a16:creationId xmlns:a16="http://schemas.microsoft.com/office/drawing/2014/main" id="{DD2D484A-CE83-4CF9-B570-03AA9C51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578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May 2025</a:t>
            </a:r>
          </a:p>
        </p:txBody>
      </p:sp>
      <p:pic>
        <p:nvPicPr>
          <p:cNvPr id="59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3e4341ec4455d"/>
          <a:stretch xmlns:a="http://schemas.openxmlformats.org/drawingml/2006/main"/>
        </p:blipFill>
        <p:spPr>
          <a:xfrm xmlns:a="http://schemas.openxmlformats.org/drawingml/2006/main">
            <a:off x="409575" y="575310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5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B3390FB1-CD6B-41FD-9B09-6D59830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530C77E-C4B2-416C-9770-1B40B59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AA52625-B2E2-4958-9002-F06DCF48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7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Cloud VMware Specialist</a:t>
            </a:r>
          </a:p>
        </p:txBody>
      </p:sp>
      <p:pic>
        <p:nvPicPr>
          <p:cNvPr id="63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881a9d7d14486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0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4312A446-4D80-4FBE-8949-A6BF6F7B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477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CF9255A7-9156-4B62-84A0-5E1A413D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239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AFFEA11-B2B1-4536-85DE-D7C62C5F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90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8D2619A9-4420-4682-A5FD-F17DBEC0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1625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8A617DEA-CB83-476C-8D66-2962BAD6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429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DE2353B-F3E6-4C49-AB10-90CF7D2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00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89877804-3293-4682-A803-CCCEC19D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572125"/>
            <a:ext cx="1428750" cy="1219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E4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1613DEF-A5BA-4220-9BC5-4A70A4CC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381125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15570F9-1FDB-4BD3-8966-0644BF1E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Expansion with Oracle Cloud VMware Solution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21306E-B327-4108-B613-64C35D7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71550"/>
            <a:ext cx="4857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DF412A-6197-4873-88F8-92ED023B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5252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B6B6B"/>
                </a:solidFill>
                <a:latin typeface="Arial"/>
                <a:ea typeface="Arial"/>
                <a:cs typeface="Arial"/>
              </a:rPr>
              <a:t>Extend VMware capacity on demand while maintaining operational consistency.</a:t>
            </a:r>
          </a:p>
        </p:txBody>
      </p:sp>
      <p:pic>
        <p:nvPicPr>
          <p:cNvPr id="155" name="Picture 1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b378d09ce4ba6"/>
          <a:stretch xmlns:a="http://schemas.openxmlformats.org/drawingml/2006/main"/>
        </p:blipFill>
        <p:spPr>
          <a:xfrm xmlns:a="http://schemas.openxmlformats.org/drawingml/2006/main">
            <a:off x="9477375" y="221673"/>
            <a:ext cx="2476500" cy="337705"/>
          </a:xfrm>
          <a:prstGeom xmlns:a="http://schemas.openxmlformats.org/drawingml/2006/main" prst="rect">
            <a:avLst/>
          </a:prstGeom>
        </p:spPr>
      </p:pic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6CBE9DE-B639-4BCC-93A2-F345FBE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85900"/>
            <a:ext cx="9496425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A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7" name="Picture 1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251b732214ac2"/>
          <a:stretch xmlns:a="http://schemas.openxmlformats.org/drawingml/2006/main"/>
        </p:blipFill>
        <p:spPr>
          <a:xfrm xmlns:a="http://schemas.openxmlformats.org/drawingml/2006/main">
            <a:off x="495300" y="16002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924D998-C7EF-4132-9BF1-690AC1DB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continuity for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mission-critical applications</a:t>
            </a:r>
          </a:p>
        </p:txBody>
      </p:sp>
      <p:pic>
        <p:nvPicPr>
          <p:cNvPr id="159" name="Picture 1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eb5f6c65345ba"/>
          <a:stretch xmlns:a="http://schemas.openxmlformats.org/drawingml/2006/main"/>
        </p:blipFill>
        <p:spPr>
          <a:xfrm xmlns:a="http://schemas.openxmlformats.org/drawingml/2006/main">
            <a:off x="2975830" y="1600200"/>
            <a:ext cx="411040" cy="41910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5EB64D5-974B-4DB8-99A9-B9D87FD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Maintain systems without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disruption</a:t>
            </a:r>
          </a:p>
        </p:txBody>
      </p:sp>
      <p:pic>
        <p:nvPicPr>
          <p:cNvPr id="161" name="Picture 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6977480534ace"/>
          <a:stretch xmlns:a="http://schemas.openxmlformats.org/drawingml/2006/main"/>
        </p:blipFill>
        <p:spPr>
          <a:xfrm xmlns:a="http://schemas.openxmlformats.org/drawingml/2006/main">
            <a:off x="5391150" y="1604154"/>
            <a:ext cx="419100" cy="411192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CA027F7-407B-4856-A9AB-29E5858D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Ensure recovery from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corruption &amp; cyberattacks</a:t>
            </a:r>
          </a:p>
        </p:txBody>
      </p:sp>
      <p:pic>
        <p:nvPicPr>
          <p:cNvPr id="163" name="Picture 1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633c0783c4831"/>
          <a:stretch xmlns:a="http://schemas.openxmlformats.org/drawingml/2006/main"/>
        </p:blipFill>
        <p:spPr>
          <a:xfrm xmlns:a="http://schemas.openxmlformats.org/drawingml/2006/main">
            <a:off x="7924800" y="1604081"/>
            <a:ext cx="419100" cy="411339"/>
          </a:xfrm>
          <a:prstGeom xmlns:a="http://schemas.openxmlformats.org/drawingml/2006/main" prst="rect">
            <a:avLst/>
          </a:prstGeom>
        </p:spPr>
      </p:pic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BE8293C-2C7E-4CFB-AA73-4FB0F6A5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95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Meet defined RTO &amp; RPO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backups &amp; restores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F55E7EAD-7F48-49FD-B7E9-69D8338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E5F1F181-19F4-4C17-AA22-2159490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9EE21C57-E902-4B55-882B-D399BEB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002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973EA43-CCF5-445F-9F55-ECA6BCCC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66950"/>
            <a:ext cx="2686050" cy="3448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459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05048F20-513B-413A-AFE3-20F4F0EC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66950"/>
            <a:ext cx="268605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0B2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E8CE7E5-42E1-439F-B71F-AC66FA0B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14600"/>
            <a:ext cx="2686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53056BE-C3D4-4151-AFCD-FF469434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ON-PREMISES ENVIRONMENT</a:t>
            </a:r>
          </a:p>
        </p:txBody>
      </p:sp>
      <p:pic>
        <p:nvPicPr>
          <p:cNvPr id="172" name="Picture 1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544cc6e6244dd"/>
          <a:stretch xmlns:a="http://schemas.openxmlformats.org/drawingml/2006/main"/>
        </p:blipFill>
        <p:spPr>
          <a:xfrm xmlns:a="http://schemas.openxmlformats.org/drawingml/2006/main">
            <a:off x="1323975" y="2718068"/>
            <a:ext cx="638175" cy="50746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647673D-63F2-4FC9-BC5C-B29DC029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14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0B2B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2B78"/>
                </a:solidFill>
                <a:latin typeface="Arial"/>
                <a:ea typeface="Arial"/>
                <a:cs typeface="Arial"/>
              </a:rPr>
              <a:t>Your Existing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0B2B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2B78"/>
                </a:solidFill>
                <a:latin typeface="Arial"/>
                <a:ea typeface="Arial"/>
                <a:cs typeface="Arial"/>
              </a:rPr>
              <a:t>VMware Environment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9CC89340-2ABE-49CC-8B09-08E9C659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7190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5" name="Picture 1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cca703fea4ff9"/>
          <a:stretch xmlns:a="http://schemas.openxmlformats.org/drawingml/2006/main"/>
        </p:blipFill>
        <p:spPr>
          <a:xfrm xmlns:a="http://schemas.openxmlformats.org/drawingml/2006/main">
            <a:off x="533400" y="3914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11E5987-8311-43F1-87A2-4E3E03D4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constraints</a:t>
            </a:r>
          </a:p>
        </p:txBody>
      </p:sp>
      <p:pic>
        <p:nvPicPr>
          <p:cNvPr id="177" name="Picture 1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9c12b11304283"/>
          <a:stretch xmlns:a="http://schemas.openxmlformats.org/drawingml/2006/main"/>
        </p:blipFill>
        <p:spPr>
          <a:xfrm xmlns:a="http://schemas.openxmlformats.org/drawingml/2006/main">
            <a:off x="536734" y="4324350"/>
            <a:ext cx="260033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6D4BA2B-BA7F-4225-B660-59998EB9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719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Seasonal demand</a:t>
            </a:r>
          </a:p>
        </p:txBody>
      </p:sp>
      <p:pic>
        <p:nvPicPr>
          <p:cNvPr id="179" name="Picture 1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dd439af6a4faf"/>
          <a:stretch xmlns:a="http://schemas.openxmlformats.org/drawingml/2006/main"/>
        </p:blipFill>
        <p:spPr>
          <a:xfrm xmlns:a="http://schemas.openxmlformats.org/drawingml/2006/main">
            <a:off x="533400" y="4724632"/>
            <a:ext cx="266700" cy="247185"/>
          </a:xfrm>
          <a:prstGeom xmlns:a="http://schemas.openxmlformats.org/drawingml/2006/main" prst="rect">
            <a:avLst/>
          </a:prstGeom>
        </p:spPr>
      </p:pic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9B6A96D-4732-4E31-B5C7-F8A6653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growth</a:t>
            </a:r>
          </a:p>
        </p:txBody>
      </p:sp>
      <p:pic>
        <p:nvPicPr>
          <p:cNvPr id="181" name="Picture 1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bab1774ba4cd7"/>
          <a:stretch xmlns:a="http://schemas.openxmlformats.org/drawingml/2006/main"/>
        </p:blipFill>
        <p:spPr>
          <a:xfrm xmlns:a="http://schemas.openxmlformats.org/drawingml/2006/main">
            <a:off x="536734" y="5124450"/>
            <a:ext cx="260033" cy="266700"/>
          </a:xfrm>
          <a:prstGeom xmlns:a="http://schemas.openxmlformats.org/drawingml/2006/main" prst="rect">
            <a:avLst/>
          </a:prstGeom>
        </p:spPr>
      </p:pic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230E844-1895-481F-9645-32A255F5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72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Hardware procurement delays</a:t>
            </a:r>
          </a:p>
        </p:txBody>
      </p:sp>
      <p:sp>
        <p:nvSpPr>
          <p:cNvPr id="40" name="Right Arrow 39">
            <a:extLst xmlns:a="http://schemas.openxmlformats.org/drawingml/2006/main">
              <a:ext uri="{FF2B5EF4-FFF2-40B4-BE49-F238E27FC236}">
                <a16:creationId xmlns:a16="http://schemas.microsoft.com/office/drawing/2014/main" id="{695C5D88-4368-408C-8C23-D7F0FF33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76475"/>
            <a:ext cx="2333625" cy="60007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75231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D2658B0-9CA1-4BC9-982D-C649B1CC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CAPACITY EXPANSION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D300C9FE-9136-4998-BA0D-2386DEF7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24225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B3D8E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Straight Connector 42">
            <a:extLst xmlns:a="http://schemas.openxmlformats.org/drawingml/2006/main">
              <a:ext uri="{FF2B5EF4-FFF2-40B4-BE49-F238E27FC236}">
                <a16:creationId xmlns:a16="http://schemas.microsoft.com/office/drawing/2014/main" id="{49146D5C-209F-4613-95EE-3346681D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242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D7A5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36FFCFAC-AC17-453A-AFAD-56662958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242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6000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8" name="Picture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decdc80844396"/>
          <a:stretch xmlns:a="http://schemas.openxmlformats.org/drawingml/2006/main"/>
        </p:blipFill>
        <p:spPr>
          <a:xfrm xmlns:a="http://schemas.openxmlformats.org/drawingml/2006/main">
            <a:off x="3390900" y="3108993"/>
            <a:ext cx="438150" cy="430463"/>
          </a:xfrm>
          <a:prstGeom xmlns:a="http://schemas.openxmlformats.org/drawingml/2006/main" prst="rect">
            <a:avLst/>
          </a:prstGeom>
        </p:spPr>
      </p:pic>
      <p:pic>
        <p:nvPicPr>
          <p:cNvPr id="189" name="Picture 1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eb1d4e6804cba"/>
          <a:stretch xmlns:a="http://schemas.openxmlformats.org/drawingml/2006/main"/>
        </p:blipFill>
        <p:spPr>
          <a:xfrm xmlns:a="http://schemas.openxmlformats.org/drawingml/2006/main">
            <a:off x="4171950" y="3036715"/>
            <a:ext cx="714375" cy="698845"/>
          </a:xfrm>
          <a:prstGeom xmlns:a="http://schemas.openxmlformats.org/drawingml/2006/main" prst="rect">
            <a:avLst/>
          </a:prstGeom>
        </p:spPr>
      </p:pic>
      <p:pic>
        <p:nvPicPr>
          <p:cNvPr id="190" name="Picture 1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5e24cc7c84912"/>
          <a:stretch xmlns:a="http://schemas.openxmlformats.org/drawingml/2006/main"/>
        </p:blipFill>
        <p:spPr>
          <a:xfrm xmlns:a="http://schemas.openxmlformats.org/drawingml/2006/main">
            <a:off x="5143500" y="3112704"/>
            <a:ext cx="438150" cy="423041"/>
          </a:xfrm>
          <a:prstGeom xmlns:a="http://schemas.openxmlformats.org/drawingml/2006/main" prst="rect">
            <a:avLst/>
          </a:prstGeom>
        </p:spPr>
      </p:pic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74106D65-BBDC-4A3F-AC44-59B002D9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8142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HCX Mobility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7AEB9F87-8322-40C9-9583-91735354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00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workload mobility over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Internet, VPN, or FastConnect</a:t>
            </a:r>
          </a:p>
        </p:txBody>
      </p:sp>
      <p:pic>
        <p:nvPicPr>
          <p:cNvPr id="193" name="Picture 1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76476e0a94759"/>
          <a:stretch xmlns:a="http://schemas.openxmlformats.org/drawingml/2006/main"/>
        </p:blipFill>
        <p:spPr>
          <a:xfrm xmlns:a="http://schemas.openxmlformats.org/drawingml/2006/main">
            <a:off x="3414227" y="4438650"/>
            <a:ext cx="410547" cy="419100"/>
          </a:xfrm>
          <a:prstGeom xmlns:a="http://schemas.openxmlformats.org/drawingml/2006/main" prst="rect">
            <a:avLst/>
          </a:prstGeom>
        </p:spPr>
      </p:pic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AED6C53B-6398-479B-9072-581D582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619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pic>
        <p:nvPicPr>
          <p:cNvPr id="195" name="Picture 1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11e517b4d4331"/>
          <a:stretch xmlns:a="http://schemas.openxmlformats.org/drawingml/2006/main"/>
        </p:blipFill>
        <p:spPr>
          <a:xfrm xmlns:a="http://schemas.openxmlformats.org/drawingml/2006/main">
            <a:off x="4290527" y="4438650"/>
            <a:ext cx="410547" cy="419100"/>
          </a:xfrm>
          <a:prstGeom xmlns:a="http://schemas.openxmlformats.org/drawingml/2006/main" prst="rect">
            <a:avLst/>
          </a:prstGeom>
        </p:spPr>
      </p:pic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F4CA365B-FF03-49FC-B69B-63AE2627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773" y="4907480"/>
            <a:ext cx="619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VPN</a:t>
            </a:r>
          </a:p>
        </p:txBody>
      </p:sp>
      <p:pic>
        <p:nvPicPr>
          <p:cNvPr id="197" name="Picture 1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9028b71504295"/>
          <a:stretch xmlns:a="http://schemas.openxmlformats.org/drawingml/2006/main"/>
        </p:blipFill>
        <p:spPr>
          <a:xfrm xmlns:a="http://schemas.openxmlformats.org/drawingml/2006/main">
            <a:off x="5181600" y="44386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FE307725-A700-4C9A-BAF8-B753C5BD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95850"/>
            <a:ext cx="619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FastConnect</a:t>
            </a:r>
          </a:p>
        </p:txBody>
      </p:sp>
      <p:sp>
        <p:nvSpPr>
          <p:cNvPr id="56" name="Straight Connector 55">
            <a:extLst xmlns:a="http://schemas.openxmlformats.org/drawingml/2006/main">
              <a:ext uri="{FF2B5EF4-FFF2-40B4-BE49-F238E27FC236}">
                <a16:creationId xmlns:a16="http://schemas.microsoft.com/office/drawing/2014/main" id="{461CE8BA-D873-43C8-AE90-32516CD9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7682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0" name="Picture 1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300befe204b4f"/>
          <a:stretch xmlns:a="http://schemas.openxmlformats.org/drawingml/2006/main"/>
        </p:blipFill>
        <p:spPr>
          <a:xfrm xmlns:a="http://schemas.openxmlformats.org/drawingml/2006/main">
            <a:off x="3381375" y="52006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F0744A58-D89A-485D-AEDC-154E1A93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95936"/>
            <a:ext cx="809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</a:t>
            </a:r>
          </a:p>
        </p:txBody>
      </p:sp>
      <p:pic>
        <p:nvPicPr>
          <p:cNvPr id="202" name="Picture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9e3db3a184f6d"/>
          <a:stretch xmlns:a="http://schemas.openxmlformats.org/drawingml/2006/main"/>
        </p:blipFill>
        <p:spPr>
          <a:xfrm xmlns:a="http://schemas.openxmlformats.org/drawingml/2006/main">
            <a:off x="4248150" y="5205162"/>
            <a:ext cx="342900" cy="333876"/>
          </a:xfrm>
          <a:prstGeom xmlns:a="http://schemas.openxmlformats.org/drawingml/2006/main" prst="rect">
            <a:avLst/>
          </a:prstGeom>
        </p:spPr>
      </p:pic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CC8880FD-4A4B-4750-AE37-D4FFB03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1" y="5572124"/>
            <a:ext cx="809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Performance</a:t>
            </a:r>
          </a:p>
        </p:txBody>
      </p:sp>
      <p:pic>
        <p:nvPicPr>
          <p:cNvPr id="204" name="Picture 1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277a684b54383"/>
          <a:stretch xmlns:a="http://schemas.openxmlformats.org/drawingml/2006/main"/>
        </p:blipFill>
        <p:spPr>
          <a:xfrm xmlns:a="http://schemas.openxmlformats.org/drawingml/2006/main">
            <a:off x="5229225" y="5205162"/>
            <a:ext cx="342900" cy="333876"/>
          </a:xfrm>
          <a:prstGeom xmlns:a="http://schemas.openxmlformats.org/drawingml/2006/main" prst="rect">
            <a:avLst/>
          </a:prstGeom>
        </p:spPr>
      </p:pic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ADDE7C56-561F-48F6-8455-46B1E9B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72125"/>
            <a:ext cx="809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Private Connectivity</a:t>
            </a:r>
          </a:p>
        </p:txBody>
      </p:sp>
      <p:sp>
        <p:nv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2FAF5588-F34B-49A2-B33E-F56981A0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006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traight Connector 63">
            <a:extLst xmlns:a="http://schemas.openxmlformats.org/drawingml/2006/main">
              <a:ext uri="{FF2B5EF4-FFF2-40B4-BE49-F238E27FC236}">
                <a16:creationId xmlns:a16="http://schemas.microsoft.com/office/drawing/2014/main" id="{E9ABF822-5D52-47E5-82D8-19963257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361" y="5174733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15E35943-770E-4E69-A8A0-AFB0A1C1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3400425" cy="34480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832FEC8D-6412-414D-A1AF-A830E54C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3400425" cy="314325"/>
          </a:xfrm>
          <a:prstGeom xmlns:a="http://schemas.openxmlformats.org/drawingml/2006/main" prst="roundRect">
            <a:avLst>
              <a:gd name="adj" fmla="val 21212"/>
            </a:avLst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01A33433-6356-4362-8955-320E4C1E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34004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97444AAE-3FFE-41A9-B95D-375281A4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ORACLE CLOUD VMWARE SOLUTION (OCVS)</a:t>
            </a:r>
          </a:p>
        </p:txBody>
      </p:sp>
      <p:pic>
        <p:nvPicPr>
          <p:cNvPr id="212" name="Picture 1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a7b156d6f4db7"/>
          <a:stretch xmlns:a="http://schemas.openxmlformats.org/drawingml/2006/main"/>
        </p:blipFill>
        <p:spPr>
          <a:xfrm xmlns:a="http://schemas.openxmlformats.org/drawingml/2006/main">
            <a:off x="7219950" y="2698955"/>
            <a:ext cx="952500" cy="583790"/>
          </a:xfrm>
          <a:prstGeom xmlns:a="http://schemas.openxmlformats.org/drawingml/2006/main" prst="rect">
            <a:avLst/>
          </a:prstGeom>
        </p:spPr>
      </p:pic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90E5D9A3-120E-434E-AA87-D4228E4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2047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Extend your VMware environment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Oracle Cloud Infrastructure</a:t>
            </a:r>
          </a:p>
        </p:txBody>
      </p:sp>
      <p:sp>
        <p:nvSpPr>
          <p:cNvPr id="71" name="Straight Connector 70">
            <a:extLst xmlns:a="http://schemas.openxmlformats.org/drawingml/2006/main">
              <a:ext uri="{FF2B5EF4-FFF2-40B4-BE49-F238E27FC236}">
                <a16:creationId xmlns:a16="http://schemas.microsoft.com/office/drawing/2014/main" id="{8F7263F0-E526-404F-8D96-C720966F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3057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Rounded Rectangle 71">
            <a:extLst xmlns:a="http://schemas.openxmlformats.org/drawingml/2006/main">
              <a:ext uri="{FF2B5EF4-FFF2-40B4-BE49-F238E27FC236}">
                <a16:creationId xmlns:a16="http://schemas.microsoft.com/office/drawing/2014/main" id="{1024878C-6420-4312-8E46-49CBD6EC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914400" cy="790575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6" name="Picture 1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263a3a1674de1"/>
          <a:stretch xmlns:a="http://schemas.openxmlformats.org/drawingml/2006/main"/>
        </p:blipFill>
        <p:spPr>
          <a:xfrm xmlns:a="http://schemas.openxmlformats.org/drawingml/2006/main">
            <a:off x="6524625" y="4040019"/>
            <a:ext cx="314325" cy="321013"/>
          </a:xfrm>
          <a:prstGeom xmlns:a="http://schemas.openxmlformats.org/drawingml/2006/main" prst="rect">
            <a:avLst/>
          </a:prstGeom>
        </p:spPr>
      </p:pic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BFD337C6-24DF-4025-82D7-32901B86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76750"/>
            <a:ext cx="533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75" name="Rounded Rectangle 74">
            <a:extLst xmlns:a="http://schemas.openxmlformats.org/drawingml/2006/main">
              <a:ext uri="{FF2B5EF4-FFF2-40B4-BE49-F238E27FC236}">
                <a16:creationId xmlns:a16="http://schemas.microsoft.com/office/drawing/2014/main" id="{1604921D-74E6-4BDD-BE35-268A5F1E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05250"/>
            <a:ext cx="914400" cy="790575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9" name="Picture 1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07b120a7431a"/>
          <a:stretch xmlns:a="http://schemas.openxmlformats.org/drawingml/2006/main"/>
        </p:blipFill>
        <p:spPr>
          <a:xfrm xmlns:a="http://schemas.openxmlformats.org/drawingml/2006/main">
            <a:off x="7574359" y="4038600"/>
            <a:ext cx="310356" cy="323850"/>
          </a:xfrm>
          <a:prstGeom xmlns:a="http://schemas.openxmlformats.org/drawingml/2006/main" prst="rect">
            <a:avLst/>
          </a:prstGeom>
        </p:spPr>
      </p:pic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2F37EFEC-1F59-4245-8CF6-D4F97E3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476750"/>
            <a:ext cx="533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8" name="Rounded Rectangle 77">
            <a:extLst xmlns:a="http://schemas.openxmlformats.org/drawingml/2006/main">
              <a:ext uri="{FF2B5EF4-FFF2-40B4-BE49-F238E27FC236}">
                <a16:creationId xmlns:a16="http://schemas.microsoft.com/office/drawing/2014/main" id="{4B888AEA-DFFE-4B44-B348-BF0AC62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914400" cy="790575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2" name="Picture 1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82ea89eab4955"/>
          <a:stretch xmlns:a="http://schemas.openxmlformats.org/drawingml/2006/main"/>
        </p:blipFill>
        <p:spPr>
          <a:xfrm xmlns:a="http://schemas.openxmlformats.org/drawingml/2006/main">
            <a:off x="8610600" y="4040019"/>
            <a:ext cx="314325" cy="321013"/>
          </a:xfrm>
          <a:prstGeom xmlns:a="http://schemas.openxmlformats.org/drawingml/2006/main" prst="rect">
            <a:avLst/>
          </a:prstGeom>
        </p:spPr>
      </p:pic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932BCA88-F17D-43E4-87E7-F778CA02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76750"/>
            <a:ext cx="533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81" name="Rounded Rectangle 80">
            <a:extLst xmlns:a="http://schemas.openxmlformats.org/drawingml/2006/main">
              <a:ext uri="{FF2B5EF4-FFF2-40B4-BE49-F238E27FC236}">
                <a16:creationId xmlns:a16="http://schemas.microsoft.com/office/drawing/2014/main" id="{2E0F2901-4374-42BD-A410-7E285586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86325"/>
            <a:ext cx="3038475" cy="6572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5" name="Picture 1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1fd0f8b134810"/>
          <a:stretch xmlns:a="http://schemas.openxmlformats.org/drawingml/2006/main"/>
        </p:blipFill>
        <p:spPr>
          <a:xfrm xmlns:a="http://schemas.openxmlformats.org/drawingml/2006/main">
            <a:off x="6353175" y="5026223"/>
            <a:ext cx="400050" cy="425053"/>
          </a:xfrm>
          <a:prstGeom xmlns:a="http://schemas.openxmlformats.org/drawingml/2006/main" prst="rect">
            <a:avLst/>
          </a:prstGeom>
        </p:spPr>
      </p:pic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C7696096-D00C-4A20-BEF0-6CB23CFF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76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Customer-managed VMware Cloud Foundation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native OCI infrastructure</a:t>
            </a:r>
          </a:p>
        </p:txBody>
      </p:sp>
      <p:sp>
        <p:nvSpPr>
          <p:cNvPr id="84" name="Straight Connector 83">
            <a:extLst xmlns:a="http://schemas.openxmlformats.org/drawingml/2006/main">
              <a:ext uri="{FF2B5EF4-FFF2-40B4-BE49-F238E27FC236}">
                <a16:creationId xmlns:a16="http://schemas.microsoft.com/office/drawing/2014/main" id="{3B3281E3-FDA6-4DB0-9246-9862880C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52600"/>
            <a:ext cx="0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70A0EA1B-22F0-4316-B91C-9738F97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478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BUSINESS OUTCOMES</a:t>
            </a:r>
          </a:p>
        </p:txBody>
      </p:sp>
      <p:sp>
        <p:nvSpPr>
          <p:cNvPr id="86" name="Straight Connector 85">
            <a:extLst xmlns:a="http://schemas.openxmlformats.org/drawingml/2006/main">
              <a:ext uri="{FF2B5EF4-FFF2-40B4-BE49-F238E27FC236}">
                <a16:creationId xmlns:a16="http://schemas.microsoft.com/office/drawing/2014/main" id="{8B2881C5-7C26-4FAF-9316-E26657A2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0" name="Picture 1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8f3b60beb44ef"/>
          <a:stretch xmlns:a="http://schemas.openxmlformats.org/drawingml/2006/main"/>
        </p:blipFill>
        <p:spPr>
          <a:xfrm xmlns:a="http://schemas.openxmlformats.org/drawingml/2006/main">
            <a:off x="10039350" y="2061976"/>
            <a:ext cx="466725" cy="457574"/>
          </a:xfrm>
          <a:prstGeom xmlns:a="http://schemas.openxmlformats.org/drawingml/2006/main" prst="rect">
            <a:avLst/>
          </a:prstGeom>
        </p:spPr>
      </p:pic>
      <p:sp>
        <p:nvSpPr>
          <p:cNvPr id="88" name="Rectangle 87">
            <a:extLst xmlns:a="http://schemas.openxmlformats.org/drawingml/2006/main">
              <a:ext uri="{FF2B5EF4-FFF2-40B4-BE49-F238E27FC236}">
                <a16:creationId xmlns:a16="http://schemas.microsoft.com/office/drawing/2014/main" id="{46478480-5C09-4C44-88F0-2D8DF1A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76450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On-demand capacity</a:t>
            </a:r>
          </a:p>
        </p:txBody>
      </p:sp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39B7B1A7-0648-4376-8204-67776E38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resources as needed.</a:t>
            </a:r>
          </a:p>
        </p:txBody>
      </p:sp>
      <p:sp>
        <p:nvSpPr>
          <p:cNvPr id="90" name="Straight Connector 89">
            <a:extLst xmlns:a="http://schemas.openxmlformats.org/drawingml/2006/main">
              <a:ext uri="{FF2B5EF4-FFF2-40B4-BE49-F238E27FC236}">
                <a16:creationId xmlns:a16="http://schemas.microsoft.com/office/drawing/2014/main" id="{96857599-FA87-4340-9114-E0FEE6D8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57475"/>
            <a:ext cx="193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4" name="Picture 2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ed23000bd4db2"/>
          <a:stretch xmlns:a="http://schemas.openxmlformats.org/drawingml/2006/main"/>
        </p:blipFill>
        <p:spPr>
          <a:xfrm xmlns:a="http://schemas.openxmlformats.org/drawingml/2006/main">
            <a:off x="10043838" y="2819400"/>
            <a:ext cx="457750" cy="466725"/>
          </a:xfrm>
          <a:prstGeom xmlns:a="http://schemas.openxmlformats.org/drawingml/2006/main" prst="rect">
            <a:avLst/>
          </a:prstGeom>
        </p:spPr>
      </p:pic>
      <p:sp>
        <p:nvSpPr>
          <p:cNvPr id="92" name="Rectangle 91">
            <a:extLst xmlns:a="http://schemas.openxmlformats.org/drawingml/2006/main">
              <a:ext uri="{FF2B5EF4-FFF2-40B4-BE49-F238E27FC236}">
                <a16:creationId xmlns:a16="http://schemas.microsoft.com/office/drawing/2014/main" id="{91887D52-2486-4F8D-B5D0-7FABDCF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No additional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center hardware</a:t>
            </a:r>
          </a:p>
        </p:txBody>
      </p:sp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C409B384-733F-455B-AD45-714D77F6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194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Avoid upfront capital investment.</a:t>
            </a:r>
          </a:p>
        </p:txBody>
      </p:sp>
      <p:sp>
        <p:nvSpPr>
          <p:cNvPr id="94" name="Straight Connector 93">
            <a:extLst xmlns:a="http://schemas.openxmlformats.org/drawingml/2006/main">
              <a:ext uri="{FF2B5EF4-FFF2-40B4-BE49-F238E27FC236}">
                <a16:creationId xmlns:a16="http://schemas.microsoft.com/office/drawing/2014/main" id="{9F45CE58-7082-441F-AB11-465F5306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19475"/>
            <a:ext cx="193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8" name="Picture 2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fd572d5ab4395"/>
          <a:stretch xmlns:a="http://schemas.openxmlformats.org/drawingml/2006/main"/>
        </p:blipFill>
        <p:spPr>
          <a:xfrm xmlns:a="http://schemas.openxmlformats.org/drawingml/2006/main">
            <a:off x="10039350" y="360045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9094161B-6339-43C1-9671-7E6FFCF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19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Consistent VMware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7E1BA557-9BB9-41B3-B8A0-F332E8A6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005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same tools and skills.</a:t>
            </a:r>
          </a:p>
        </p:txBody>
      </p:sp>
      <p:sp>
        <p:nvSpPr>
          <p:cNvPr id="98" name="Straight Connector 97">
            <a:extLst xmlns:a="http://schemas.openxmlformats.org/drawingml/2006/main">
              <a:ext uri="{FF2B5EF4-FFF2-40B4-BE49-F238E27FC236}">
                <a16:creationId xmlns:a16="http://schemas.microsoft.com/office/drawing/2014/main" id="{C8DD2F73-9CCB-4B70-9DD0-3BD907F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00525"/>
            <a:ext cx="193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2" name="Picture 2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1e735604a43e6"/>
          <a:stretch xmlns:a="http://schemas.openxmlformats.org/drawingml/2006/main"/>
        </p:blipFill>
        <p:spPr>
          <a:xfrm xmlns:a="http://schemas.openxmlformats.org/drawingml/2006/main">
            <a:off x="10039350" y="438150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C27593F3-05CA-4049-BED6-9A3F339B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00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Scale up and down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as needed</a:t>
            </a: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2D5C8695-DA9C-400B-9EA2-0FEB6B6D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7815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Elastic capacity for your business.</a:t>
            </a:r>
          </a:p>
        </p:txBody>
      </p:sp>
      <p:sp>
        <p:nvSpPr>
          <p:cNvPr id="102" name="Straight Connector 101">
            <a:extLst xmlns:a="http://schemas.openxmlformats.org/drawingml/2006/main">
              <a:ext uri="{FF2B5EF4-FFF2-40B4-BE49-F238E27FC236}">
                <a16:creationId xmlns:a16="http://schemas.microsoft.com/office/drawing/2014/main" id="{F81EDEE1-0D52-4F49-819E-E543DBDC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81575"/>
            <a:ext cx="193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6" name="Picture 2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d289ecf104a6a"/>
          <a:stretch xmlns:a="http://schemas.openxmlformats.org/drawingml/2006/main"/>
        </p:blipFill>
        <p:spPr>
          <a:xfrm xmlns:a="http://schemas.openxmlformats.org/drawingml/2006/main">
            <a:off x="10039350" y="5176563"/>
            <a:ext cx="466725" cy="457750"/>
          </a:xfrm>
          <a:prstGeom xmlns:a="http://schemas.openxmlformats.org/drawingml/2006/main" prst="rect">
            <a:avLst/>
          </a:prstGeom>
        </p:spPr>
      </p:pic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AD20CDE3-2498-45E3-9C75-F2A4B69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91125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Faster response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to business demand</a:t>
            </a: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0410A441-8A6B-46D5-A884-16D17C1A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5721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Reduce time to deliver capacity.</a:t>
            </a:r>
          </a:p>
        </p:txBody>
      </p:sp>
      <p:sp>
        <p:nvSpPr>
          <p:cNvPr id="106" name="Rounded Rectangle 105">
            <a:extLst xmlns:a="http://schemas.openxmlformats.org/drawingml/2006/main">
              <a:ext uri="{FF2B5EF4-FFF2-40B4-BE49-F238E27FC236}">
                <a16:creationId xmlns:a16="http://schemas.microsoft.com/office/drawing/2014/main" id="{24DD45FC-41F5-4049-BD6A-1CBA17D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95975"/>
            <a:ext cx="9715500" cy="590550"/>
          </a:xfrm>
          <a:prstGeom xmlns:a="http://schemas.openxmlformats.org/drawingml/2006/main" prst="roundRect">
            <a:avLst>
              <a:gd name="adj" fmla="val 11290"/>
            </a:avLst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6482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0" name="Picture 2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adb2fed8e4791"/>
          <a:stretch xmlns:a="http://schemas.openxmlformats.org/drawingml/2006/main"/>
        </p:blipFill>
        <p:spPr>
          <a:xfrm xmlns:a="http://schemas.openxmlformats.org/drawingml/2006/main">
            <a:off x="537152" y="5953125"/>
            <a:ext cx="487795" cy="495300"/>
          </a:xfrm>
          <a:prstGeom xmlns:a="http://schemas.openxmlformats.org/drawingml/2006/main" prst="rect">
            <a:avLst/>
          </a:prstGeom>
        </p:spPr>
      </p:pic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244064FF-3FC5-4E96-B6EB-3F0B519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124575"/>
            <a:ext cx="862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Expand capacity when needed while preserving the VMware tools, processes, and skills your teams already know.</a:t>
            </a:r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CF34C701-E041-4ADC-B78D-C9A7ED7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38925"/>
            <a:ext cx="1428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115D0D49-EC68-4DF9-A931-4CDFEEEA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638925"/>
            <a:ext cx="2286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Copyright © 2026, Oracle and/or its affiliates.</a:t>
            </a:r>
          </a:p>
        </p:txBody>
      </p:sp>
      <p:sp>
        <p:nvSpPr>
          <p:cNvPr id="111" name="Straight Connector 110">
            <a:extLst xmlns:a="http://schemas.openxmlformats.org/drawingml/2006/main">
              <a:ext uri="{FF2B5EF4-FFF2-40B4-BE49-F238E27FC236}">
                <a16:creationId xmlns:a16="http://schemas.microsoft.com/office/drawing/2014/main" id="{F62EBB7D-1585-4951-BCFE-80EDD578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6294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2" name="Rectangle 111">
            <a:extLst xmlns:a="http://schemas.openxmlformats.org/drawingml/2006/main">
              <a:ext uri="{FF2B5EF4-FFF2-40B4-BE49-F238E27FC236}">
                <a16:creationId xmlns:a16="http://schemas.microsoft.com/office/drawing/2014/main" id="{7311359F-0454-4729-8716-E601574C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38925"/>
            <a:ext cx="3143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E60000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E60000"/>
                </a:solidFill>
                <a:latin typeface="Arial"/>
                <a:ea typeface="Arial"/>
                <a:cs typeface="Arial"/>
              </a:rPr>
              <a:t>Confidential: Internal/Restricted/Highly Restricted</a:t>
            </a:r>
          </a:p>
        </p:txBody>
      </p:sp>
    </p:spTree>
    <p:extLst>
      <p:ext uri="{BB962C8B-B14F-4D97-AF65-F5344CB8AC3E}">
        <p14:creationId xmlns:p14="http://schemas.microsoft.com/office/powerpoint/2010/main" val="14150615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urrent Environment-title">
            <a:extLst xmlns:a="http://schemas.openxmlformats.org/drawingml/2006/main">
              <a:ext uri="{FF2B5EF4-FFF2-40B4-BE49-F238E27FC236}">
                <a16:creationId xmlns:a16="http://schemas.microsoft.com/office/drawing/2014/main" id="{CAE61BDD-3D2F-472F-96AE-AF89B3D1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sp>
        <p:nvSpPr>
          <p:cNvPr id="2" name="Current Environment-rule">
            <a:extLst xmlns:a="http://schemas.openxmlformats.org/drawingml/2006/main">
              <a:ext uri="{FF2B5EF4-FFF2-40B4-BE49-F238E27FC236}">
                <a16:creationId xmlns:a16="http://schemas.microsoft.com/office/drawing/2014/main" id="{026EA467-8F95-4A75-B7A4-667D4F63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Current Environment-subtitle">
            <a:extLst xmlns:a="http://schemas.openxmlformats.org/drawingml/2006/main">
              <a:ext uri="{FF2B5EF4-FFF2-40B4-BE49-F238E27FC236}">
                <a16:creationId xmlns:a16="http://schemas.microsoft.com/office/drawing/2014/main" id="{8E13BDA6-BB46-4030-B268-2BC5DC25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Analysis based on the selected RVTools assessment scope.</a:t>
            </a:r>
          </a:p>
        </p:txBody>
      </p:sp>
      <p:sp>
        <p:nvSpPr>
          <p:cNvPr id="4" name="Current Environment-footer">
            <a:extLst xmlns:a="http://schemas.openxmlformats.org/drawingml/2006/main">
              <a:ext uri="{FF2B5EF4-FFF2-40B4-BE49-F238E27FC236}">
                <a16:creationId xmlns:a16="http://schemas.microsoft.com/office/drawing/2014/main" id="{6EAAB5D7-F245-4532-9DB3-D47A433A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current-vms">
            <a:extLst xmlns:a="http://schemas.openxmlformats.org/drawingml/2006/main">
              <a:ext uri="{FF2B5EF4-FFF2-40B4-BE49-F238E27FC236}">
                <a16:creationId xmlns:a16="http://schemas.microsoft.com/office/drawing/2014/main" id="{BCE36D6F-376B-430D-BB49-2F9EA05D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current-powered-on">
            <a:extLst xmlns:a="http://schemas.openxmlformats.org/drawingml/2006/main">
              <a:ext uri="{FF2B5EF4-FFF2-40B4-BE49-F238E27FC236}">
                <a16:creationId xmlns:a16="http://schemas.microsoft.com/office/drawing/2014/main" id="{6F55F81E-06BA-4271-A126-A0D36F4D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current-powered-off">
            <a:extLst xmlns:a="http://schemas.openxmlformats.org/drawingml/2006/main">
              <a:ext uri="{FF2B5EF4-FFF2-40B4-BE49-F238E27FC236}">
                <a16:creationId xmlns:a16="http://schemas.microsoft.com/office/drawing/2014/main" id="{50286AD9-8306-4FA5-8495-A9B8D981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current-vcpus">
            <a:extLst xmlns:a="http://schemas.openxmlformats.org/drawingml/2006/main">
              <a:ext uri="{FF2B5EF4-FFF2-40B4-BE49-F238E27FC236}">
                <a16:creationId xmlns:a16="http://schemas.microsoft.com/office/drawing/2014/main" id="{A95FDDDD-88DC-4872-A701-56902923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current-vram">
            <a:extLst xmlns:a="http://schemas.openxmlformats.org/drawingml/2006/main">
              <a:ext uri="{FF2B5EF4-FFF2-40B4-BE49-F238E27FC236}">
                <a16:creationId xmlns:a16="http://schemas.microsoft.com/office/drawing/2014/main" id="{0C708F7B-B938-451A-866E-48D0DD0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current-storage">
            <a:extLst xmlns:a="http://schemas.openxmlformats.org/drawingml/2006/main">
              <a:ext uri="{FF2B5EF4-FFF2-40B4-BE49-F238E27FC236}">
                <a16:creationId xmlns:a16="http://schemas.microsoft.com/office/drawing/2014/main" id="{27B21DCF-9000-494E-A7FF-12EDF5B6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current-cluster-panel">
            <a:extLst xmlns:a="http://schemas.openxmlformats.org/drawingml/2006/main">
              <a:ext uri="{FF2B5EF4-FFF2-40B4-BE49-F238E27FC236}">
                <a16:creationId xmlns:a16="http://schemas.microsoft.com/office/drawing/2014/main" id="{39B683FB-C161-40D0-A608-4E95390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current-cluster-band">
            <a:extLst xmlns:a="http://schemas.openxmlformats.org/drawingml/2006/main">
              <a:ext uri="{FF2B5EF4-FFF2-40B4-BE49-F238E27FC236}">
                <a16:creationId xmlns:a16="http://schemas.microsoft.com/office/drawing/2014/main" id="{02FBB143-258F-497C-9D41-0C10A99B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current-cluster-band-label">
            <a:extLst xmlns:a="http://schemas.openxmlformats.org/drawingml/2006/main">
              <a:ext uri="{FF2B5EF4-FFF2-40B4-BE49-F238E27FC236}">
                <a16:creationId xmlns:a16="http://schemas.microsoft.com/office/drawing/2014/main" id="{CB646426-A795-4505-BFC1-B71201FF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Environment</a:t>
            </a:r>
          </a:p>
        </p:txBody>
      </p:sp>
      <p:sp>
        <p:nvSpPr>
          <p:cNvPr id="14" name="current-column-Source cluster">
            <a:extLst xmlns:a="http://schemas.openxmlformats.org/drawingml/2006/main">
              <a:ext uri="{FF2B5EF4-FFF2-40B4-BE49-F238E27FC236}">
                <a16:creationId xmlns:a16="http://schemas.microsoft.com/office/drawing/2014/main" id="{1E0D7124-776F-49DB-B5B7-513250C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15" name="current-column-VMs">
            <a:extLst xmlns:a="http://schemas.openxmlformats.org/drawingml/2006/main">
              <a:ext uri="{FF2B5EF4-FFF2-40B4-BE49-F238E27FC236}">
                <a16:creationId xmlns:a16="http://schemas.microsoft.com/office/drawing/2014/main" id="{DF96BBB9-60AF-4623-BA56-B4AA5879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VMs</a:t>
            </a:r>
          </a:p>
        </p:txBody>
      </p:sp>
      <p:sp>
        <p:nvSpPr>
          <p:cNvPr id="16" name="current-column-vCPUs">
            <a:extLst xmlns:a="http://schemas.openxmlformats.org/drawingml/2006/main">
              <a:ext uri="{FF2B5EF4-FFF2-40B4-BE49-F238E27FC236}">
                <a16:creationId xmlns:a16="http://schemas.microsoft.com/office/drawing/2014/main" id="{97DD500B-B010-4206-9623-8137D1E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vCPUs</a:t>
            </a:r>
          </a:p>
        </p:txBody>
      </p:sp>
      <p:sp>
        <p:nvSpPr>
          <p:cNvPr id="17" name="current-column-vRAM (GB)">
            <a:extLst xmlns:a="http://schemas.openxmlformats.org/drawingml/2006/main">
              <a:ext uri="{FF2B5EF4-FFF2-40B4-BE49-F238E27FC236}">
                <a16:creationId xmlns:a16="http://schemas.microsoft.com/office/drawing/2014/main" id="{0A62F9FF-EF98-4456-B69B-28C6EADA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vRAM (GB)</a:t>
            </a:r>
          </a:p>
        </p:txBody>
      </p:sp>
      <p:sp>
        <p:nvSpPr>
          <p:cNvPr id="18" name="current-column-Storage (TB)">
            <a:extLst xmlns:a="http://schemas.openxmlformats.org/drawingml/2006/main">
              <a:ext uri="{FF2B5EF4-FFF2-40B4-BE49-F238E27FC236}">
                <a16:creationId xmlns:a16="http://schemas.microsoft.com/office/drawing/2014/main" id="{22F775CA-C2F1-469A-A50F-02A54E63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19" name="editable-source-cluster-name-row-1">
            <a:extLst xmlns:a="http://schemas.openxmlformats.org/drawingml/2006/main">
              <a:ext uri="{FF2B5EF4-FFF2-40B4-BE49-F238E27FC236}">
                <a16:creationId xmlns:a16="http://schemas.microsoft.com/office/drawing/2014/main" id="{EB56E28F-1718-439C-BD42-8DEC359C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0" name="editable-source-cluster-vms-row-1">
            <a:extLst xmlns:a="http://schemas.openxmlformats.org/drawingml/2006/main">
              <a:ext uri="{FF2B5EF4-FFF2-40B4-BE49-F238E27FC236}">
                <a16:creationId xmlns:a16="http://schemas.microsoft.com/office/drawing/2014/main" id="{9BF3C375-6AFE-4993-8D3B-ADBBD079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editable-source-cluster-vcpus-row-1">
            <a:extLst xmlns:a="http://schemas.openxmlformats.org/drawingml/2006/main">
              <a:ext uri="{FF2B5EF4-FFF2-40B4-BE49-F238E27FC236}">
                <a16:creationId xmlns:a16="http://schemas.microsoft.com/office/drawing/2014/main" id="{CE4ED300-D77B-49AE-AB34-DAF4DA66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editable-source-cluster-vram-row-1">
            <a:extLst xmlns:a="http://schemas.openxmlformats.org/drawingml/2006/main">
              <a:ext uri="{FF2B5EF4-FFF2-40B4-BE49-F238E27FC236}">
                <a16:creationId xmlns:a16="http://schemas.microsoft.com/office/drawing/2014/main" id="{72329AF7-E3BE-4CB8-9A7E-F62B38A6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editable-source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3E156636-3796-4EEB-B421-3974D90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current-cluster-row-1-line">
            <a:extLst xmlns:a="http://schemas.openxmlformats.org/drawingml/2006/main">
              <a:ext uri="{FF2B5EF4-FFF2-40B4-BE49-F238E27FC236}">
                <a16:creationId xmlns:a16="http://schemas.microsoft.com/office/drawing/2014/main" id="{32F5E714-33B9-4CCC-A022-713EF52F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5" name="current-cluster-row-2-fill">
            <a:extLst xmlns:a="http://schemas.openxmlformats.org/drawingml/2006/main">
              <a:ext uri="{FF2B5EF4-FFF2-40B4-BE49-F238E27FC236}">
                <a16:creationId xmlns:a16="http://schemas.microsoft.com/office/drawing/2014/main" id="{CFBA4997-000B-4C8C-9764-EE400336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26" name="editable-source-cluster-name-row-2">
            <a:extLst xmlns:a="http://schemas.openxmlformats.org/drawingml/2006/main">
              <a:ext uri="{FF2B5EF4-FFF2-40B4-BE49-F238E27FC236}">
                <a16:creationId xmlns:a16="http://schemas.microsoft.com/office/drawing/2014/main" id="{A654AC53-8792-47BF-A8C8-72C6DCF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7" name="editable-source-cluster-vms-row-2">
            <a:extLst xmlns:a="http://schemas.openxmlformats.org/drawingml/2006/main">
              <a:ext uri="{FF2B5EF4-FFF2-40B4-BE49-F238E27FC236}">
                <a16:creationId xmlns:a16="http://schemas.microsoft.com/office/drawing/2014/main" id="{31586CFC-9769-4213-BA74-FBFD08BF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editable-source-cluster-vcpus-row-2">
            <a:extLst xmlns:a="http://schemas.openxmlformats.org/drawingml/2006/main">
              <a:ext uri="{FF2B5EF4-FFF2-40B4-BE49-F238E27FC236}">
                <a16:creationId xmlns:a16="http://schemas.microsoft.com/office/drawing/2014/main" id="{A98B0588-D4E3-4DAA-80C8-DB6088CA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editable-source-cluster-vram-row-2">
            <a:extLst xmlns:a="http://schemas.openxmlformats.org/drawingml/2006/main">
              <a:ext uri="{FF2B5EF4-FFF2-40B4-BE49-F238E27FC236}">
                <a16:creationId xmlns:a16="http://schemas.microsoft.com/office/drawing/2014/main" id="{7ADA420E-55C6-4A3E-BA21-CAB1DEF6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ditable-source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CC49B3CA-9951-40C9-A268-12A53A7D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current-cluster-row-2-line">
            <a:extLst xmlns:a="http://schemas.openxmlformats.org/drawingml/2006/main">
              <a:ext uri="{FF2B5EF4-FFF2-40B4-BE49-F238E27FC236}">
                <a16:creationId xmlns:a16="http://schemas.microsoft.com/office/drawing/2014/main" id="{14E4A4FA-1764-4E92-90EA-4173486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2" name="editable-source-cluster-name-row-3">
            <a:extLst xmlns:a="http://schemas.openxmlformats.org/drawingml/2006/main">
              <a:ext uri="{FF2B5EF4-FFF2-40B4-BE49-F238E27FC236}">
                <a16:creationId xmlns:a16="http://schemas.microsoft.com/office/drawing/2014/main" id="{EF8A7D8B-BE8F-4824-AC1D-7291B232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33" name="editable-source-cluster-vms-row-3">
            <a:extLst xmlns:a="http://schemas.openxmlformats.org/drawingml/2006/main">
              <a:ext uri="{FF2B5EF4-FFF2-40B4-BE49-F238E27FC236}">
                <a16:creationId xmlns:a16="http://schemas.microsoft.com/office/drawing/2014/main" id="{F268C3AF-5EF6-4660-B8EE-486B279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576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editable-source-cluster-vcpus-row-3">
            <a:extLst xmlns:a="http://schemas.openxmlformats.org/drawingml/2006/main">
              <a:ext uri="{FF2B5EF4-FFF2-40B4-BE49-F238E27FC236}">
                <a16:creationId xmlns:a16="http://schemas.microsoft.com/office/drawing/2014/main" id="{43315DB0-68FA-47BA-A685-BE8E2E60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editable-source-cluster-vram-row-3">
            <a:extLst xmlns:a="http://schemas.openxmlformats.org/drawingml/2006/main">
              <a:ext uri="{FF2B5EF4-FFF2-40B4-BE49-F238E27FC236}">
                <a16:creationId xmlns:a16="http://schemas.microsoft.com/office/drawing/2014/main" id="{035DEAE7-80EE-4B6A-A00C-EE041D04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editable-source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6AAF647C-5EB5-4ECA-A369-66EC0291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current-cluster-row-3-line">
            <a:extLst xmlns:a="http://schemas.openxmlformats.org/drawingml/2006/main">
              <a:ext uri="{FF2B5EF4-FFF2-40B4-BE49-F238E27FC236}">
                <a16:creationId xmlns:a16="http://schemas.microsoft.com/office/drawing/2014/main" id="{A3771B29-1A98-42C9-A84C-76D8EEA0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8" name="current-cluster-row-4-fill">
            <a:extLst xmlns:a="http://schemas.openxmlformats.org/drawingml/2006/main">
              <a:ext uri="{FF2B5EF4-FFF2-40B4-BE49-F238E27FC236}">
                <a16:creationId xmlns:a16="http://schemas.microsoft.com/office/drawing/2014/main" id="{C09ADD2A-1F8B-496A-8006-3B578F70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39" name="editable-source-cluster-name-row-4">
            <a:extLst xmlns:a="http://schemas.openxmlformats.org/drawingml/2006/main">
              <a:ext uri="{FF2B5EF4-FFF2-40B4-BE49-F238E27FC236}">
                <a16:creationId xmlns:a16="http://schemas.microsoft.com/office/drawing/2014/main" id="{4C3A1D6E-BF58-42D4-999D-824C1720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0" name="editable-source-cluster-vms-row-4">
            <a:extLst xmlns:a="http://schemas.openxmlformats.org/drawingml/2006/main">
              <a:ext uri="{FF2B5EF4-FFF2-40B4-BE49-F238E27FC236}">
                <a16:creationId xmlns:a16="http://schemas.microsoft.com/office/drawing/2014/main" id="{EFFF5440-E01B-41E8-9A22-8E75F7E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source-cluster-vcpus-row-4">
            <a:extLst xmlns:a="http://schemas.openxmlformats.org/drawingml/2006/main">
              <a:ext uri="{FF2B5EF4-FFF2-40B4-BE49-F238E27FC236}">
                <a16:creationId xmlns:a16="http://schemas.microsoft.com/office/drawing/2014/main" id="{0577A422-8CF1-4047-9B82-5989F1D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editable-source-cluster-vram-row-4">
            <a:extLst xmlns:a="http://schemas.openxmlformats.org/drawingml/2006/main">
              <a:ext uri="{FF2B5EF4-FFF2-40B4-BE49-F238E27FC236}">
                <a16:creationId xmlns:a16="http://schemas.microsoft.com/office/drawing/2014/main" id="{0BD83265-F0B0-4EEF-A392-A0DF9CF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editable-source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AA497E11-7CB5-40F2-BFA5-3ED25A23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current-cluster-row-4-line">
            <a:extLst xmlns:a="http://schemas.openxmlformats.org/drawingml/2006/main">
              <a:ext uri="{FF2B5EF4-FFF2-40B4-BE49-F238E27FC236}">
                <a16:creationId xmlns:a16="http://schemas.microsoft.com/office/drawing/2014/main" id="{4856182C-CDF5-47C7-8282-A9E22211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editable-source-cluster-name-row-5">
            <a:extLst xmlns:a="http://schemas.openxmlformats.org/drawingml/2006/main">
              <a:ext uri="{FF2B5EF4-FFF2-40B4-BE49-F238E27FC236}">
                <a16:creationId xmlns:a16="http://schemas.microsoft.com/office/drawing/2014/main" id="{9A23B6FC-A230-4C6E-9621-4173FEC4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6" name="editable-source-cluster-vms-row-5">
            <a:extLst xmlns:a="http://schemas.openxmlformats.org/drawingml/2006/main">
              <a:ext uri="{FF2B5EF4-FFF2-40B4-BE49-F238E27FC236}">
                <a16:creationId xmlns:a16="http://schemas.microsoft.com/office/drawing/2014/main" id="{D6A65F4D-B203-4A70-A0F6-ACD0E20A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577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editable-source-cluster-vcpus-row-5">
            <a:extLst xmlns:a="http://schemas.openxmlformats.org/drawingml/2006/main">
              <a:ext uri="{FF2B5EF4-FFF2-40B4-BE49-F238E27FC236}">
                <a16:creationId xmlns:a16="http://schemas.microsoft.com/office/drawing/2014/main" id="{CDEB4266-BB35-4728-9FFA-0EDF158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editable-source-cluster-vram-row-5">
            <a:extLst xmlns:a="http://schemas.openxmlformats.org/drawingml/2006/main">
              <a:ext uri="{FF2B5EF4-FFF2-40B4-BE49-F238E27FC236}">
                <a16:creationId xmlns:a16="http://schemas.microsoft.com/office/drawing/2014/main" id="{D453252E-F0DC-4BDE-9211-19AD0A33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source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CF8D62A5-C256-46FF-A2DE-61ACB17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current-cluster-row-5-line">
            <a:extLst xmlns:a="http://schemas.openxmlformats.org/drawingml/2006/main">
              <a:ext uri="{FF2B5EF4-FFF2-40B4-BE49-F238E27FC236}">
                <a16:creationId xmlns:a16="http://schemas.microsoft.com/office/drawing/2014/main" id="{E10DBB0B-11D9-4A03-B723-EFE4846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1" name="current-cluster-row-6-fill">
            <a:extLst xmlns:a="http://schemas.openxmlformats.org/drawingml/2006/main">
              <a:ext uri="{FF2B5EF4-FFF2-40B4-BE49-F238E27FC236}">
                <a16:creationId xmlns:a16="http://schemas.microsoft.com/office/drawing/2014/main" id="{91033095-5F61-4758-910D-FC7548C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52" name="editable-source-cluster-name-row-6">
            <a:extLst xmlns:a="http://schemas.openxmlformats.org/drawingml/2006/main">
              <a:ext uri="{FF2B5EF4-FFF2-40B4-BE49-F238E27FC236}">
                <a16:creationId xmlns:a16="http://schemas.microsoft.com/office/drawing/2014/main" id="{81929B23-EA5E-4E41-8D0D-CA4D4F0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53" name="editable-source-cluster-vms-row-6">
            <a:extLst xmlns:a="http://schemas.openxmlformats.org/drawingml/2006/main">
              <a:ext uri="{FF2B5EF4-FFF2-40B4-BE49-F238E27FC236}">
                <a16:creationId xmlns:a16="http://schemas.microsoft.com/office/drawing/2014/main" id="{BDC59D70-BDC6-4D7C-B810-CD3C0FCA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577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editable-source-cluster-vcpus-row-6">
            <a:extLst xmlns:a="http://schemas.openxmlformats.org/drawingml/2006/main">
              <a:ext uri="{FF2B5EF4-FFF2-40B4-BE49-F238E27FC236}">
                <a16:creationId xmlns:a16="http://schemas.microsoft.com/office/drawing/2014/main" id="{C9D6C9D4-8710-4871-8491-4FF60833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editable-source-cluster-vram-row-6">
            <a:extLst xmlns:a="http://schemas.openxmlformats.org/drawingml/2006/main">
              <a:ext uri="{FF2B5EF4-FFF2-40B4-BE49-F238E27FC236}">
                <a16:creationId xmlns:a16="http://schemas.microsoft.com/office/drawing/2014/main" id="{C2C93593-A59A-472B-BD61-0D5D7752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source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1B6361CE-6AB4-4501-94C4-67D059B0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current-cluster-row-6-line">
            <a:extLst xmlns:a="http://schemas.openxmlformats.org/drawingml/2006/main">
              <a:ext uri="{FF2B5EF4-FFF2-40B4-BE49-F238E27FC236}">
                <a16:creationId xmlns:a16="http://schemas.microsoft.com/office/drawing/2014/main" id="{AAA83867-DC57-4D28-B666-4D9C1705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8" name="current-total-band">
            <a:extLst xmlns:a="http://schemas.openxmlformats.org/drawingml/2006/main">
              <a:ext uri="{FF2B5EF4-FFF2-40B4-BE49-F238E27FC236}">
                <a16:creationId xmlns:a16="http://schemas.microsoft.com/office/drawing/2014/main" id="{E1CAD247-7E7B-477F-9060-7DDE6099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1143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59" name="current-total-label">
            <a:extLst xmlns:a="http://schemas.openxmlformats.org/drawingml/2006/main">
              <a:ext uri="{FF2B5EF4-FFF2-40B4-BE49-F238E27FC236}">
                <a16:creationId xmlns:a16="http://schemas.microsoft.com/office/drawing/2014/main" id="{EF42774D-2F56-4859-AD9D-8E9243D5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SELECTED SCOPE</a:t>
            </a:r>
          </a:p>
        </p:txBody>
      </p:sp>
      <p:sp>
        <p:nvSpPr>
          <p:cNvPr id="60" name="editable-total-vms">
            <a:extLst xmlns:a="http://schemas.openxmlformats.org/drawingml/2006/main">
              <a:ext uri="{FF2B5EF4-FFF2-40B4-BE49-F238E27FC236}">
                <a16:creationId xmlns:a16="http://schemas.microsoft.com/office/drawing/2014/main" id="{0D2EAA8B-E8DF-4561-92D0-37296D1D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953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editable-total-vcpus">
            <a:extLst xmlns:a="http://schemas.openxmlformats.org/drawingml/2006/main">
              <a:ext uri="{FF2B5EF4-FFF2-40B4-BE49-F238E27FC236}">
                <a16:creationId xmlns:a16="http://schemas.microsoft.com/office/drawing/2014/main" id="{1E99F2D0-68F4-4945-B30B-9EF465B0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531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2" name="editable-total-vram">
            <a:extLst xmlns:a="http://schemas.openxmlformats.org/drawingml/2006/main">
              <a:ext uri="{FF2B5EF4-FFF2-40B4-BE49-F238E27FC236}">
                <a16:creationId xmlns:a16="http://schemas.microsoft.com/office/drawing/2014/main" id="{11260C20-11AC-4283-8A04-7A4C9297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53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editable-total-storage">
            <a:extLst xmlns:a="http://schemas.openxmlformats.org/drawingml/2006/main">
              <a:ext uri="{FF2B5EF4-FFF2-40B4-BE49-F238E27FC236}">
                <a16:creationId xmlns:a16="http://schemas.microsoft.com/office/drawing/2014/main" id="{5BE31BBE-8501-47F5-BCDE-DD84AAF9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033d1ea0f4cb0"/>
          <a:stretch xmlns:a="http://schemas.openxmlformats.org/drawingml/2006/main"/>
        </p:blipFill>
        <p:spPr>
          <a:xfrm xmlns:a="http://schemas.openxmlformats.org/drawingml/2006/main">
            <a:off x="426149" y="276225"/>
            <a:ext cx="1824228" cy="54292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4e5c7880741b5"/>
          <a:stretch xmlns:a="http://schemas.openxmlformats.org/drawingml/2006/main"/>
        </p:blipFill>
        <p:spPr>
          <a:xfrm xmlns:a="http://schemas.openxmlformats.org/drawingml/2006/main">
            <a:off x="11382375" y="6459855"/>
            <a:ext cx="419100" cy="396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989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73A5942D-D23C-45E6-ACE1-2F77352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57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3088BEA-17DF-442D-9BC7-02155DD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85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F40793F-68B7-4A09-857E-9B1E1E9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74B1F8E-B96D-4B16-B046-787E870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23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CE320BA-C63B-4BBF-94C5-92BE519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F232F3B-1324-4364-BD60-137FAF1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47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2DA0ADF-18D5-4143-BAFB-C1D4E03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EF1F3FD-6495-4F9F-8163-4CEB68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3A8DECC-6222-4521-82D5-B349CA0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848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32e918eb54ec0"/>
          <a:stretch xmlns:a="http://schemas.openxmlformats.org/drawingml/2006/main"/>
        </p:blipFill>
        <p:spPr>
          <a:xfrm xmlns:a="http://schemas.openxmlformats.org/drawingml/2006/main">
            <a:off x="361950" y="357187"/>
            <a:ext cx="1927741" cy="60007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1FA5E6-65B3-42DA-A23A-AE93E67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Assumptions &amp; Methodology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29860D-8183-4AA2-8F53-EEB1515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764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173982-393B-42AC-A28E-FA0B094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383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proposed sizing is based on the information provided by the customer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the following assumptions and methodology.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05FD567-6830-4B7C-A6B4-1C17F3F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76650"/>
          </a:xfrm>
          <a:prstGeom xmlns:a="http://schemas.openxmlformats.org/drawingml/2006/main" prst="roundRect">
            <a:avLst>
              <a:gd name="adj" fmla="val 1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E7120EA-B371-422A-9F44-F023B4B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1950"/>
          </a:xfrm>
          <a:prstGeom xmlns:a="http://schemas.openxmlformats.org/drawingml/2006/main" prst="roundRect">
            <a:avLst>
              <a:gd name="adj" fmla="val 18421"/>
            </a:avLst>
          </a:prstGeom>
          <a:gradFill xmlns:a="http://schemas.openxmlformats.org/drawingml/2006/main">
            <a:gsLst>
              <a:gs pos="0">
                <a:srgbClr val="00351F"/>
              </a:gs>
              <a:gs pos="100000">
                <a:srgbClr val="07543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60776703c4845"/>
          <a:stretch xmlns:a="http://schemas.openxmlformats.org/drawingml/2006/main"/>
        </p:blipFill>
        <p:spPr>
          <a:xfrm xmlns:a="http://schemas.openxmlformats.org/drawingml/2006/main">
            <a:off x="617492" y="2390775"/>
            <a:ext cx="260441" cy="276225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91505E6-4E87-4F2F-9412-FA897C3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Sizing Methodology</a:t>
            </a:r>
          </a:p>
        </p:txBody>
      </p:sp>
      <p:pic>
        <p:nvPicPr>
          <p:cNvPr id="78" name="Picture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a2a58cbf34398"/>
          <a:stretch xmlns:a="http://schemas.openxmlformats.org/drawingml/2006/main"/>
        </p:blipFill>
        <p:spPr>
          <a:xfrm xmlns:a="http://schemas.openxmlformats.org/drawingml/2006/main">
            <a:off x="600075" y="2779303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908386-5A93-4A58-A462-83A24A1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Source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74A58121-1B16-4F12-92B5-F259AF4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D931CB-6DBE-4D20-B729-9888519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RVTools export provided by the customer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(Analysis Date: May 08, 2025)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3397379-0F76-4614-83F5-A13601A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421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300af52924e31"/>
          <a:stretch xmlns:a="http://schemas.openxmlformats.org/drawingml/2006/main"/>
        </p:blipFill>
        <p:spPr>
          <a:xfrm xmlns:a="http://schemas.openxmlformats.org/drawingml/2006/main">
            <a:off x="600075" y="3309845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8908F2-D896-472D-AF70-B94F25A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519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Sizing Approach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DEC23A-6F66-49D5-87D3-62C87F3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946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ECE9441-9ABA-4D86-B0D0-CA3DF1A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946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based on current utilization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projected growth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5CE46C6-B9C0-4849-A834-96BE065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4760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50e8b5f504bbb"/>
          <a:stretch xmlns:a="http://schemas.openxmlformats.org/drawingml/2006/main"/>
        </p:blipFill>
        <p:spPr>
          <a:xfrm xmlns:a="http://schemas.openxmlformats.org/drawingml/2006/main">
            <a:off x="600075" y="3836686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085D01-F2D9-4FF8-AFE8-59DAD7C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573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CPU Contention Ratio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72944B4F-936E-4666-BCB5-19428C8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001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ditable-cpu-contention-ratio">
            <a:extLst xmlns:a="http://schemas.openxmlformats.org/drawingml/2006/main">
              <a:ext uri="{FF2B5EF4-FFF2-40B4-BE49-F238E27FC236}">
                <a16:creationId xmlns:a16="http://schemas.microsoft.com/office/drawing/2014/main" id="{4BB2C1F5-D562-49B2-9F9A-0CC0CC2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9001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1:6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1010FD1-CF72-4430-AE27-159930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0908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(Industry standard for medium consolidation)</a:t>
            </a: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02CD068C-C8FC-47C9-BB57-3D4C643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25303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4" name="Picture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24c29cd864b77"/>
          <a:stretch xmlns:a="http://schemas.openxmlformats.org/drawingml/2006/main"/>
        </p:blipFill>
        <p:spPr>
          <a:xfrm xmlns:a="http://schemas.openxmlformats.org/drawingml/2006/main">
            <a:off x="600075" y="4367228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5B0B338-2A00-4402-837C-6832FD3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6278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Average Utilization</a:t>
            </a:r>
          </a:p>
        </p:txBody>
      </p:sp>
      <p:sp>
        <p:nvSpPr>
          <p:cNvPr id="37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0004D49C-3CEF-4D64-8EE4-5C2EF19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0553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9B219E-B635-42E5-8711-6CCAA05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0553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vCPU: 50%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vMEM: 60%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5294845-2E5B-41F1-8CD4-A4D7AFA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5845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9" name="Picture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eaf897e764b17"/>
          <a:stretch xmlns:a="http://schemas.openxmlformats.org/drawingml/2006/main"/>
        </p:blipFill>
        <p:spPr>
          <a:xfrm xmlns:a="http://schemas.openxmlformats.org/drawingml/2006/main">
            <a:off x="600075" y="4897771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237AD7F-4836-4176-AF9D-C45EBA30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682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Target Utilization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4D9346C3-2665-41B0-99E5-1FA2EBA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109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BC0D906-17E6-4658-8738-8B36754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109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(For both vCPU and vMEM)</a:t>
            </a:r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76C190DA-7557-4EF8-A3B4-C1CD1D5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8638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4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17019eb5145f6"/>
          <a:stretch xmlns:a="http://schemas.openxmlformats.org/drawingml/2006/main"/>
        </p:blipFill>
        <p:spPr>
          <a:xfrm xmlns:a="http://schemas.openxmlformats.org/drawingml/2006/main">
            <a:off x="600075" y="5424488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AAF8FDE-50FC-4C3F-9F81-15310F8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736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FFEF831B-5985-4EBD-83C8-5066846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163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editable-methodology-storage-type">
            <a:extLst xmlns:a="http://schemas.openxmlformats.org/drawingml/2006/main">
              <a:ext uri="{FF2B5EF4-FFF2-40B4-BE49-F238E27FC236}">
                <a16:creationId xmlns:a16="http://schemas.microsoft.com/office/drawing/2014/main" id="{FCCC5123-50EE-49F7-9C4E-AD8B5F1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8163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Block Volume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(Block Storage)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16E4D860-FD45-4FE4-BDF9-3E6C0A6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553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pic>
        <p:nvPicPr>
          <p:cNvPr id="109" name="Picture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e29113a8e40bb"/>
          <a:stretch xmlns:a="http://schemas.openxmlformats.org/drawingml/2006/main"/>
        </p:blipFill>
        <p:spPr>
          <a:xfrm xmlns:a="http://schemas.openxmlformats.org/drawingml/2006/main">
            <a:off x="11391900" y="6479151"/>
            <a:ext cx="400050" cy="3290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57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Infrastructure Sizing Summary-title">
            <a:extLst xmlns:a="http://schemas.openxmlformats.org/drawingml/2006/main">
              <a:ext uri="{FF2B5EF4-FFF2-40B4-BE49-F238E27FC236}">
                <a16:creationId xmlns:a16="http://schemas.microsoft.com/office/drawing/2014/main" id="{9CA12B6D-6F52-41F7-AFE2-AE3B6C60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Infrastructure Sizing Summary</a:t>
            </a:r>
          </a:p>
        </p:txBody>
      </p:sp>
      <p:sp>
        <p:nvSpPr>
          <p:cNvPr id="2" name="Infrastructure Sizing Summary-rule">
            <a:extLst xmlns:a="http://schemas.openxmlformats.org/drawingml/2006/main">
              <a:ext uri="{FF2B5EF4-FFF2-40B4-BE49-F238E27FC236}">
                <a16:creationId xmlns:a16="http://schemas.microsoft.com/office/drawing/2014/main" id="{7E1C62A9-C169-4BBE-AF3A-AB7DEBD1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Infrastructure Sizing Summary-subtitle">
            <a:extLst xmlns:a="http://schemas.openxmlformats.org/drawingml/2006/main">
              <a:ext uri="{FF2B5EF4-FFF2-40B4-BE49-F238E27FC236}">
                <a16:creationId xmlns:a16="http://schemas.microsoft.com/office/drawing/2014/main" id="{560BD091-51B9-4B27-ADD3-176CD5FB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Proposed Oracle Cloud VMware Solution topology for the selected workload.</a:t>
            </a:r>
          </a:p>
        </p:txBody>
      </p:sp>
      <p:sp>
        <p:nvSpPr>
          <p:cNvPr id="4" name="Infrastructure Sizing Summary-footer">
            <a:extLst xmlns:a="http://schemas.openxmlformats.org/drawingml/2006/main">
              <a:ext uri="{FF2B5EF4-FFF2-40B4-BE49-F238E27FC236}">
                <a16:creationId xmlns:a16="http://schemas.microsoft.com/office/drawing/2014/main" id="{42F94EB6-9A63-4427-80D7-475DBFE7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production-hosts">
            <a:extLst xmlns:a="http://schemas.openxmlformats.org/drawingml/2006/main">
              <a:ext uri="{FF2B5EF4-FFF2-40B4-BE49-F238E27FC236}">
                <a16:creationId xmlns:a16="http://schemas.microsoft.com/office/drawing/2014/main" id="{A5891F16-53F1-4CAC-A618-7D9DAF9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production-shape">
            <a:extLst xmlns:a="http://schemas.openxmlformats.org/drawingml/2006/main">
              <a:ext uri="{FF2B5EF4-FFF2-40B4-BE49-F238E27FC236}">
                <a16:creationId xmlns:a16="http://schemas.microsoft.com/office/drawing/2014/main" id="{DE6E4595-B87C-4FEE-952D-1F836D8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ocvs-production-hosts">
            <a:extLst xmlns:a="http://schemas.openxmlformats.org/drawingml/2006/main">
              <a:ext uri="{FF2B5EF4-FFF2-40B4-BE49-F238E27FC236}">
                <a16:creationId xmlns:a16="http://schemas.microsoft.com/office/drawing/2014/main" id="{7EFE50AC-D475-4799-AF2A-E312BC2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ocvs-production-shape">
            <a:extLst xmlns:a="http://schemas.openxmlformats.org/drawingml/2006/main">
              <a:ext uri="{FF2B5EF4-FFF2-40B4-BE49-F238E27FC236}">
                <a16:creationId xmlns:a16="http://schemas.microsoft.com/office/drawing/2014/main" id="{85E656B0-199B-4264-A7DC-CE11DCF9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ocvs-production-storage">
            <a:extLst xmlns:a="http://schemas.openxmlformats.org/drawingml/2006/main">
              <a:ext uri="{FF2B5EF4-FFF2-40B4-BE49-F238E27FC236}">
                <a16:creationId xmlns:a16="http://schemas.microsoft.com/office/drawing/2014/main" id="{BF50AE81-B3BD-4FFA-B318-D93CF5B5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ocvs-shape">
            <a:extLst xmlns:a="http://schemas.openxmlformats.org/drawingml/2006/main">
              <a:ext uri="{FF2B5EF4-FFF2-40B4-BE49-F238E27FC236}">
                <a16:creationId xmlns:a16="http://schemas.microsoft.com/office/drawing/2014/main" id="{5796BDF8-BB57-4BEB-AA78-9840674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145289D0-4453-4574-9792-6255B6B1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architecture-band">
            <a:extLst xmlns:a="http://schemas.openxmlformats.org/drawingml/2006/main">
              <a:ext uri="{FF2B5EF4-FFF2-40B4-BE49-F238E27FC236}">
                <a16:creationId xmlns:a16="http://schemas.microsoft.com/office/drawing/2014/main" id="{028FDFCF-DB8B-45A2-925C-5C248B77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architecture-band-label">
            <a:extLst xmlns:a="http://schemas.openxmlformats.org/drawingml/2006/main">
              <a:ext uri="{FF2B5EF4-FFF2-40B4-BE49-F238E27FC236}">
                <a16:creationId xmlns:a16="http://schemas.microsoft.com/office/drawing/2014/main" id="{8FA2CA1E-6FE1-4CA7-A3F4-FE9BAD6E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Architecture</a:t>
            </a:r>
          </a:p>
        </p:txBody>
      </p:sp>
      <p:sp>
        <p:nvSpPr>
          <p:cNvPr id="14" name="architecture-0-label">
            <a:extLst xmlns:a="http://schemas.openxmlformats.org/drawingml/2006/main">
              <a:ext uri="{FF2B5EF4-FFF2-40B4-BE49-F238E27FC236}">
                <a16:creationId xmlns:a16="http://schemas.microsoft.com/office/drawing/2014/main" id="{0CEE9BDC-143C-4C72-9B69-6EC7B3FD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SDDCs</a:t>
            </a:r>
          </a:p>
        </p:txBody>
      </p:sp>
      <p:sp>
        <p:nvSpPr>
          <p:cNvPr id="15" name="editable-ocvs-sddcs">
            <a:extLst xmlns:a="http://schemas.openxmlformats.org/drawingml/2006/main">
              <a:ext uri="{FF2B5EF4-FFF2-40B4-BE49-F238E27FC236}">
                <a16:creationId xmlns:a16="http://schemas.microsoft.com/office/drawing/2014/main" id="{8BD367DB-2376-464C-8243-1CCD851A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architecture-0-line">
            <a:extLst xmlns:a="http://schemas.openxmlformats.org/drawingml/2006/main">
              <a:ext uri="{FF2B5EF4-FFF2-40B4-BE49-F238E27FC236}">
                <a16:creationId xmlns:a16="http://schemas.microsoft.com/office/drawing/2014/main" id="{4EB166E1-0B48-4A4A-9DF5-A429769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17" name="architecture-1-label">
            <a:extLst xmlns:a="http://schemas.openxmlformats.org/drawingml/2006/main">
              <a:ext uri="{FF2B5EF4-FFF2-40B4-BE49-F238E27FC236}">
                <a16:creationId xmlns:a16="http://schemas.microsoft.com/office/drawing/2014/main" id="{4A6C9E5F-5065-499C-8B6C-93D8D0A2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18" name="editable-ocvs-clusters">
            <a:extLst xmlns:a="http://schemas.openxmlformats.org/drawingml/2006/main">
              <a:ext uri="{FF2B5EF4-FFF2-40B4-BE49-F238E27FC236}">
                <a16:creationId xmlns:a16="http://schemas.microsoft.com/office/drawing/2014/main" id="{3155B0D7-643A-42AD-B664-EFFA623E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architecture-1-line">
            <a:extLst xmlns:a="http://schemas.openxmlformats.org/drawingml/2006/main">
              <a:ext uri="{FF2B5EF4-FFF2-40B4-BE49-F238E27FC236}">
                <a16:creationId xmlns:a16="http://schemas.microsoft.com/office/drawing/2014/main" id="{C48FF5D9-1927-40DA-B307-61D3D90F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0" name="architecture-2-label">
            <a:extLst xmlns:a="http://schemas.openxmlformats.org/drawingml/2006/main">
              <a:ext uri="{FF2B5EF4-FFF2-40B4-BE49-F238E27FC236}">
                <a16:creationId xmlns:a16="http://schemas.microsoft.com/office/drawing/2014/main" id="{8117EA77-A7F6-48E7-9116-02093AA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21" name="editable-ocvs-hosts">
            <a:extLst xmlns:a="http://schemas.openxmlformats.org/drawingml/2006/main">
              <a:ext uri="{FF2B5EF4-FFF2-40B4-BE49-F238E27FC236}">
                <a16:creationId xmlns:a16="http://schemas.microsoft.com/office/drawing/2014/main" id="{F5445D46-211F-4DE6-A80B-D5846BEB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9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architecture-2-line">
            <a:extLst xmlns:a="http://schemas.openxmlformats.org/drawingml/2006/main">
              <a:ext uri="{FF2B5EF4-FFF2-40B4-BE49-F238E27FC236}">
                <a16:creationId xmlns:a16="http://schemas.microsoft.com/office/drawing/2014/main" id="{5C3B88A0-772D-4DEB-B156-5D201CB4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3" name="architecture-3-label">
            <a:extLst xmlns:a="http://schemas.openxmlformats.org/drawingml/2006/main">
              <a:ext uri="{FF2B5EF4-FFF2-40B4-BE49-F238E27FC236}">
                <a16:creationId xmlns:a16="http://schemas.microsoft.com/office/drawing/2014/main" id="{43AD7D1E-66E7-4325-BB2D-10E8F5C1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24" name="editable-ocvs-storage">
            <a:extLst xmlns:a="http://schemas.openxmlformats.org/drawingml/2006/main">
              <a:ext uri="{FF2B5EF4-FFF2-40B4-BE49-F238E27FC236}">
                <a16:creationId xmlns:a16="http://schemas.microsoft.com/office/drawing/2014/main" id="{68409CC4-E09D-4177-B2E6-B2D8C89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architecture-3-line">
            <a:extLst xmlns:a="http://schemas.openxmlformats.org/drawingml/2006/main">
              <a:ext uri="{FF2B5EF4-FFF2-40B4-BE49-F238E27FC236}">
                <a16:creationId xmlns:a16="http://schemas.microsoft.com/office/drawing/2014/main" id="{C0407A2F-8B50-4335-9C33-025FA801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6" name="architecture-4-label">
            <a:extLst xmlns:a="http://schemas.openxmlformats.org/drawingml/2006/main">
              <a:ext uri="{FF2B5EF4-FFF2-40B4-BE49-F238E27FC236}">
                <a16:creationId xmlns:a16="http://schemas.microsoft.com/office/drawing/2014/main" id="{E25DEF1F-FBA1-4357-B737-DECCFA1B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27" name="editable-ocvs-storage-type">
            <a:extLst xmlns:a="http://schemas.openxmlformats.org/drawingml/2006/main">
              <a:ext uri="{FF2B5EF4-FFF2-40B4-BE49-F238E27FC236}">
                <a16:creationId xmlns:a16="http://schemas.microsoft.com/office/drawing/2014/main" id="{57B6A385-8D74-4804-8F0C-5F71E14B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architecture-4-line">
            <a:extLst xmlns:a="http://schemas.openxmlformats.org/drawingml/2006/main">
              <a:ext uri="{FF2B5EF4-FFF2-40B4-BE49-F238E27FC236}">
                <a16:creationId xmlns:a16="http://schemas.microsoft.com/office/drawing/2014/main" id="{40B392CA-1D51-4B19-B6A2-49D516C5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9" name="cluster-distribution-panel">
            <a:extLst xmlns:a="http://schemas.openxmlformats.org/drawingml/2006/main">
              <a:ext uri="{FF2B5EF4-FFF2-40B4-BE49-F238E27FC236}">
                <a16:creationId xmlns:a16="http://schemas.microsoft.com/office/drawing/2014/main" id="{C1AC1D07-1DA9-4453-8000-175FE560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30" name="cluster-distribution-band">
            <a:extLst xmlns:a="http://schemas.openxmlformats.org/drawingml/2006/main">
              <a:ext uri="{FF2B5EF4-FFF2-40B4-BE49-F238E27FC236}">
                <a16:creationId xmlns:a16="http://schemas.microsoft.com/office/drawing/2014/main" id="{33CE4E95-FE09-4BF8-8D22-E4EA740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1" name="cluster-distribution-band-label">
            <a:extLst xmlns:a="http://schemas.openxmlformats.org/drawingml/2006/main">
              <a:ext uri="{FF2B5EF4-FFF2-40B4-BE49-F238E27FC236}">
                <a16:creationId xmlns:a16="http://schemas.microsoft.com/office/drawing/2014/main" id="{649BD9E3-9EAB-409E-9291-C204C919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OCVS Cluster Distribution</a:t>
            </a:r>
          </a:p>
        </p:txBody>
      </p:sp>
      <p:sp>
        <p:nvSpPr>
          <p:cNvPr id="32" name="cluster-header-Cluster">
            <a:extLst xmlns:a="http://schemas.openxmlformats.org/drawingml/2006/main">
              <a:ext uri="{FF2B5EF4-FFF2-40B4-BE49-F238E27FC236}">
                <a16:creationId xmlns:a16="http://schemas.microsoft.com/office/drawing/2014/main" id="{34793927-C98C-457B-B575-2E97B88B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3" name="cluster-header-Workload">
            <a:extLst xmlns:a="http://schemas.openxmlformats.org/drawingml/2006/main">
              <a:ext uri="{FF2B5EF4-FFF2-40B4-BE49-F238E27FC236}">
                <a16:creationId xmlns:a16="http://schemas.microsoft.com/office/drawing/2014/main" id="{CB7EFCCD-DEAB-4119-9C2A-4E469DE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34" name="cluster-header-Hosts">
            <a:extLst xmlns:a="http://schemas.openxmlformats.org/drawingml/2006/main">
              <a:ext uri="{FF2B5EF4-FFF2-40B4-BE49-F238E27FC236}">
                <a16:creationId xmlns:a16="http://schemas.microsoft.com/office/drawing/2014/main" id="{14F003CA-7640-468C-A9EA-D60E41A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35" name="cluster-header-Shape">
            <a:extLst xmlns:a="http://schemas.openxmlformats.org/drawingml/2006/main">
              <a:ext uri="{FF2B5EF4-FFF2-40B4-BE49-F238E27FC236}">
                <a16:creationId xmlns:a16="http://schemas.microsoft.com/office/drawing/2014/main" id="{487D6C6F-0269-4BCA-B569-35A7697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36" name="cluster-header-Storage">
            <a:extLst xmlns:a="http://schemas.openxmlformats.org/drawingml/2006/main">
              <a:ext uri="{FF2B5EF4-FFF2-40B4-BE49-F238E27FC236}">
                <a16:creationId xmlns:a16="http://schemas.microsoft.com/office/drawing/2014/main" id="{EF96516E-AD75-44ED-9042-9BA04E19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7" name="cluster-header-Architecture">
            <a:extLst xmlns:a="http://schemas.openxmlformats.org/drawingml/2006/main">
              <a:ext uri="{FF2B5EF4-FFF2-40B4-BE49-F238E27FC236}">
                <a16:creationId xmlns:a16="http://schemas.microsoft.com/office/drawing/2014/main" id="{21D7B700-A390-4498-B0B5-F178B6A8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14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8" name="editable-ocvs-cluster-name-row-1">
            <a:extLst xmlns:a="http://schemas.openxmlformats.org/drawingml/2006/main">
              <a:ext uri="{FF2B5EF4-FFF2-40B4-BE49-F238E27FC236}">
                <a16:creationId xmlns:a16="http://schemas.microsoft.com/office/drawing/2014/main" id="{94A1D1FD-EC01-4697-885C-0FAEE573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9" name="editable-ocvs-cluster-workload-row-1">
            <a:extLst xmlns:a="http://schemas.openxmlformats.org/drawingml/2006/main">
              <a:ext uri="{FF2B5EF4-FFF2-40B4-BE49-F238E27FC236}">
                <a16:creationId xmlns:a16="http://schemas.microsoft.com/office/drawing/2014/main" id="{7CA60596-14A1-47BD-A3B1-248E1C48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0" name="editable-ocvs-cluster-hosts-row-1">
            <a:extLst xmlns:a="http://schemas.openxmlformats.org/drawingml/2006/main">
              <a:ext uri="{FF2B5EF4-FFF2-40B4-BE49-F238E27FC236}">
                <a16:creationId xmlns:a16="http://schemas.microsoft.com/office/drawing/2014/main" id="{5347314E-E5FB-48E1-8310-F35B5274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81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ocvs-cluster-shape-row-1">
            <a:extLst xmlns:a="http://schemas.openxmlformats.org/drawingml/2006/main">
              <a:ext uri="{FF2B5EF4-FFF2-40B4-BE49-F238E27FC236}">
                <a16:creationId xmlns:a16="http://schemas.microsoft.com/office/drawing/2014/main" id="{2A5A8D37-6501-4542-BE51-7D90EEBC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42" name="editable-ocvs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1346D0DA-B5A6-445A-AE78-B1560805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43" name="editable-ocvs-cluster-architecture-row-1">
            <a:extLst xmlns:a="http://schemas.openxmlformats.org/drawingml/2006/main">
              <a:ext uri="{FF2B5EF4-FFF2-40B4-BE49-F238E27FC236}">
                <a16:creationId xmlns:a16="http://schemas.microsoft.com/office/drawing/2014/main" id="{70316DF1-E4A6-4D8C-9101-86E258FE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81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4" name="ocvs-cluster-row-1-line">
            <a:extLst xmlns:a="http://schemas.openxmlformats.org/drawingml/2006/main">
              <a:ext uri="{FF2B5EF4-FFF2-40B4-BE49-F238E27FC236}">
                <a16:creationId xmlns:a16="http://schemas.microsoft.com/office/drawing/2014/main" id="{C82B0526-F7D8-4085-9D84-CF73DFC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28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ocvs-cluster-row-2-fill">
            <a:extLst xmlns:a="http://schemas.openxmlformats.org/drawingml/2006/main">
              <a:ext uri="{FF2B5EF4-FFF2-40B4-BE49-F238E27FC236}">
                <a16:creationId xmlns:a16="http://schemas.microsoft.com/office/drawing/2014/main" id="{48D97226-1515-4C67-8C2E-BCBA483F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46" name="editable-ocvs-cluster-name-row-2">
            <a:extLst xmlns:a="http://schemas.openxmlformats.org/drawingml/2006/main">
              <a:ext uri="{FF2B5EF4-FFF2-40B4-BE49-F238E27FC236}">
                <a16:creationId xmlns:a16="http://schemas.microsoft.com/office/drawing/2014/main" id="{3EADBA84-A0C8-47F8-94DA-53AC06C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47" name="editable-ocvs-cluster-workload-row-2">
            <a:extLst xmlns:a="http://schemas.openxmlformats.org/drawingml/2006/main">
              <a:ext uri="{FF2B5EF4-FFF2-40B4-BE49-F238E27FC236}">
                <a16:creationId xmlns:a16="http://schemas.microsoft.com/office/drawing/2014/main" id="{D83A5E18-DDEB-4350-ABD7-C2CF7890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8" name="editable-ocvs-cluster-hosts-row-2">
            <a:extLst xmlns:a="http://schemas.openxmlformats.org/drawingml/2006/main">
              <a:ext uri="{FF2B5EF4-FFF2-40B4-BE49-F238E27FC236}">
                <a16:creationId xmlns:a16="http://schemas.microsoft.com/office/drawing/2014/main" id="{28FADDA3-1384-4FA1-AB93-CEDA0BC6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57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ocvs-cluster-shape-row-2">
            <a:extLst xmlns:a="http://schemas.openxmlformats.org/drawingml/2006/main">
              <a:ext uri="{FF2B5EF4-FFF2-40B4-BE49-F238E27FC236}">
                <a16:creationId xmlns:a16="http://schemas.microsoft.com/office/drawing/2014/main" id="{392DCD75-EAEC-4687-9E44-DC0ED61E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0" name="editable-ocvs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165D0947-33B8-4E17-9CA1-A99AF06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1" name="editable-ocvs-cluster-architecture-row-2">
            <a:extLst xmlns:a="http://schemas.openxmlformats.org/drawingml/2006/main">
              <a:ext uri="{FF2B5EF4-FFF2-40B4-BE49-F238E27FC236}">
                <a16:creationId xmlns:a16="http://schemas.microsoft.com/office/drawing/2014/main" id="{9842CFD2-A54E-40DA-B693-E7D5C63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57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2" name="ocvs-cluster-row-2-line">
            <a:extLst xmlns:a="http://schemas.openxmlformats.org/drawingml/2006/main">
              <a:ext uri="{FF2B5EF4-FFF2-40B4-BE49-F238E27FC236}">
                <a16:creationId xmlns:a16="http://schemas.microsoft.com/office/drawing/2014/main" id="{4FBFE590-2DC1-4F65-9E3C-45FA708D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3" name="editable-ocvs-cluster-name-row-3">
            <a:extLst xmlns:a="http://schemas.openxmlformats.org/drawingml/2006/main">
              <a:ext uri="{FF2B5EF4-FFF2-40B4-BE49-F238E27FC236}">
                <a16:creationId xmlns:a16="http://schemas.microsoft.com/office/drawing/2014/main" id="{5F32016A-8663-4884-911D-625F3581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54" name="editable-ocvs-cluster-workload-row-3">
            <a:extLst xmlns:a="http://schemas.openxmlformats.org/drawingml/2006/main">
              <a:ext uri="{FF2B5EF4-FFF2-40B4-BE49-F238E27FC236}">
                <a16:creationId xmlns:a16="http://schemas.microsoft.com/office/drawing/2014/main" id="{DEF0BFE3-16D1-4CFC-A5D5-94FAE707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338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55" name="editable-ocvs-cluster-hosts-row-3">
            <a:extLst xmlns:a="http://schemas.openxmlformats.org/drawingml/2006/main">
              <a:ext uri="{FF2B5EF4-FFF2-40B4-BE49-F238E27FC236}">
                <a16:creationId xmlns:a16="http://schemas.microsoft.com/office/drawing/2014/main" id="{381E481B-71A5-42B7-97F1-9323D047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ocvs-cluster-shape-row-3">
            <a:extLst xmlns:a="http://schemas.openxmlformats.org/drawingml/2006/main">
              <a:ext uri="{FF2B5EF4-FFF2-40B4-BE49-F238E27FC236}">
                <a16:creationId xmlns:a16="http://schemas.microsoft.com/office/drawing/2014/main" id="{E175E33C-4F54-499D-9022-6FF0B97E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7" name="editable-ocvs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C7CBAABF-A112-4FDF-8BDA-A2647E99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8" name="editable-ocvs-cluster-architecture-row-3">
            <a:extLst xmlns:a="http://schemas.openxmlformats.org/drawingml/2006/main">
              <a:ext uri="{FF2B5EF4-FFF2-40B4-BE49-F238E27FC236}">
                <a16:creationId xmlns:a16="http://schemas.microsoft.com/office/drawing/2014/main" id="{4208F5D8-CAEE-4264-808A-0E6223E9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338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9" name="ocvs-cluster-row-3-line">
            <a:extLst xmlns:a="http://schemas.openxmlformats.org/drawingml/2006/main">
              <a:ext uri="{FF2B5EF4-FFF2-40B4-BE49-F238E27FC236}">
                <a16:creationId xmlns:a16="http://schemas.microsoft.com/office/drawing/2014/main" id="{0B851294-3591-43CA-83E9-9C18AAA6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814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0" name="ocvs-cluster-row-4-fill">
            <a:extLst xmlns:a="http://schemas.openxmlformats.org/drawingml/2006/main">
              <a:ext uri="{FF2B5EF4-FFF2-40B4-BE49-F238E27FC236}">
                <a16:creationId xmlns:a16="http://schemas.microsoft.com/office/drawing/2014/main" id="{63499A2A-7A1D-4703-8042-2665103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61" name="editable-ocvs-cluster-name-row-4">
            <a:extLst xmlns:a="http://schemas.openxmlformats.org/drawingml/2006/main">
              <a:ext uri="{FF2B5EF4-FFF2-40B4-BE49-F238E27FC236}">
                <a16:creationId xmlns:a16="http://schemas.microsoft.com/office/drawing/2014/main" id="{1166CF69-3989-4997-B41A-6F0DE8C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2" name="editable-ocvs-cluster-workload-row-4">
            <a:extLst xmlns:a="http://schemas.openxmlformats.org/drawingml/2006/main">
              <a:ext uri="{FF2B5EF4-FFF2-40B4-BE49-F238E27FC236}">
                <a16:creationId xmlns:a16="http://schemas.microsoft.com/office/drawing/2014/main" id="{F9BFF9B5-78A3-4023-A0F2-A0BE6A86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00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63" name="editable-ocvs-cluster-hosts-row-4">
            <a:extLst xmlns:a="http://schemas.openxmlformats.org/drawingml/2006/main">
              <a:ext uri="{FF2B5EF4-FFF2-40B4-BE49-F238E27FC236}">
                <a16:creationId xmlns:a16="http://schemas.microsoft.com/office/drawing/2014/main" id="{78BE006F-1735-473C-A34C-B2F4E5B9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0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editable-ocvs-cluster-shape-row-4">
            <a:extLst xmlns:a="http://schemas.openxmlformats.org/drawingml/2006/main">
              <a:ext uri="{FF2B5EF4-FFF2-40B4-BE49-F238E27FC236}">
                <a16:creationId xmlns:a16="http://schemas.microsoft.com/office/drawing/2014/main" id="{1A813811-29BC-492A-B8FC-1D8D3AC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65" name="editable-ocvs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859055B6-FF93-49D5-9632-34790E88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66" name="editable-ocvs-cluster-architecture-row-4">
            <a:extLst xmlns:a="http://schemas.openxmlformats.org/drawingml/2006/main">
              <a:ext uri="{FF2B5EF4-FFF2-40B4-BE49-F238E27FC236}">
                <a16:creationId xmlns:a16="http://schemas.microsoft.com/office/drawing/2014/main" id="{1477F42C-545C-420D-9387-D4876515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10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7" name="ocvs-cluster-row-4-line">
            <a:extLst xmlns:a="http://schemas.openxmlformats.org/drawingml/2006/main">
              <a:ext uri="{FF2B5EF4-FFF2-40B4-BE49-F238E27FC236}">
                <a16:creationId xmlns:a16="http://schemas.microsoft.com/office/drawing/2014/main" id="{E20A6835-1C93-4323-9DEE-AB02DDB1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577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8" name="editable-ocvs-cluster-name-row-5">
            <a:extLst xmlns:a="http://schemas.openxmlformats.org/drawingml/2006/main">
              <a:ext uri="{FF2B5EF4-FFF2-40B4-BE49-F238E27FC236}">
                <a16:creationId xmlns:a16="http://schemas.microsoft.com/office/drawing/2014/main" id="{C0F6FE96-82B9-4A63-AE62-45E64468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9" name="editable-ocvs-cluster-workload-row-5">
            <a:extLst xmlns:a="http://schemas.openxmlformats.org/drawingml/2006/main">
              <a:ext uri="{FF2B5EF4-FFF2-40B4-BE49-F238E27FC236}">
                <a16:creationId xmlns:a16="http://schemas.microsoft.com/office/drawing/2014/main" id="{5EABEBC6-C5C2-4600-8AD9-BFAFA767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0" name="editable-ocvs-cluster-hosts-row-5">
            <a:extLst xmlns:a="http://schemas.openxmlformats.org/drawingml/2006/main">
              <a:ext uri="{FF2B5EF4-FFF2-40B4-BE49-F238E27FC236}">
                <a16:creationId xmlns:a16="http://schemas.microsoft.com/office/drawing/2014/main" id="{DDABFE0A-355F-47EF-99FA-2B72C773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1" name="editable-ocvs-cluster-shape-row-5">
            <a:extLst xmlns:a="http://schemas.openxmlformats.org/drawingml/2006/main">
              <a:ext uri="{FF2B5EF4-FFF2-40B4-BE49-F238E27FC236}">
                <a16:creationId xmlns:a16="http://schemas.microsoft.com/office/drawing/2014/main" id="{4310E47F-04C6-4CBB-B629-021A281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72" name="editable-ocvs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24EED914-56EE-44C7-A98C-C0FAE76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73" name="editable-ocvs-cluster-architecture-row-5">
            <a:extLst xmlns:a="http://schemas.openxmlformats.org/drawingml/2006/main">
              <a:ext uri="{FF2B5EF4-FFF2-40B4-BE49-F238E27FC236}">
                <a16:creationId xmlns:a16="http://schemas.microsoft.com/office/drawing/2014/main" id="{162D02AF-6FB4-40A7-ADF4-78B97F46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86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4" name="ocvs-cluster-row-5-line">
            <a:extLst xmlns:a="http://schemas.openxmlformats.org/drawingml/2006/main">
              <a:ext uri="{FF2B5EF4-FFF2-40B4-BE49-F238E27FC236}">
                <a16:creationId xmlns:a16="http://schemas.microsoft.com/office/drawing/2014/main" id="{1D22DCD1-18BB-4092-8D7D-8B9C02A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33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75" name="ocvs-cluster-row-6-fill">
            <a:extLst xmlns:a="http://schemas.openxmlformats.org/drawingml/2006/main">
              <a:ext uri="{FF2B5EF4-FFF2-40B4-BE49-F238E27FC236}">
                <a16:creationId xmlns:a16="http://schemas.microsoft.com/office/drawing/2014/main" id="{F52689E5-6D85-4115-B64F-951ACCC3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62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76" name="editable-ocvs-cluster-name-row-6">
            <a:extLst xmlns:a="http://schemas.openxmlformats.org/drawingml/2006/main">
              <a:ext uri="{FF2B5EF4-FFF2-40B4-BE49-F238E27FC236}">
                <a16:creationId xmlns:a16="http://schemas.microsoft.com/office/drawing/2014/main" id="{F19CD636-5DCA-462C-8B39-74C0F95A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7" name="editable-ocvs-cluster-workload-row-6">
            <a:extLst xmlns:a="http://schemas.openxmlformats.org/drawingml/2006/main">
              <a:ext uri="{FF2B5EF4-FFF2-40B4-BE49-F238E27FC236}">
                <a16:creationId xmlns:a16="http://schemas.microsoft.com/office/drawing/2014/main" id="{9007F879-FEE9-4D55-A9C3-DF79D6A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8" name="editable-ocvs-cluster-hosts-row-6">
            <a:extLst xmlns:a="http://schemas.openxmlformats.org/drawingml/2006/main">
              <a:ext uri="{FF2B5EF4-FFF2-40B4-BE49-F238E27FC236}">
                <a16:creationId xmlns:a16="http://schemas.microsoft.com/office/drawing/2014/main" id="{A7893C4D-5E63-4C00-A7D0-F1F290E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62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editable-ocvs-cluster-shape-row-6">
            <a:extLst xmlns:a="http://schemas.openxmlformats.org/drawingml/2006/main">
              <a:ext uri="{FF2B5EF4-FFF2-40B4-BE49-F238E27FC236}">
                <a16:creationId xmlns:a16="http://schemas.microsoft.com/office/drawing/2014/main" id="{93E35C50-6C47-470A-9858-A2491356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80" name="editable-ocvs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33881D28-8E66-4A34-94A3-ECB653C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81" name="editable-ocvs-cluster-architecture-row-6">
            <a:extLst xmlns:a="http://schemas.openxmlformats.org/drawingml/2006/main">
              <a:ext uri="{FF2B5EF4-FFF2-40B4-BE49-F238E27FC236}">
                <a16:creationId xmlns:a16="http://schemas.microsoft.com/office/drawing/2014/main" id="{AF773BFD-5792-4873-82A4-D7D4FB25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62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82" name="ocvs-cluster-row-6-line">
            <a:extLst xmlns:a="http://schemas.openxmlformats.org/drawingml/2006/main">
              <a:ext uri="{FF2B5EF4-FFF2-40B4-BE49-F238E27FC236}">
                <a16:creationId xmlns:a16="http://schemas.microsoft.com/office/drawing/2014/main" id="{8E0E072C-ECF9-4C89-8308-5D3BEA81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0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7ce4d11394f0e"/>
          <a:stretch xmlns:a="http://schemas.openxmlformats.org/drawingml/2006/main"/>
        </p:blipFill>
        <p:spPr>
          <a:xfrm xmlns:a="http://schemas.openxmlformats.org/drawingml/2006/main">
            <a:off x="342900" y="266700"/>
            <a:ext cx="1876425" cy="523875"/>
          </a:xfrm>
          <a:prstGeom xmlns:a="http://schemas.openxmlformats.org/drawingml/2006/main" prst="rect">
            <a:avLst/>
          </a:prstGeom>
        </p:spPr>
      </p:pic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5855521754c84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747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ricing-master-top-mask">
            <a:extLst xmlns:a="http://schemas.openxmlformats.org/drawingml/2006/main">
              <a:ext uri="{FF2B5EF4-FFF2-40B4-BE49-F238E27FC236}">
                <a16:creationId xmlns:a16="http://schemas.microsoft.com/office/drawing/2014/main" id="{4041D02C-47F0-4246-B34C-113045FC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master-footer-mask">
            <a:extLst xmlns:a="http://schemas.openxmlformats.org/drawingml/2006/main">
              <a:ext uri="{FF2B5EF4-FFF2-40B4-BE49-F238E27FC236}">
                <a16:creationId xmlns:a16="http://schemas.microsoft.com/office/drawing/2014/main" id="{1168711B-AFF2-4833-985A-AE957BD2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CB31EFD9-F6C0-484F-BD1A-E8E27824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716E3BED-5A4D-42D7-B5F4-6780B9A0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8327CD19-F3C0-4BD7-8900-A5B8812E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D9BE59A4-A690-4AFF-9543-987E3B8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EB6491C1-C147-4B31-8F4A-752452E2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4CCBDC6E-AA76-482A-BD9B-EABB0CB9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8de14db5c4fbc"/>
          <a:stretch xmlns:a="http://schemas.openxmlformats.org/drawingml/2006/main"/>
        </p:blipFill>
        <p:spPr>
          <a:xfrm xmlns:a="http://schemas.openxmlformats.org/drawingml/2006/main">
            <a:off x="361950" y="266700"/>
            <a:ext cx="1924050" cy="600075"/>
          </a:xfrm>
          <a:prstGeom xmlns:a="http://schemas.openxmlformats.org/drawingml/2006/main" prst="rect">
            <a:avLst/>
          </a:prstGeom>
        </p:spPr>
      </p:pic>
      <p:sp>
        <p:nvSpPr>
          <p:cNvPr id="10" name="ocvs-pricing-summary-title">
            <a:extLst xmlns:a="http://schemas.openxmlformats.org/drawingml/2006/main">
              <a:ext uri="{FF2B5EF4-FFF2-40B4-BE49-F238E27FC236}">
                <a16:creationId xmlns:a16="http://schemas.microsoft.com/office/drawing/2014/main" id="{CB5F2016-C69E-407B-A661-DD873CA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OCVS Pricing Summary</a:t>
            </a:r>
          </a:p>
        </p:txBody>
      </p:sp>
      <p:sp>
        <p:nvSpPr>
          <p:cNvPr id="11" name="ocvs-pricing-title-rule">
            <a:extLst xmlns:a="http://schemas.openxmlformats.org/drawingml/2006/main">
              <a:ext uri="{FF2B5EF4-FFF2-40B4-BE49-F238E27FC236}">
                <a16:creationId xmlns:a16="http://schemas.microsoft.com/office/drawing/2014/main" id="{F8D9BBFB-2E6A-4220-A9B2-F1395247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</a:ln>
        </p:spPr>
      </p:sp>
      <p:sp>
        <p:nvSpPr>
          <p:cNvPr id="12" name="ocvs-pricing-summary-subtitle">
            <a:extLst xmlns:a="http://schemas.openxmlformats.org/drawingml/2006/main">
              <a:ext uri="{FF2B5EF4-FFF2-40B4-BE49-F238E27FC236}">
                <a16:creationId xmlns:a16="http://schemas.microsoft.com/office/drawing/2014/main" id="{C3265EF6-3834-4C19-99FB-2202D51F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Estimated pricing based on the selected OCVS sizing result and commitment term.</a:t>
            </a:r>
          </a:p>
        </p:txBody>
      </p:sp>
      <p:sp>
        <p:nvSpPr>
          <p:cNvPr id="13" name="pricing-payg-card">
            <a:extLst xmlns:a="http://schemas.openxmlformats.org/drawingml/2006/main">
              <a:ext uri="{FF2B5EF4-FFF2-40B4-BE49-F238E27FC236}">
                <a16:creationId xmlns:a16="http://schemas.microsoft.com/office/drawing/2014/main" id="{AA7FC7FC-7332-4187-B95E-33AEDF8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4" name="pricing-payg-header">
            <a:extLst xmlns:a="http://schemas.openxmlformats.org/drawingml/2006/main">
              <a:ext uri="{FF2B5EF4-FFF2-40B4-BE49-F238E27FC236}">
                <a16:creationId xmlns:a16="http://schemas.microsoft.com/office/drawing/2014/main" id="{E48C24D3-BEB0-4F1D-918B-1297752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5" name="pricing-payg-heading">
            <a:extLst xmlns:a="http://schemas.openxmlformats.org/drawingml/2006/main">
              <a:ext uri="{FF2B5EF4-FFF2-40B4-BE49-F238E27FC236}">
                <a16:creationId xmlns:a16="http://schemas.microsoft.com/office/drawing/2014/main" id="{E7980CC3-C26B-48FA-B2A9-F7CD541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16" name="pricing-payg-row-1-fill">
            <a:extLst xmlns:a="http://schemas.openxmlformats.org/drawingml/2006/main">
              <a:ext uri="{FF2B5EF4-FFF2-40B4-BE49-F238E27FC236}">
                <a16:creationId xmlns:a16="http://schemas.microsoft.com/office/drawing/2014/main" id="{7FDF224E-D681-45CF-9841-902A5101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pricing-payg-row-1-line">
            <a:extLst xmlns:a="http://schemas.openxmlformats.org/drawingml/2006/main">
              <a:ext uri="{FF2B5EF4-FFF2-40B4-BE49-F238E27FC236}">
                <a16:creationId xmlns:a16="http://schemas.microsoft.com/office/drawing/2014/main" id="{544B38EC-4969-4435-B1C9-7A981C7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8" name="pricing-payg-row-1-label">
            <a:extLst xmlns:a="http://schemas.openxmlformats.org/drawingml/2006/main">
              <a:ext uri="{FF2B5EF4-FFF2-40B4-BE49-F238E27FC236}">
                <a16:creationId xmlns:a16="http://schemas.microsoft.com/office/drawing/2014/main" id="{4A263A4C-2C10-411E-91AA-452633D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19" name="editable-ocvs-pricing-payg-infrastructure">
            <a:extLst xmlns:a="http://schemas.openxmlformats.org/drawingml/2006/main">
              <a:ext uri="{FF2B5EF4-FFF2-40B4-BE49-F238E27FC236}">
                <a16:creationId xmlns:a16="http://schemas.microsoft.com/office/drawing/2014/main" id="{06BD2E1C-9EAA-4041-A9C6-6D5EF5A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0" name="pricing-payg-row-2-fill">
            <a:extLst xmlns:a="http://schemas.openxmlformats.org/drawingml/2006/main">
              <a:ext uri="{FF2B5EF4-FFF2-40B4-BE49-F238E27FC236}">
                <a16:creationId xmlns:a16="http://schemas.microsoft.com/office/drawing/2014/main" id="{802AAC5D-4D9A-4C42-964E-EB0FD2F2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ricing-payg-row-2-line">
            <a:extLst xmlns:a="http://schemas.openxmlformats.org/drawingml/2006/main">
              <a:ext uri="{FF2B5EF4-FFF2-40B4-BE49-F238E27FC236}">
                <a16:creationId xmlns:a16="http://schemas.microsoft.com/office/drawing/2014/main" id="{5BF75C14-22D3-48D5-ABC1-11B9C43F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2" name="pricing-payg-row-2-label">
            <a:extLst xmlns:a="http://schemas.openxmlformats.org/drawingml/2006/main">
              <a:ext uri="{FF2B5EF4-FFF2-40B4-BE49-F238E27FC236}">
                <a16:creationId xmlns:a16="http://schemas.microsoft.com/office/drawing/2014/main" id="{C6A77463-7DF6-4093-A204-CB4B3311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3" name="editable-ocvs-pricing-payg-storage">
            <a:extLst xmlns:a="http://schemas.openxmlformats.org/drawingml/2006/main">
              <a:ext uri="{FF2B5EF4-FFF2-40B4-BE49-F238E27FC236}">
                <a16:creationId xmlns:a16="http://schemas.microsoft.com/office/drawing/2014/main" id="{A7F565D5-7926-4047-B94A-EF991B7F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4" name="pricing-payg-row-3-fill">
            <a:extLst xmlns:a="http://schemas.openxmlformats.org/drawingml/2006/main">
              <a:ext uri="{FF2B5EF4-FFF2-40B4-BE49-F238E27FC236}">
                <a16:creationId xmlns:a16="http://schemas.microsoft.com/office/drawing/2014/main" id="{C70BEBDC-AE1C-4390-B244-E3465D8F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5" name="pricing-payg-row-3-line">
            <a:extLst xmlns:a="http://schemas.openxmlformats.org/drawingml/2006/main">
              <a:ext uri="{FF2B5EF4-FFF2-40B4-BE49-F238E27FC236}">
                <a16:creationId xmlns:a16="http://schemas.microsoft.com/office/drawing/2014/main" id="{AD1AFF31-4842-46BA-B00E-EAF3D05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6" name="pricing-payg-row-3-label">
            <a:extLst xmlns:a="http://schemas.openxmlformats.org/drawingml/2006/main">
              <a:ext uri="{FF2B5EF4-FFF2-40B4-BE49-F238E27FC236}">
                <a16:creationId xmlns:a16="http://schemas.microsoft.com/office/drawing/2014/main" id="{C4444B87-AB30-4EDC-8A67-06C95BF3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27" name="editable-ocvs-pricing-payg-monthly-total">
            <a:extLst xmlns:a="http://schemas.openxmlformats.org/drawingml/2006/main">
              <a:ext uri="{FF2B5EF4-FFF2-40B4-BE49-F238E27FC236}">
                <a16:creationId xmlns:a16="http://schemas.microsoft.com/office/drawing/2014/main" id="{1EF5793A-5297-42FF-9216-DE1AC385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8" name="pricing-payg-row-4-fill">
            <a:extLst xmlns:a="http://schemas.openxmlformats.org/drawingml/2006/main">
              <a:ext uri="{FF2B5EF4-FFF2-40B4-BE49-F238E27FC236}">
                <a16:creationId xmlns:a16="http://schemas.microsoft.com/office/drawing/2014/main" id="{C6993A97-C3C5-4AFE-A685-358ECA19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9" name="pricing-payg-row-4-line">
            <a:extLst xmlns:a="http://schemas.openxmlformats.org/drawingml/2006/main">
              <a:ext uri="{FF2B5EF4-FFF2-40B4-BE49-F238E27FC236}">
                <a16:creationId xmlns:a16="http://schemas.microsoft.com/office/drawing/2014/main" id="{0C1F9D1B-8359-4D4D-A0B4-F3B60C51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0" name="pricing-payg-row-4-label">
            <a:extLst xmlns:a="http://schemas.openxmlformats.org/drawingml/2006/main">
              <a:ext uri="{FF2B5EF4-FFF2-40B4-BE49-F238E27FC236}">
                <a16:creationId xmlns:a16="http://schemas.microsoft.com/office/drawing/2014/main" id="{1A528EE4-5433-4CBB-A8EB-4025683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31" name="editable-ocvs-pricing-payg-annual-total">
            <a:extLst xmlns:a="http://schemas.openxmlformats.org/drawingml/2006/main">
              <a:ext uri="{FF2B5EF4-FFF2-40B4-BE49-F238E27FC236}">
                <a16:creationId xmlns:a16="http://schemas.microsoft.com/office/drawing/2014/main" id="{BFAB7555-4CFC-4911-9419-809C6375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2" name="pricing-one-year-card">
            <a:extLst xmlns:a="http://schemas.openxmlformats.org/drawingml/2006/main">
              <a:ext uri="{FF2B5EF4-FFF2-40B4-BE49-F238E27FC236}">
                <a16:creationId xmlns:a16="http://schemas.microsoft.com/office/drawing/2014/main" id="{AE209EEF-F791-4623-9B26-6B6A3EC8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3" name="pricing-one-year-header">
            <a:extLst xmlns:a="http://schemas.openxmlformats.org/drawingml/2006/main">
              <a:ext uri="{FF2B5EF4-FFF2-40B4-BE49-F238E27FC236}">
                <a16:creationId xmlns:a16="http://schemas.microsoft.com/office/drawing/2014/main" id="{56252839-1732-406A-ACF3-F0FFD693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4" name="pricing-one-year-heading">
            <a:extLst xmlns:a="http://schemas.openxmlformats.org/drawingml/2006/main">
              <a:ext uri="{FF2B5EF4-FFF2-40B4-BE49-F238E27FC236}">
                <a16:creationId xmlns:a16="http://schemas.microsoft.com/office/drawing/2014/main" id="{71D92D10-B1DE-41B3-BA19-BFF8675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1-Year Commitment</a:t>
            </a:r>
          </a:p>
        </p:txBody>
      </p:sp>
      <p:sp>
        <p:nvSpPr>
          <p:cNvPr id="35" name="pricing-one-year-row-1-fill">
            <a:extLst xmlns:a="http://schemas.openxmlformats.org/drawingml/2006/main">
              <a:ext uri="{FF2B5EF4-FFF2-40B4-BE49-F238E27FC236}">
                <a16:creationId xmlns:a16="http://schemas.microsoft.com/office/drawing/2014/main" id="{7340D558-6773-4A7B-A74B-B5DBEA1B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pricing-one-year-row-1-line">
            <a:extLst xmlns:a="http://schemas.openxmlformats.org/drawingml/2006/main">
              <a:ext uri="{FF2B5EF4-FFF2-40B4-BE49-F238E27FC236}">
                <a16:creationId xmlns:a16="http://schemas.microsoft.com/office/drawing/2014/main" id="{5067A052-EC87-4C54-B547-5B35D81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7" name="pricing-one-year-row-1-label">
            <a:extLst xmlns:a="http://schemas.openxmlformats.org/drawingml/2006/main">
              <a:ext uri="{FF2B5EF4-FFF2-40B4-BE49-F238E27FC236}">
                <a16:creationId xmlns:a16="http://schemas.microsoft.com/office/drawing/2014/main" id="{22D99B82-5B08-4610-A554-2D9DB0D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38" name="editable-ocvs-pricing-on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C6EFDB27-112F-4EAD-9895-B60A15E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9" name="pricing-one-year-row-2-fill">
            <a:extLst xmlns:a="http://schemas.openxmlformats.org/drawingml/2006/main">
              <a:ext uri="{FF2B5EF4-FFF2-40B4-BE49-F238E27FC236}">
                <a16:creationId xmlns:a16="http://schemas.microsoft.com/office/drawing/2014/main" id="{80BB88EF-AD2F-48F8-9843-FA594946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pricing-one-year-row-2-line">
            <a:extLst xmlns:a="http://schemas.openxmlformats.org/drawingml/2006/main">
              <a:ext uri="{FF2B5EF4-FFF2-40B4-BE49-F238E27FC236}">
                <a16:creationId xmlns:a16="http://schemas.microsoft.com/office/drawing/2014/main" id="{4002289C-13E2-4F1F-AE21-545B277C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1" name="pricing-one-year-row-2-label">
            <a:extLst xmlns:a="http://schemas.openxmlformats.org/drawingml/2006/main">
              <a:ext uri="{FF2B5EF4-FFF2-40B4-BE49-F238E27FC236}">
                <a16:creationId xmlns:a16="http://schemas.microsoft.com/office/drawing/2014/main" id="{B3337894-AC08-4CD5-8D8C-BFDC818D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2" name="editable-ocvs-pricing-one-year-storage">
            <a:extLst xmlns:a="http://schemas.openxmlformats.org/drawingml/2006/main">
              <a:ext uri="{FF2B5EF4-FFF2-40B4-BE49-F238E27FC236}">
                <a16:creationId xmlns:a16="http://schemas.microsoft.com/office/drawing/2014/main" id="{744FAD6A-F5AF-47CA-897D-FFB43F6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3" name="pricing-one-year-row-3-fill">
            <a:extLst xmlns:a="http://schemas.openxmlformats.org/drawingml/2006/main">
              <a:ext uri="{FF2B5EF4-FFF2-40B4-BE49-F238E27FC236}">
                <a16:creationId xmlns:a16="http://schemas.microsoft.com/office/drawing/2014/main" id="{EF116401-0340-46D9-B20B-8F71FE2F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4" name="pricing-one-year-row-3-line">
            <a:extLst xmlns:a="http://schemas.openxmlformats.org/drawingml/2006/main">
              <a:ext uri="{FF2B5EF4-FFF2-40B4-BE49-F238E27FC236}">
                <a16:creationId xmlns:a16="http://schemas.microsoft.com/office/drawing/2014/main" id="{9E8020B7-3823-4869-B271-C5D90B65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5" name="pricing-one-year-row-3-label">
            <a:extLst xmlns:a="http://schemas.openxmlformats.org/drawingml/2006/main">
              <a:ext uri="{FF2B5EF4-FFF2-40B4-BE49-F238E27FC236}">
                <a16:creationId xmlns:a16="http://schemas.microsoft.com/office/drawing/2014/main" id="{0AD92E73-0217-4C5D-A2A7-5651262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46" name="editable-ocvs-pricing-on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F5BF6433-C0B8-4C50-8564-FF0BBB96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7" name="pricing-one-year-row-4-fill">
            <a:extLst xmlns:a="http://schemas.openxmlformats.org/drawingml/2006/main">
              <a:ext uri="{FF2B5EF4-FFF2-40B4-BE49-F238E27FC236}">
                <a16:creationId xmlns:a16="http://schemas.microsoft.com/office/drawing/2014/main" id="{1D54530C-3B58-4B26-AAB0-DA48C1C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8" name="pricing-one-year-row-4-line">
            <a:extLst xmlns:a="http://schemas.openxmlformats.org/drawingml/2006/main">
              <a:ext uri="{FF2B5EF4-FFF2-40B4-BE49-F238E27FC236}">
                <a16:creationId xmlns:a16="http://schemas.microsoft.com/office/drawing/2014/main" id="{70DF0244-9420-41CC-A7A3-8AB341B3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9" name="pricing-one-year-row-4-label">
            <a:extLst xmlns:a="http://schemas.openxmlformats.org/drawingml/2006/main">
              <a:ext uri="{FF2B5EF4-FFF2-40B4-BE49-F238E27FC236}">
                <a16:creationId xmlns:a16="http://schemas.microsoft.com/office/drawing/2014/main" id="{43A4082C-BD49-41A2-829F-FFCF72FC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50" name="editable-ocvs-pricing-one-year-annual-total">
            <a:extLst xmlns:a="http://schemas.openxmlformats.org/drawingml/2006/main">
              <a:ext uri="{FF2B5EF4-FFF2-40B4-BE49-F238E27FC236}">
                <a16:creationId xmlns:a16="http://schemas.microsoft.com/office/drawing/2014/main" id="{A5E05642-B099-4BFB-8D41-51FDE66B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1" name="pricing-three-year-card">
            <a:extLst xmlns:a="http://schemas.openxmlformats.org/drawingml/2006/main">
              <a:ext uri="{FF2B5EF4-FFF2-40B4-BE49-F238E27FC236}">
                <a16:creationId xmlns:a16="http://schemas.microsoft.com/office/drawing/2014/main" id="{9E438334-7CD3-405B-927D-9A7C9B8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2" name="pricing-three-year-header">
            <a:extLst xmlns:a="http://schemas.openxmlformats.org/drawingml/2006/main">
              <a:ext uri="{FF2B5EF4-FFF2-40B4-BE49-F238E27FC236}">
                <a16:creationId xmlns:a16="http://schemas.microsoft.com/office/drawing/2014/main" id="{CF573DE2-ADEC-4F32-952A-AE0ECF79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53" name="pricing-three-year-heading">
            <a:extLst xmlns:a="http://schemas.openxmlformats.org/drawingml/2006/main">
              <a:ext uri="{FF2B5EF4-FFF2-40B4-BE49-F238E27FC236}">
                <a16:creationId xmlns:a16="http://schemas.microsoft.com/office/drawing/2014/main" id="{529AF8F1-C265-4204-B69A-FC52BE97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3-Year Commitment</a:t>
            </a:r>
          </a:p>
        </p:txBody>
      </p:sp>
      <p:sp>
        <p:nvSpPr>
          <p:cNvPr id="54" name="pricing-three-year-row-1-fill">
            <a:extLst xmlns:a="http://schemas.openxmlformats.org/drawingml/2006/main">
              <a:ext uri="{FF2B5EF4-FFF2-40B4-BE49-F238E27FC236}">
                <a16:creationId xmlns:a16="http://schemas.microsoft.com/office/drawing/2014/main" id="{A3974F8B-8302-4610-B3A1-3ACBE8A7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pricing-three-year-row-1-line">
            <a:extLst xmlns:a="http://schemas.openxmlformats.org/drawingml/2006/main">
              <a:ext uri="{FF2B5EF4-FFF2-40B4-BE49-F238E27FC236}">
                <a16:creationId xmlns:a16="http://schemas.microsoft.com/office/drawing/2014/main" id="{7CCC6DCD-0030-4CC6-A2EA-64D2F4D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6" name="pricing-three-year-row-1-label">
            <a:extLst xmlns:a="http://schemas.openxmlformats.org/drawingml/2006/main">
              <a:ext uri="{FF2B5EF4-FFF2-40B4-BE49-F238E27FC236}">
                <a16:creationId xmlns:a16="http://schemas.microsoft.com/office/drawing/2014/main" id="{5225DA1E-5BCE-4B30-B163-5F24C82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57" name="editable-ocvs-pricing-thre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F3D7C514-4584-4938-A5A5-9FE763DD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8" name="pricing-three-year-row-2-fill">
            <a:extLst xmlns:a="http://schemas.openxmlformats.org/drawingml/2006/main">
              <a:ext uri="{FF2B5EF4-FFF2-40B4-BE49-F238E27FC236}">
                <a16:creationId xmlns:a16="http://schemas.microsoft.com/office/drawing/2014/main" id="{78B372FE-4792-46EB-8755-FE095C32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pricing-three-year-row-2-line">
            <a:extLst xmlns:a="http://schemas.openxmlformats.org/drawingml/2006/main">
              <a:ext uri="{FF2B5EF4-FFF2-40B4-BE49-F238E27FC236}">
                <a16:creationId xmlns:a16="http://schemas.microsoft.com/office/drawing/2014/main" id="{754A2C2C-EF4C-4DAB-8D67-1B1AC5FD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0" name="pricing-three-year-row-2-label">
            <a:extLst xmlns:a="http://schemas.openxmlformats.org/drawingml/2006/main">
              <a:ext uri="{FF2B5EF4-FFF2-40B4-BE49-F238E27FC236}">
                <a16:creationId xmlns:a16="http://schemas.microsoft.com/office/drawing/2014/main" id="{4A10B56B-C1B8-4D1A-B90F-E8ABB4F4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1" name="editable-ocvs-pricing-three-year-storage">
            <a:extLst xmlns:a="http://schemas.openxmlformats.org/drawingml/2006/main">
              <a:ext uri="{FF2B5EF4-FFF2-40B4-BE49-F238E27FC236}">
                <a16:creationId xmlns:a16="http://schemas.microsoft.com/office/drawing/2014/main" id="{2C244BDA-E8CE-48BE-9514-966B8BF6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2" name="pricing-three-year-row-3-fill">
            <a:extLst xmlns:a="http://schemas.openxmlformats.org/drawingml/2006/main">
              <a:ext uri="{FF2B5EF4-FFF2-40B4-BE49-F238E27FC236}">
                <a16:creationId xmlns:a16="http://schemas.microsoft.com/office/drawing/2014/main" id="{B7845BCA-605C-441D-82F6-BCAEB36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3" name="pricing-three-year-row-3-line">
            <a:extLst xmlns:a="http://schemas.openxmlformats.org/drawingml/2006/main">
              <a:ext uri="{FF2B5EF4-FFF2-40B4-BE49-F238E27FC236}">
                <a16:creationId xmlns:a16="http://schemas.microsoft.com/office/drawing/2014/main" id="{EB6FEDB2-7390-4853-BEA5-1F43E27D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4" name="pricing-three-year-row-3-label">
            <a:extLst xmlns:a="http://schemas.openxmlformats.org/drawingml/2006/main">
              <a:ext uri="{FF2B5EF4-FFF2-40B4-BE49-F238E27FC236}">
                <a16:creationId xmlns:a16="http://schemas.microsoft.com/office/drawing/2014/main" id="{229A5AC4-66DB-493E-A766-881C5E33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65" name="editable-ocvs-pricing-thre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EAF778E1-AA43-4513-9E9D-FED30E4D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6" name="pricing-three-year-row-4-fill">
            <a:extLst xmlns:a="http://schemas.openxmlformats.org/drawingml/2006/main">
              <a:ext uri="{FF2B5EF4-FFF2-40B4-BE49-F238E27FC236}">
                <a16:creationId xmlns:a16="http://schemas.microsoft.com/office/drawing/2014/main" id="{8F1730E4-BEE7-45F2-94D7-AF779C23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7" name="pricing-three-year-row-4-line">
            <a:extLst xmlns:a="http://schemas.openxmlformats.org/drawingml/2006/main">
              <a:ext uri="{FF2B5EF4-FFF2-40B4-BE49-F238E27FC236}">
                <a16:creationId xmlns:a16="http://schemas.microsoft.com/office/drawing/2014/main" id="{DCD64533-5A7D-41F7-BC67-38FACBCA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8" name="pricing-three-year-row-4-label">
            <a:extLst xmlns:a="http://schemas.openxmlformats.org/drawingml/2006/main">
              <a:ext uri="{FF2B5EF4-FFF2-40B4-BE49-F238E27FC236}">
                <a16:creationId xmlns:a16="http://schemas.microsoft.com/office/drawing/2014/main" id="{44B0C507-FD88-4FD5-8765-3FC905B7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69" name="editable-ocvs-pricing-three-year-annual-total">
            <a:extLst xmlns:a="http://schemas.openxmlformats.org/drawingml/2006/main">
              <a:ext uri="{FF2B5EF4-FFF2-40B4-BE49-F238E27FC236}">
                <a16:creationId xmlns:a16="http://schemas.microsoft.com/office/drawing/2014/main" id="{8EE93E20-501D-4B3D-BC73-6D3BA091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0" name="ocvs-pricing-disclaimer">
            <a:extLst xmlns:a="http://schemas.openxmlformats.org/drawingml/2006/main">
              <a:ext uri="{FF2B5EF4-FFF2-40B4-BE49-F238E27FC236}">
                <a16:creationId xmlns:a16="http://schemas.microsoft.com/office/drawing/2014/main" id="{54CF1144-9A36-4155-901C-2E7D5DB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Pricing is indicative and reflects the active sizing result and commercial inputs.</a:t>
            </a:r>
          </a:p>
        </p:txBody>
      </p:sp>
      <p:sp>
        <p:nvSpPr>
          <p:cNvPr id="71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5C7ED2D3-35F1-43BC-AEE4-15EF6834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72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58EBEC38-58C1-4BED-A647-4DB0F156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sp>
        <p:nvSpPr>
          <p:cNvPr id="73" name="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30F2EC55-487B-4439-B560-D7F7017A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OCVS Customer Sizing</a:t>
            </a:r>
          </a:p>
        </p:txBody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8bff32f604b73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5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030B4A-2296-4E67-AE3A-90D3730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857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pic>
        <p:nvPicPr>
          <p:cNvPr id="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bb110b1704954"/>
          <a:stretch xmlns:a="http://schemas.openxmlformats.org/drawingml/2006/main"/>
        </p:blipFill>
        <p:spPr>
          <a:xfrm xmlns:a="http://schemas.openxmlformats.org/drawingml/2006/main">
            <a:off x="4219575" y="3185422"/>
            <a:ext cx="3752850" cy="534781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7D35F5-2CF6-43F3-9813-9C11FDF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4865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104449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2026-09-09T21:46:53.8220000Z</dcterms:created>
  <dcterms:modified xsi:type="dcterms:W3CDTF">2026-09-09T21:46:53.8220000Z</dcterms:modified>
</coreProperties>
</file>