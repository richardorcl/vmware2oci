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61" r:id="rId4"/>
    <p:sldId id="260" r:id="rId5"/>
    <p:sldId id="258" r:id="rId6"/>
    <p:sldId id="259" r:id="rId7"/>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AF8"/>
    <a:srgbClr val="FAF9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9"/>
    <p:restoredTop sz="94677"/>
  </p:normalViewPr>
  <p:slideViewPr>
    <p:cSldViewPr snapToGrid="0">
      <p:cViewPr>
        <p:scale>
          <a:sx n="134" d="100"/>
          <a:sy n="134" d="100"/>
        </p:scale>
        <p:origin x="144" y="1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user-provided PowerPoint OCI Compute Migration.pptx, slide 1. Oracle logo, sidebar icons, Oracle mark, and OCI Compute illustration are cropped from the provided deck and retained as images. Title, subtitle, customer/date/prepared-by labels and values are recreated as editable PowerPoint 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user-provided PowerPoint OCI Compute Migration.pptx, slide 4. Closing background and confidentiality labels are recreated as editable elements; Oracle logo is retained as a cropped image asset from the provided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6BACDB-DFC1-8A58-B49D-615D07ADD164}"/>
              </a:ext>
            </a:extLst>
          </p:cNvPr>
          <p:cNvSpPr txBox="1"/>
          <p:nvPr userDrawn="1">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FR" sz="1000">
                <a:solidFill>
                  <a:srgbClr val="000000">
                    <a:alpha val="50000"/>
                  </a:srgbClr>
                </a:solidFill>
                <a:latin typeface="Aptos" panose="020B0004020202020204" pitchFamily="34" charset="0"/>
              </a:rPr>
              <a:t>Confidential - Oracle Restricted \Employees Only</a:t>
            </a:r>
          </a:p>
        </p:txBody>
      </p:sp>
      <p:sp>
        <p:nvSpPr>
          <p:cNvPr id="5" name="TextBox 4">
            <a:extLst>
              <a:ext uri="{FF2B5EF4-FFF2-40B4-BE49-F238E27FC236}">
                <a16:creationId xmlns:a16="http://schemas.microsoft.com/office/drawing/2014/main" id="{70A77A44-BF93-BED5-E87B-2E2078C76C05}"/>
              </a:ext>
            </a:extLst>
          </p:cNvPr>
          <p:cNvSpPr txBox="1"/>
          <p:nvPr userDrawn="1">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FR" sz="1000">
                <a:solidFill>
                  <a:srgbClr val="000000">
                    <a:alpha val="50000"/>
                  </a:srgbClr>
                </a:solidFill>
                <a:latin typeface="Aptos" panose="020B0004020202020204" pitchFamily="34" charset="0"/>
              </a:rPr>
              <a:t>Confidential - Oracle Restricted \Employees Only</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2.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5.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7.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32" name="Oval 31">
            <a:extLst>
              <a:ext uri="{FF2B5EF4-FFF2-40B4-BE49-F238E27FC236}">
                <a16:creationId xmlns:a16="http://schemas.microsoft.com/office/drawing/2014/main" id="{A1CC6518-64CA-4AA7-955D-33BB33948610}"/>
              </a:ext>
            </a:extLst>
          </p:cNvPr>
          <p:cNvSpPr>
            <a:spLocks noGrp="1"/>
          </p:cNvSpPr>
          <p:nvPr/>
        </p:nvSpPr>
        <p:spPr>
          <a:xfrm>
            <a:off x="4876800" y="552450"/>
            <a:ext cx="38100" cy="38100"/>
          </a:xfrm>
          <a:prstGeom prst="ellipse">
            <a:avLst/>
          </a:prstGeom>
          <a:solidFill>
            <a:srgbClr val="E4E6E4"/>
          </a:solidFill>
          <a:ln w="0">
            <a:noFill/>
            <a:prstDash val="solid"/>
          </a:ln>
        </p:spPr>
        <p:txBody>
          <a:bodyPr/>
          <a:lstStyle/>
          <a:p>
            <a:endParaRPr lang="en-FR"/>
          </a:p>
        </p:txBody>
      </p:sp>
      <p:sp>
        <p:nvSpPr>
          <p:cNvPr id="2" name="Oval 1">
            <a:extLst>
              <a:ext uri="{FF2B5EF4-FFF2-40B4-BE49-F238E27FC236}">
                <a16:creationId xmlns:a16="http://schemas.microsoft.com/office/drawing/2014/main" id="{C4C29316-E1A7-44C2-B2EE-FDBD2776CB8E}"/>
              </a:ext>
            </a:extLst>
          </p:cNvPr>
          <p:cNvSpPr>
            <a:spLocks noGrp="1"/>
          </p:cNvSpPr>
          <p:nvPr/>
        </p:nvSpPr>
        <p:spPr>
          <a:xfrm>
            <a:off x="5886450" y="628650"/>
            <a:ext cx="23813" cy="23813"/>
          </a:xfrm>
          <a:prstGeom prst="ellipse">
            <a:avLst/>
          </a:prstGeom>
          <a:solidFill>
            <a:srgbClr val="E4E6E4"/>
          </a:solidFill>
          <a:ln w="0">
            <a:noFill/>
            <a:prstDash val="solid"/>
          </a:ln>
        </p:spPr>
        <p:txBody>
          <a:bodyPr/>
          <a:lstStyle/>
          <a:p>
            <a:endParaRPr lang="en-FR"/>
          </a:p>
        </p:txBody>
      </p:sp>
      <p:sp>
        <p:nvSpPr>
          <p:cNvPr id="3" name="Oval 2">
            <a:extLst>
              <a:ext uri="{FF2B5EF4-FFF2-40B4-BE49-F238E27FC236}">
                <a16:creationId xmlns:a16="http://schemas.microsoft.com/office/drawing/2014/main" id="{E427ECE8-C150-48E4-AADC-3627B9D4ACE7}"/>
              </a:ext>
            </a:extLst>
          </p:cNvPr>
          <p:cNvSpPr>
            <a:spLocks noGrp="1"/>
          </p:cNvSpPr>
          <p:nvPr/>
        </p:nvSpPr>
        <p:spPr>
          <a:xfrm>
            <a:off x="6896100" y="400050"/>
            <a:ext cx="57150" cy="57150"/>
          </a:xfrm>
          <a:prstGeom prst="ellipse">
            <a:avLst/>
          </a:prstGeom>
          <a:solidFill>
            <a:srgbClr val="E4E6E4"/>
          </a:solidFill>
          <a:ln w="0">
            <a:noFill/>
            <a:prstDash val="solid"/>
          </a:ln>
        </p:spPr>
        <p:txBody>
          <a:bodyPr/>
          <a:lstStyle/>
          <a:p>
            <a:endParaRPr lang="en-FR"/>
          </a:p>
        </p:txBody>
      </p:sp>
      <p:sp>
        <p:nvSpPr>
          <p:cNvPr id="4" name="Oval 3">
            <a:extLst>
              <a:ext uri="{FF2B5EF4-FFF2-40B4-BE49-F238E27FC236}">
                <a16:creationId xmlns:a16="http://schemas.microsoft.com/office/drawing/2014/main" id="{7A0E5362-D867-453B-ABAF-FE93262BE71C}"/>
              </a:ext>
            </a:extLst>
          </p:cNvPr>
          <p:cNvSpPr>
            <a:spLocks noGrp="1"/>
          </p:cNvSpPr>
          <p:nvPr/>
        </p:nvSpPr>
        <p:spPr>
          <a:xfrm>
            <a:off x="8858250" y="838200"/>
            <a:ext cx="23813" cy="23813"/>
          </a:xfrm>
          <a:prstGeom prst="ellipse">
            <a:avLst/>
          </a:prstGeom>
          <a:solidFill>
            <a:srgbClr val="E4E6E4"/>
          </a:solidFill>
          <a:ln w="0">
            <a:noFill/>
            <a:prstDash val="solid"/>
          </a:ln>
        </p:spPr>
        <p:txBody>
          <a:bodyPr/>
          <a:lstStyle/>
          <a:p>
            <a:endParaRPr lang="en-FR"/>
          </a:p>
        </p:txBody>
      </p:sp>
      <p:sp>
        <p:nvSpPr>
          <p:cNvPr id="5" name="Oval 4">
            <a:extLst>
              <a:ext uri="{FF2B5EF4-FFF2-40B4-BE49-F238E27FC236}">
                <a16:creationId xmlns:a16="http://schemas.microsoft.com/office/drawing/2014/main" id="{61158BC2-7531-40E2-9439-5BB061D20AA1}"/>
              </a:ext>
            </a:extLst>
          </p:cNvPr>
          <p:cNvSpPr>
            <a:spLocks noGrp="1"/>
          </p:cNvSpPr>
          <p:nvPr/>
        </p:nvSpPr>
        <p:spPr>
          <a:xfrm>
            <a:off x="10515600" y="723900"/>
            <a:ext cx="28575" cy="28575"/>
          </a:xfrm>
          <a:prstGeom prst="ellipse">
            <a:avLst/>
          </a:prstGeom>
          <a:solidFill>
            <a:srgbClr val="E4E6E4"/>
          </a:solidFill>
          <a:ln w="0">
            <a:noFill/>
            <a:prstDash val="solid"/>
          </a:ln>
        </p:spPr>
        <p:txBody>
          <a:bodyPr/>
          <a:lstStyle/>
          <a:p>
            <a:endParaRPr lang="en-FR"/>
          </a:p>
        </p:txBody>
      </p:sp>
      <p:sp>
        <p:nvSpPr>
          <p:cNvPr id="6" name="Oval 5">
            <a:extLst>
              <a:ext uri="{FF2B5EF4-FFF2-40B4-BE49-F238E27FC236}">
                <a16:creationId xmlns:a16="http://schemas.microsoft.com/office/drawing/2014/main" id="{884BF918-0C4D-43D2-9F46-3A56FB7E17E4}"/>
              </a:ext>
            </a:extLst>
          </p:cNvPr>
          <p:cNvSpPr>
            <a:spLocks noGrp="1"/>
          </p:cNvSpPr>
          <p:nvPr/>
        </p:nvSpPr>
        <p:spPr>
          <a:xfrm>
            <a:off x="11163300" y="1181100"/>
            <a:ext cx="28575" cy="28575"/>
          </a:xfrm>
          <a:prstGeom prst="ellipse">
            <a:avLst/>
          </a:prstGeom>
          <a:solidFill>
            <a:srgbClr val="E4E6E4"/>
          </a:solidFill>
          <a:ln w="0">
            <a:noFill/>
            <a:prstDash val="solid"/>
          </a:ln>
        </p:spPr>
        <p:txBody>
          <a:bodyPr/>
          <a:lstStyle/>
          <a:p>
            <a:endParaRPr lang="en-FR"/>
          </a:p>
        </p:txBody>
      </p:sp>
      <p:sp>
        <p:nvSpPr>
          <p:cNvPr id="7" name="Oval 6">
            <a:extLst>
              <a:ext uri="{FF2B5EF4-FFF2-40B4-BE49-F238E27FC236}">
                <a16:creationId xmlns:a16="http://schemas.microsoft.com/office/drawing/2014/main" id="{60D44F0D-4B06-47FA-974E-BDB124A8A156}"/>
              </a:ext>
            </a:extLst>
          </p:cNvPr>
          <p:cNvSpPr>
            <a:spLocks noGrp="1"/>
          </p:cNvSpPr>
          <p:nvPr/>
        </p:nvSpPr>
        <p:spPr>
          <a:xfrm>
            <a:off x="4629150" y="2990850"/>
            <a:ext cx="28575" cy="28575"/>
          </a:xfrm>
          <a:prstGeom prst="ellipse">
            <a:avLst/>
          </a:prstGeom>
          <a:solidFill>
            <a:srgbClr val="E4E6E4"/>
          </a:solidFill>
          <a:ln w="0">
            <a:noFill/>
            <a:prstDash val="solid"/>
          </a:ln>
        </p:spPr>
        <p:txBody>
          <a:bodyPr/>
          <a:lstStyle/>
          <a:p>
            <a:endParaRPr lang="en-FR"/>
          </a:p>
        </p:txBody>
      </p:sp>
      <p:sp>
        <p:nvSpPr>
          <p:cNvPr id="8" name="Oval 7">
            <a:extLst>
              <a:ext uri="{FF2B5EF4-FFF2-40B4-BE49-F238E27FC236}">
                <a16:creationId xmlns:a16="http://schemas.microsoft.com/office/drawing/2014/main" id="{0885E41D-DE5E-41E9-80BD-670E43A3EAA9}"/>
              </a:ext>
            </a:extLst>
          </p:cNvPr>
          <p:cNvSpPr>
            <a:spLocks noGrp="1"/>
          </p:cNvSpPr>
          <p:nvPr/>
        </p:nvSpPr>
        <p:spPr>
          <a:xfrm>
            <a:off x="8496300" y="2943225"/>
            <a:ext cx="19050" cy="19050"/>
          </a:xfrm>
          <a:prstGeom prst="ellipse">
            <a:avLst/>
          </a:prstGeom>
          <a:solidFill>
            <a:srgbClr val="E4E6E4"/>
          </a:solidFill>
          <a:ln w="0">
            <a:noFill/>
            <a:prstDash val="solid"/>
          </a:ln>
        </p:spPr>
        <p:txBody>
          <a:bodyPr/>
          <a:lstStyle/>
          <a:p>
            <a:endParaRPr lang="en-FR"/>
          </a:p>
        </p:txBody>
      </p:sp>
      <p:sp>
        <p:nvSpPr>
          <p:cNvPr id="9" name="Oval 8">
            <a:extLst>
              <a:ext uri="{FF2B5EF4-FFF2-40B4-BE49-F238E27FC236}">
                <a16:creationId xmlns:a16="http://schemas.microsoft.com/office/drawing/2014/main" id="{9083455D-2F79-4267-A7CC-6F82FDF831B0}"/>
              </a:ext>
            </a:extLst>
          </p:cNvPr>
          <p:cNvSpPr>
            <a:spLocks noGrp="1"/>
          </p:cNvSpPr>
          <p:nvPr/>
        </p:nvSpPr>
        <p:spPr>
          <a:xfrm>
            <a:off x="9677400" y="3790950"/>
            <a:ext cx="38100" cy="38100"/>
          </a:xfrm>
          <a:prstGeom prst="ellipse">
            <a:avLst/>
          </a:prstGeom>
          <a:solidFill>
            <a:srgbClr val="E4E6E4"/>
          </a:solidFill>
          <a:ln w="0">
            <a:noFill/>
            <a:prstDash val="solid"/>
          </a:ln>
        </p:spPr>
        <p:txBody>
          <a:bodyPr/>
          <a:lstStyle/>
          <a:p>
            <a:endParaRPr lang="en-FR"/>
          </a:p>
        </p:txBody>
      </p:sp>
      <p:sp>
        <p:nvSpPr>
          <p:cNvPr id="10" name="Oval 9">
            <a:extLst>
              <a:ext uri="{FF2B5EF4-FFF2-40B4-BE49-F238E27FC236}">
                <a16:creationId xmlns:a16="http://schemas.microsoft.com/office/drawing/2014/main" id="{2E27BC3E-52F0-4FE1-AEC2-887E82B05A50}"/>
              </a:ext>
            </a:extLst>
          </p:cNvPr>
          <p:cNvSpPr>
            <a:spLocks noGrp="1"/>
          </p:cNvSpPr>
          <p:nvPr/>
        </p:nvSpPr>
        <p:spPr>
          <a:xfrm>
            <a:off x="11468100" y="5857875"/>
            <a:ext cx="28575" cy="28575"/>
          </a:xfrm>
          <a:prstGeom prst="ellipse">
            <a:avLst/>
          </a:prstGeom>
          <a:solidFill>
            <a:srgbClr val="E4E6E4"/>
          </a:solidFill>
          <a:ln w="0">
            <a:noFill/>
            <a:prstDash val="solid"/>
          </a:ln>
        </p:spPr>
        <p:txBody>
          <a:bodyPr/>
          <a:lstStyle/>
          <a:p>
            <a:endParaRPr lang="en-FR"/>
          </a:p>
        </p:txBody>
      </p:sp>
      <p:sp>
        <p:nvSpPr>
          <p:cNvPr id="11" name="Oval 10">
            <a:extLst>
              <a:ext uri="{FF2B5EF4-FFF2-40B4-BE49-F238E27FC236}">
                <a16:creationId xmlns:a16="http://schemas.microsoft.com/office/drawing/2014/main" id="{95A97ED1-16B5-4376-BC35-FCD81B4F70AD}"/>
              </a:ext>
            </a:extLst>
          </p:cNvPr>
          <p:cNvSpPr>
            <a:spLocks noGrp="1"/>
          </p:cNvSpPr>
          <p:nvPr/>
        </p:nvSpPr>
        <p:spPr>
          <a:xfrm>
            <a:off x="514350" y="2895600"/>
            <a:ext cx="38100" cy="38100"/>
          </a:xfrm>
          <a:prstGeom prst="ellipse">
            <a:avLst/>
          </a:prstGeom>
          <a:solidFill>
            <a:srgbClr val="E4E6E4"/>
          </a:solidFill>
          <a:ln w="0">
            <a:noFill/>
            <a:prstDash val="solid"/>
          </a:ln>
        </p:spPr>
        <p:txBody>
          <a:bodyPr/>
          <a:lstStyle/>
          <a:p>
            <a:endParaRPr lang="en-FR"/>
          </a:p>
        </p:txBody>
      </p:sp>
      <p:sp>
        <p:nvSpPr>
          <p:cNvPr id="12" name="Oval 11">
            <a:extLst>
              <a:ext uri="{FF2B5EF4-FFF2-40B4-BE49-F238E27FC236}">
                <a16:creationId xmlns:a16="http://schemas.microsoft.com/office/drawing/2014/main" id="{E6AB839F-A877-4953-81EB-00AB5DFF2A03}"/>
              </a:ext>
            </a:extLst>
          </p:cNvPr>
          <p:cNvSpPr>
            <a:spLocks noGrp="1"/>
          </p:cNvSpPr>
          <p:nvPr/>
        </p:nvSpPr>
        <p:spPr>
          <a:xfrm>
            <a:off x="304800" y="3409950"/>
            <a:ext cx="28575" cy="28575"/>
          </a:xfrm>
          <a:prstGeom prst="ellipse">
            <a:avLst/>
          </a:prstGeom>
          <a:solidFill>
            <a:srgbClr val="E4E6E4"/>
          </a:solidFill>
          <a:ln w="0">
            <a:noFill/>
            <a:prstDash val="solid"/>
          </a:ln>
        </p:spPr>
        <p:txBody>
          <a:bodyPr/>
          <a:lstStyle/>
          <a:p>
            <a:endParaRPr lang="en-FR"/>
          </a:p>
        </p:txBody>
      </p:sp>
      <p:sp>
        <p:nvSpPr>
          <p:cNvPr id="13" name="Oval 12">
            <a:extLst>
              <a:ext uri="{FF2B5EF4-FFF2-40B4-BE49-F238E27FC236}">
                <a16:creationId xmlns:a16="http://schemas.microsoft.com/office/drawing/2014/main" id="{2233669D-4733-4D32-8C08-A3A7377FB7AC}"/>
              </a:ext>
            </a:extLst>
          </p:cNvPr>
          <p:cNvSpPr>
            <a:spLocks noGrp="1"/>
          </p:cNvSpPr>
          <p:nvPr/>
        </p:nvSpPr>
        <p:spPr>
          <a:xfrm>
            <a:off x="0" y="3124200"/>
            <a:ext cx="1524000" cy="2381250"/>
          </a:xfrm>
          <a:prstGeom prst="ellipse">
            <a:avLst/>
          </a:prstGeom>
          <a:solidFill>
            <a:srgbClr val="F5F7F5"/>
          </a:solidFill>
          <a:ln w="0">
            <a:noFill/>
            <a:prstDash val="solid"/>
          </a:ln>
        </p:spPr>
        <p:txBody>
          <a:bodyPr/>
          <a:lstStyle/>
          <a:p>
            <a:endParaRPr lang="en-FR"/>
          </a:p>
        </p:txBody>
      </p:sp>
      <p:pic>
        <p:nvPicPr>
          <p:cNvPr id="45" name="Picture 44"/>
          <p:cNvPicPr>
            <a:picLocks noChangeAspect="1"/>
          </p:cNvPicPr>
          <p:nvPr/>
        </p:nvPicPr>
        <p:blipFill>
          <a:blip r:embed="rId3"/>
          <a:stretch/>
        </p:blipFill>
        <p:spPr>
          <a:xfrm>
            <a:off x="374822" y="352425"/>
            <a:ext cx="1612557" cy="342900"/>
          </a:xfrm>
          <a:prstGeom prst="rect">
            <a:avLst/>
          </a:prstGeom>
        </p:spPr>
      </p:pic>
      <p:pic>
        <p:nvPicPr>
          <p:cNvPr id="46" name="Picture 45"/>
          <p:cNvPicPr>
            <a:picLocks noChangeAspect="1"/>
          </p:cNvPicPr>
          <p:nvPr/>
        </p:nvPicPr>
        <p:blipFill>
          <a:blip r:embed="rId4"/>
          <a:stretch/>
        </p:blipFill>
        <p:spPr>
          <a:xfrm>
            <a:off x="5819775" y="1095375"/>
            <a:ext cx="6124575" cy="5000625"/>
          </a:xfrm>
          <a:prstGeom prst="rect">
            <a:avLst/>
          </a:prstGeom>
        </p:spPr>
      </p:pic>
      <p:sp>
        <p:nvSpPr>
          <p:cNvPr id="16" name="Rectangle 15">
            <a:extLst>
              <a:ext uri="{FF2B5EF4-FFF2-40B4-BE49-F238E27FC236}">
                <a16:creationId xmlns:a16="http://schemas.microsoft.com/office/drawing/2014/main" id="{001C5855-1F38-4164-87CB-881DEDEFBB07}"/>
              </a:ext>
            </a:extLst>
          </p:cNvPr>
          <p:cNvSpPr>
            <a:spLocks noGrp="1"/>
          </p:cNvSpPr>
          <p:nvPr/>
        </p:nvSpPr>
        <p:spPr>
          <a:xfrm>
            <a:off x="476250" y="1695450"/>
            <a:ext cx="4333875" cy="1333500"/>
          </a:xfrm>
          <a:prstGeom prst="rect">
            <a:avLst/>
          </a:prstGeom>
          <a:noFill/>
          <a:ln w="0">
            <a:noFill/>
            <a:prstDash val="solid"/>
          </a:ln>
        </p:spPr>
        <p:txBody>
          <a:bodyPr wrap="square" lIns="0" tIns="0" rIns="0" bIns="0" anchor="t"/>
          <a:lstStyle/>
          <a:p>
            <a:pPr algn="l">
              <a:lnSpc>
                <a:spcPct val="96000"/>
              </a:lnSpc>
              <a:buNone/>
              <a:defRPr sz="3975" b="1" i="0">
                <a:solidFill>
                  <a:srgbClr val="00452C"/>
                </a:solidFill>
                <a:latin typeface="Arial"/>
                <a:ea typeface="Arial"/>
                <a:cs typeface="Arial"/>
              </a:defRPr>
            </a:pPr>
            <a:r>
              <a:rPr sz="3975" b="1" i="0" dirty="0">
                <a:solidFill>
                  <a:srgbClr val="00452C"/>
                </a:solidFill>
                <a:latin typeface="Arial"/>
                <a:ea typeface="Arial"/>
                <a:cs typeface="Arial"/>
              </a:rPr>
              <a:t>OCI Compute</a:t>
            </a:r>
          </a:p>
          <a:p>
            <a:pPr algn="l">
              <a:lnSpc>
                <a:spcPct val="96000"/>
              </a:lnSpc>
              <a:buNone/>
              <a:defRPr sz="3975" b="1" i="0">
                <a:solidFill>
                  <a:srgbClr val="00452C"/>
                </a:solidFill>
                <a:latin typeface="Arial"/>
                <a:ea typeface="Arial"/>
                <a:cs typeface="Arial"/>
              </a:defRPr>
            </a:pPr>
            <a:r>
              <a:rPr sz="3975" b="1" i="0" dirty="0">
                <a:solidFill>
                  <a:srgbClr val="00452C"/>
                </a:solidFill>
                <a:latin typeface="Arial"/>
                <a:ea typeface="Arial"/>
                <a:cs typeface="Arial"/>
              </a:rPr>
              <a:t>Migration</a:t>
            </a:r>
          </a:p>
        </p:txBody>
      </p:sp>
      <p:sp>
        <p:nvSpPr>
          <p:cNvPr id="17" name="Rectangle 16">
            <a:extLst>
              <a:ext uri="{FF2B5EF4-FFF2-40B4-BE49-F238E27FC236}">
                <a16:creationId xmlns:a16="http://schemas.microsoft.com/office/drawing/2014/main" id="{25E6AE56-2DC7-4182-842C-BC55A544F73E}"/>
              </a:ext>
            </a:extLst>
          </p:cNvPr>
          <p:cNvSpPr>
            <a:spLocks noGrp="1"/>
          </p:cNvSpPr>
          <p:nvPr/>
        </p:nvSpPr>
        <p:spPr>
          <a:xfrm>
            <a:off x="495300" y="3333750"/>
            <a:ext cx="3143250" cy="400050"/>
          </a:xfrm>
          <a:prstGeom prst="rect">
            <a:avLst/>
          </a:prstGeom>
          <a:noFill/>
          <a:ln w="0">
            <a:noFill/>
            <a:prstDash val="solid"/>
          </a:ln>
        </p:spPr>
        <p:txBody>
          <a:bodyPr wrap="none" lIns="0" tIns="0" rIns="0" bIns="0" anchor="t"/>
          <a:lstStyle/>
          <a:p>
            <a:pPr algn="l">
              <a:lnSpc>
                <a:spcPct val="100000"/>
              </a:lnSpc>
              <a:buNone/>
              <a:defRPr sz="2400" b="0" i="0">
                <a:solidFill>
                  <a:srgbClr val="111111"/>
                </a:solidFill>
                <a:latin typeface="Arial"/>
                <a:ea typeface="Arial"/>
                <a:cs typeface="Arial"/>
              </a:defRPr>
            </a:pPr>
            <a:r>
              <a:rPr sz="2400" b="0" i="0">
                <a:solidFill>
                  <a:srgbClr val="111111"/>
                </a:solidFill>
                <a:latin typeface="Arial"/>
                <a:ea typeface="Arial"/>
                <a:cs typeface="Arial"/>
              </a:rPr>
              <a:t>Proposed Sizing</a:t>
            </a:r>
          </a:p>
        </p:txBody>
      </p:sp>
      <p:sp>
        <p:nvSpPr>
          <p:cNvPr id="18" name="Rectangle 17">
            <a:extLst>
              <a:ext uri="{FF2B5EF4-FFF2-40B4-BE49-F238E27FC236}">
                <a16:creationId xmlns:a16="http://schemas.microsoft.com/office/drawing/2014/main" id="{C5B1367C-E02C-4871-8DAA-3BB8A8E1FF62}"/>
              </a:ext>
            </a:extLst>
          </p:cNvPr>
          <p:cNvSpPr>
            <a:spLocks noGrp="1"/>
          </p:cNvSpPr>
          <p:nvPr/>
        </p:nvSpPr>
        <p:spPr>
          <a:xfrm>
            <a:off x="514350" y="3781425"/>
            <a:ext cx="485775" cy="47625"/>
          </a:xfrm>
          <a:prstGeom prst="rect">
            <a:avLst/>
          </a:prstGeom>
          <a:solidFill>
            <a:srgbClr val="E30613"/>
          </a:solidFill>
          <a:ln w="0">
            <a:noFill/>
            <a:prstDash val="solid"/>
          </a:ln>
        </p:spPr>
        <p:txBody>
          <a:bodyPr/>
          <a:lstStyle/>
          <a:p>
            <a:endParaRPr lang="en-FR"/>
          </a:p>
        </p:txBody>
      </p:sp>
      <p:pic>
        <p:nvPicPr>
          <p:cNvPr id="50" name="Picture 49"/>
          <p:cNvPicPr>
            <a:picLocks noChangeAspect="1"/>
          </p:cNvPicPr>
          <p:nvPr/>
        </p:nvPicPr>
        <p:blipFill>
          <a:blip r:embed="rId5"/>
          <a:stretch/>
        </p:blipFill>
        <p:spPr>
          <a:xfrm>
            <a:off x="504411" y="4362450"/>
            <a:ext cx="400878" cy="419100"/>
          </a:xfrm>
          <a:prstGeom prst="rect">
            <a:avLst/>
          </a:prstGeom>
        </p:spPr>
      </p:pic>
      <p:sp>
        <p:nvSpPr>
          <p:cNvPr id="20" name="Straight Connector 19">
            <a:extLst>
              <a:ext uri="{FF2B5EF4-FFF2-40B4-BE49-F238E27FC236}">
                <a16:creationId xmlns:a16="http://schemas.microsoft.com/office/drawing/2014/main" id="{414B8E6D-449E-4A4F-874A-E18CB4088961}"/>
              </a:ext>
            </a:extLst>
          </p:cNvPr>
          <p:cNvSpPr>
            <a:spLocks noGrp="1"/>
          </p:cNvSpPr>
          <p:nvPr/>
        </p:nvSpPr>
        <p:spPr>
          <a:xfrm>
            <a:off x="1066800" y="4381500"/>
            <a:ext cx="0" cy="400050"/>
          </a:xfrm>
          <a:prstGeom prst="line">
            <a:avLst/>
          </a:prstGeom>
          <a:noFill/>
          <a:ln w="9525">
            <a:solidFill>
              <a:srgbClr val="AEB7B1"/>
            </a:solidFill>
            <a:prstDash val="solid"/>
          </a:ln>
        </p:spPr>
        <p:txBody>
          <a:bodyPr/>
          <a:lstStyle/>
          <a:p>
            <a:endParaRPr lang="en-FR"/>
          </a:p>
        </p:txBody>
      </p:sp>
      <p:sp>
        <p:nvSpPr>
          <p:cNvPr id="21" name="Rectangle 20">
            <a:extLst>
              <a:ext uri="{FF2B5EF4-FFF2-40B4-BE49-F238E27FC236}">
                <a16:creationId xmlns:a16="http://schemas.microsoft.com/office/drawing/2014/main" id="{0898662F-CD05-4BD7-B41E-E32647674A2B}"/>
              </a:ext>
            </a:extLst>
          </p:cNvPr>
          <p:cNvSpPr>
            <a:spLocks noGrp="1"/>
          </p:cNvSpPr>
          <p:nvPr/>
        </p:nvSpPr>
        <p:spPr>
          <a:xfrm>
            <a:off x="1219200" y="4400550"/>
            <a:ext cx="1238250" cy="200025"/>
          </a:xfrm>
          <a:prstGeom prst="rect">
            <a:avLst/>
          </a:prstGeom>
          <a:noFill/>
          <a:ln w="0">
            <a:noFill/>
            <a:prstDash val="solid"/>
          </a:ln>
        </p:spPr>
        <p:txBody>
          <a:bodyPr wrap="none" lIns="0" tIns="0" rIns="0" bIns="0" anchor="t"/>
          <a:lstStyle/>
          <a:p>
            <a:pPr algn="l">
              <a:lnSpc>
                <a:spcPct val="100000"/>
              </a:lnSpc>
              <a:buNone/>
              <a:defRPr sz="1125" b="1" i="0">
                <a:solidFill>
                  <a:srgbClr val="00452C"/>
                </a:solidFill>
                <a:latin typeface="Arial"/>
                <a:ea typeface="Arial"/>
                <a:cs typeface="Arial"/>
              </a:defRPr>
            </a:pPr>
            <a:r>
              <a:rPr sz="1125" b="1" i="0">
                <a:solidFill>
                  <a:srgbClr val="00452C"/>
                </a:solidFill>
                <a:latin typeface="Arial"/>
                <a:ea typeface="Arial"/>
                <a:cs typeface="Arial"/>
              </a:rPr>
              <a:t>Customer</a:t>
            </a:r>
          </a:p>
        </p:txBody>
      </p:sp>
      <p:sp>
        <p:nvSpPr>
          <p:cNvPr id="22" name="Rectangle 21">
            <a:extLst>
              <a:ext uri="{FF2B5EF4-FFF2-40B4-BE49-F238E27FC236}">
                <a16:creationId xmlns:a16="http://schemas.microsoft.com/office/drawing/2014/main" id="{598A69E0-2C9D-4A04-895F-7E5E0976B2A9}"/>
              </a:ext>
            </a:extLst>
          </p:cNvPr>
          <p:cNvSpPr>
            <a:spLocks noGrp="1"/>
          </p:cNvSpPr>
          <p:nvPr/>
        </p:nvSpPr>
        <p:spPr>
          <a:xfrm>
            <a:off x="1219200" y="4657725"/>
            <a:ext cx="2286000" cy="209550"/>
          </a:xfrm>
          <a:prstGeom prst="rect">
            <a:avLst/>
          </a:prstGeom>
          <a:noFill/>
          <a:ln w="0">
            <a:noFill/>
            <a:prstDash val="solid"/>
          </a:ln>
        </p:spPr>
        <p:txBody>
          <a:bodyPr wrap="none" lIns="0" tIns="0" rIns="0" bIns="0" anchor="t"/>
          <a:lstStyle/>
          <a:p>
            <a:pPr algn="l">
              <a:lnSpc>
                <a:spcPct val="100000"/>
              </a:lnSpc>
              <a:buNone/>
              <a:defRPr sz="938" b="0" i="0">
                <a:solidFill>
                  <a:srgbClr val="111111"/>
                </a:solidFill>
                <a:latin typeface="Arial"/>
                <a:ea typeface="Arial"/>
                <a:cs typeface="Arial"/>
              </a:defRPr>
            </a:pPr>
            <a:r>
              <a:rPr sz="938" b="0" i="0">
                <a:solidFill>
                  <a:srgbClr val="111111"/>
                </a:solidFill>
                <a:latin typeface="Arial"/>
                <a:ea typeface="Arial"/>
                <a:cs typeface="Arial"/>
              </a:rPr>
              <a:t>TEST01/07</a:t>
            </a:r>
          </a:p>
        </p:txBody>
      </p:sp>
      <p:pic>
        <p:nvPicPr>
          <p:cNvPr id="54" name="Picture 53"/>
          <p:cNvPicPr>
            <a:picLocks noChangeAspect="1"/>
          </p:cNvPicPr>
          <p:nvPr/>
        </p:nvPicPr>
        <p:blipFill>
          <a:blip r:embed="rId6"/>
          <a:stretch/>
        </p:blipFill>
        <p:spPr>
          <a:xfrm>
            <a:off x="504411" y="4972050"/>
            <a:ext cx="400878" cy="419100"/>
          </a:xfrm>
          <a:prstGeom prst="rect">
            <a:avLst/>
          </a:prstGeom>
        </p:spPr>
      </p:pic>
      <p:sp>
        <p:nvSpPr>
          <p:cNvPr id="24" name="Straight Connector 23">
            <a:extLst>
              <a:ext uri="{FF2B5EF4-FFF2-40B4-BE49-F238E27FC236}">
                <a16:creationId xmlns:a16="http://schemas.microsoft.com/office/drawing/2014/main" id="{952B6C8C-40C4-4B8D-A0F8-CAB487557C11}"/>
              </a:ext>
            </a:extLst>
          </p:cNvPr>
          <p:cNvSpPr>
            <a:spLocks noGrp="1"/>
          </p:cNvSpPr>
          <p:nvPr/>
        </p:nvSpPr>
        <p:spPr>
          <a:xfrm>
            <a:off x="1066800" y="4991100"/>
            <a:ext cx="0" cy="400050"/>
          </a:xfrm>
          <a:prstGeom prst="line">
            <a:avLst/>
          </a:prstGeom>
          <a:noFill/>
          <a:ln w="9525">
            <a:solidFill>
              <a:srgbClr val="AEB7B1"/>
            </a:solidFill>
            <a:prstDash val="solid"/>
          </a:ln>
        </p:spPr>
        <p:txBody>
          <a:bodyPr/>
          <a:lstStyle/>
          <a:p>
            <a:endParaRPr lang="en-FR"/>
          </a:p>
        </p:txBody>
      </p:sp>
      <p:sp>
        <p:nvSpPr>
          <p:cNvPr id="25" name="Rectangle 24">
            <a:extLst>
              <a:ext uri="{FF2B5EF4-FFF2-40B4-BE49-F238E27FC236}">
                <a16:creationId xmlns:a16="http://schemas.microsoft.com/office/drawing/2014/main" id="{B9BBBA1E-BBE7-4F48-8E2E-9ABA2B9DC58B}"/>
              </a:ext>
            </a:extLst>
          </p:cNvPr>
          <p:cNvSpPr>
            <a:spLocks noGrp="1"/>
          </p:cNvSpPr>
          <p:nvPr/>
        </p:nvSpPr>
        <p:spPr>
          <a:xfrm>
            <a:off x="1219200" y="5010150"/>
            <a:ext cx="1238250" cy="200025"/>
          </a:xfrm>
          <a:prstGeom prst="rect">
            <a:avLst/>
          </a:prstGeom>
          <a:noFill/>
          <a:ln w="0">
            <a:noFill/>
            <a:prstDash val="solid"/>
          </a:ln>
        </p:spPr>
        <p:txBody>
          <a:bodyPr wrap="none" lIns="0" tIns="0" rIns="0" bIns="0" anchor="t"/>
          <a:lstStyle/>
          <a:p>
            <a:pPr algn="l">
              <a:lnSpc>
                <a:spcPct val="100000"/>
              </a:lnSpc>
              <a:buNone/>
              <a:defRPr sz="1125" b="1" i="0">
                <a:solidFill>
                  <a:srgbClr val="00452C"/>
                </a:solidFill>
                <a:latin typeface="Arial"/>
                <a:ea typeface="Arial"/>
                <a:cs typeface="Arial"/>
              </a:defRPr>
            </a:pPr>
            <a:r>
              <a:rPr sz="1125" b="1" i="0">
                <a:solidFill>
                  <a:srgbClr val="00452C"/>
                </a:solidFill>
                <a:latin typeface="Arial"/>
                <a:ea typeface="Arial"/>
                <a:cs typeface="Arial"/>
              </a:rPr>
              <a:t>Date</a:t>
            </a:r>
          </a:p>
        </p:txBody>
      </p:sp>
      <p:sp>
        <p:nvSpPr>
          <p:cNvPr id="26" name="Rectangle 25">
            <a:extLst>
              <a:ext uri="{FF2B5EF4-FFF2-40B4-BE49-F238E27FC236}">
                <a16:creationId xmlns:a16="http://schemas.microsoft.com/office/drawing/2014/main" id="{B40CB73A-06AC-4787-9146-C44115C2AB70}"/>
              </a:ext>
            </a:extLst>
          </p:cNvPr>
          <p:cNvSpPr>
            <a:spLocks noGrp="1"/>
          </p:cNvSpPr>
          <p:nvPr/>
        </p:nvSpPr>
        <p:spPr>
          <a:xfrm>
            <a:off x="1219200" y="5267325"/>
            <a:ext cx="2286000" cy="209550"/>
          </a:xfrm>
          <a:prstGeom prst="rect">
            <a:avLst/>
          </a:prstGeom>
          <a:noFill/>
          <a:ln w="0">
            <a:noFill/>
            <a:prstDash val="solid"/>
          </a:ln>
        </p:spPr>
        <p:txBody>
          <a:bodyPr wrap="none" lIns="0" tIns="0" rIns="0" bIns="0" anchor="t"/>
          <a:lstStyle/>
          <a:p>
            <a:pPr algn="l">
              <a:lnSpc>
                <a:spcPct val="100000"/>
              </a:lnSpc>
              <a:buNone/>
              <a:defRPr sz="938" b="0" i="0">
                <a:solidFill>
                  <a:srgbClr val="111111"/>
                </a:solidFill>
                <a:latin typeface="Arial"/>
                <a:ea typeface="Arial"/>
                <a:cs typeface="Arial"/>
              </a:defRPr>
            </a:pPr>
            <a:r>
              <a:rPr sz="938" b="0" i="0">
                <a:solidFill>
                  <a:srgbClr val="111111"/>
                </a:solidFill>
                <a:latin typeface="Arial"/>
                <a:ea typeface="Arial"/>
                <a:cs typeface="Arial"/>
              </a:rPr>
              <a:t>Jul 01, 2026</a:t>
            </a:r>
          </a:p>
        </p:txBody>
      </p:sp>
      <p:pic>
        <p:nvPicPr>
          <p:cNvPr id="58" name="Picture 57"/>
          <p:cNvPicPr>
            <a:picLocks noChangeAspect="1"/>
          </p:cNvPicPr>
          <p:nvPr/>
        </p:nvPicPr>
        <p:blipFill>
          <a:blip r:embed="rId7"/>
          <a:stretch/>
        </p:blipFill>
        <p:spPr>
          <a:xfrm>
            <a:off x="504411" y="5572125"/>
            <a:ext cx="400878" cy="419100"/>
          </a:xfrm>
          <a:prstGeom prst="rect">
            <a:avLst/>
          </a:prstGeom>
        </p:spPr>
      </p:pic>
      <p:sp>
        <p:nvSpPr>
          <p:cNvPr id="28" name="Straight Connector 27">
            <a:extLst>
              <a:ext uri="{FF2B5EF4-FFF2-40B4-BE49-F238E27FC236}">
                <a16:creationId xmlns:a16="http://schemas.microsoft.com/office/drawing/2014/main" id="{448A61C8-5D98-441C-A134-D7D078E0A189}"/>
              </a:ext>
            </a:extLst>
          </p:cNvPr>
          <p:cNvSpPr>
            <a:spLocks noGrp="1"/>
          </p:cNvSpPr>
          <p:nvPr/>
        </p:nvSpPr>
        <p:spPr>
          <a:xfrm>
            <a:off x="1066800" y="5591175"/>
            <a:ext cx="0" cy="400050"/>
          </a:xfrm>
          <a:prstGeom prst="line">
            <a:avLst/>
          </a:prstGeom>
          <a:noFill/>
          <a:ln w="9525">
            <a:solidFill>
              <a:srgbClr val="AEB7B1"/>
            </a:solidFill>
            <a:prstDash val="solid"/>
          </a:ln>
        </p:spPr>
        <p:txBody>
          <a:bodyPr/>
          <a:lstStyle/>
          <a:p>
            <a:endParaRPr lang="en-FR"/>
          </a:p>
        </p:txBody>
      </p:sp>
      <p:sp>
        <p:nvSpPr>
          <p:cNvPr id="29" name="Rectangle 28">
            <a:extLst>
              <a:ext uri="{FF2B5EF4-FFF2-40B4-BE49-F238E27FC236}">
                <a16:creationId xmlns:a16="http://schemas.microsoft.com/office/drawing/2014/main" id="{1F74FE52-B7E3-464E-BD2D-CCCC853B0E64}"/>
              </a:ext>
            </a:extLst>
          </p:cNvPr>
          <p:cNvSpPr>
            <a:spLocks noGrp="1"/>
          </p:cNvSpPr>
          <p:nvPr/>
        </p:nvSpPr>
        <p:spPr>
          <a:xfrm>
            <a:off x="1219200" y="5610225"/>
            <a:ext cx="1238250" cy="200025"/>
          </a:xfrm>
          <a:prstGeom prst="rect">
            <a:avLst/>
          </a:prstGeom>
          <a:noFill/>
          <a:ln w="0">
            <a:noFill/>
            <a:prstDash val="solid"/>
          </a:ln>
        </p:spPr>
        <p:txBody>
          <a:bodyPr wrap="none" lIns="0" tIns="0" rIns="0" bIns="0" anchor="t"/>
          <a:lstStyle/>
          <a:p>
            <a:pPr algn="l">
              <a:lnSpc>
                <a:spcPct val="100000"/>
              </a:lnSpc>
              <a:buNone/>
              <a:defRPr sz="1125" b="1" i="0">
                <a:solidFill>
                  <a:srgbClr val="00452C"/>
                </a:solidFill>
                <a:latin typeface="Arial"/>
                <a:ea typeface="Arial"/>
                <a:cs typeface="Arial"/>
              </a:defRPr>
            </a:pPr>
            <a:r>
              <a:rPr sz="1125" b="1" i="0">
                <a:solidFill>
                  <a:srgbClr val="00452C"/>
                </a:solidFill>
                <a:latin typeface="Arial"/>
                <a:ea typeface="Arial"/>
                <a:cs typeface="Arial"/>
              </a:rPr>
              <a:t>Prepared By</a:t>
            </a:r>
          </a:p>
        </p:txBody>
      </p:sp>
      <p:sp>
        <p:nvSpPr>
          <p:cNvPr id="30" name="Rectangle 29">
            <a:extLst>
              <a:ext uri="{FF2B5EF4-FFF2-40B4-BE49-F238E27FC236}">
                <a16:creationId xmlns:a16="http://schemas.microsoft.com/office/drawing/2014/main" id="{CAF23993-C572-4488-866D-2C7A5482B8FF}"/>
              </a:ext>
            </a:extLst>
          </p:cNvPr>
          <p:cNvSpPr>
            <a:spLocks noGrp="1"/>
          </p:cNvSpPr>
          <p:nvPr/>
        </p:nvSpPr>
        <p:spPr>
          <a:xfrm>
            <a:off x="1219200" y="5867400"/>
            <a:ext cx="2286000" cy="209550"/>
          </a:xfrm>
          <a:prstGeom prst="rect">
            <a:avLst/>
          </a:prstGeom>
          <a:noFill/>
          <a:ln w="0">
            <a:noFill/>
            <a:prstDash val="solid"/>
          </a:ln>
        </p:spPr>
        <p:txBody>
          <a:bodyPr wrap="none" lIns="0" tIns="0" rIns="0" bIns="0" anchor="t"/>
          <a:lstStyle/>
          <a:p>
            <a:pPr algn="l">
              <a:lnSpc>
                <a:spcPct val="100000"/>
              </a:lnSpc>
              <a:buNone/>
              <a:defRPr sz="938" b="0" i="0">
                <a:solidFill>
                  <a:srgbClr val="111111"/>
                </a:solidFill>
                <a:latin typeface="Arial"/>
                <a:ea typeface="Arial"/>
                <a:cs typeface="Arial"/>
              </a:defRPr>
            </a:pPr>
            <a:r>
              <a:rPr sz="938" b="0" i="0">
                <a:solidFill>
                  <a:srgbClr val="111111"/>
                </a:solidFill>
                <a:latin typeface="Arial"/>
                <a:ea typeface="Arial"/>
                <a:cs typeface="Arial"/>
              </a:rPr>
              <a:t>Oracle Cloud VMware Specialist</a:t>
            </a:r>
          </a:p>
        </p:txBody>
      </p:sp>
      <p:pic>
        <p:nvPicPr>
          <p:cNvPr id="62" name="Picture 61"/>
          <p:cNvPicPr>
            <a:picLocks noChangeAspect="1"/>
          </p:cNvPicPr>
          <p:nvPr/>
        </p:nvPicPr>
        <p:blipFill>
          <a:blip r:embed="rId8"/>
          <a:stretch/>
        </p:blipFill>
        <p:spPr>
          <a:xfrm>
            <a:off x="11458864" y="6486525"/>
            <a:ext cx="285173" cy="361950"/>
          </a:xfrm>
          <a:prstGeom prst="rect">
            <a:avLst/>
          </a:prstGeom>
        </p:spPr>
      </p:pic>
    </p:spTree>
    <p:extLst>
      <p:ext uri="{BB962C8B-B14F-4D97-AF65-F5344CB8AC3E}">
        <p14:creationId xmlns:p14="http://schemas.microsoft.com/office/powerpoint/2010/main" val="1424176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8"/>
        </a:solidFill>
        <a:effectLst/>
      </p:bgPr>
    </p:bg>
    <p:spTree>
      <p:nvGrpSpPr>
        <p:cNvPr id="1" name=""/>
        <p:cNvGrpSpPr/>
        <p:nvPr/>
      </p:nvGrpSpPr>
      <p:grpSpPr>
        <a:xfrm>
          <a:off x="0" y="0"/>
          <a:ext cx="0" cy="0"/>
          <a:chOff x="0" y="0"/>
          <a:chExt cx="0" cy="0"/>
        </a:xfrm>
      </p:grpSpPr>
      <p:sp>
        <p:nvSpPr>
          <p:cNvPr id="123" name="Oval 122">
            <a:extLst>
              <a:ext uri="{FF2B5EF4-FFF2-40B4-BE49-F238E27FC236}">
                <a16:creationId xmlns:a16="http://schemas.microsoft.com/office/drawing/2014/main" id="{568EAC45-913C-4BB6-A7C6-68D001E3312B}"/>
              </a:ext>
            </a:extLst>
          </p:cNvPr>
          <p:cNvSpPr>
            <a:spLocks noGrp="1"/>
          </p:cNvSpPr>
          <p:nvPr/>
        </p:nvSpPr>
        <p:spPr>
          <a:xfrm>
            <a:off x="4876800" y="552450"/>
            <a:ext cx="38100" cy="38100"/>
          </a:xfrm>
          <a:prstGeom prst="ellipse">
            <a:avLst/>
          </a:prstGeom>
          <a:solidFill>
            <a:srgbClr val="E4E6E4"/>
          </a:solidFill>
          <a:ln w="0">
            <a:noFill/>
            <a:prstDash val="solid"/>
          </a:ln>
        </p:spPr>
        <p:txBody>
          <a:bodyPr/>
          <a:lstStyle/>
          <a:p>
            <a:endParaRPr lang="en-FR"/>
          </a:p>
        </p:txBody>
      </p:sp>
      <p:sp>
        <p:nvSpPr>
          <p:cNvPr id="2" name="Oval 1">
            <a:extLst>
              <a:ext uri="{FF2B5EF4-FFF2-40B4-BE49-F238E27FC236}">
                <a16:creationId xmlns:a16="http://schemas.microsoft.com/office/drawing/2014/main" id="{461F158E-2284-41F5-B1D5-DE53C2A7DA90}"/>
              </a:ext>
            </a:extLst>
          </p:cNvPr>
          <p:cNvSpPr>
            <a:spLocks noGrp="1"/>
          </p:cNvSpPr>
          <p:nvPr/>
        </p:nvSpPr>
        <p:spPr>
          <a:xfrm>
            <a:off x="5886450" y="628650"/>
            <a:ext cx="23813" cy="23813"/>
          </a:xfrm>
          <a:prstGeom prst="ellipse">
            <a:avLst/>
          </a:prstGeom>
          <a:solidFill>
            <a:srgbClr val="E4E6E4"/>
          </a:solidFill>
          <a:ln w="0">
            <a:noFill/>
            <a:prstDash val="solid"/>
          </a:ln>
        </p:spPr>
        <p:txBody>
          <a:bodyPr/>
          <a:lstStyle/>
          <a:p>
            <a:endParaRPr lang="en-FR"/>
          </a:p>
        </p:txBody>
      </p:sp>
      <p:sp>
        <p:nvSpPr>
          <p:cNvPr id="3" name="Oval 2">
            <a:extLst>
              <a:ext uri="{FF2B5EF4-FFF2-40B4-BE49-F238E27FC236}">
                <a16:creationId xmlns:a16="http://schemas.microsoft.com/office/drawing/2014/main" id="{ACC4F953-03EF-439E-AF8A-87A0C7FF36C8}"/>
              </a:ext>
            </a:extLst>
          </p:cNvPr>
          <p:cNvSpPr>
            <a:spLocks noGrp="1"/>
          </p:cNvSpPr>
          <p:nvPr/>
        </p:nvSpPr>
        <p:spPr>
          <a:xfrm>
            <a:off x="6896100" y="400050"/>
            <a:ext cx="57150" cy="57150"/>
          </a:xfrm>
          <a:prstGeom prst="ellipse">
            <a:avLst/>
          </a:prstGeom>
          <a:solidFill>
            <a:srgbClr val="E4E6E4"/>
          </a:solidFill>
          <a:ln w="0">
            <a:noFill/>
            <a:prstDash val="solid"/>
          </a:ln>
        </p:spPr>
        <p:txBody>
          <a:bodyPr/>
          <a:lstStyle/>
          <a:p>
            <a:endParaRPr lang="en-FR"/>
          </a:p>
        </p:txBody>
      </p:sp>
      <p:sp>
        <p:nvSpPr>
          <p:cNvPr id="4" name="Oval 3">
            <a:extLst>
              <a:ext uri="{FF2B5EF4-FFF2-40B4-BE49-F238E27FC236}">
                <a16:creationId xmlns:a16="http://schemas.microsoft.com/office/drawing/2014/main" id="{8D0B70C3-B9B6-4619-8F07-0E3DF2D52024}"/>
              </a:ext>
            </a:extLst>
          </p:cNvPr>
          <p:cNvSpPr>
            <a:spLocks noGrp="1"/>
          </p:cNvSpPr>
          <p:nvPr/>
        </p:nvSpPr>
        <p:spPr>
          <a:xfrm>
            <a:off x="8858250" y="838200"/>
            <a:ext cx="23813" cy="23813"/>
          </a:xfrm>
          <a:prstGeom prst="ellipse">
            <a:avLst/>
          </a:prstGeom>
          <a:solidFill>
            <a:srgbClr val="E4E6E4"/>
          </a:solidFill>
          <a:ln w="0">
            <a:noFill/>
            <a:prstDash val="solid"/>
          </a:ln>
        </p:spPr>
        <p:txBody>
          <a:bodyPr/>
          <a:lstStyle/>
          <a:p>
            <a:endParaRPr lang="en-FR"/>
          </a:p>
        </p:txBody>
      </p:sp>
      <p:sp>
        <p:nvSpPr>
          <p:cNvPr id="5" name="Oval 4">
            <a:extLst>
              <a:ext uri="{FF2B5EF4-FFF2-40B4-BE49-F238E27FC236}">
                <a16:creationId xmlns:a16="http://schemas.microsoft.com/office/drawing/2014/main" id="{B56F5A68-BB48-4329-8BA6-6DC95ABC282E}"/>
              </a:ext>
            </a:extLst>
          </p:cNvPr>
          <p:cNvSpPr>
            <a:spLocks noGrp="1"/>
          </p:cNvSpPr>
          <p:nvPr/>
        </p:nvSpPr>
        <p:spPr>
          <a:xfrm>
            <a:off x="10515600" y="723900"/>
            <a:ext cx="28575" cy="28575"/>
          </a:xfrm>
          <a:prstGeom prst="ellipse">
            <a:avLst/>
          </a:prstGeom>
          <a:solidFill>
            <a:srgbClr val="E4E6E4"/>
          </a:solidFill>
          <a:ln w="0">
            <a:noFill/>
            <a:prstDash val="solid"/>
          </a:ln>
        </p:spPr>
        <p:txBody>
          <a:bodyPr/>
          <a:lstStyle/>
          <a:p>
            <a:endParaRPr lang="en-FR"/>
          </a:p>
        </p:txBody>
      </p:sp>
      <p:sp>
        <p:nvSpPr>
          <p:cNvPr id="6" name="Oval 5">
            <a:extLst>
              <a:ext uri="{FF2B5EF4-FFF2-40B4-BE49-F238E27FC236}">
                <a16:creationId xmlns:a16="http://schemas.microsoft.com/office/drawing/2014/main" id="{2CE26BDD-0309-4DB1-B647-0632B928CFD6}"/>
              </a:ext>
            </a:extLst>
          </p:cNvPr>
          <p:cNvSpPr>
            <a:spLocks noGrp="1"/>
          </p:cNvSpPr>
          <p:nvPr/>
        </p:nvSpPr>
        <p:spPr>
          <a:xfrm>
            <a:off x="11163300" y="1181100"/>
            <a:ext cx="28575" cy="28575"/>
          </a:xfrm>
          <a:prstGeom prst="ellipse">
            <a:avLst/>
          </a:prstGeom>
          <a:solidFill>
            <a:srgbClr val="E4E6E4"/>
          </a:solidFill>
          <a:ln w="0">
            <a:noFill/>
            <a:prstDash val="solid"/>
          </a:ln>
        </p:spPr>
        <p:txBody>
          <a:bodyPr/>
          <a:lstStyle/>
          <a:p>
            <a:endParaRPr lang="en-FR"/>
          </a:p>
        </p:txBody>
      </p:sp>
      <p:sp>
        <p:nvSpPr>
          <p:cNvPr id="7" name="Oval 6">
            <a:extLst>
              <a:ext uri="{FF2B5EF4-FFF2-40B4-BE49-F238E27FC236}">
                <a16:creationId xmlns:a16="http://schemas.microsoft.com/office/drawing/2014/main" id="{FFCA6D0F-8947-4D62-B3AD-41C3B3BFEDAE}"/>
              </a:ext>
            </a:extLst>
          </p:cNvPr>
          <p:cNvSpPr>
            <a:spLocks noGrp="1"/>
          </p:cNvSpPr>
          <p:nvPr/>
        </p:nvSpPr>
        <p:spPr>
          <a:xfrm>
            <a:off x="4629150" y="2990850"/>
            <a:ext cx="28575" cy="28575"/>
          </a:xfrm>
          <a:prstGeom prst="ellipse">
            <a:avLst/>
          </a:prstGeom>
          <a:solidFill>
            <a:srgbClr val="E4E6E4"/>
          </a:solidFill>
          <a:ln w="0">
            <a:noFill/>
            <a:prstDash val="solid"/>
          </a:ln>
        </p:spPr>
        <p:txBody>
          <a:bodyPr/>
          <a:lstStyle/>
          <a:p>
            <a:endParaRPr lang="en-FR"/>
          </a:p>
        </p:txBody>
      </p:sp>
      <p:sp>
        <p:nvSpPr>
          <p:cNvPr id="8" name="Oval 7">
            <a:extLst>
              <a:ext uri="{FF2B5EF4-FFF2-40B4-BE49-F238E27FC236}">
                <a16:creationId xmlns:a16="http://schemas.microsoft.com/office/drawing/2014/main" id="{AFD9ACFD-1F7A-4CC5-9CDD-5C8C1E0FC7E8}"/>
              </a:ext>
            </a:extLst>
          </p:cNvPr>
          <p:cNvSpPr>
            <a:spLocks noGrp="1"/>
          </p:cNvSpPr>
          <p:nvPr/>
        </p:nvSpPr>
        <p:spPr>
          <a:xfrm>
            <a:off x="8496300" y="2943225"/>
            <a:ext cx="19050" cy="19050"/>
          </a:xfrm>
          <a:prstGeom prst="ellipse">
            <a:avLst/>
          </a:prstGeom>
          <a:solidFill>
            <a:srgbClr val="E4E6E4"/>
          </a:solidFill>
          <a:ln w="0">
            <a:noFill/>
            <a:prstDash val="solid"/>
          </a:ln>
        </p:spPr>
        <p:txBody>
          <a:bodyPr/>
          <a:lstStyle/>
          <a:p>
            <a:endParaRPr lang="en-FR"/>
          </a:p>
        </p:txBody>
      </p:sp>
      <p:sp>
        <p:nvSpPr>
          <p:cNvPr id="9" name="Oval 8">
            <a:extLst>
              <a:ext uri="{FF2B5EF4-FFF2-40B4-BE49-F238E27FC236}">
                <a16:creationId xmlns:a16="http://schemas.microsoft.com/office/drawing/2014/main" id="{64CD1E17-1765-4DEC-A05B-F4D788BB265C}"/>
              </a:ext>
            </a:extLst>
          </p:cNvPr>
          <p:cNvSpPr>
            <a:spLocks noGrp="1"/>
          </p:cNvSpPr>
          <p:nvPr/>
        </p:nvSpPr>
        <p:spPr>
          <a:xfrm>
            <a:off x="9677400" y="3790950"/>
            <a:ext cx="38100" cy="38100"/>
          </a:xfrm>
          <a:prstGeom prst="ellipse">
            <a:avLst/>
          </a:prstGeom>
          <a:solidFill>
            <a:srgbClr val="E4E6E4"/>
          </a:solidFill>
          <a:ln w="0">
            <a:noFill/>
            <a:prstDash val="solid"/>
          </a:ln>
        </p:spPr>
        <p:txBody>
          <a:bodyPr/>
          <a:lstStyle/>
          <a:p>
            <a:endParaRPr lang="en-FR"/>
          </a:p>
        </p:txBody>
      </p:sp>
      <p:sp>
        <p:nvSpPr>
          <p:cNvPr id="10" name="Oval 9">
            <a:extLst>
              <a:ext uri="{FF2B5EF4-FFF2-40B4-BE49-F238E27FC236}">
                <a16:creationId xmlns:a16="http://schemas.microsoft.com/office/drawing/2014/main" id="{4425D804-5184-4862-B323-B65A40BFD61D}"/>
              </a:ext>
            </a:extLst>
          </p:cNvPr>
          <p:cNvSpPr>
            <a:spLocks noGrp="1"/>
          </p:cNvSpPr>
          <p:nvPr/>
        </p:nvSpPr>
        <p:spPr>
          <a:xfrm>
            <a:off x="11468100" y="5857875"/>
            <a:ext cx="28575" cy="28575"/>
          </a:xfrm>
          <a:prstGeom prst="ellipse">
            <a:avLst/>
          </a:prstGeom>
          <a:solidFill>
            <a:srgbClr val="E4E6E4"/>
          </a:solidFill>
          <a:ln w="0">
            <a:noFill/>
            <a:prstDash val="solid"/>
          </a:ln>
        </p:spPr>
        <p:txBody>
          <a:bodyPr/>
          <a:lstStyle/>
          <a:p>
            <a:endParaRPr lang="en-FR"/>
          </a:p>
        </p:txBody>
      </p:sp>
      <p:sp>
        <p:nvSpPr>
          <p:cNvPr id="11" name="Oval 10">
            <a:extLst>
              <a:ext uri="{FF2B5EF4-FFF2-40B4-BE49-F238E27FC236}">
                <a16:creationId xmlns:a16="http://schemas.microsoft.com/office/drawing/2014/main" id="{537CDA20-3CDF-4FCD-8170-F70347EDF569}"/>
              </a:ext>
            </a:extLst>
          </p:cNvPr>
          <p:cNvSpPr>
            <a:spLocks noGrp="1"/>
          </p:cNvSpPr>
          <p:nvPr/>
        </p:nvSpPr>
        <p:spPr>
          <a:xfrm>
            <a:off x="514350" y="2895600"/>
            <a:ext cx="38100" cy="38100"/>
          </a:xfrm>
          <a:prstGeom prst="ellipse">
            <a:avLst/>
          </a:prstGeom>
          <a:solidFill>
            <a:srgbClr val="E4E6E4"/>
          </a:solidFill>
          <a:ln w="0">
            <a:noFill/>
            <a:prstDash val="solid"/>
          </a:ln>
        </p:spPr>
        <p:txBody>
          <a:bodyPr/>
          <a:lstStyle/>
          <a:p>
            <a:endParaRPr lang="en-FR"/>
          </a:p>
        </p:txBody>
      </p:sp>
      <p:sp>
        <p:nvSpPr>
          <p:cNvPr id="12" name="Oval 11">
            <a:extLst>
              <a:ext uri="{FF2B5EF4-FFF2-40B4-BE49-F238E27FC236}">
                <a16:creationId xmlns:a16="http://schemas.microsoft.com/office/drawing/2014/main" id="{FD576319-28A9-4191-9C20-15DA4ADEDD1B}"/>
              </a:ext>
            </a:extLst>
          </p:cNvPr>
          <p:cNvSpPr>
            <a:spLocks noGrp="1"/>
          </p:cNvSpPr>
          <p:nvPr/>
        </p:nvSpPr>
        <p:spPr>
          <a:xfrm>
            <a:off x="304800" y="3409950"/>
            <a:ext cx="28575" cy="28575"/>
          </a:xfrm>
          <a:prstGeom prst="ellipse">
            <a:avLst/>
          </a:prstGeom>
          <a:solidFill>
            <a:srgbClr val="E4E6E4"/>
          </a:solidFill>
          <a:ln w="0">
            <a:noFill/>
            <a:prstDash val="solid"/>
          </a:ln>
        </p:spPr>
        <p:txBody>
          <a:bodyPr/>
          <a:lstStyle/>
          <a:p>
            <a:endParaRPr lang="en-FR"/>
          </a:p>
        </p:txBody>
      </p:sp>
      <p:sp>
        <p:nvSpPr>
          <p:cNvPr id="13" name="Oval 12">
            <a:extLst>
              <a:ext uri="{FF2B5EF4-FFF2-40B4-BE49-F238E27FC236}">
                <a16:creationId xmlns:a16="http://schemas.microsoft.com/office/drawing/2014/main" id="{1D372F61-8763-45C1-8436-3083F446D624}"/>
              </a:ext>
            </a:extLst>
          </p:cNvPr>
          <p:cNvSpPr>
            <a:spLocks noGrp="1"/>
          </p:cNvSpPr>
          <p:nvPr/>
        </p:nvSpPr>
        <p:spPr>
          <a:xfrm>
            <a:off x="0" y="3124200"/>
            <a:ext cx="1524000" cy="2381250"/>
          </a:xfrm>
          <a:prstGeom prst="ellipse">
            <a:avLst/>
          </a:prstGeom>
          <a:solidFill>
            <a:srgbClr val="F5F7F5"/>
          </a:solidFill>
          <a:ln w="0">
            <a:noFill/>
            <a:prstDash val="solid"/>
          </a:ln>
        </p:spPr>
        <p:txBody>
          <a:bodyPr/>
          <a:lstStyle/>
          <a:p>
            <a:endParaRPr lang="en-FR"/>
          </a:p>
        </p:txBody>
      </p:sp>
      <p:pic>
        <p:nvPicPr>
          <p:cNvPr id="136" name="Picture 135"/>
          <p:cNvPicPr>
            <a:picLocks noChangeAspect="1"/>
          </p:cNvPicPr>
          <p:nvPr/>
        </p:nvPicPr>
        <p:blipFill>
          <a:blip r:embed="rId3"/>
          <a:stretch/>
        </p:blipFill>
        <p:spPr>
          <a:xfrm>
            <a:off x="9391650" y="296466"/>
            <a:ext cx="2571750" cy="321469"/>
          </a:xfrm>
          <a:prstGeom prst="rect">
            <a:avLst/>
          </a:prstGeom>
        </p:spPr>
      </p:pic>
      <p:sp>
        <p:nvSpPr>
          <p:cNvPr id="15" name="Rectangle 14">
            <a:extLst>
              <a:ext uri="{FF2B5EF4-FFF2-40B4-BE49-F238E27FC236}">
                <a16:creationId xmlns:a16="http://schemas.microsoft.com/office/drawing/2014/main" id="{0CAD96AD-3E9C-4D8B-ABAC-5E5A38C9DFA6}"/>
              </a:ext>
            </a:extLst>
          </p:cNvPr>
          <p:cNvSpPr>
            <a:spLocks noGrp="1"/>
          </p:cNvSpPr>
          <p:nvPr/>
        </p:nvSpPr>
        <p:spPr>
          <a:xfrm>
            <a:off x="400050" y="257175"/>
            <a:ext cx="6858000" cy="495300"/>
          </a:xfrm>
          <a:prstGeom prst="rect">
            <a:avLst/>
          </a:prstGeom>
          <a:noFill/>
          <a:ln w="0">
            <a:noFill/>
            <a:prstDash val="solid"/>
          </a:ln>
        </p:spPr>
        <p:txBody>
          <a:bodyPr wrap="none" lIns="0" tIns="0" rIns="0" bIns="0" anchor="t"/>
          <a:lstStyle/>
          <a:p>
            <a:pPr algn="l">
              <a:lnSpc>
                <a:spcPct val="100000"/>
              </a:lnSpc>
              <a:buNone/>
              <a:defRPr sz="3075" b="1" i="0">
                <a:solidFill>
                  <a:srgbClr val="111111"/>
                </a:solidFill>
                <a:latin typeface="Arial"/>
                <a:ea typeface="Arial"/>
                <a:cs typeface="Arial"/>
              </a:defRPr>
            </a:pPr>
            <a:r>
              <a:rPr sz="3075" b="1" i="0">
                <a:solidFill>
                  <a:srgbClr val="111111"/>
                </a:solidFill>
                <a:latin typeface="Arial"/>
                <a:ea typeface="Arial"/>
                <a:cs typeface="Arial"/>
              </a:rPr>
              <a:t>VMware to OCI Compute Migration</a:t>
            </a:r>
          </a:p>
        </p:txBody>
      </p:sp>
      <p:sp>
        <p:nvSpPr>
          <p:cNvPr id="16" name="Rectangle 15">
            <a:extLst>
              <a:ext uri="{FF2B5EF4-FFF2-40B4-BE49-F238E27FC236}">
                <a16:creationId xmlns:a16="http://schemas.microsoft.com/office/drawing/2014/main" id="{051BA438-4FF2-4BAE-B875-E64FACABCB53}"/>
              </a:ext>
            </a:extLst>
          </p:cNvPr>
          <p:cNvSpPr>
            <a:spLocks noGrp="1"/>
          </p:cNvSpPr>
          <p:nvPr/>
        </p:nvSpPr>
        <p:spPr>
          <a:xfrm>
            <a:off x="409575" y="828675"/>
            <a:ext cx="323850" cy="38100"/>
          </a:xfrm>
          <a:prstGeom prst="rect">
            <a:avLst/>
          </a:prstGeom>
          <a:solidFill>
            <a:srgbClr val="E30613"/>
          </a:solidFill>
          <a:ln w="0">
            <a:noFill/>
            <a:prstDash val="solid"/>
          </a:ln>
        </p:spPr>
        <p:txBody>
          <a:bodyPr/>
          <a:lstStyle/>
          <a:p>
            <a:endParaRPr lang="en-FR"/>
          </a:p>
        </p:txBody>
      </p:sp>
      <p:sp>
        <p:nvSpPr>
          <p:cNvPr id="17" name="Rectangle 16">
            <a:extLst>
              <a:ext uri="{FF2B5EF4-FFF2-40B4-BE49-F238E27FC236}">
                <a16:creationId xmlns:a16="http://schemas.microsoft.com/office/drawing/2014/main" id="{3D82B44D-2490-4809-9295-089583953D65}"/>
              </a:ext>
            </a:extLst>
          </p:cNvPr>
          <p:cNvSpPr>
            <a:spLocks noGrp="1"/>
          </p:cNvSpPr>
          <p:nvPr/>
        </p:nvSpPr>
        <p:spPr>
          <a:xfrm>
            <a:off x="400050" y="1028700"/>
            <a:ext cx="7239000" cy="266700"/>
          </a:xfrm>
          <a:prstGeom prst="rect">
            <a:avLst/>
          </a:prstGeom>
          <a:noFill/>
          <a:ln w="0">
            <a:noFill/>
            <a:prstDash val="solid"/>
          </a:ln>
        </p:spPr>
        <p:txBody>
          <a:bodyPr wrap="none" lIns="0" tIns="0" rIns="0" bIns="0" anchor="t"/>
          <a:lstStyle/>
          <a:p>
            <a:pPr algn="l">
              <a:lnSpc>
                <a:spcPct val="100000"/>
              </a:lnSpc>
              <a:buNone/>
              <a:defRPr sz="1350" b="1" i="0">
                <a:solidFill>
                  <a:srgbClr val="5F6368"/>
                </a:solidFill>
                <a:latin typeface="Arial"/>
                <a:ea typeface="Arial"/>
                <a:cs typeface="Arial"/>
              </a:defRPr>
            </a:pPr>
            <a:r>
              <a:rPr sz="1350" b="1" i="0">
                <a:solidFill>
                  <a:srgbClr val="5F6368"/>
                </a:solidFill>
                <a:latin typeface="Arial"/>
                <a:ea typeface="Arial"/>
                <a:cs typeface="Arial"/>
              </a:rPr>
              <a:t>Migrate and modernize VMware workloads on Oracle Cloud Infrastructure (OCI).</a:t>
            </a:r>
          </a:p>
        </p:txBody>
      </p:sp>
      <p:sp>
        <p:nvSpPr>
          <p:cNvPr id="18" name="Rounded Rectangle 17">
            <a:extLst>
              <a:ext uri="{FF2B5EF4-FFF2-40B4-BE49-F238E27FC236}">
                <a16:creationId xmlns:a16="http://schemas.microsoft.com/office/drawing/2014/main" id="{3609856C-5644-4F04-8E78-E3688F112FEB}"/>
              </a:ext>
            </a:extLst>
          </p:cNvPr>
          <p:cNvSpPr>
            <a:spLocks noGrp="1"/>
          </p:cNvSpPr>
          <p:nvPr/>
        </p:nvSpPr>
        <p:spPr>
          <a:xfrm>
            <a:off x="400050" y="1409700"/>
            <a:ext cx="9353550" cy="857250"/>
          </a:xfrm>
          <a:prstGeom prst="roundRect">
            <a:avLst>
              <a:gd name="adj" fmla="val 8889"/>
            </a:avLst>
          </a:prstGeom>
          <a:solidFill>
            <a:srgbClr val="FFFFFF"/>
          </a:solidFill>
          <a:ln w="9525">
            <a:solidFill>
              <a:srgbClr val="CCD4D0"/>
            </a:solidFill>
            <a:prstDash val="solid"/>
          </a:ln>
        </p:spPr>
        <p:style>
          <a:lnRef idx="0">
            <a:scrgbClr r="0" g="0" b="0"/>
          </a:lnRef>
          <a:fillRef idx="0">
            <a:scrgbClr r="0" g="0" b="0"/>
          </a:fillRef>
          <a:effectRef idx="4">
            <a:scrgbClr r="0" g="0" b="0"/>
          </a:effectRef>
          <a:fontRef idx="major"/>
        </p:style>
        <p:txBody>
          <a:bodyPr/>
          <a:lstStyle/>
          <a:p>
            <a:endParaRPr lang="en-FR"/>
          </a:p>
        </p:txBody>
      </p:sp>
      <p:pic>
        <p:nvPicPr>
          <p:cNvPr id="141" name="Picture 140"/>
          <p:cNvPicPr>
            <a:picLocks noChangeAspect="1"/>
          </p:cNvPicPr>
          <p:nvPr/>
        </p:nvPicPr>
        <p:blipFill>
          <a:blip r:embed="rId4"/>
          <a:stretch/>
        </p:blipFill>
        <p:spPr>
          <a:xfrm>
            <a:off x="561975" y="1581150"/>
            <a:ext cx="523875" cy="523875"/>
          </a:xfrm>
          <a:prstGeom prst="rect">
            <a:avLst/>
          </a:prstGeom>
        </p:spPr>
      </p:pic>
      <p:sp>
        <p:nvSpPr>
          <p:cNvPr id="20" name="Rectangle 19">
            <a:extLst>
              <a:ext uri="{FF2B5EF4-FFF2-40B4-BE49-F238E27FC236}">
                <a16:creationId xmlns:a16="http://schemas.microsoft.com/office/drawing/2014/main" id="{B98429F0-7AD4-4349-9737-C67012B1D5E0}"/>
              </a:ext>
            </a:extLst>
          </p:cNvPr>
          <p:cNvSpPr>
            <a:spLocks noGrp="1"/>
          </p:cNvSpPr>
          <p:nvPr/>
        </p:nvSpPr>
        <p:spPr>
          <a:xfrm>
            <a:off x="1228725" y="1685925"/>
            <a:ext cx="1428750" cy="342900"/>
          </a:xfrm>
          <a:prstGeom prst="rect">
            <a:avLst/>
          </a:prstGeom>
          <a:noFill/>
          <a:ln w="0">
            <a:noFill/>
            <a:prstDash val="solid"/>
          </a:ln>
        </p:spPr>
        <p:txBody>
          <a:bodyPr wrap="square" lIns="0" tIns="0" rIns="0" bIns="0" anchor="t"/>
          <a:lstStyle/>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Reduce VMware</a:t>
            </a:r>
          </a:p>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licensing costs</a:t>
            </a:r>
          </a:p>
        </p:txBody>
      </p:sp>
      <p:sp>
        <p:nvSpPr>
          <p:cNvPr id="21" name="Straight Connector 20">
            <a:extLst>
              <a:ext uri="{FF2B5EF4-FFF2-40B4-BE49-F238E27FC236}">
                <a16:creationId xmlns:a16="http://schemas.microsoft.com/office/drawing/2014/main" id="{CA47C666-626E-4039-B9AA-DB7D67C5D21D}"/>
              </a:ext>
            </a:extLst>
          </p:cNvPr>
          <p:cNvSpPr>
            <a:spLocks noGrp="1"/>
          </p:cNvSpPr>
          <p:nvPr/>
        </p:nvSpPr>
        <p:spPr>
          <a:xfrm>
            <a:off x="2571750" y="1619250"/>
            <a:ext cx="0" cy="457200"/>
          </a:xfrm>
          <a:prstGeom prst="line">
            <a:avLst/>
          </a:prstGeom>
          <a:noFill/>
          <a:ln w="9525">
            <a:solidFill>
              <a:srgbClr val="D7DDDA"/>
            </a:solidFill>
            <a:prstDash val="solid"/>
          </a:ln>
        </p:spPr>
        <p:txBody>
          <a:bodyPr/>
          <a:lstStyle/>
          <a:p>
            <a:endParaRPr lang="en-FR"/>
          </a:p>
        </p:txBody>
      </p:sp>
      <p:pic>
        <p:nvPicPr>
          <p:cNvPr id="144" name="Picture 143"/>
          <p:cNvPicPr>
            <a:picLocks noChangeAspect="1"/>
          </p:cNvPicPr>
          <p:nvPr/>
        </p:nvPicPr>
        <p:blipFill>
          <a:blip r:embed="rId5"/>
          <a:stretch/>
        </p:blipFill>
        <p:spPr>
          <a:xfrm>
            <a:off x="2819400" y="1581150"/>
            <a:ext cx="523875" cy="523875"/>
          </a:xfrm>
          <a:prstGeom prst="rect">
            <a:avLst/>
          </a:prstGeom>
        </p:spPr>
      </p:pic>
      <p:sp>
        <p:nvSpPr>
          <p:cNvPr id="23" name="Rectangle 22">
            <a:extLst>
              <a:ext uri="{FF2B5EF4-FFF2-40B4-BE49-F238E27FC236}">
                <a16:creationId xmlns:a16="http://schemas.microsoft.com/office/drawing/2014/main" id="{D92CE694-70D8-4B55-B0D8-06B040178AF0}"/>
              </a:ext>
            </a:extLst>
          </p:cNvPr>
          <p:cNvSpPr>
            <a:spLocks noGrp="1"/>
          </p:cNvSpPr>
          <p:nvPr/>
        </p:nvSpPr>
        <p:spPr>
          <a:xfrm>
            <a:off x="3486150" y="1685925"/>
            <a:ext cx="1428750" cy="342900"/>
          </a:xfrm>
          <a:prstGeom prst="rect">
            <a:avLst/>
          </a:prstGeom>
          <a:noFill/>
          <a:ln w="0">
            <a:noFill/>
            <a:prstDash val="solid"/>
          </a:ln>
        </p:spPr>
        <p:txBody>
          <a:bodyPr wrap="square" lIns="0" tIns="0" rIns="0" bIns="0" anchor="t"/>
          <a:lstStyle/>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Improve performance</a:t>
            </a:r>
          </a:p>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and scalability</a:t>
            </a:r>
          </a:p>
        </p:txBody>
      </p:sp>
      <p:sp>
        <p:nvSpPr>
          <p:cNvPr id="24" name="Straight Connector 23">
            <a:extLst>
              <a:ext uri="{FF2B5EF4-FFF2-40B4-BE49-F238E27FC236}">
                <a16:creationId xmlns:a16="http://schemas.microsoft.com/office/drawing/2014/main" id="{0106E242-8CA1-4F41-AD65-611D2FD7A61B}"/>
              </a:ext>
            </a:extLst>
          </p:cNvPr>
          <p:cNvSpPr>
            <a:spLocks noGrp="1"/>
          </p:cNvSpPr>
          <p:nvPr/>
        </p:nvSpPr>
        <p:spPr>
          <a:xfrm>
            <a:off x="5029200" y="1619250"/>
            <a:ext cx="0" cy="457200"/>
          </a:xfrm>
          <a:prstGeom prst="line">
            <a:avLst/>
          </a:prstGeom>
          <a:noFill/>
          <a:ln w="9525">
            <a:solidFill>
              <a:srgbClr val="D7DDDA"/>
            </a:solidFill>
            <a:prstDash val="solid"/>
          </a:ln>
        </p:spPr>
        <p:txBody>
          <a:bodyPr/>
          <a:lstStyle/>
          <a:p>
            <a:endParaRPr lang="en-FR"/>
          </a:p>
        </p:txBody>
      </p:sp>
      <p:pic>
        <p:nvPicPr>
          <p:cNvPr id="147" name="Picture 146"/>
          <p:cNvPicPr>
            <a:picLocks noChangeAspect="1"/>
          </p:cNvPicPr>
          <p:nvPr/>
        </p:nvPicPr>
        <p:blipFill>
          <a:blip r:embed="rId6"/>
          <a:stretch/>
        </p:blipFill>
        <p:spPr>
          <a:xfrm>
            <a:off x="5276850" y="1581150"/>
            <a:ext cx="523875" cy="523875"/>
          </a:xfrm>
          <a:prstGeom prst="rect">
            <a:avLst/>
          </a:prstGeom>
        </p:spPr>
      </p:pic>
      <p:sp>
        <p:nvSpPr>
          <p:cNvPr id="26" name="Rectangle 25">
            <a:extLst>
              <a:ext uri="{FF2B5EF4-FFF2-40B4-BE49-F238E27FC236}">
                <a16:creationId xmlns:a16="http://schemas.microsoft.com/office/drawing/2014/main" id="{BB755757-904B-45C4-A439-6C157913D4C7}"/>
              </a:ext>
            </a:extLst>
          </p:cNvPr>
          <p:cNvSpPr>
            <a:spLocks noGrp="1"/>
          </p:cNvSpPr>
          <p:nvPr/>
        </p:nvSpPr>
        <p:spPr>
          <a:xfrm>
            <a:off x="5943600" y="1685925"/>
            <a:ext cx="1428750" cy="342900"/>
          </a:xfrm>
          <a:prstGeom prst="rect">
            <a:avLst/>
          </a:prstGeom>
          <a:noFill/>
          <a:ln w="0">
            <a:noFill/>
            <a:prstDash val="solid"/>
          </a:ln>
        </p:spPr>
        <p:txBody>
          <a:bodyPr wrap="square" lIns="0" tIns="0" rIns="0" bIns="0" anchor="t"/>
          <a:lstStyle/>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Leverage OCI native</a:t>
            </a:r>
          </a:p>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services and automation</a:t>
            </a:r>
          </a:p>
        </p:txBody>
      </p:sp>
      <p:sp>
        <p:nvSpPr>
          <p:cNvPr id="27" name="Straight Connector 26">
            <a:extLst>
              <a:ext uri="{FF2B5EF4-FFF2-40B4-BE49-F238E27FC236}">
                <a16:creationId xmlns:a16="http://schemas.microsoft.com/office/drawing/2014/main" id="{AD47C822-5C97-4B42-901F-7E7C4226E48A}"/>
              </a:ext>
            </a:extLst>
          </p:cNvPr>
          <p:cNvSpPr>
            <a:spLocks noGrp="1"/>
          </p:cNvSpPr>
          <p:nvPr/>
        </p:nvSpPr>
        <p:spPr>
          <a:xfrm>
            <a:off x="7572375" y="1619250"/>
            <a:ext cx="0" cy="457200"/>
          </a:xfrm>
          <a:prstGeom prst="line">
            <a:avLst/>
          </a:prstGeom>
          <a:noFill/>
          <a:ln w="9525">
            <a:solidFill>
              <a:srgbClr val="D7DDDA"/>
            </a:solidFill>
            <a:prstDash val="solid"/>
          </a:ln>
        </p:spPr>
        <p:txBody>
          <a:bodyPr/>
          <a:lstStyle/>
          <a:p>
            <a:endParaRPr lang="en-FR"/>
          </a:p>
        </p:txBody>
      </p:sp>
      <p:pic>
        <p:nvPicPr>
          <p:cNvPr id="150" name="Picture 149"/>
          <p:cNvPicPr>
            <a:picLocks noChangeAspect="1"/>
          </p:cNvPicPr>
          <p:nvPr/>
        </p:nvPicPr>
        <p:blipFill>
          <a:blip r:embed="rId7"/>
          <a:stretch/>
        </p:blipFill>
        <p:spPr>
          <a:xfrm>
            <a:off x="7800975" y="1581150"/>
            <a:ext cx="523875" cy="523875"/>
          </a:xfrm>
          <a:prstGeom prst="rect">
            <a:avLst/>
          </a:prstGeom>
        </p:spPr>
      </p:pic>
      <p:sp>
        <p:nvSpPr>
          <p:cNvPr id="29" name="Rectangle 28">
            <a:extLst>
              <a:ext uri="{FF2B5EF4-FFF2-40B4-BE49-F238E27FC236}">
                <a16:creationId xmlns:a16="http://schemas.microsoft.com/office/drawing/2014/main" id="{8529FB3B-6F49-4247-B21C-0984C40E3842}"/>
              </a:ext>
            </a:extLst>
          </p:cNvPr>
          <p:cNvSpPr>
            <a:spLocks noGrp="1"/>
          </p:cNvSpPr>
          <p:nvPr/>
        </p:nvSpPr>
        <p:spPr>
          <a:xfrm>
            <a:off x="8467725" y="1685925"/>
            <a:ext cx="1428750" cy="342900"/>
          </a:xfrm>
          <a:prstGeom prst="rect">
            <a:avLst/>
          </a:prstGeom>
          <a:noFill/>
          <a:ln w="0">
            <a:noFill/>
            <a:prstDash val="solid"/>
          </a:ln>
        </p:spPr>
        <p:txBody>
          <a:bodyPr wrap="square" lIns="0" tIns="0" rIns="0" bIns="0" anchor="t"/>
          <a:lstStyle/>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Increase agility and</a:t>
            </a:r>
          </a:p>
          <a:p>
            <a:pPr algn="l">
              <a:lnSpc>
                <a:spcPct val="115000"/>
              </a:lnSpc>
              <a:buNone/>
              <a:defRPr sz="1013" b="1" i="0">
                <a:solidFill>
                  <a:srgbClr val="111111"/>
                </a:solidFill>
                <a:latin typeface="Arial"/>
                <a:ea typeface="Arial"/>
                <a:cs typeface="Arial"/>
              </a:defRPr>
            </a:pPr>
            <a:r>
              <a:rPr sz="1013" b="1" i="0">
                <a:solidFill>
                  <a:srgbClr val="111111"/>
                </a:solidFill>
                <a:latin typeface="Arial"/>
                <a:ea typeface="Arial"/>
                <a:cs typeface="Arial"/>
              </a:rPr>
              <a:t>business innovation</a:t>
            </a:r>
          </a:p>
        </p:txBody>
      </p:sp>
      <p:sp>
        <p:nvSpPr>
          <p:cNvPr id="30" name="Rounded Rectangle 29">
            <a:extLst>
              <a:ext uri="{FF2B5EF4-FFF2-40B4-BE49-F238E27FC236}">
                <a16:creationId xmlns:a16="http://schemas.microsoft.com/office/drawing/2014/main" id="{040D8ACE-6018-4569-A21D-EDAE51380C57}"/>
              </a:ext>
            </a:extLst>
          </p:cNvPr>
          <p:cNvSpPr>
            <a:spLocks noGrp="1"/>
          </p:cNvSpPr>
          <p:nvPr/>
        </p:nvSpPr>
        <p:spPr>
          <a:xfrm>
            <a:off x="400050" y="2409825"/>
            <a:ext cx="2886075" cy="3524250"/>
          </a:xfrm>
          <a:prstGeom prst="roundRect">
            <a:avLst>
              <a:gd name="adj" fmla="val 2640"/>
            </a:avLst>
          </a:prstGeom>
          <a:solidFill>
            <a:srgbClr val="FFFFFF"/>
          </a:solidFill>
          <a:ln w="9525">
            <a:solidFill>
              <a:srgbClr val="00452C"/>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31" name="Rounded Rectangle 30">
            <a:extLst>
              <a:ext uri="{FF2B5EF4-FFF2-40B4-BE49-F238E27FC236}">
                <a16:creationId xmlns:a16="http://schemas.microsoft.com/office/drawing/2014/main" id="{79220464-5728-4977-B951-047E46D68890}"/>
              </a:ext>
            </a:extLst>
          </p:cNvPr>
          <p:cNvSpPr>
            <a:spLocks noGrp="1"/>
          </p:cNvSpPr>
          <p:nvPr/>
        </p:nvSpPr>
        <p:spPr>
          <a:xfrm>
            <a:off x="400050" y="2409825"/>
            <a:ext cx="2886075" cy="304800"/>
          </a:xfrm>
          <a:prstGeom prst="roundRect">
            <a:avLst>
              <a:gd name="adj" fmla="val 25000"/>
            </a:avLst>
          </a:prstGeom>
          <a:gradFill>
            <a:gsLst>
              <a:gs pos="0">
                <a:srgbClr val="00351F"/>
              </a:gs>
              <a:gs pos="100000">
                <a:srgbClr val="075A35"/>
              </a:gs>
            </a:gsLst>
            <a:lin ang="0"/>
          </a:gradFill>
          <a:ln w="0">
            <a:noFill/>
            <a:prstDash val="solid"/>
          </a:ln>
        </p:spPr>
        <p:txBody>
          <a:bodyPr/>
          <a:lstStyle/>
          <a:p>
            <a:endParaRPr lang="en-FR"/>
          </a:p>
        </p:txBody>
      </p:sp>
      <p:sp>
        <p:nvSpPr>
          <p:cNvPr id="32" name="Rectangle 31">
            <a:extLst>
              <a:ext uri="{FF2B5EF4-FFF2-40B4-BE49-F238E27FC236}">
                <a16:creationId xmlns:a16="http://schemas.microsoft.com/office/drawing/2014/main" id="{C290988E-A418-4BC8-8905-6E87E5F2AD64}"/>
              </a:ext>
            </a:extLst>
          </p:cNvPr>
          <p:cNvSpPr>
            <a:spLocks noGrp="1"/>
          </p:cNvSpPr>
          <p:nvPr/>
        </p:nvSpPr>
        <p:spPr>
          <a:xfrm>
            <a:off x="400050" y="2657475"/>
            <a:ext cx="2886075" cy="66675"/>
          </a:xfrm>
          <a:prstGeom prst="rect">
            <a:avLst/>
          </a:prstGeom>
          <a:gradFill>
            <a:gsLst>
              <a:gs pos="0">
                <a:srgbClr val="00351F"/>
              </a:gs>
              <a:gs pos="100000">
                <a:srgbClr val="075A35"/>
              </a:gs>
            </a:gsLst>
            <a:lin ang="0"/>
          </a:gradFill>
          <a:ln w="0">
            <a:noFill/>
            <a:prstDash val="solid"/>
          </a:ln>
        </p:spPr>
        <p:txBody>
          <a:bodyPr/>
          <a:lstStyle/>
          <a:p>
            <a:endParaRPr lang="en-FR"/>
          </a:p>
        </p:txBody>
      </p:sp>
      <p:sp>
        <p:nvSpPr>
          <p:cNvPr id="33" name="Rectangle 32">
            <a:extLst>
              <a:ext uri="{FF2B5EF4-FFF2-40B4-BE49-F238E27FC236}">
                <a16:creationId xmlns:a16="http://schemas.microsoft.com/office/drawing/2014/main" id="{236CE7A0-CC03-4D6B-8C8E-6FE68128614F}"/>
              </a:ext>
            </a:extLst>
          </p:cNvPr>
          <p:cNvSpPr>
            <a:spLocks noGrp="1"/>
          </p:cNvSpPr>
          <p:nvPr/>
        </p:nvSpPr>
        <p:spPr>
          <a:xfrm>
            <a:off x="781050" y="2524125"/>
            <a:ext cx="2238375" cy="171450"/>
          </a:xfrm>
          <a:prstGeom prst="rect">
            <a:avLst/>
          </a:prstGeom>
          <a:noFill/>
          <a:ln w="0">
            <a:noFill/>
            <a:prstDash val="solid"/>
          </a:ln>
        </p:spPr>
        <p:txBody>
          <a:bodyPr wrap="none" lIns="0" tIns="0" rIns="0" bIns="0" anchor="t"/>
          <a:lstStyle/>
          <a:p>
            <a:pPr algn="ctr">
              <a:lnSpc>
                <a:spcPct val="100000"/>
              </a:lnSpc>
              <a:buNone/>
              <a:defRPr sz="938" b="1" i="0">
                <a:solidFill>
                  <a:srgbClr val="FFFFFF"/>
                </a:solidFill>
                <a:latin typeface="Arial"/>
                <a:ea typeface="Arial"/>
                <a:cs typeface="Arial"/>
              </a:defRPr>
            </a:pPr>
            <a:r>
              <a:rPr sz="938" b="1" i="0">
                <a:solidFill>
                  <a:srgbClr val="FFFFFF"/>
                </a:solidFill>
                <a:latin typeface="Arial"/>
                <a:ea typeface="Arial"/>
                <a:cs typeface="Arial"/>
              </a:rPr>
              <a:t>ON-PREMISES VMWARE ENVIRONMENT</a:t>
            </a:r>
          </a:p>
        </p:txBody>
      </p:sp>
      <p:pic>
        <p:nvPicPr>
          <p:cNvPr id="156" name="Picture 155"/>
          <p:cNvPicPr>
            <a:picLocks noChangeAspect="1"/>
          </p:cNvPicPr>
          <p:nvPr/>
        </p:nvPicPr>
        <p:blipFill>
          <a:blip r:embed="rId8"/>
          <a:stretch/>
        </p:blipFill>
        <p:spPr>
          <a:xfrm>
            <a:off x="578379" y="2971800"/>
            <a:ext cx="357717" cy="495300"/>
          </a:xfrm>
          <a:prstGeom prst="rect">
            <a:avLst/>
          </a:prstGeom>
        </p:spPr>
      </p:pic>
      <p:sp>
        <p:nvSpPr>
          <p:cNvPr id="35" name="Rounded Rectangle 34">
            <a:extLst>
              <a:ext uri="{FF2B5EF4-FFF2-40B4-BE49-F238E27FC236}">
                <a16:creationId xmlns:a16="http://schemas.microsoft.com/office/drawing/2014/main" id="{823E5509-0BBD-46EF-A5F9-FA1383CDF9E3}"/>
              </a:ext>
            </a:extLst>
          </p:cNvPr>
          <p:cNvSpPr>
            <a:spLocks noGrp="1"/>
          </p:cNvSpPr>
          <p:nvPr/>
        </p:nvSpPr>
        <p:spPr>
          <a:xfrm>
            <a:off x="1019175" y="3048000"/>
            <a:ext cx="285750" cy="295275"/>
          </a:xfrm>
          <a:prstGeom prst="roundRect">
            <a:avLst>
              <a:gd name="adj" fmla="val 13333"/>
            </a:avLst>
          </a:prstGeom>
          <a:solidFill>
            <a:srgbClr val="FAFAFA"/>
          </a:solidFill>
          <a:ln w="9525">
            <a:solidFill>
              <a:srgbClr val="BFC7C2"/>
            </a:solidFill>
            <a:prstDash val="solid"/>
          </a:ln>
        </p:spPr>
        <p:txBody>
          <a:bodyPr/>
          <a:lstStyle/>
          <a:p>
            <a:endParaRPr lang="en-FR"/>
          </a:p>
        </p:txBody>
      </p:sp>
      <p:sp>
        <p:nvSpPr>
          <p:cNvPr id="36" name="Rectangle 35">
            <a:extLst>
              <a:ext uri="{FF2B5EF4-FFF2-40B4-BE49-F238E27FC236}">
                <a16:creationId xmlns:a16="http://schemas.microsoft.com/office/drawing/2014/main" id="{D67A9F66-F483-4C16-A77E-0C571FAA1D4B}"/>
              </a:ext>
            </a:extLst>
          </p:cNvPr>
          <p:cNvSpPr>
            <a:spLocks noGrp="1"/>
          </p:cNvSpPr>
          <p:nvPr/>
        </p:nvSpPr>
        <p:spPr>
          <a:xfrm>
            <a:off x="1066800" y="3114675"/>
            <a:ext cx="190500" cy="13335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7" name="Rounded Rectangle 36">
            <a:extLst>
              <a:ext uri="{FF2B5EF4-FFF2-40B4-BE49-F238E27FC236}">
                <a16:creationId xmlns:a16="http://schemas.microsoft.com/office/drawing/2014/main" id="{20E6E788-6167-427C-AE8E-6B5608670978}"/>
              </a:ext>
            </a:extLst>
          </p:cNvPr>
          <p:cNvSpPr>
            <a:spLocks noGrp="1"/>
          </p:cNvSpPr>
          <p:nvPr/>
        </p:nvSpPr>
        <p:spPr>
          <a:xfrm>
            <a:off x="1409700" y="3048000"/>
            <a:ext cx="285750" cy="295275"/>
          </a:xfrm>
          <a:prstGeom prst="roundRect">
            <a:avLst>
              <a:gd name="adj" fmla="val 13333"/>
            </a:avLst>
          </a:prstGeom>
          <a:solidFill>
            <a:srgbClr val="FAFAFA"/>
          </a:solidFill>
          <a:ln w="9525">
            <a:solidFill>
              <a:srgbClr val="BFC7C2"/>
            </a:solidFill>
            <a:prstDash val="solid"/>
          </a:ln>
        </p:spPr>
        <p:txBody>
          <a:bodyPr/>
          <a:lstStyle/>
          <a:p>
            <a:endParaRPr lang="en-FR"/>
          </a:p>
        </p:txBody>
      </p:sp>
      <p:sp>
        <p:nvSpPr>
          <p:cNvPr id="38" name="Rectangle 37">
            <a:extLst>
              <a:ext uri="{FF2B5EF4-FFF2-40B4-BE49-F238E27FC236}">
                <a16:creationId xmlns:a16="http://schemas.microsoft.com/office/drawing/2014/main" id="{6852BE1D-27F2-4EA5-85A9-7588D671D097}"/>
              </a:ext>
            </a:extLst>
          </p:cNvPr>
          <p:cNvSpPr>
            <a:spLocks noGrp="1"/>
          </p:cNvSpPr>
          <p:nvPr/>
        </p:nvSpPr>
        <p:spPr>
          <a:xfrm>
            <a:off x="1457325" y="3114675"/>
            <a:ext cx="190500" cy="13335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9" name="Rounded Rectangle 38">
            <a:extLst>
              <a:ext uri="{FF2B5EF4-FFF2-40B4-BE49-F238E27FC236}">
                <a16:creationId xmlns:a16="http://schemas.microsoft.com/office/drawing/2014/main" id="{ABCEFC9C-E2E7-4577-A370-30B672DB80A7}"/>
              </a:ext>
            </a:extLst>
          </p:cNvPr>
          <p:cNvSpPr>
            <a:spLocks noGrp="1"/>
          </p:cNvSpPr>
          <p:nvPr/>
        </p:nvSpPr>
        <p:spPr>
          <a:xfrm>
            <a:off x="1800225" y="3048000"/>
            <a:ext cx="285750" cy="295275"/>
          </a:xfrm>
          <a:prstGeom prst="roundRect">
            <a:avLst>
              <a:gd name="adj" fmla="val 13333"/>
            </a:avLst>
          </a:prstGeom>
          <a:solidFill>
            <a:srgbClr val="FAFAFA"/>
          </a:solidFill>
          <a:ln w="9525">
            <a:solidFill>
              <a:srgbClr val="BFC7C2"/>
            </a:solidFill>
            <a:prstDash val="solid"/>
          </a:ln>
        </p:spPr>
        <p:txBody>
          <a:bodyPr/>
          <a:lstStyle/>
          <a:p>
            <a:endParaRPr lang="en-FR"/>
          </a:p>
        </p:txBody>
      </p:sp>
      <p:sp>
        <p:nvSpPr>
          <p:cNvPr id="40" name="Rectangle 39">
            <a:extLst>
              <a:ext uri="{FF2B5EF4-FFF2-40B4-BE49-F238E27FC236}">
                <a16:creationId xmlns:a16="http://schemas.microsoft.com/office/drawing/2014/main" id="{A65D27F8-D867-48C0-AE0D-BE89BBA7AECA}"/>
              </a:ext>
            </a:extLst>
          </p:cNvPr>
          <p:cNvSpPr>
            <a:spLocks noGrp="1"/>
          </p:cNvSpPr>
          <p:nvPr/>
        </p:nvSpPr>
        <p:spPr>
          <a:xfrm>
            <a:off x="1847850" y="3114675"/>
            <a:ext cx="190500" cy="13335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41" name="Rectangle 40">
            <a:extLst>
              <a:ext uri="{FF2B5EF4-FFF2-40B4-BE49-F238E27FC236}">
                <a16:creationId xmlns:a16="http://schemas.microsoft.com/office/drawing/2014/main" id="{658E5C71-9C9E-4061-915E-2728161543EF}"/>
              </a:ext>
            </a:extLst>
          </p:cNvPr>
          <p:cNvSpPr>
            <a:spLocks noGrp="1"/>
          </p:cNvSpPr>
          <p:nvPr/>
        </p:nvSpPr>
        <p:spPr>
          <a:xfrm>
            <a:off x="2200275" y="3086100"/>
            <a:ext cx="228600" cy="171450"/>
          </a:xfrm>
          <a:prstGeom prst="rect">
            <a:avLst/>
          </a:prstGeom>
          <a:noFill/>
          <a:ln w="0">
            <a:noFill/>
            <a:prstDash val="solid"/>
          </a:ln>
        </p:spPr>
        <p:txBody>
          <a:bodyPr wrap="none" lIns="0" tIns="0" rIns="0" bIns="0" anchor="t"/>
          <a:lstStyle/>
          <a:p>
            <a:pPr algn="l">
              <a:lnSpc>
                <a:spcPct val="100000"/>
              </a:lnSpc>
              <a:buNone/>
              <a:defRPr sz="975" b="1" i="0">
                <a:solidFill>
                  <a:srgbClr val="111111"/>
                </a:solidFill>
                <a:latin typeface="Arial"/>
                <a:ea typeface="Arial"/>
                <a:cs typeface="Arial"/>
              </a:defRPr>
            </a:pPr>
            <a:r>
              <a:rPr sz="975" b="1" i="0">
                <a:solidFill>
                  <a:srgbClr val="111111"/>
                </a:solidFill>
                <a:latin typeface="Arial"/>
                <a:ea typeface="Arial"/>
                <a:cs typeface="Arial"/>
              </a:rPr>
              <a:t>...</a:t>
            </a:r>
          </a:p>
        </p:txBody>
      </p:sp>
      <p:sp>
        <p:nvSpPr>
          <p:cNvPr id="42" name="Rounded Rectangle 41">
            <a:extLst>
              <a:ext uri="{FF2B5EF4-FFF2-40B4-BE49-F238E27FC236}">
                <a16:creationId xmlns:a16="http://schemas.microsoft.com/office/drawing/2014/main" id="{9AF061C4-51C1-4B67-874B-9B8A7F95CA58}"/>
              </a:ext>
            </a:extLst>
          </p:cNvPr>
          <p:cNvSpPr>
            <a:spLocks noGrp="1"/>
          </p:cNvSpPr>
          <p:nvPr/>
        </p:nvSpPr>
        <p:spPr>
          <a:xfrm>
            <a:off x="2543175" y="3048000"/>
            <a:ext cx="285750" cy="295275"/>
          </a:xfrm>
          <a:prstGeom prst="roundRect">
            <a:avLst>
              <a:gd name="adj" fmla="val 13333"/>
            </a:avLst>
          </a:prstGeom>
          <a:solidFill>
            <a:srgbClr val="FAFAFA"/>
          </a:solidFill>
          <a:ln w="9525">
            <a:solidFill>
              <a:srgbClr val="BFC7C2"/>
            </a:solidFill>
            <a:prstDash val="solid"/>
          </a:ln>
        </p:spPr>
        <p:txBody>
          <a:bodyPr/>
          <a:lstStyle/>
          <a:p>
            <a:endParaRPr lang="en-FR"/>
          </a:p>
        </p:txBody>
      </p:sp>
      <p:sp>
        <p:nvSpPr>
          <p:cNvPr id="43" name="Rectangle 42">
            <a:extLst>
              <a:ext uri="{FF2B5EF4-FFF2-40B4-BE49-F238E27FC236}">
                <a16:creationId xmlns:a16="http://schemas.microsoft.com/office/drawing/2014/main" id="{28F8894D-32BD-4306-97D7-1B234700EA59}"/>
              </a:ext>
            </a:extLst>
          </p:cNvPr>
          <p:cNvSpPr>
            <a:spLocks noGrp="1"/>
          </p:cNvSpPr>
          <p:nvPr/>
        </p:nvSpPr>
        <p:spPr>
          <a:xfrm>
            <a:off x="2590800" y="3114675"/>
            <a:ext cx="190500" cy="13335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pic>
        <p:nvPicPr>
          <p:cNvPr id="166" name="Picture 165"/>
          <p:cNvPicPr>
            <a:picLocks noChangeAspect="1"/>
          </p:cNvPicPr>
          <p:nvPr/>
        </p:nvPicPr>
        <p:blipFill>
          <a:blip r:embed="rId9"/>
          <a:stretch/>
        </p:blipFill>
        <p:spPr>
          <a:xfrm>
            <a:off x="2862263" y="3009900"/>
            <a:ext cx="304800" cy="390525"/>
          </a:xfrm>
          <a:prstGeom prst="rect">
            <a:avLst/>
          </a:prstGeom>
        </p:spPr>
      </p:pic>
      <p:sp>
        <p:nvSpPr>
          <p:cNvPr id="45" name="Rectangle 44">
            <a:extLst>
              <a:ext uri="{FF2B5EF4-FFF2-40B4-BE49-F238E27FC236}">
                <a16:creationId xmlns:a16="http://schemas.microsoft.com/office/drawing/2014/main" id="{8E4079A0-78EA-4538-BFEC-8D88FFEE4C93}"/>
              </a:ext>
            </a:extLst>
          </p:cNvPr>
          <p:cNvSpPr>
            <a:spLocks noGrp="1"/>
          </p:cNvSpPr>
          <p:nvPr/>
        </p:nvSpPr>
        <p:spPr>
          <a:xfrm>
            <a:off x="1228725" y="3676650"/>
            <a:ext cx="1285875" cy="400050"/>
          </a:xfrm>
          <a:prstGeom prst="rect">
            <a:avLst/>
          </a:prstGeom>
          <a:noFill/>
          <a:ln w="0">
            <a:noFill/>
            <a:prstDash val="solid"/>
          </a:ln>
        </p:spPr>
        <p:txBody>
          <a:bodyPr wrap="square" lIns="0" tIns="0" rIns="0" bIns="0" anchor="t"/>
          <a:lstStyle/>
          <a:p>
            <a:pPr algn="ctr">
              <a:lnSpc>
                <a:spcPct val="115000"/>
              </a:lnSpc>
              <a:buNone/>
              <a:defRPr sz="938" b="1" i="0">
                <a:solidFill>
                  <a:srgbClr val="00452C"/>
                </a:solidFill>
                <a:latin typeface="Arial"/>
                <a:ea typeface="Arial"/>
                <a:cs typeface="Arial"/>
              </a:defRPr>
            </a:pPr>
            <a:r>
              <a:rPr sz="938" b="1" i="0">
                <a:solidFill>
                  <a:srgbClr val="00452C"/>
                </a:solidFill>
                <a:latin typeface="Arial"/>
                <a:ea typeface="Arial"/>
                <a:cs typeface="Arial"/>
              </a:rPr>
              <a:t>Your Existing</a:t>
            </a:r>
          </a:p>
          <a:p>
            <a:pPr algn="ctr">
              <a:lnSpc>
                <a:spcPct val="115000"/>
              </a:lnSpc>
              <a:buNone/>
              <a:defRPr sz="938" b="1" i="0">
                <a:solidFill>
                  <a:srgbClr val="00452C"/>
                </a:solidFill>
                <a:latin typeface="Arial"/>
                <a:ea typeface="Arial"/>
                <a:cs typeface="Arial"/>
              </a:defRPr>
            </a:pPr>
            <a:r>
              <a:rPr sz="938" b="1" i="0">
                <a:solidFill>
                  <a:srgbClr val="00452C"/>
                </a:solidFill>
                <a:latin typeface="Arial"/>
                <a:ea typeface="Arial"/>
                <a:cs typeface="Arial"/>
              </a:rPr>
              <a:t>VMware Environment</a:t>
            </a:r>
          </a:p>
        </p:txBody>
      </p:sp>
      <p:sp>
        <p:nvSpPr>
          <p:cNvPr id="46" name="Straight Connector 45">
            <a:extLst>
              <a:ext uri="{FF2B5EF4-FFF2-40B4-BE49-F238E27FC236}">
                <a16:creationId xmlns:a16="http://schemas.microsoft.com/office/drawing/2014/main" id="{04B568EA-4723-4FC1-83F1-79992AC6542E}"/>
              </a:ext>
            </a:extLst>
          </p:cNvPr>
          <p:cNvSpPr>
            <a:spLocks noGrp="1"/>
          </p:cNvSpPr>
          <p:nvPr/>
        </p:nvSpPr>
        <p:spPr>
          <a:xfrm>
            <a:off x="571500" y="4143375"/>
            <a:ext cx="2524125" cy="0"/>
          </a:xfrm>
          <a:prstGeom prst="line">
            <a:avLst/>
          </a:prstGeom>
          <a:noFill/>
          <a:ln w="9525">
            <a:solidFill>
              <a:srgbClr val="D7DDDA"/>
            </a:solidFill>
            <a:prstDash val="solid"/>
          </a:ln>
        </p:spPr>
        <p:txBody>
          <a:bodyPr/>
          <a:lstStyle/>
          <a:p>
            <a:endParaRPr lang="en-FR"/>
          </a:p>
        </p:txBody>
      </p:sp>
      <p:pic>
        <p:nvPicPr>
          <p:cNvPr id="169" name="Picture 168"/>
          <p:cNvPicPr>
            <a:picLocks noChangeAspect="1"/>
          </p:cNvPicPr>
          <p:nvPr/>
        </p:nvPicPr>
        <p:blipFill>
          <a:blip r:embed="rId10"/>
          <a:stretch/>
        </p:blipFill>
        <p:spPr>
          <a:xfrm>
            <a:off x="571500" y="4336396"/>
            <a:ext cx="238125" cy="252132"/>
          </a:xfrm>
          <a:prstGeom prst="rect">
            <a:avLst/>
          </a:prstGeom>
        </p:spPr>
      </p:pic>
      <p:sp>
        <p:nvSpPr>
          <p:cNvPr id="48" name="Rectangle 47">
            <a:extLst>
              <a:ext uri="{FF2B5EF4-FFF2-40B4-BE49-F238E27FC236}">
                <a16:creationId xmlns:a16="http://schemas.microsoft.com/office/drawing/2014/main" id="{4F7BB026-11C3-4BAC-81B8-7AD64051D1E3}"/>
              </a:ext>
            </a:extLst>
          </p:cNvPr>
          <p:cNvSpPr>
            <a:spLocks noGrp="1"/>
          </p:cNvSpPr>
          <p:nvPr/>
        </p:nvSpPr>
        <p:spPr>
          <a:xfrm>
            <a:off x="990600" y="4352925"/>
            <a:ext cx="2095500" cy="190500"/>
          </a:xfrm>
          <a:prstGeom prst="rect">
            <a:avLst/>
          </a:prstGeom>
          <a:noFill/>
          <a:ln w="0">
            <a:noFill/>
            <a:prstDash val="solid"/>
          </a:ln>
        </p:spPr>
        <p:txBody>
          <a:bodyPr wrap="none" lIns="0" tIns="0" rIns="0" bIns="0" anchor="t"/>
          <a:lstStyle/>
          <a:p>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Production workloads</a:t>
            </a:r>
          </a:p>
        </p:txBody>
      </p:sp>
      <p:pic>
        <p:nvPicPr>
          <p:cNvPr id="171" name="Picture 170"/>
          <p:cNvPicPr>
            <a:picLocks noChangeAspect="1"/>
          </p:cNvPicPr>
          <p:nvPr/>
        </p:nvPicPr>
        <p:blipFill>
          <a:blip r:embed="rId11"/>
          <a:stretch/>
        </p:blipFill>
        <p:spPr>
          <a:xfrm>
            <a:off x="575511" y="4686300"/>
            <a:ext cx="230104" cy="257175"/>
          </a:xfrm>
          <a:prstGeom prst="rect">
            <a:avLst/>
          </a:prstGeom>
        </p:spPr>
      </p:pic>
      <p:sp>
        <p:nvSpPr>
          <p:cNvPr id="50" name="Rectangle 49">
            <a:extLst>
              <a:ext uri="{FF2B5EF4-FFF2-40B4-BE49-F238E27FC236}">
                <a16:creationId xmlns:a16="http://schemas.microsoft.com/office/drawing/2014/main" id="{B118DDFD-CEBB-47E5-B28D-0C491C9C8859}"/>
              </a:ext>
            </a:extLst>
          </p:cNvPr>
          <p:cNvSpPr>
            <a:spLocks noGrp="1"/>
          </p:cNvSpPr>
          <p:nvPr/>
        </p:nvSpPr>
        <p:spPr>
          <a:xfrm>
            <a:off x="990600" y="4705350"/>
            <a:ext cx="2095500" cy="190500"/>
          </a:xfrm>
          <a:prstGeom prst="rect">
            <a:avLst/>
          </a:prstGeom>
          <a:noFill/>
          <a:ln w="0">
            <a:noFill/>
            <a:prstDash val="solid"/>
          </a:ln>
        </p:spPr>
        <p:txBody>
          <a:bodyPr wrap="none" lIns="0" tIns="0" rIns="0" bIns="0" anchor="t"/>
          <a:lstStyle/>
          <a:p>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Business critical applications</a:t>
            </a:r>
          </a:p>
        </p:txBody>
      </p:sp>
      <p:pic>
        <p:nvPicPr>
          <p:cNvPr id="173" name="Picture 172"/>
          <p:cNvPicPr>
            <a:picLocks noChangeAspect="1"/>
          </p:cNvPicPr>
          <p:nvPr/>
        </p:nvPicPr>
        <p:blipFill>
          <a:blip r:embed="rId12"/>
          <a:stretch/>
        </p:blipFill>
        <p:spPr>
          <a:xfrm>
            <a:off x="571500" y="5055054"/>
            <a:ext cx="238125" cy="224518"/>
          </a:xfrm>
          <a:prstGeom prst="rect">
            <a:avLst/>
          </a:prstGeom>
        </p:spPr>
      </p:pic>
      <p:sp>
        <p:nvSpPr>
          <p:cNvPr id="52" name="Rectangle 51">
            <a:extLst>
              <a:ext uri="{FF2B5EF4-FFF2-40B4-BE49-F238E27FC236}">
                <a16:creationId xmlns:a16="http://schemas.microsoft.com/office/drawing/2014/main" id="{779F4A81-C5DF-40AF-8221-94D3A421F20F}"/>
              </a:ext>
            </a:extLst>
          </p:cNvPr>
          <p:cNvSpPr>
            <a:spLocks noGrp="1"/>
          </p:cNvSpPr>
          <p:nvPr/>
        </p:nvSpPr>
        <p:spPr>
          <a:xfrm>
            <a:off x="990600" y="5057775"/>
            <a:ext cx="2095500" cy="190500"/>
          </a:xfrm>
          <a:prstGeom prst="rect">
            <a:avLst/>
          </a:prstGeom>
          <a:noFill/>
          <a:ln w="0">
            <a:noFill/>
            <a:prstDash val="solid"/>
          </a:ln>
        </p:spPr>
        <p:txBody>
          <a:bodyPr wrap="none" lIns="0" tIns="0" rIns="0" bIns="0" anchor="t"/>
          <a:lstStyle/>
          <a:p>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Users &amp; business operations</a:t>
            </a:r>
          </a:p>
        </p:txBody>
      </p:sp>
      <p:pic>
        <p:nvPicPr>
          <p:cNvPr id="175" name="Picture 174"/>
          <p:cNvPicPr>
            <a:picLocks noChangeAspect="1"/>
          </p:cNvPicPr>
          <p:nvPr/>
        </p:nvPicPr>
        <p:blipFill>
          <a:blip r:embed="rId13"/>
          <a:stretch/>
        </p:blipFill>
        <p:spPr>
          <a:xfrm>
            <a:off x="572691" y="5391150"/>
            <a:ext cx="235744" cy="257175"/>
          </a:xfrm>
          <a:prstGeom prst="rect">
            <a:avLst/>
          </a:prstGeom>
        </p:spPr>
      </p:pic>
      <p:sp>
        <p:nvSpPr>
          <p:cNvPr id="54" name="Rectangle 53">
            <a:extLst>
              <a:ext uri="{FF2B5EF4-FFF2-40B4-BE49-F238E27FC236}">
                <a16:creationId xmlns:a16="http://schemas.microsoft.com/office/drawing/2014/main" id="{A362E71A-14E2-418E-9A94-37E8AA78F9C8}"/>
              </a:ext>
            </a:extLst>
          </p:cNvPr>
          <p:cNvSpPr>
            <a:spLocks noGrp="1"/>
          </p:cNvSpPr>
          <p:nvPr/>
        </p:nvSpPr>
        <p:spPr>
          <a:xfrm>
            <a:off x="990600" y="5410200"/>
            <a:ext cx="2095500" cy="361950"/>
          </a:xfrm>
          <a:prstGeom prst="rect">
            <a:avLst/>
          </a:prstGeom>
          <a:noFill/>
          <a:ln w="0">
            <a:noFill/>
            <a:prstDash val="solid"/>
          </a:ln>
        </p:spPr>
        <p:txBody>
          <a:bodyPr wrap="none" lIns="0" tIns="0" rIns="0" bIns="0" anchor="t"/>
          <a:lstStyle/>
          <a:p>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At risk from cost, complexity</a:t>
            </a:r>
          </a:p>
          <a:p>
            <a:pPr algn="l">
              <a:lnSpc>
                <a:spcPct val="125000"/>
              </a:lnSpc>
              <a:buNone/>
              <a:defRPr sz="930" b="0" i="0">
                <a:solidFill>
                  <a:srgbClr val="111111"/>
                </a:solidFill>
                <a:latin typeface="Arial"/>
                <a:ea typeface="Arial"/>
                <a:cs typeface="Arial"/>
              </a:defRPr>
            </a:pPr>
            <a:r>
              <a:rPr sz="930" b="0" i="0">
                <a:solidFill>
                  <a:srgbClr val="111111"/>
                </a:solidFill>
                <a:latin typeface="Arial"/>
                <a:ea typeface="Arial"/>
                <a:cs typeface="Arial"/>
              </a:rPr>
              <a:t>and technical debt</a:t>
            </a:r>
          </a:p>
        </p:txBody>
      </p:sp>
      <p:sp>
        <p:nvSpPr>
          <p:cNvPr id="55" name="Rounded Rectangle 54">
            <a:extLst>
              <a:ext uri="{FF2B5EF4-FFF2-40B4-BE49-F238E27FC236}">
                <a16:creationId xmlns:a16="http://schemas.microsoft.com/office/drawing/2014/main" id="{99F13FFF-0483-43C0-ABE3-C06D52700AF7}"/>
              </a:ext>
            </a:extLst>
          </p:cNvPr>
          <p:cNvSpPr>
            <a:spLocks noGrp="1"/>
          </p:cNvSpPr>
          <p:nvPr/>
        </p:nvSpPr>
        <p:spPr>
          <a:xfrm>
            <a:off x="3600450" y="2409825"/>
            <a:ext cx="2752725" cy="3524250"/>
          </a:xfrm>
          <a:prstGeom prst="roundRect">
            <a:avLst>
              <a:gd name="adj" fmla="val 2768"/>
            </a:avLst>
          </a:prstGeom>
          <a:solidFill>
            <a:srgbClr val="FFFFFF"/>
          </a:solidFill>
          <a:ln w="9525">
            <a:solidFill>
              <a:srgbClr val="00452C"/>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56" name="Rectangle 55">
            <a:extLst>
              <a:ext uri="{FF2B5EF4-FFF2-40B4-BE49-F238E27FC236}">
                <a16:creationId xmlns:a16="http://schemas.microsoft.com/office/drawing/2014/main" id="{62041801-683C-4959-B54F-08A6699B5EEF}"/>
              </a:ext>
            </a:extLst>
          </p:cNvPr>
          <p:cNvSpPr>
            <a:spLocks noGrp="1"/>
          </p:cNvSpPr>
          <p:nvPr/>
        </p:nvSpPr>
        <p:spPr>
          <a:xfrm>
            <a:off x="4362450" y="2562225"/>
            <a:ext cx="1238250" cy="171450"/>
          </a:xfrm>
          <a:prstGeom prst="rect">
            <a:avLst/>
          </a:prstGeom>
          <a:noFill/>
          <a:ln w="0">
            <a:noFill/>
            <a:prstDash val="solid"/>
          </a:ln>
        </p:spPr>
        <p:txBody>
          <a:bodyPr wrap="none" lIns="0" tIns="0" rIns="0" bIns="0" anchor="t"/>
          <a:lstStyle/>
          <a:p>
            <a:pPr algn="ctr">
              <a:lnSpc>
                <a:spcPct val="100000"/>
              </a:lnSpc>
              <a:buNone/>
              <a:defRPr sz="938" b="1" i="0">
                <a:solidFill>
                  <a:srgbClr val="00452C"/>
                </a:solidFill>
                <a:latin typeface="Arial"/>
                <a:ea typeface="Arial"/>
                <a:cs typeface="Arial"/>
              </a:defRPr>
            </a:pPr>
            <a:r>
              <a:rPr sz="938" b="1" i="0">
                <a:solidFill>
                  <a:srgbClr val="00452C"/>
                </a:solidFill>
                <a:latin typeface="Arial"/>
                <a:ea typeface="Arial"/>
                <a:cs typeface="Arial"/>
              </a:rPr>
              <a:t>MIGRATION OPTIONS</a:t>
            </a:r>
          </a:p>
        </p:txBody>
      </p:sp>
      <p:pic>
        <p:nvPicPr>
          <p:cNvPr id="179" name="Picture 178"/>
          <p:cNvPicPr>
            <a:picLocks noChangeAspect="1"/>
          </p:cNvPicPr>
          <p:nvPr/>
        </p:nvPicPr>
        <p:blipFill>
          <a:blip r:embed="rId14"/>
          <a:stretch/>
        </p:blipFill>
        <p:spPr>
          <a:xfrm>
            <a:off x="3990975" y="2985067"/>
            <a:ext cx="476250" cy="459241"/>
          </a:xfrm>
          <a:prstGeom prst="rect">
            <a:avLst/>
          </a:prstGeom>
        </p:spPr>
      </p:pic>
      <p:pic>
        <p:nvPicPr>
          <p:cNvPr id="180" name="Picture 179"/>
          <p:cNvPicPr>
            <a:picLocks noChangeAspect="1"/>
          </p:cNvPicPr>
          <p:nvPr/>
        </p:nvPicPr>
        <p:blipFill>
          <a:blip r:embed="rId15"/>
          <a:stretch/>
        </p:blipFill>
        <p:spPr>
          <a:xfrm>
            <a:off x="5529453" y="2943225"/>
            <a:ext cx="485394" cy="495300"/>
          </a:xfrm>
          <a:prstGeom prst="rect">
            <a:avLst/>
          </a:prstGeom>
        </p:spPr>
      </p:pic>
      <p:sp>
        <p:nvSpPr>
          <p:cNvPr id="59" name="Straight Connector 58">
            <a:extLst>
              <a:ext uri="{FF2B5EF4-FFF2-40B4-BE49-F238E27FC236}">
                <a16:creationId xmlns:a16="http://schemas.microsoft.com/office/drawing/2014/main" id="{D60F1B7C-8223-47D7-B12D-E287D5518C37}"/>
              </a:ext>
            </a:extLst>
          </p:cNvPr>
          <p:cNvSpPr>
            <a:spLocks noGrp="1"/>
          </p:cNvSpPr>
          <p:nvPr/>
        </p:nvSpPr>
        <p:spPr>
          <a:xfrm>
            <a:off x="4953000" y="2981325"/>
            <a:ext cx="0" cy="1333500"/>
          </a:xfrm>
          <a:prstGeom prst="line">
            <a:avLst/>
          </a:prstGeom>
          <a:noFill/>
          <a:ln w="9525">
            <a:solidFill>
              <a:srgbClr val="D7DDDA"/>
            </a:solidFill>
            <a:prstDash val="solid"/>
          </a:ln>
        </p:spPr>
        <p:txBody>
          <a:bodyPr/>
          <a:lstStyle/>
          <a:p>
            <a:endParaRPr lang="en-FR"/>
          </a:p>
        </p:txBody>
      </p:sp>
      <p:sp>
        <p:nvSpPr>
          <p:cNvPr id="60" name="Oval 59">
            <a:extLst>
              <a:ext uri="{FF2B5EF4-FFF2-40B4-BE49-F238E27FC236}">
                <a16:creationId xmlns:a16="http://schemas.microsoft.com/office/drawing/2014/main" id="{50CA0750-338A-44F1-B2FD-387311731D2E}"/>
              </a:ext>
            </a:extLst>
          </p:cNvPr>
          <p:cNvSpPr>
            <a:spLocks noGrp="1"/>
          </p:cNvSpPr>
          <p:nvPr/>
        </p:nvSpPr>
        <p:spPr>
          <a:xfrm>
            <a:off x="4838700" y="3524250"/>
            <a:ext cx="323850" cy="323850"/>
          </a:xfrm>
          <a:prstGeom prst="ellipse">
            <a:avLst/>
          </a:prstGeom>
          <a:solidFill>
            <a:srgbClr val="F8FAF8"/>
          </a:solidFill>
          <a:ln w="9525">
            <a:solidFill>
              <a:srgbClr val="00452C"/>
            </a:solidFill>
            <a:prstDash val="solid"/>
          </a:ln>
        </p:spPr>
        <p:txBody>
          <a:bodyPr/>
          <a:lstStyle/>
          <a:p>
            <a:endParaRPr lang="en-FR"/>
          </a:p>
        </p:txBody>
      </p:sp>
      <p:sp>
        <p:nvSpPr>
          <p:cNvPr id="61" name="Rectangle 60">
            <a:extLst>
              <a:ext uri="{FF2B5EF4-FFF2-40B4-BE49-F238E27FC236}">
                <a16:creationId xmlns:a16="http://schemas.microsoft.com/office/drawing/2014/main" id="{3964A9D2-C493-4599-9BE4-4AE288BF66FF}"/>
              </a:ext>
            </a:extLst>
          </p:cNvPr>
          <p:cNvSpPr>
            <a:spLocks noGrp="1"/>
          </p:cNvSpPr>
          <p:nvPr/>
        </p:nvSpPr>
        <p:spPr>
          <a:xfrm>
            <a:off x="4905375" y="3629025"/>
            <a:ext cx="190500" cy="114300"/>
          </a:xfrm>
          <a:prstGeom prst="rect">
            <a:avLst/>
          </a:prstGeom>
          <a:noFill/>
          <a:ln w="0">
            <a:noFill/>
            <a:prstDash val="solid"/>
          </a:ln>
        </p:spPr>
        <p:txBody>
          <a:bodyPr wrap="none" lIns="0" tIns="0" rIns="0" bIns="0" anchor="t"/>
          <a:lstStyle/>
          <a:p>
            <a:pPr algn="ctr">
              <a:lnSpc>
                <a:spcPct val="100000"/>
              </a:lnSpc>
              <a:buNone/>
              <a:defRPr sz="713" b="1" i="0">
                <a:solidFill>
                  <a:srgbClr val="00452C"/>
                </a:solidFill>
                <a:latin typeface="Arial"/>
                <a:ea typeface="Arial"/>
                <a:cs typeface="Arial"/>
              </a:defRPr>
            </a:pPr>
            <a:r>
              <a:rPr sz="713" b="1" i="0">
                <a:solidFill>
                  <a:srgbClr val="00452C"/>
                </a:solidFill>
                <a:latin typeface="Arial"/>
                <a:ea typeface="Arial"/>
                <a:cs typeface="Arial"/>
              </a:rPr>
              <a:t>OR</a:t>
            </a:r>
          </a:p>
        </p:txBody>
      </p:sp>
      <p:sp>
        <p:nvSpPr>
          <p:cNvPr id="62" name="Rectangle 61">
            <a:extLst>
              <a:ext uri="{FF2B5EF4-FFF2-40B4-BE49-F238E27FC236}">
                <a16:creationId xmlns:a16="http://schemas.microsoft.com/office/drawing/2014/main" id="{6DA05511-C2C6-4661-B64C-B1AAEB80747D}"/>
              </a:ext>
            </a:extLst>
          </p:cNvPr>
          <p:cNvSpPr>
            <a:spLocks noGrp="1"/>
          </p:cNvSpPr>
          <p:nvPr/>
        </p:nvSpPr>
        <p:spPr>
          <a:xfrm>
            <a:off x="3943350" y="3524250"/>
            <a:ext cx="828675" cy="371475"/>
          </a:xfrm>
          <a:prstGeom prst="rect">
            <a:avLst/>
          </a:prstGeom>
          <a:noFill/>
          <a:ln w="0">
            <a:noFill/>
            <a:prstDash val="solid"/>
          </a:ln>
        </p:spPr>
        <p:txBody>
          <a:bodyPr wrap="square" lIns="0" tIns="0" rIns="0" bIns="0" anchor="t"/>
          <a:lstStyle/>
          <a:p>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Oracle Cloud</a:t>
            </a:r>
          </a:p>
          <a:p>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Migrations (OCM)</a:t>
            </a:r>
          </a:p>
        </p:txBody>
      </p:sp>
      <p:sp>
        <p:nvSpPr>
          <p:cNvPr id="63" name="Rectangle 62">
            <a:extLst>
              <a:ext uri="{FF2B5EF4-FFF2-40B4-BE49-F238E27FC236}">
                <a16:creationId xmlns:a16="http://schemas.microsoft.com/office/drawing/2014/main" id="{E89EF101-F91C-46F6-B3D2-057AD9CAEF50}"/>
              </a:ext>
            </a:extLst>
          </p:cNvPr>
          <p:cNvSpPr>
            <a:spLocks noGrp="1"/>
          </p:cNvSpPr>
          <p:nvPr/>
        </p:nvSpPr>
        <p:spPr>
          <a:xfrm>
            <a:off x="3876675" y="3962400"/>
            <a:ext cx="952500" cy="590550"/>
          </a:xfrm>
          <a:prstGeom prst="rect">
            <a:avLst/>
          </a:prstGeom>
          <a:noFill/>
          <a:ln w="0">
            <a:noFill/>
            <a:prstDash val="solid"/>
          </a:ln>
        </p:spPr>
        <p:txBody>
          <a:bodyPr wrap="square" lIns="0" tIns="0" rIns="0" bIns="0" anchor="t"/>
          <a:lstStyle/>
          <a:p>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Oracle-managed</a:t>
            </a:r>
          </a:p>
          <a:p>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migration services</a:t>
            </a:r>
          </a:p>
          <a:p>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for VMware workloads.</a:t>
            </a:r>
          </a:p>
        </p:txBody>
      </p:sp>
      <p:sp>
        <p:nvSpPr>
          <p:cNvPr id="64" name="Rectangle 63">
            <a:extLst>
              <a:ext uri="{FF2B5EF4-FFF2-40B4-BE49-F238E27FC236}">
                <a16:creationId xmlns:a16="http://schemas.microsoft.com/office/drawing/2014/main" id="{BC2A775D-A9FF-4F69-AD8E-524368D73579}"/>
              </a:ext>
            </a:extLst>
          </p:cNvPr>
          <p:cNvSpPr>
            <a:spLocks noGrp="1"/>
          </p:cNvSpPr>
          <p:nvPr/>
        </p:nvSpPr>
        <p:spPr>
          <a:xfrm>
            <a:off x="5429250" y="3524250"/>
            <a:ext cx="923925" cy="371475"/>
          </a:xfrm>
          <a:prstGeom prst="rect">
            <a:avLst/>
          </a:prstGeom>
          <a:noFill/>
          <a:ln w="0">
            <a:noFill/>
            <a:prstDash val="solid"/>
          </a:ln>
        </p:spPr>
        <p:txBody>
          <a:bodyPr wrap="square" lIns="0" tIns="0" rIns="0" bIns="0" anchor="t"/>
          <a:lstStyle/>
          <a:p>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Third-Party</a:t>
            </a:r>
          </a:p>
          <a:p>
            <a:pPr algn="ctr">
              <a:lnSpc>
                <a:spcPct val="115000"/>
              </a:lnSpc>
              <a:buNone/>
              <a:defRPr sz="900" b="1" i="0">
                <a:solidFill>
                  <a:srgbClr val="00452C"/>
                </a:solidFill>
                <a:latin typeface="Arial"/>
                <a:ea typeface="Arial"/>
                <a:cs typeface="Arial"/>
              </a:defRPr>
            </a:pPr>
            <a:r>
              <a:rPr sz="900" b="1" i="0">
                <a:solidFill>
                  <a:srgbClr val="00452C"/>
                </a:solidFill>
                <a:latin typeface="Arial"/>
                <a:ea typeface="Arial"/>
                <a:cs typeface="Arial"/>
              </a:rPr>
              <a:t>Migration Tools</a:t>
            </a:r>
          </a:p>
        </p:txBody>
      </p:sp>
      <p:sp>
        <p:nvSpPr>
          <p:cNvPr id="65" name="Rectangle 64">
            <a:extLst>
              <a:ext uri="{FF2B5EF4-FFF2-40B4-BE49-F238E27FC236}">
                <a16:creationId xmlns:a16="http://schemas.microsoft.com/office/drawing/2014/main" id="{4B9D8D2F-BE2F-4179-87CC-B2D8AAA3B56E}"/>
              </a:ext>
            </a:extLst>
          </p:cNvPr>
          <p:cNvSpPr>
            <a:spLocks noGrp="1"/>
          </p:cNvSpPr>
          <p:nvPr/>
        </p:nvSpPr>
        <p:spPr>
          <a:xfrm>
            <a:off x="5257800" y="3962400"/>
            <a:ext cx="1066800" cy="590550"/>
          </a:xfrm>
          <a:prstGeom prst="rect">
            <a:avLst/>
          </a:prstGeom>
          <a:noFill/>
          <a:ln w="0">
            <a:noFill/>
            <a:prstDash val="solid"/>
          </a:ln>
        </p:spPr>
        <p:txBody>
          <a:bodyPr wrap="square" lIns="0" tIns="0" rIns="0" bIns="0" anchor="t"/>
          <a:lstStyle/>
          <a:p>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Partner and ecosystem</a:t>
            </a:r>
          </a:p>
          <a:p>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migration tools for</a:t>
            </a:r>
          </a:p>
          <a:p>
            <a:pPr algn="ctr">
              <a:lnSpc>
                <a:spcPct val="125000"/>
              </a:lnSpc>
              <a:buNone/>
              <a:defRPr sz="757" b="0" i="0">
                <a:solidFill>
                  <a:srgbClr val="111111"/>
                </a:solidFill>
                <a:latin typeface="Arial"/>
                <a:ea typeface="Arial"/>
                <a:cs typeface="Arial"/>
              </a:defRPr>
            </a:pPr>
            <a:r>
              <a:rPr sz="757" b="0" i="0">
                <a:solidFill>
                  <a:srgbClr val="111111"/>
                </a:solidFill>
                <a:latin typeface="Arial"/>
                <a:ea typeface="Arial"/>
                <a:cs typeface="Arial"/>
              </a:rPr>
              <a:t>specialized workloads.</a:t>
            </a:r>
          </a:p>
        </p:txBody>
      </p:sp>
      <p:sp>
        <p:nvSpPr>
          <p:cNvPr id="66" name="Straight Connector 65">
            <a:extLst>
              <a:ext uri="{FF2B5EF4-FFF2-40B4-BE49-F238E27FC236}">
                <a16:creationId xmlns:a16="http://schemas.microsoft.com/office/drawing/2014/main" id="{335EAA7E-20D5-40A2-8C61-B325331E81DA}"/>
              </a:ext>
            </a:extLst>
          </p:cNvPr>
          <p:cNvSpPr>
            <a:spLocks noGrp="1"/>
          </p:cNvSpPr>
          <p:nvPr/>
        </p:nvSpPr>
        <p:spPr>
          <a:xfrm>
            <a:off x="3695700" y="4638675"/>
            <a:ext cx="2524125" cy="0"/>
          </a:xfrm>
          <a:prstGeom prst="line">
            <a:avLst/>
          </a:prstGeom>
          <a:noFill/>
          <a:ln w="9525">
            <a:solidFill>
              <a:srgbClr val="D7DDDA"/>
            </a:solidFill>
            <a:prstDash val="solid"/>
          </a:ln>
        </p:spPr>
        <p:txBody>
          <a:bodyPr/>
          <a:lstStyle/>
          <a:p>
            <a:endParaRPr lang="en-FR"/>
          </a:p>
        </p:txBody>
      </p:sp>
      <p:sp>
        <p:nvSpPr>
          <p:cNvPr id="67" name="Rectangle 66">
            <a:extLst>
              <a:ext uri="{FF2B5EF4-FFF2-40B4-BE49-F238E27FC236}">
                <a16:creationId xmlns:a16="http://schemas.microsoft.com/office/drawing/2014/main" id="{3635B714-0522-49BE-AE9B-63F537BB6105}"/>
              </a:ext>
            </a:extLst>
          </p:cNvPr>
          <p:cNvSpPr>
            <a:spLocks noGrp="1"/>
          </p:cNvSpPr>
          <p:nvPr/>
        </p:nvSpPr>
        <p:spPr>
          <a:xfrm>
            <a:off x="4343400" y="4810125"/>
            <a:ext cx="1333500" cy="171450"/>
          </a:xfrm>
          <a:prstGeom prst="rect">
            <a:avLst/>
          </a:prstGeom>
          <a:noFill/>
          <a:ln w="0">
            <a:noFill/>
            <a:prstDash val="solid"/>
          </a:ln>
        </p:spPr>
        <p:txBody>
          <a:bodyPr wrap="none" lIns="0" tIns="0" rIns="0" bIns="0" anchor="t"/>
          <a:lstStyle/>
          <a:p>
            <a:pPr algn="ctr">
              <a:lnSpc>
                <a:spcPct val="100000"/>
              </a:lnSpc>
              <a:buNone/>
              <a:defRPr sz="900" b="1" i="0">
                <a:solidFill>
                  <a:srgbClr val="00452C"/>
                </a:solidFill>
                <a:latin typeface="Arial"/>
                <a:ea typeface="Arial"/>
                <a:cs typeface="Arial"/>
              </a:defRPr>
            </a:pPr>
            <a:r>
              <a:rPr sz="900" b="1" i="0">
                <a:solidFill>
                  <a:srgbClr val="00452C"/>
                </a:solidFill>
                <a:latin typeface="Arial"/>
                <a:ea typeface="Arial"/>
                <a:cs typeface="Arial"/>
              </a:rPr>
              <a:t>CONNECTIVITY OPTIONS</a:t>
            </a:r>
          </a:p>
        </p:txBody>
      </p:sp>
      <p:pic>
        <p:nvPicPr>
          <p:cNvPr id="190" name="Picture 189"/>
          <p:cNvPicPr>
            <a:picLocks noChangeAspect="1"/>
          </p:cNvPicPr>
          <p:nvPr/>
        </p:nvPicPr>
        <p:blipFill>
          <a:blip r:embed="rId16"/>
          <a:stretch/>
        </p:blipFill>
        <p:spPr>
          <a:xfrm>
            <a:off x="3947319" y="5057775"/>
            <a:ext cx="420688" cy="428625"/>
          </a:xfrm>
          <a:prstGeom prst="rect">
            <a:avLst/>
          </a:prstGeom>
        </p:spPr>
      </p:pic>
      <p:sp>
        <p:nvSpPr>
          <p:cNvPr id="69" name="Rectangle 68">
            <a:extLst>
              <a:ext uri="{FF2B5EF4-FFF2-40B4-BE49-F238E27FC236}">
                <a16:creationId xmlns:a16="http://schemas.microsoft.com/office/drawing/2014/main" id="{FBCF0B19-F90A-407C-9640-9A549FA60728}"/>
              </a:ext>
            </a:extLst>
          </p:cNvPr>
          <p:cNvSpPr>
            <a:spLocks noGrp="1"/>
          </p:cNvSpPr>
          <p:nvPr/>
        </p:nvSpPr>
        <p:spPr>
          <a:xfrm>
            <a:off x="3886200" y="5543550"/>
            <a:ext cx="571500" cy="152400"/>
          </a:xfrm>
          <a:prstGeom prst="rect">
            <a:avLst/>
          </a:prstGeom>
          <a:noFill/>
          <a:ln w="0">
            <a:noFill/>
            <a:prstDash val="solid"/>
          </a:ln>
        </p:spPr>
        <p:txBody>
          <a:bodyPr wrap="none" lIns="0" tIns="0" rIns="0" bIns="0" anchor="t"/>
          <a:lstStyle/>
          <a:p>
            <a:pPr algn="ctr">
              <a:lnSpc>
                <a:spcPct val="100000"/>
              </a:lnSpc>
              <a:buNone/>
              <a:defRPr sz="788" b="1" i="0">
                <a:solidFill>
                  <a:srgbClr val="111111"/>
                </a:solidFill>
                <a:latin typeface="Arial"/>
                <a:ea typeface="Arial"/>
                <a:cs typeface="Arial"/>
              </a:defRPr>
            </a:pPr>
            <a:r>
              <a:rPr sz="788" b="1" i="0">
                <a:solidFill>
                  <a:srgbClr val="111111"/>
                </a:solidFill>
                <a:latin typeface="Arial"/>
                <a:ea typeface="Arial"/>
                <a:cs typeface="Arial"/>
              </a:rPr>
              <a:t>Internet</a:t>
            </a:r>
          </a:p>
        </p:txBody>
      </p:sp>
      <p:pic>
        <p:nvPicPr>
          <p:cNvPr id="192" name="Picture 191"/>
          <p:cNvPicPr>
            <a:picLocks noChangeAspect="1"/>
          </p:cNvPicPr>
          <p:nvPr/>
        </p:nvPicPr>
        <p:blipFill>
          <a:blip r:embed="rId17"/>
          <a:stretch/>
        </p:blipFill>
        <p:spPr>
          <a:xfrm>
            <a:off x="4875213" y="5057775"/>
            <a:ext cx="412750" cy="428625"/>
          </a:xfrm>
          <a:prstGeom prst="rect">
            <a:avLst/>
          </a:prstGeom>
        </p:spPr>
      </p:pic>
      <p:sp>
        <p:nvSpPr>
          <p:cNvPr id="71" name="Rectangle 70">
            <a:extLst>
              <a:ext uri="{FF2B5EF4-FFF2-40B4-BE49-F238E27FC236}">
                <a16:creationId xmlns:a16="http://schemas.microsoft.com/office/drawing/2014/main" id="{D81E57CF-241D-48F1-A3ED-B3AD6891C4B5}"/>
              </a:ext>
            </a:extLst>
          </p:cNvPr>
          <p:cNvSpPr>
            <a:spLocks noGrp="1"/>
          </p:cNvSpPr>
          <p:nvPr/>
        </p:nvSpPr>
        <p:spPr>
          <a:xfrm>
            <a:off x="4810125" y="5543550"/>
            <a:ext cx="571500" cy="152400"/>
          </a:xfrm>
          <a:prstGeom prst="rect">
            <a:avLst/>
          </a:prstGeom>
          <a:noFill/>
          <a:ln w="0">
            <a:noFill/>
            <a:prstDash val="solid"/>
          </a:ln>
        </p:spPr>
        <p:txBody>
          <a:bodyPr wrap="none" lIns="0" tIns="0" rIns="0" bIns="0" anchor="t"/>
          <a:lstStyle/>
          <a:p>
            <a:pPr algn="ctr">
              <a:lnSpc>
                <a:spcPct val="100000"/>
              </a:lnSpc>
              <a:buNone/>
              <a:defRPr sz="788" b="1" i="0">
                <a:solidFill>
                  <a:srgbClr val="111111"/>
                </a:solidFill>
                <a:latin typeface="Arial"/>
                <a:ea typeface="Arial"/>
                <a:cs typeface="Arial"/>
              </a:defRPr>
            </a:pPr>
            <a:r>
              <a:rPr sz="788" b="1" i="0">
                <a:solidFill>
                  <a:srgbClr val="111111"/>
                </a:solidFill>
                <a:latin typeface="Arial"/>
                <a:ea typeface="Arial"/>
                <a:cs typeface="Arial"/>
              </a:rPr>
              <a:t>VPN</a:t>
            </a:r>
          </a:p>
        </p:txBody>
      </p:sp>
      <p:pic>
        <p:nvPicPr>
          <p:cNvPr id="194" name="Picture 193"/>
          <p:cNvPicPr>
            <a:picLocks noChangeAspect="1"/>
          </p:cNvPicPr>
          <p:nvPr/>
        </p:nvPicPr>
        <p:blipFill>
          <a:blip r:embed="rId18"/>
          <a:stretch/>
        </p:blipFill>
        <p:spPr>
          <a:xfrm>
            <a:off x="5791200" y="5057775"/>
            <a:ext cx="428625" cy="428625"/>
          </a:xfrm>
          <a:prstGeom prst="rect">
            <a:avLst/>
          </a:prstGeom>
        </p:spPr>
      </p:pic>
      <p:sp>
        <p:nvSpPr>
          <p:cNvPr id="73" name="Rectangle 72">
            <a:extLst>
              <a:ext uri="{FF2B5EF4-FFF2-40B4-BE49-F238E27FC236}">
                <a16:creationId xmlns:a16="http://schemas.microsoft.com/office/drawing/2014/main" id="{88CC04C6-F0B7-4BBF-8827-23A35A675F8F}"/>
              </a:ext>
            </a:extLst>
          </p:cNvPr>
          <p:cNvSpPr>
            <a:spLocks noGrp="1"/>
          </p:cNvSpPr>
          <p:nvPr/>
        </p:nvSpPr>
        <p:spPr>
          <a:xfrm>
            <a:off x="5734050" y="5543550"/>
            <a:ext cx="571500" cy="152400"/>
          </a:xfrm>
          <a:prstGeom prst="rect">
            <a:avLst/>
          </a:prstGeom>
          <a:noFill/>
          <a:ln w="0">
            <a:noFill/>
            <a:prstDash val="solid"/>
          </a:ln>
        </p:spPr>
        <p:txBody>
          <a:bodyPr wrap="none" lIns="0" tIns="0" rIns="0" bIns="0" anchor="t"/>
          <a:lstStyle/>
          <a:p>
            <a:pPr algn="ctr">
              <a:lnSpc>
                <a:spcPct val="100000"/>
              </a:lnSpc>
              <a:buNone/>
              <a:defRPr sz="788" b="1" i="0">
                <a:solidFill>
                  <a:srgbClr val="111111"/>
                </a:solidFill>
                <a:latin typeface="Arial"/>
                <a:ea typeface="Arial"/>
                <a:cs typeface="Arial"/>
              </a:defRPr>
            </a:pPr>
            <a:r>
              <a:rPr sz="788" b="1" i="0">
                <a:solidFill>
                  <a:srgbClr val="111111"/>
                </a:solidFill>
                <a:latin typeface="Arial"/>
                <a:ea typeface="Arial"/>
                <a:cs typeface="Arial"/>
              </a:rPr>
              <a:t>FastConnect</a:t>
            </a:r>
          </a:p>
        </p:txBody>
      </p:sp>
      <p:sp>
        <p:nvSpPr>
          <p:cNvPr id="74" name="Right Arrow 73">
            <a:extLst>
              <a:ext uri="{FF2B5EF4-FFF2-40B4-BE49-F238E27FC236}">
                <a16:creationId xmlns:a16="http://schemas.microsoft.com/office/drawing/2014/main" id="{2B54E790-7F12-4AFF-826A-06DCCFBE6738}"/>
              </a:ext>
            </a:extLst>
          </p:cNvPr>
          <p:cNvSpPr>
            <a:spLocks noGrp="1"/>
          </p:cNvSpPr>
          <p:nvPr/>
        </p:nvSpPr>
        <p:spPr>
          <a:xfrm>
            <a:off x="3295650" y="3733800"/>
            <a:ext cx="285750" cy="342900"/>
          </a:xfrm>
          <a:prstGeom prst="rightArrow">
            <a:avLst/>
          </a:prstGeom>
          <a:solidFill>
            <a:srgbClr val="00452C"/>
          </a:solidFill>
          <a:ln w="0">
            <a:noFill/>
            <a:prstDash val="solid"/>
          </a:ln>
        </p:spPr>
        <p:txBody>
          <a:bodyPr/>
          <a:lstStyle/>
          <a:p>
            <a:endParaRPr lang="en-FR"/>
          </a:p>
        </p:txBody>
      </p:sp>
      <p:sp>
        <p:nvSpPr>
          <p:cNvPr id="75" name="Right Arrow 74">
            <a:extLst>
              <a:ext uri="{FF2B5EF4-FFF2-40B4-BE49-F238E27FC236}">
                <a16:creationId xmlns:a16="http://schemas.microsoft.com/office/drawing/2014/main" id="{FE1DB7C6-E23A-4593-9C06-40FE71DCBF53}"/>
              </a:ext>
            </a:extLst>
          </p:cNvPr>
          <p:cNvSpPr>
            <a:spLocks noGrp="1"/>
          </p:cNvSpPr>
          <p:nvPr/>
        </p:nvSpPr>
        <p:spPr>
          <a:xfrm>
            <a:off x="6343650" y="3733800"/>
            <a:ext cx="285750" cy="342900"/>
          </a:xfrm>
          <a:prstGeom prst="rightArrow">
            <a:avLst/>
          </a:prstGeom>
          <a:solidFill>
            <a:srgbClr val="00452C"/>
          </a:solidFill>
          <a:ln w="0">
            <a:noFill/>
            <a:prstDash val="solid"/>
          </a:ln>
        </p:spPr>
        <p:txBody>
          <a:bodyPr/>
          <a:lstStyle/>
          <a:p>
            <a:endParaRPr lang="en-FR"/>
          </a:p>
        </p:txBody>
      </p:sp>
      <p:sp>
        <p:nvSpPr>
          <p:cNvPr id="76" name="Rounded Rectangle 75">
            <a:extLst>
              <a:ext uri="{FF2B5EF4-FFF2-40B4-BE49-F238E27FC236}">
                <a16:creationId xmlns:a16="http://schemas.microsoft.com/office/drawing/2014/main" id="{D8E971FD-5372-4D74-B9D1-83FFBE364E66}"/>
              </a:ext>
            </a:extLst>
          </p:cNvPr>
          <p:cNvSpPr>
            <a:spLocks noGrp="1"/>
          </p:cNvSpPr>
          <p:nvPr/>
        </p:nvSpPr>
        <p:spPr>
          <a:xfrm>
            <a:off x="6572250" y="2409825"/>
            <a:ext cx="3171825" cy="3524250"/>
          </a:xfrm>
          <a:prstGeom prst="roundRect">
            <a:avLst>
              <a:gd name="adj" fmla="val 2402"/>
            </a:avLst>
          </a:prstGeom>
          <a:solidFill>
            <a:srgbClr val="FFFFFF"/>
          </a:solidFill>
          <a:ln w="11430">
            <a:solidFill>
              <a:srgbClr val="E30613"/>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77" name="Rounded Rectangle 76">
            <a:extLst>
              <a:ext uri="{FF2B5EF4-FFF2-40B4-BE49-F238E27FC236}">
                <a16:creationId xmlns:a16="http://schemas.microsoft.com/office/drawing/2014/main" id="{9B8881F4-85A9-4D42-8A77-28433C89F371}"/>
              </a:ext>
            </a:extLst>
          </p:cNvPr>
          <p:cNvSpPr>
            <a:spLocks noGrp="1"/>
          </p:cNvSpPr>
          <p:nvPr/>
        </p:nvSpPr>
        <p:spPr>
          <a:xfrm>
            <a:off x="6572250" y="2409825"/>
            <a:ext cx="3171825" cy="304800"/>
          </a:xfrm>
          <a:prstGeom prst="roundRect">
            <a:avLst>
              <a:gd name="adj" fmla="val 25000"/>
            </a:avLst>
          </a:prstGeom>
          <a:gradFill>
            <a:gsLst>
              <a:gs pos="0">
                <a:srgbClr val="C60000"/>
              </a:gs>
              <a:gs pos="100000">
                <a:srgbClr val="F00000"/>
              </a:gs>
            </a:gsLst>
            <a:lin ang="0"/>
          </a:gradFill>
          <a:ln w="0">
            <a:noFill/>
            <a:prstDash val="solid"/>
          </a:ln>
        </p:spPr>
        <p:txBody>
          <a:bodyPr/>
          <a:lstStyle/>
          <a:p>
            <a:endParaRPr lang="en-FR"/>
          </a:p>
        </p:txBody>
      </p:sp>
      <p:sp>
        <p:nvSpPr>
          <p:cNvPr id="78" name="Rectangle 77">
            <a:extLst>
              <a:ext uri="{FF2B5EF4-FFF2-40B4-BE49-F238E27FC236}">
                <a16:creationId xmlns:a16="http://schemas.microsoft.com/office/drawing/2014/main" id="{D13034AC-2118-45A2-A947-88B49EFB984E}"/>
              </a:ext>
            </a:extLst>
          </p:cNvPr>
          <p:cNvSpPr>
            <a:spLocks noGrp="1"/>
          </p:cNvSpPr>
          <p:nvPr/>
        </p:nvSpPr>
        <p:spPr>
          <a:xfrm>
            <a:off x="6572250" y="2657475"/>
            <a:ext cx="3171825" cy="66675"/>
          </a:xfrm>
          <a:prstGeom prst="rect">
            <a:avLst/>
          </a:prstGeom>
          <a:solidFill>
            <a:srgbClr val="E50000"/>
          </a:solidFill>
          <a:ln w="0">
            <a:noFill/>
            <a:prstDash val="solid"/>
          </a:ln>
        </p:spPr>
        <p:txBody>
          <a:bodyPr/>
          <a:lstStyle/>
          <a:p>
            <a:endParaRPr lang="en-FR"/>
          </a:p>
        </p:txBody>
      </p:sp>
      <p:sp>
        <p:nvSpPr>
          <p:cNvPr id="79" name="Rectangle 78">
            <a:extLst>
              <a:ext uri="{FF2B5EF4-FFF2-40B4-BE49-F238E27FC236}">
                <a16:creationId xmlns:a16="http://schemas.microsoft.com/office/drawing/2014/main" id="{85A1CB4C-32EE-4563-B980-28BD59EA63B9}"/>
              </a:ext>
            </a:extLst>
          </p:cNvPr>
          <p:cNvSpPr>
            <a:spLocks noGrp="1"/>
          </p:cNvSpPr>
          <p:nvPr/>
        </p:nvSpPr>
        <p:spPr>
          <a:xfrm>
            <a:off x="7029450" y="2524125"/>
            <a:ext cx="2333625" cy="171450"/>
          </a:xfrm>
          <a:prstGeom prst="rect">
            <a:avLst/>
          </a:prstGeom>
          <a:noFill/>
          <a:ln w="0">
            <a:noFill/>
            <a:prstDash val="solid"/>
          </a:ln>
        </p:spPr>
        <p:txBody>
          <a:bodyPr wrap="none" lIns="0" tIns="0" rIns="0" bIns="0" anchor="t"/>
          <a:lstStyle/>
          <a:p>
            <a:pPr algn="ctr">
              <a:lnSpc>
                <a:spcPct val="100000"/>
              </a:lnSpc>
              <a:buNone/>
              <a:defRPr sz="938" b="1" i="0">
                <a:solidFill>
                  <a:srgbClr val="FFFFFF"/>
                </a:solidFill>
                <a:latin typeface="Arial"/>
                <a:ea typeface="Arial"/>
                <a:cs typeface="Arial"/>
              </a:defRPr>
            </a:pPr>
            <a:r>
              <a:rPr sz="938" b="1" i="0">
                <a:solidFill>
                  <a:srgbClr val="FFFFFF"/>
                </a:solidFill>
                <a:latin typeface="Arial"/>
                <a:ea typeface="Arial"/>
                <a:cs typeface="Arial"/>
              </a:rPr>
              <a:t>OCI COMPUTE TARGET ENVIRONMENT</a:t>
            </a:r>
          </a:p>
        </p:txBody>
      </p:sp>
      <p:sp>
        <p:nvSpPr>
          <p:cNvPr id="80" name="Rectangle 79">
            <a:extLst>
              <a:ext uri="{FF2B5EF4-FFF2-40B4-BE49-F238E27FC236}">
                <a16:creationId xmlns:a16="http://schemas.microsoft.com/office/drawing/2014/main" id="{F8A3ECB7-3EDB-4A5B-BAA1-24D0785CE88B}"/>
              </a:ext>
            </a:extLst>
          </p:cNvPr>
          <p:cNvSpPr>
            <a:spLocks noGrp="1"/>
          </p:cNvSpPr>
          <p:nvPr/>
        </p:nvSpPr>
        <p:spPr>
          <a:xfrm>
            <a:off x="7791450" y="3067050"/>
            <a:ext cx="904875" cy="171450"/>
          </a:xfrm>
          <a:prstGeom prst="rect">
            <a:avLst/>
          </a:prstGeom>
          <a:noFill/>
          <a:ln w="0">
            <a:noFill/>
            <a:prstDash val="solid"/>
          </a:ln>
        </p:spPr>
        <p:txBody>
          <a:bodyPr wrap="none" lIns="0" tIns="0" rIns="0" bIns="0" anchor="t"/>
          <a:lstStyle/>
          <a:p>
            <a:pPr algn="ctr">
              <a:lnSpc>
                <a:spcPct val="100000"/>
              </a:lnSpc>
              <a:buNone/>
              <a:defRPr sz="938" b="1" i="0">
                <a:solidFill>
                  <a:srgbClr val="E30613"/>
                </a:solidFill>
                <a:latin typeface="Arial"/>
                <a:ea typeface="Arial"/>
                <a:cs typeface="Arial"/>
              </a:defRPr>
            </a:pPr>
            <a:r>
              <a:rPr sz="938" b="1" i="0">
                <a:solidFill>
                  <a:srgbClr val="E30613"/>
                </a:solidFill>
                <a:latin typeface="Arial"/>
                <a:ea typeface="Arial"/>
                <a:cs typeface="Arial"/>
              </a:rPr>
              <a:t>OCI REGION</a:t>
            </a:r>
          </a:p>
        </p:txBody>
      </p:sp>
      <p:sp>
        <p:nvSpPr>
          <p:cNvPr id="81" name="Rounded Rectangle 80">
            <a:extLst>
              <a:ext uri="{FF2B5EF4-FFF2-40B4-BE49-F238E27FC236}">
                <a16:creationId xmlns:a16="http://schemas.microsoft.com/office/drawing/2014/main" id="{1D0A3214-2D6F-4A93-AD28-9616B4756A0F}"/>
              </a:ext>
            </a:extLst>
          </p:cNvPr>
          <p:cNvSpPr>
            <a:spLocks noGrp="1"/>
          </p:cNvSpPr>
          <p:nvPr/>
        </p:nvSpPr>
        <p:spPr>
          <a:xfrm>
            <a:off x="6724650" y="3486150"/>
            <a:ext cx="2876550" cy="1343025"/>
          </a:xfrm>
          <a:prstGeom prst="roundRect">
            <a:avLst>
              <a:gd name="adj" fmla="val 5674"/>
            </a:avLst>
          </a:prstGeom>
          <a:solidFill>
            <a:srgbClr val="FFFFFF"/>
          </a:solidFill>
          <a:ln w="9525">
            <a:solidFill>
              <a:srgbClr val="E30613"/>
            </a:solidFill>
            <a:prstDash val="solid"/>
          </a:ln>
        </p:spPr>
        <p:txBody>
          <a:bodyPr/>
          <a:lstStyle/>
          <a:p>
            <a:endParaRPr lang="en-FR"/>
          </a:p>
        </p:txBody>
      </p:sp>
      <p:pic>
        <p:nvPicPr>
          <p:cNvPr id="204" name="Picture 203"/>
          <p:cNvPicPr>
            <a:picLocks noChangeAspect="1"/>
          </p:cNvPicPr>
          <p:nvPr/>
        </p:nvPicPr>
        <p:blipFill>
          <a:blip r:embed="rId19"/>
          <a:stretch/>
        </p:blipFill>
        <p:spPr>
          <a:xfrm>
            <a:off x="7000875" y="3762375"/>
            <a:ext cx="390525" cy="381000"/>
          </a:xfrm>
          <a:prstGeom prst="rect">
            <a:avLst/>
          </a:prstGeom>
        </p:spPr>
      </p:pic>
      <p:pic>
        <p:nvPicPr>
          <p:cNvPr id="205" name="Picture 204"/>
          <p:cNvPicPr>
            <a:picLocks noChangeAspect="1"/>
          </p:cNvPicPr>
          <p:nvPr/>
        </p:nvPicPr>
        <p:blipFill>
          <a:blip r:embed="rId20"/>
          <a:stretch/>
        </p:blipFill>
        <p:spPr>
          <a:xfrm>
            <a:off x="8072438" y="3714750"/>
            <a:ext cx="419100" cy="428625"/>
          </a:xfrm>
          <a:prstGeom prst="rect">
            <a:avLst/>
          </a:prstGeom>
        </p:spPr>
      </p:pic>
      <p:pic>
        <p:nvPicPr>
          <p:cNvPr id="206" name="Picture 205"/>
          <p:cNvPicPr>
            <a:picLocks noChangeAspect="1"/>
          </p:cNvPicPr>
          <p:nvPr/>
        </p:nvPicPr>
        <p:blipFill>
          <a:blip r:embed="rId21"/>
          <a:stretch/>
        </p:blipFill>
        <p:spPr>
          <a:xfrm>
            <a:off x="9072021" y="3724275"/>
            <a:ext cx="363032" cy="409575"/>
          </a:xfrm>
          <a:prstGeom prst="rect">
            <a:avLst/>
          </a:prstGeom>
        </p:spPr>
      </p:pic>
      <p:sp>
        <p:nvSpPr>
          <p:cNvPr id="85" name="Straight Connector 84">
            <a:extLst>
              <a:ext uri="{FF2B5EF4-FFF2-40B4-BE49-F238E27FC236}">
                <a16:creationId xmlns:a16="http://schemas.microsoft.com/office/drawing/2014/main" id="{53782B8D-571D-4B07-9781-FCA77DE0FDB1}"/>
              </a:ext>
            </a:extLst>
          </p:cNvPr>
          <p:cNvSpPr>
            <a:spLocks noGrp="1"/>
          </p:cNvSpPr>
          <p:nvPr/>
        </p:nvSpPr>
        <p:spPr>
          <a:xfrm>
            <a:off x="7648575" y="3762375"/>
            <a:ext cx="0" cy="790575"/>
          </a:xfrm>
          <a:prstGeom prst="line">
            <a:avLst/>
          </a:prstGeom>
          <a:noFill/>
          <a:ln w="9525">
            <a:solidFill>
              <a:srgbClr val="D7DDDA"/>
            </a:solidFill>
            <a:prstDash val="solid"/>
          </a:ln>
        </p:spPr>
        <p:txBody>
          <a:bodyPr/>
          <a:lstStyle/>
          <a:p>
            <a:endParaRPr lang="en-FR"/>
          </a:p>
        </p:txBody>
      </p:sp>
      <p:sp>
        <p:nvSpPr>
          <p:cNvPr id="86" name="Straight Connector 85">
            <a:extLst>
              <a:ext uri="{FF2B5EF4-FFF2-40B4-BE49-F238E27FC236}">
                <a16:creationId xmlns:a16="http://schemas.microsoft.com/office/drawing/2014/main" id="{6D5A3EE8-6AE5-4F43-8CCB-2FD6894A9C5F}"/>
              </a:ext>
            </a:extLst>
          </p:cNvPr>
          <p:cNvSpPr>
            <a:spLocks noGrp="1"/>
          </p:cNvSpPr>
          <p:nvPr/>
        </p:nvSpPr>
        <p:spPr>
          <a:xfrm>
            <a:off x="8686800" y="3762375"/>
            <a:ext cx="0" cy="790575"/>
          </a:xfrm>
          <a:prstGeom prst="line">
            <a:avLst/>
          </a:prstGeom>
          <a:noFill/>
          <a:ln w="9525">
            <a:solidFill>
              <a:srgbClr val="D7DDDA"/>
            </a:solidFill>
            <a:prstDash val="solid"/>
          </a:ln>
        </p:spPr>
        <p:txBody>
          <a:bodyPr/>
          <a:lstStyle/>
          <a:p>
            <a:endParaRPr lang="en-FR"/>
          </a:p>
        </p:txBody>
      </p:sp>
      <p:sp>
        <p:nvSpPr>
          <p:cNvPr id="87" name="Rectangle 86">
            <a:extLst>
              <a:ext uri="{FF2B5EF4-FFF2-40B4-BE49-F238E27FC236}">
                <a16:creationId xmlns:a16="http://schemas.microsoft.com/office/drawing/2014/main" id="{AEBA9731-B300-47CD-995B-96D12CF67565}"/>
              </a:ext>
            </a:extLst>
          </p:cNvPr>
          <p:cNvSpPr>
            <a:spLocks noGrp="1"/>
          </p:cNvSpPr>
          <p:nvPr/>
        </p:nvSpPr>
        <p:spPr>
          <a:xfrm>
            <a:off x="6867525" y="4276725"/>
            <a:ext cx="742950" cy="333375"/>
          </a:xfrm>
          <a:prstGeom prst="rect">
            <a:avLst/>
          </a:prstGeom>
          <a:noFill/>
          <a:ln w="0">
            <a:noFill/>
            <a:prstDash val="solid"/>
          </a:ln>
        </p:spPr>
        <p:txBody>
          <a:bodyPr wrap="square" lIns="0" tIns="0" rIns="0" bIns="0" anchor="t"/>
          <a:lstStyle/>
          <a:p>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Virtual Cloud</a:t>
            </a:r>
          </a:p>
          <a:p>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Network (VCN)</a:t>
            </a:r>
          </a:p>
        </p:txBody>
      </p:sp>
      <p:sp>
        <p:nvSpPr>
          <p:cNvPr id="88" name="Rectangle 87">
            <a:extLst>
              <a:ext uri="{FF2B5EF4-FFF2-40B4-BE49-F238E27FC236}">
                <a16:creationId xmlns:a16="http://schemas.microsoft.com/office/drawing/2014/main" id="{41FBB636-1B39-4C59-AD6F-2CD49D6838D0}"/>
              </a:ext>
            </a:extLst>
          </p:cNvPr>
          <p:cNvSpPr>
            <a:spLocks noGrp="1"/>
          </p:cNvSpPr>
          <p:nvPr/>
        </p:nvSpPr>
        <p:spPr>
          <a:xfrm>
            <a:off x="7877175" y="4276725"/>
            <a:ext cx="819150" cy="333375"/>
          </a:xfrm>
          <a:prstGeom prst="rect">
            <a:avLst/>
          </a:prstGeom>
          <a:noFill/>
          <a:ln w="0">
            <a:noFill/>
            <a:prstDash val="solid"/>
          </a:ln>
        </p:spPr>
        <p:txBody>
          <a:bodyPr wrap="square" lIns="0" tIns="0" rIns="0" bIns="0" anchor="t"/>
          <a:lstStyle/>
          <a:p>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Compute Instances</a:t>
            </a:r>
          </a:p>
          <a:p>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(Flex Shapes)</a:t>
            </a:r>
          </a:p>
        </p:txBody>
      </p:sp>
      <p:sp>
        <p:nvSpPr>
          <p:cNvPr id="89" name="Rectangle 88">
            <a:extLst>
              <a:ext uri="{FF2B5EF4-FFF2-40B4-BE49-F238E27FC236}">
                <a16:creationId xmlns:a16="http://schemas.microsoft.com/office/drawing/2014/main" id="{F79C58D5-44F2-446E-AE6E-5A56478D8D39}"/>
              </a:ext>
            </a:extLst>
          </p:cNvPr>
          <p:cNvSpPr>
            <a:spLocks noGrp="1"/>
          </p:cNvSpPr>
          <p:nvPr/>
        </p:nvSpPr>
        <p:spPr>
          <a:xfrm>
            <a:off x="8905875" y="4276725"/>
            <a:ext cx="723900" cy="333375"/>
          </a:xfrm>
          <a:prstGeom prst="rect">
            <a:avLst/>
          </a:prstGeom>
          <a:noFill/>
          <a:ln w="0">
            <a:noFill/>
            <a:prstDash val="solid"/>
          </a:ln>
        </p:spPr>
        <p:txBody>
          <a:bodyPr wrap="square" lIns="0" tIns="0" rIns="0" bIns="0" anchor="t"/>
          <a:lstStyle/>
          <a:p>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OCI Block</a:t>
            </a:r>
          </a:p>
          <a:p>
            <a:pPr algn="ctr">
              <a:lnSpc>
                <a:spcPct val="115000"/>
              </a:lnSpc>
              <a:buNone/>
              <a:defRPr sz="757" b="0" i="0">
                <a:solidFill>
                  <a:srgbClr val="111111"/>
                </a:solidFill>
                <a:latin typeface="Arial"/>
                <a:ea typeface="Arial"/>
                <a:cs typeface="Arial"/>
              </a:defRPr>
            </a:pPr>
            <a:r>
              <a:rPr sz="757" b="0" i="0">
                <a:solidFill>
                  <a:srgbClr val="111111"/>
                </a:solidFill>
                <a:latin typeface="Arial"/>
                <a:ea typeface="Arial"/>
                <a:cs typeface="Arial"/>
              </a:rPr>
              <a:t>Volumes</a:t>
            </a:r>
          </a:p>
        </p:txBody>
      </p:sp>
      <p:sp>
        <p:nvSpPr>
          <p:cNvPr id="90" name="Rounded Rectangle 89">
            <a:extLst>
              <a:ext uri="{FF2B5EF4-FFF2-40B4-BE49-F238E27FC236}">
                <a16:creationId xmlns:a16="http://schemas.microsoft.com/office/drawing/2014/main" id="{BDACEB6B-C8A1-46D0-BD55-6E821AA637E9}"/>
              </a:ext>
            </a:extLst>
          </p:cNvPr>
          <p:cNvSpPr>
            <a:spLocks noGrp="1"/>
          </p:cNvSpPr>
          <p:nvPr/>
        </p:nvSpPr>
        <p:spPr>
          <a:xfrm>
            <a:off x="6724650" y="5143500"/>
            <a:ext cx="2876550" cy="485775"/>
          </a:xfrm>
          <a:prstGeom prst="roundRect">
            <a:avLst>
              <a:gd name="adj" fmla="val 15686"/>
            </a:avLst>
          </a:prstGeom>
          <a:solidFill>
            <a:srgbClr val="FDEEEE"/>
          </a:solidFill>
          <a:ln w="0">
            <a:noFill/>
            <a:prstDash val="solid"/>
          </a:ln>
        </p:spPr>
        <p:txBody>
          <a:bodyPr/>
          <a:lstStyle/>
          <a:p>
            <a:endParaRPr lang="en-FR"/>
          </a:p>
        </p:txBody>
      </p:sp>
      <p:pic>
        <p:nvPicPr>
          <p:cNvPr id="213" name="Picture 212"/>
          <p:cNvPicPr>
            <a:picLocks noChangeAspect="1"/>
          </p:cNvPicPr>
          <p:nvPr/>
        </p:nvPicPr>
        <p:blipFill>
          <a:blip r:embed="rId6"/>
          <a:stretch/>
        </p:blipFill>
        <p:spPr>
          <a:xfrm>
            <a:off x="6896100" y="5219700"/>
            <a:ext cx="323850" cy="323850"/>
          </a:xfrm>
          <a:prstGeom prst="rect">
            <a:avLst/>
          </a:prstGeom>
        </p:spPr>
      </p:pic>
      <p:sp>
        <p:nvSpPr>
          <p:cNvPr id="92" name="Rectangle 91">
            <a:extLst>
              <a:ext uri="{FF2B5EF4-FFF2-40B4-BE49-F238E27FC236}">
                <a16:creationId xmlns:a16="http://schemas.microsoft.com/office/drawing/2014/main" id="{426A9FF3-0B4D-4A04-984A-68BE296DBD0F}"/>
              </a:ext>
            </a:extLst>
          </p:cNvPr>
          <p:cNvSpPr>
            <a:spLocks noGrp="1"/>
          </p:cNvSpPr>
          <p:nvPr/>
        </p:nvSpPr>
        <p:spPr>
          <a:xfrm>
            <a:off x="7296150" y="5286375"/>
            <a:ext cx="2095500" cy="295275"/>
          </a:xfrm>
          <a:prstGeom prst="rect">
            <a:avLst/>
          </a:prstGeom>
          <a:noFill/>
          <a:ln w="0">
            <a:noFill/>
            <a:prstDash val="solid"/>
          </a:ln>
        </p:spPr>
        <p:txBody>
          <a:bodyPr wrap="square" lIns="0" tIns="0" rIns="0" bIns="0" anchor="t"/>
          <a:lstStyle/>
          <a:p>
            <a:pPr algn="l">
              <a:lnSpc>
                <a:spcPct val="120000"/>
              </a:lnSpc>
              <a:buNone/>
              <a:defRPr sz="848" b="1" i="0">
                <a:solidFill>
                  <a:srgbClr val="111111"/>
                </a:solidFill>
                <a:latin typeface="Arial"/>
                <a:ea typeface="Arial"/>
                <a:cs typeface="Arial"/>
              </a:defRPr>
            </a:pPr>
            <a:r>
              <a:rPr sz="848" b="1" i="0">
                <a:solidFill>
                  <a:srgbClr val="111111"/>
                </a:solidFill>
                <a:latin typeface="Arial"/>
                <a:ea typeface="Arial"/>
                <a:cs typeface="Arial"/>
              </a:rPr>
              <a:t>Secure, scalable and highly available</a:t>
            </a:r>
          </a:p>
          <a:p>
            <a:pPr algn="l">
              <a:lnSpc>
                <a:spcPct val="120000"/>
              </a:lnSpc>
              <a:buNone/>
              <a:defRPr sz="848" b="1" i="0">
                <a:solidFill>
                  <a:srgbClr val="111111"/>
                </a:solidFill>
                <a:latin typeface="Arial"/>
                <a:ea typeface="Arial"/>
                <a:cs typeface="Arial"/>
              </a:defRPr>
            </a:pPr>
            <a:r>
              <a:rPr sz="848" b="1" i="0">
                <a:solidFill>
                  <a:srgbClr val="111111"/>
                </a:solidFill>
                <a:latin typeface="Arial"/>
                <a:ea typeface="Arial"/>
                <a:cs typeface="Arial"/>
              </a:rPr>
              <a:t>cloud infrastructure on OCI.</a:t>
            </a:r>
          </a:p>
        </p:txBody>
      </p:sp>
      <p:sp>
        <p:nvSpPr>
          <p:cNvPr id="93" name="Straight Connector 92">
            <a:extLst>
              <a:ext uri="{FF2B5EF4-FFF2-40B4-BE49-F238E27FC236}">
                <a16:creationId xmlns:a16="http://schemas.microsoft.com/office/drawing/2014/main" id="{8062D03E-2FCE-4404-8A29-08570A9063F5}"/>
              </a:ext>
            </a:extLst>
          </p:cNvPr>
          <p:cNvSpPr>
            <a:spLocks noGrp="1"/>
          </p:cNvSpPr>
          <p:nvPr/>
        </p:nvSpPr>
        <p:spPr>
          <a:xfrm>
            <a:off x="9953625" y="1409700"/>
            <a:ext cx="0" cy="4619625"/>
          </a:xfrm>
          <a:prstGeom prst="line">
            <a:avLst/>
          </a:prstGeom>
          <a:noFill/>
          <a:ln w="9525">
            <a:solidFill>
              <a:srgbClr val="C5CBC8"/>
            </a:solidFill>
            <a:prstDash val="solid"/>
          </a:ln>
        </p:spPr>
        <p:txBody>
          <a:bodyPr/>
          <a:lstStyle/>
          <a:p>
            <a:endParaRPr lang="en-FR"/>
          </a:p>
        </p:txBody>
      </p:sp>
      <p:sp>
        <p:nvSpPr>
          <p:cNvPr id="94" name="Rectangle 93">
            <a:extLst>
              <a:ext uri="{FF2B5EF4-FFF2-40B4-BE49-F238E27FC236}">
                <a16:creationId xmlns:a16="http://schemas.microsoft.com/office/drawing/2014/main" id="{90DB68CE-EF25-4E6E-8FA3-88F0A208ABB0}"/>
              </a:ext>
            </a:extLst>
          </p:cNvPr>
          <p:cNvSpPr>
            <a:spLocks noGrp="1"/>
          </p:cNvSpPr>
          <p:nvPr/>
        </p:nvSpPr>
        <p:spPr>
          <a:xfrm>
            <a:off x="10134600" y="1438275"/>
            <a:ext cx="1714500" cy="190500"/>
          </a:xfrm>
          <a:prstGeom prst="rect">
            <a:avLst/>
          </a:prstGeom>
          <a:noFill/>
          <a:ln w="0">
            <a:noFill/>
            <a:prstDash val="solid"/>
          </a:ln>
        </p:spPr>
        <p:txBody>
          <a:bodyPr wrap="none" lIns="0" tIns="0" rIns="0" bIns="0" anchor="t"/>
          <a:lstStyle/>
          <a:p>
            <a:pPr algn="l">
              <a:lnSpc>
                <a:spcPct val="100000"/>
              </a:lnSpc>
              <a:buNone/>
              <a:defRPr sz="990" b="1" i="0">
                <a:solidFill>
                  <a:srgbClr val="00452C"/>
                </a:solidFill>
                <a:latin typeface="Arial"/>
                <a:ea typeface="Arial"/>
                <a:cs typeface="Arial"/>
              </a:defRPr>
            </a:pPr>
            <a:r>
              <a:rPr sz="990" b="1" i="0">
                <a:solidFill>
                  <a:srgbClr val="00452C"/>
                </a:solidFill>
                <a:latin typeface="Arial"/>
                <a:ea typeface="Arial"/>
                <a:cs typeface="Arial"/>
              </a:rPr>
              <a:t>BUSINESS OUTCOMES</a:t>
            </a:r>
          </a:p>
        </p:txBody>
      </p:sp>
      <p:sp>
        <p:nvSpPr>
          <p:cNvPr id="95" name="Straight Connector 94">
            <a:extLst>
              <a:ext uri="{FF2B5EF4-FFF2-40B4-BE49-F238E27FC236}">
                <a16:creationId xmlns:a16="http://schemas.microsoft.com/office/drawing/2014/main" id="{36038A14-6200-4447-BB79-C099811EB70B}"/>
              </a:ext>
            </a:extLst>
          </p:cNvPr>
          <p:cNvSpPr>
            <a:spLocks noGrp="1"/>
          </p:cNvSpPr>
          <p:nvPr/>
        </p:nvSpPr>
        <p:spPr>
          <a:xfrm>
            <a:off x="10134600" y="1695450"/>
            <a:ext cx="1752600" cy="0"/>
          </a:xfrm>
          <a:prstGeom prst="line">
            <a:avLst/>
          </a:prstGeom>
          <a:noFill/>
          <a:ln w="12383">
            <a:solidFill>
              <a:srgbClr val="00452C"/>
            </a:solidFill>
            <a:prstDash val="solid"/>
          </a:ln>
        </p:spPr>
        <p:txBody>
          <a:bodyPr/>
          <a:lstStyle/>
          <a:p>
            <a:endParaRPr lang="en-FR"/>
          </a:p>
        </p:txBody>
      </p:sp>
      <p:pic>
        <p:nvPicPr>
          <p:cNvPr id="218" name="Picture 217"/>
          <p:cNvPicPr>
            <a:picLocks noChangeAspect="1"/>
          </p:cNvPicPr>
          <p:nvPr/>
        </p:nvPicPr>
        <p:blipFill>
          <a:blip r:embed="rId22"/>
          <a:stretch/>
        </p:blipFill>
        <p:spPr>
          <a:xfrm>
            <a:off x="10106025" y="1857375"/>
            <a:ext cx="523875" cy="523875"/>
          </a:xfrm>
          <a:prstGeom prst="rect">
            <a:avLst/>
          </a:prstGeom>
        </p:spPr>
      </p:pic>
      <p:sp>
        <p:nvSpPr>
          <p:cNvPr id="97" name="Rectangle 96">
            <a:extLst>
              <a:ext uri="{FF2B5EF4-FFF2-40B4-BE49-F238E27FC236}">
                <a16:creationId xmlns:a16="http://schemas.microsoft.com/office/drawing/2014/main" id="{6018DB0E-0132-4AB2-B4CF-194E4D364420}"/>
              </a:ext>
            </a:extLst>
          </p:cNvPr>
          <p:cNvSpPr>
            <a:spLocks noGrp="1"/>
          </p:cNvSpPr>
          <p:nvPr/>
        </p:nvSpPr>
        <p:spPr>
          <a:xfrm>
            <a:off x="10668000" y="1905000"/>
            <a:ext cx="1381125" cy="171450"/>
          </a:xfrm>
          <a:prstGeom prst="rect">
            <a:avLst/>
          </a:prstGeom>
          <a:noFill/>
          <a:ln w="0">
            <a:noFill/>
            <a:prstDash val="solid"/>
          </a:ln>
        </p:spPr>
        <p:txBody>
          <a:bodyPr wrap="none" lIns="0" tIns="0" rIns="0" bIns="0" anchor="t"/>
          <a:lstStyle/>
          <a:p>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Lower Costs</a:t>
            </a:r>
          </a:p>
        </p:txBody>
      </p:sp>
      <p:sp>
        <p:nvSpPr>
          <p:cNvPr id="98" name="Rectangle 97">
            <a:extLst>
              <a:ext uri="{FF2B5EF4-FFF2-40B4-BE49-F238E27FC236}">
                <a16:creationId xmlns:a16="http://schemas.microsoft.com/office/drawing/2014/main" id="{C27438A7-F5AC-492E-8AE2-686E5A686DA1}"/>
              </a:ext>
            </a:extLst>
          </p:cNvPr>
          <p:cNvSpPr>
            <a:spLocks noGrp="1"/>
          </p:cNvSpPr>
          <p:nvPr/>
        </p:nvSpPr>
        <p:spPr>
          <a:xfrm>
            <a:off x="10668000" y="2114550"/>
            <a:ext cx="1352550" cy="419100"/>
          </a:xfrm>
          <a:prstGeom prst="rect">
            <a:avLst/>
          </a:prstGeom>
          <a:noFill/>
          <a:ln w="0">
            <a:noFill/>
            <a:prstDash val="solid"/>
          </a:ln>
        </p:spPr>
        <p:txBody>
          <a:bodyPr wrap="square" lIns="0" tIns="0" rIns="0" bIns="0" anchor="t"/>
          <a:lstStyle/>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Reduce VMware licensing</a:t>
            </a:r>
          </a:p>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and operational costs.</a:t>
            </a:r>
          </a:p>
        </p:txBody>
      </p:sp>
      <p:sp>
        <p:nvSpPr>
          <p:cNvPr id="99" name="Straight Connector 98">
            <a:extLst>
              <a:ext uri="{FF2B5EF4-FFF2-40B4-BE49-F238E27FC236}">
                <a16:creationId xmlns:a16="http://schemas.microsoft.com/office/drawing/2014/main" id="{2FF284E2-9078-4CBE-A2E4-7F9DD4C18AF9}"/>
              </a:ext>
            </a:extLst>
          </p:cNvPr>
          <p:cNvSpPr>
            <a:spLocks noGrp="1"/>
          </p:cNvSpPr>
          <p:nvPr/>
        </p:nvSpPr>
        <p:spPr>
          <a:xfrm>
            <a:off x="10134600" y="2590800"/>
            <a:ext cx="1866900" cy="0"/>
          </a:xfrm>
          <a:prstGeom prst="line">
            <a:avLst/>
          </a:prstGeom>
          <a:noFill/>
          <a:ln w="9525">
            <a:solidFill>
              <a:srgbClr val="D7DDDA"/>
            </a:solidFill>
            <a:prstDash val="solid"/>
          </a:ln>
        </p:spPr>
        <p:txBody>
          <a:bodyPr/>
          <a:lstStyle/>
          <a:p>
            <a:endParaRPr lang="en-FR"/>
          </a:p>
        </p:txBody>
      </p:sp>
      <p:pic>
        <p:nvPicPr>
          <p:cNvPr id="222" name="Picture 221"/>
          <p:cNvPicPr>
            <a:picLocks noChangeAspect="1"/>
          </p:cNvPicPr>
          <p:nvPr/>
        </p:nvPicPr>
        <p:blipFill>
          <a:blip r:embed="rId23"/>
          <a:stretch/>
        </p:blipFill>
        <p:spPr>
          <a:xfrm>
            <a:off x="10106025" y="2676525"/>
            <a:ext cx="523875" cy="523875"/>
          </a:xfrm>
          <a:prstGeom prst="rect">
            <a:avLst/>
          </a:prstGeom>
        </p:spPr>
      </p:pic>
      <p:sp>
        <p:nvSpPr>
          <p:cNvPr id="101" name="Rectangle 100">
            <a:extLst>
              <a:ext uri="{FF2B5EF4-FFF2-40B4-BE49-F238E27FC236}">
                <a16:creationId xmlns:a16="http://schemas.microsoft.com/office/drawing/2014/main" id="{8AA1A5D9-87DC-4EB8-B5EF-FF7C7CE14109}"/>
              </a:ext>
            </a:extLst>
          </p:cNvPr>
          <p:cNvSpPr>
            <a:spLocks noGrp="1"/>
          </p:cNvSpPr>
          <p:nvPr/>
        </p:nvSpPr>
        <p:spPr>
          <a:xfrm>
            <a:off x="10668000" y="2724150"/>
            <a:ext cx="1381125" cy="171450"/>
          </a:xfrm>
          <a:prstGeom prst="rect">
            <a:avLst/>
          </a:prstGeom>
          <a:noFill/>
          <a:ln w="0">
            <a:noFill/>
            <a:prstDash val="solid"/>
          </a:ln>
        </p:spPr>
        <p:txBody>
          <a:bodyPr wrap="none" lIns="0" tIns="0" rIns="0" bIns="0" anchor="t"/>
          <a:lstStyle/>
          <a:p>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Right-Size Infrastructure</a:t>
            </a:r>
          </a:p>
        </p:txBody>
      </p:sp>
      <p:sp>
        <p:nvSpPr>
          <p:cNvPr id="102" name="Rectangle 101">
            <a:extLst>
              <a:ext uri="{FF2B5EF4-FFF2-40B4-BE49-F238E27FC236}">
                <a16:creationId xmlns:a16="http://schemas.microsoft.com/office/drawing/2014/main" id="{44861EC4-2E70-4B3B-A3F2-E22ADA54062C}"/>
              </a:ext>
            </a:extLst>
          </p:cNvPr>
          <p:cNvSpPr>
            <a:spLocks noGrp="1"/>
          </p:cNvSpPr>
          <p:nvPr/>
        </p:nvSpPr>
        <p:spPr>
          <a:xfrm>
            <a:off x="10668000" y="2933700"/>
            <a:ext cx="1352550" cy="419100"/>
          </a:xfrm>
          <a:prstGeom prst="rect">
            <a:avLst/>
          </a:prstGeom>
          <a:noFill/>
          <a:ln w="0">
            <a:noFill/>
            <a:prstDash val="solid"/>
          </a:ln>
        </p:spPr>
        <p:txBody>
          <a:bodyPr wrap="square" lIns="0" tIns="0" rIns="0" bIns="0" anchor="t"/>
          <a:lstStyle/>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Optimize compute resources</a:t>
            </a:r>
          </a:p>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using OCI Flex Shapes.</a:t>
            </a:r>
          </a:p>
        </p:txBody>
      </p:sp>
      <p:sp>
        <p:nvSpPr>
          <p:cNvPr id="103" name="Straight Connector 102">
            <a:extLst>
              <a:ext uri="{FF2B5EF4-FFF2-40B4-BE49-F238E27FC236}">
                <a16:creationId xmlns:a16="http://schemas.microsoft.com/office/drawing/2014/main" id="{64985FD5-6D0D-4AE2-A6A0-8BD0C2E3F591}"/>
              </a:ext>
            </a:extLst>
          </p:cNvPr>
          <p:cNvSpPr>
            <a:spLocks noGrp="1"/>
          </p:cNvSpPr>
          <p:nvPr/>
        </p:nvSpPr>
        <p:spPr>
          <a:xfrm>
            <a:off x="10134600" y="3409950"/>
            <a:ext cx="1866900" cy="0"/>
          </a:xfrm>
          <a:prstGeom prst="line">
            <a:avLst/>
          </a:prstGeom>
          <a:noFill/>
          <a:ln w="9525">
            <a:solidFill>
              <a:srgbClr val="D7DDDA"/>
            </a:solidFill>
            <a:prstDash val="solid"/>
          </a:ln>
        </p:spPr>
        <p:txBody>
          <a:bodyPr/>
          <a:lstStyle/>
          <a:p>
            <a:endParaRPr lang="en-FR"/>
          </a:p>
        </p:txBody>
      </p:sp>
      <p:pic>
        <p:nvPicPr>
          <p:cNvPr id="226" name="Picture 225"/>
          <p:cNvPicPr>
            <a:picLocks noChangeAspect="1"/>
          </p:cNvPicPr>
          <p:nvPr/>
        </p:nvPicPr>
        <p:blipFill>
          <a:blip r:embed="rId24"/>
          <a:stretch/>
        </p:blipFill>
        <p:spPr>
          <a:xfrm>
            <a:off x="10106025" y="3486150"/>
            <a:ext cx="523875" cy="523875"/>
          </a:xfrm>
          <a:prstGeom prst="rect">
            <a:avLst/>
          </a:prstGeom>
        </p:spPr>
      </p:pic>
      <p:sp>
        <p:nvSpPr>
          <p:cNvPr id="105" name="Rectangle 104">
            <a:extLst>
              <a:ext uri="{FF2B5EF4-FFF2-40B4-BE49-F238E27FC236}">
                <a16:creationId xmlns:a16="http://schemas.microsoft.com/office/drawing/2014/main" id="{0E5AE84E-8371-4CA2-B720-F2EF6EFB688E}"/>
              </a:ext>
            </a:extLst>
          </p:cNvPr>
          <p:cNvSpPr>
            <a:spLocks noGrp="1"/>
          </p:cNvSpPr>
          <p:nvPr/>
        </p:nvSpPr>
        <p:spPr>
          <a:xfrm>
            <a:off x="10668000" y="3533775"/>
            <a:ext cx="1381125" cy="171450"/>
          </a:xfrm>
          <a:prstGeom prst="rect">
            <a:avLst/>
          </a:prstGeom>
          <a:noFill/>
          <a:ln w="0">
            <a:noFill/>
            <a:prstDash val="solid"/>
          </a:ln>
        </p:spPr>
        <p:txBody>
          <a:bodyPr wrap="none" lIns="0" tIns="0" rIns="0" bIns="0" anchor="t"/>
          <a:lstStyle/>
          <a:p>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Elastic &amp; Scalable</a:t>
            </a:r>
          </a:p>
        </p:txBody>
      </p:sp>
      <p:sp>
        <p:nvSpPr>
          <p:cNvPr id="106" name="Rectangle 105">
            <a:extLst>
              <a:ext uri="{FF2B5EF4-FFF2-40B4-BE49-F238E27FC236}">
                <a16:creationId xmlns:a16="http://schemas.microsoft.com/office/drawing/2014/main" id="{157646D1-4382-4B10-88E4-31D2E0556FBB}"/>
              </a:ext>
            </a:extLst>
          </p:cNvPr>
          <p:cNvSpPr>
            <a:spLocks noGrp="1"/>
          </p:cNvSpPr>
          <p:nvPr/>
        </p:nvSpPr>
        <p:spPr>
          <a:xfrm>
            <a:off x="10668000" y="3743325"/>
            <a:ext cx="1352550" cy="419100"/>
          </a:xfrm>
          <a:prstGeom prst="rect">
            <a:avLst/>
          </a:prstGeom>
          <a:noFill/>
          <a:ln w="0">
            <a:noFill/>
            <a:prstDash val="solid"/>
          </a:ln>
        </p:spPr>
        <p:txBody>
          <a:bodyPr wrap="square" lIns="0" tIns="0" rIns="0" bIns="0" anchor="t"/>
          <a:lstStyle/>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Scale resources up or</a:t>
            </a:r>
          </a:p>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down as needed.</a:t>
            </a:r>
          </a:p>
        </p:txBody>
      </p:sp>
      <p:sp>
        <p:nvSpPr>
          <p:cNvPr id="107" name="Straight Connector 106">
            <a:extLst>
              <a:ext uri="{FF2B5EF4-FFF2-40B4-BE49-F238E27FC236}">
                <a16:creationId xmlns:a16="http://schemas.microsoft.com/office/drawing/2014/main" id="{5D728FFC-3C38-471E-B62B-8C701CB2C912}"/>
              </a:ext>
            </a:extLst>
          </p:cNvPr>
          <p:cNvSpPr>
            <a:spLocks noGrp="1"/>
          </p:cNvSpPr>
          <p:nvPr/>
        </p:nvSpPr>
        <p:spPr>
          <a:xfrm>
            <a:off x="10134600" y="4219575"/>
            <a:ext cx="1866900" cy="0"/>
          </a:xfrm>
          <a:prstGeom prst="line">
            <a:avLst/>
          </a:prstGeom>
          <a:noFill/>
          <a:ln w="9525">
            <a:solidFill>
              <a:srgbClr val="D7DDDA"/>
            </a:solidFill>
            <a:prstDash val="solid"/>
          </a:ln>
        </p:spPr>
        <p:txBody>
          <a:bodyPr/>
          <a:lstStyle/>
          <a:p>
            <a:endParaRPr lang="en-FR"/>
          </a:p>
        </p:txBody>
      </p:sp>
      <p:pic>
        <p:nvPicPr>
          <p:cNvPr id="230" name="Picture 229"/>
          <p:cNvPicPr>
            <a:picLocks noChangeAspect="1"/>
          </p:cNvPicPr>
          <p:nvPr/>
        </p:nvPicPr>
        <p:blipFill>
          <a:blip r:embed="rId25"/>
          <a:stretch/>
        </p:blipFill>
        <p:spPr>
          <a:xfrm>
            <a:off x="10106025" y="4295775"/>
            <a:ext cx="523875" cy="523875"/>
          </a:xfrm>
          <a:prstGeom prst="rect">
            <a:avLst/>
          </a:prstGeom>
        </p:spPr>
      </p:pic>
      <p:sp>
        <p:nvSpPr>
          <p:cNvPr id="109" name="Rectangle 108">
            <a:extLst>
              <a:ext uri="{FF2B5EF4-FFF2-40B4-BE49-F238E27FC236}">
                <a16:creationId xmlns:a16="http://schemas.microsoft.com/office/drawing/2014/main" id="{9B6371C7-BABB-4EC6-BA25-B3573919A0E6}"/>
              </a:ext>
            </a:extLst>
          </p:cNvPr>
          <p:cNvSpPr>
            <a:spLocks noGrp="1"/>
          </p:cNvSpPr>
          <p:nvPr/>
        </p:nvSpPr>
        <p:spPr>
          <a:xfrm>
            <a:off x="10668000" y="4343400"/>
            <a:ext cx="1381125" cy="171450"/>
          </a:xfrm>
          <a:prstGeom prst="rect">
            <a:avLst/>
          </a:prstGeom>
          <a:noFill/>
          <a:ln w="0">
            <a:noFill/>
            <a:prstDash val="solid"/>
          </a:ln>
        </p:spPr>
        <p:txBody>
          <a:bodyPr wrap="none" lIns="0" tIns="0" rIns="0" bIns="0" anchor="t"/>
          <a:lstStyle/>
          <a:p>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Cloud Native Modernization</a:t>
            </a:r>
          </a:p>
        </p:txBody>
      </p:sp>
      <p:sp>
        <p:nvSpPr>
          <p:cNvPr id="110" name="Rectangle 109">
            <a:extLst>
              <a:ext uri="{FF2B5EF4-FFF2-40B4-BE49-F238E27FC236}">
                <a16:creationId xmlns:a16="http://schemas.microsoft.com/office/drawing/2014/main" id="{BC6B722B-ED6F-444A-82BA-5244DE4AEAD5}"/>
              </a:ext>
            </a:extLst>
          </p:cNvPr>
          <p:cNvSpPr>
            <a:spLocks noGrp="1"/>
          </p:cNvSpPr>
          <p:nvPr/>
        </p:nvSpPr>
        <p:spPr>
          <a:xfrm>
            <a:off x="10668000" y="4552950"/>
            <a:ext cx="1352550" cy="419100"/>
          </a:xfrm>
          <a:prstGeom prst="rect">
            <a:avLst/>
          </a:prstGeom>
          <a:noFill/>
          <a:ln w="0">
            <a:noFill/>
            <a:prstDash val="solid"/>
          </a:ln>
        </p:spPr>
        <p:txBody>
          <a:bodyPr wrap="square" lIns="0" tIns="0" rIns="0" bIns="0" anchor="t"/>
          <a:lstStyle/>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Adopt OCI native services</a:t>
            </a:r>
          </a:p>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over time.</a:t>
            </a:r>
          </a:p>
        </p:txBody>
      </p:sp>
      <p:sp>
        <p:nvSpPr>
          <p:cNvPr id="111" name="Straight Connector 110">
            <a:extLst>
              <a:ext uri="{FF2B5EF4-FFF2-40B4-BE49-F238E27FC236}">
                <a16:creationId xmlns:a16="http://schemas.microsoft.com/office/drawing/2014/main" id="{56D9EC54-3505-4553-8D9B-28CE78AAEEF4}"/>
              </a:ext>
            </a:extLst>
          </p:cNvPr>
          <p:cNvSpPr>
            <a:spLocks noGrp="1"/>
          </p:cNvSpPr>
          <p:nvPr/>
        </p:nvSpPr>
        <p:spPr>
          <a:xfrm>
            <a:off x="10134600" y="5029200"/>
            <a:ext cx="1866900" cy="0"/>
          </a:xfrm>
          <a:prstGeom prst="line">
            <a:avLst/>
          </a:prstGeom>
          <a:noFill/>
          <a:ln w="9525">
            <a:solidFill>
              <a:srgbClr val="D7DDDA"/>
            </a:solidFill>
            <a:prstDash val="solid"/>
          </a:ln>
        </p:spPr>
        <p:txBody>
          <a:bodyPr/>
          <a:lstStyle/>
          <a:p>
            <a:endParaRPr lang="en-FR"/>
          </a:p>
        </p:txBody>
      </p:sp>
      <p:pic>
        <p:nvPicPr>
          <p:cNvPr id="234" name="Picture 233"/>
          <p:cNvPicPr>
            <a:picLocks noChangeAspect="1"/>
          </p:cNvPicPr>
          <p:nvPr/>
        </p:nvPicPr>
        <p:blipFill>
          <a:blip r:embed="rId26"/>
          <a:stretch/>
        </p:blipFill>
        <p:spPr>
          <a:xfrm>
            <a:off x="10106025" y="5105400"/>
            <a:ext cx="523875" cy="523875"/>
          </a:xfrm>
          <a:prstGeom prst="rect">
            <a:avLst/>
          </a:prstGeom>
        </p:spPr>
      </p:pic>
      <p:sp>
        <p:nvSpPr>
          <p:cNvPr id="113" name="Rectangle 112">
            <a:extLst>
              <a:ext uri="{FF2B5EF4-FFF2-40B4-BE49-F238E27FC236}">
                <a16:creationId xmlns:a16="http://schemas.microsoft.com/office/drawing/2014/main" id="{B9EF9EB7-8094-4E2E-B689-B02467BE4BED}"/>
              </a:ext>
            </a:extLst>
          </p:cNvPr>
          <p:cNvSpPr>
            <a:spLocks noGrp="1"/>
          </p:cNvSpPr>
          <p:nvPr/>
        </p:nvSpPr>
        <p:spPr>
          <a:xfrm>
            <a:off x="10668000" y="5153025"/>
            <a:ext cx="1381125" cy="171450"/>
          </a:xfrm>
          <a:prstGeom prst="rect">
            <a:avLst/>
          </a:prstGeom>
          <a:noFill/>
          <a:ln w="0">
            <a:noFill/>
            <a:prstDash val="solid"/>
          </a:ln>
        </p:spPr>
        <p:txBody>
          <a:bodyPr wrap="none" lIns="0" tIns="0" rIns="0" bIns="0" anchor="t"/>
          <a:lstStyle/>
          <a:p>
            <a:pPr algn="l">
              <a:lnSpc>
                <a:spcPct val="100000"/>
              </a:lnSpc>
              <a:buNone/>
              <a:defRPr sz="863" b="1" i="0">
                <a:solidFill>
                  <a:srgbClr val="00452C"/>
                </a:solidFill>
                <a:latin typeface="Arial"/>
                <a:ea typeface="Arial"/>
                <a:cs typeface="Arial"/>
              </a:defRPr>
            </a:pPr>
            <a:r>
              <a:rPr sz="863" b="1" i="0">
                <a:solidFill>
                  <a:srgbClr val="00452C"/>
                </a:solidFill>
                <a:latin typeface="Arial"/>
                <a:ea typeface="Arial"/>
                <a:cs typeface="Arial"/>
              </a:rPr>
              <a:t>Secure &amp; Resilient</a:t>
            </a:r>
          </a:p>
        </p:txBody>
      </p:sp>
      <p:sp>
        <p:nvSpPr>
          <p:cNvPr id="114" name="Rectangle 113">
            <a:extLst>
              <a:ext uri="{FF2B5EF4-FFF2-40B4-BE49-F238E27FC236}">
                <a16:creationId xmlns:a16="http://schemas.microsoft.com/office/drawing/2014/main" id="{A6917848-6D0C-4CF1-A766-F0464BE53CA1}"/>
              </a:ext>
            </a:extLst>
          </p:cNvPr>
          <p:cNvSpPr>
            <a:spLocks noGrp="1"/>
          </p:cNvSpPr>
          <p:nvPr/>
        </p:nvSpPr>
        <p:spPr>
          <a:xfrm>
            <a:off x="10668000" y="5362575"/>
            <a:ext cx="1352550" cy="419100"/>
          </a:xfrm>
          <a:prstGeom prst="rect">
            <a:avLst/>
          </a:prstGeom>
          <a:noFill/>
          <a:ln w="0">
            <a:noFill/>
            <a:prstDash val="solid"/>
          </a:ln>
        </p:spPr>
        <p:txBody>
          <a:bodyPr wrap="square" lIns="0" tIns="0" rIns="0" bIns="0" anchor="t"/>
          <a:lstStyle/>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Built-in security and</a:t>
            </a:r>
          </a:p>
          <a:p>
            <a:pPr algn="l">
              <a:lnSpc>
                <a:spcPct val="120000"/>
              </a:lnSpc>
              <a:buNone/>
              <a:defRPr sz="765" b="0" i="0">
                <a:solidFill>
                  <a:srgbClr val="111111"/>
                </a:solidFill>
                <a:latin typeface="Arial"/>
                <a:ea typeface="Arial"/>
                <a:cs typeface="Arial"/>
              </a:defRPr>
            </a:pPr>
            <a:r>
              <a:rPr sz="765" b="0" i="0">
                <a:solidFill>
                  <a:srgbClr val="111111"/>
                </a:solidFill>
                <a:latin typeface="Arial"/>
                <a:ea typeface="Arial"/>
                <a:cs typeface="Arial"/>
              </a:rPr>
              <a:t>high availability.</a:t>
            </a:r>
          </a:p>
        </p:txBody>
      </p:sp>
      <p:sp>
        <p:nvSpPr>
          <p:cNvPr id="115" name="Straight Connector 114">
            <a:extLst>
              <a:ext uri="{FF2B5EF4-FFF2-40B4-BE49-F238E27FC236}">
                <a16:creationId xmlns:a16="http://schemas.microsoft.com/office/drawing/2014/main" id="{46E191F9-703A-467D-98F6-B28E987C4E8C}"/>
              </a:ext>
            </a:extLst>
          </p:cNvPr>
          <p:cNvSpPr>
            <a:spLocks noGrp="1"/>
          </p:cNvSpPr>
          <p:nvPr/>
        </p:nvSpPr>
        <p:spPr>
          <a:xfrm>
            <a:off x="10134600" y="5838825"/>
            <a:ext cx="1866900" cy="0"/>
          </a:xfrm>
          <a:prstGeom prst="line">
            <a:avLst/>
          </a:prstGeom>
          <a:noFill/>
          <a:ln w="9525">
            <a:solidFill>
              <a:srgbClr val="D7DDDA"/>
            </a:solidFill>
            <a:prstDash val="solid"/>
          </a:ln>
        </p:spPr>
        <p:txBody>
          <a:bodyPr/>
          <a:lstStyle/>
          <a:p>
            <a:endParaRPr lang="en-FR"/>
          </a:p>
        </p:txBody>
      </p:sp>
      <p:sp>
        <p:nvSpPr>
          <p:cNvPr id="116" name="Rounded Rectangle 115">
            <a:extLst>
              <a:ext uri="{FF2B5EF4-FFF2-40B4-BE49-F238E27FC236}">
                <a16:creationId xmlns:a16="http://schemas.microsoft.com/office/drawing/2014/main" id="{2506CCB9-9BC8-4D8A-A0BC-78F2270D3F40}"/>
              </a:ext>
            </a:extLst>
          </p:cNvPr>
          <p:cNvSpPr>
            <a:spLocks noGrp="1"/>
          </p:cNvSpPr>
          <p:nvPr/>
        </p:nvSpPr>
        <p:spPr>
          <a:xfrm>
            <a:off x="400050" y="5962650"/>
            <a:ext cx="9353550" cy="628650"/>
          </a:xfrm>
          <a:prstGeom prst="roundRect">
            <a:avLst>
              <a:gd name="adj" fmla="val 12121"/>
            </a:avLst>
          </a:prstGeom>
          <a:gradFill>
            <a:gsLst>
              <a:gs pos="0">
                <a:srgbClr val="00351F"/>
              </a:gs>
              <a:gs pos="100000">
                <a:srgbClr val="075A35"/>
              </a:gs>
            </a:gsLst>
            <a:lin ang="0"/>
          </a:gradFill>
          <a:ln w="0">
            <a:noFill/>
            <a:prstDash val="solid"/>
          </a:ln>
        </p:spPr>
        <p:style>
          <a:lnRef idx="0">
            <a:scrgbClr r="0" g="0" b="0"/>
          </a:lnRef>
          <a:fillRef idx="0">
            <a:scrgbClr r="0" g="0" b="0"/>
          </a:fillRef>
          <a:effectRef idx="4">
            <a:scrgbClr r="0" g="0" b="0"/>
          </a:effectRef>
          <a:fontRef idx="major"/>
        </p:style>
        <p:txBody>
          <a:bodyPr/>
          <a:lstStyle/>
          <a:p>
            <a:endParaRPr lang="en-FR"/>
          </a:p>
        </p:txBody>
      </p:sp>
      <p:pic>
        <p:nvPicPr>
          <p:cNvPr id="239" name="Picture 238"/>
          <p:cNvPicPr>
            <a:picLocks noChangeAspect="1"/>
          </p:cNvPicPr>
          <p:nvPr/>
        </p:nvPicPr>
        <p:blipFill>
          <a:blip r:embed="rId27"/>
          <a:stretch/>
        </p:blipFill>
        <p:spPr>
          <a:xfrm>
            <a:off x="571293" y="6076950"/>
            <a:ext cx="409989" cy="428625"/>
          </a:xfrm>
          <a:prstGeom prst="rect">
            <a:avLst/>
          </a:prstGeom>
        </p:spPr>
      </p:pic>
      <p:sp>
        <p:nvSpPr>
          <p:cNvPr id="118" name="Rectangle 117">
            <a:extLst>
              <a:ext uri="{FF2B5EF4-FFF2-40B4-BE49-F238E27FC236}">
                <a16:creationId xmlns:a16="http://schemas.microsoft.com/office/drawing/2014/main" id="{741917FB-2F4E-4E85-917F-6405F39CAE3A}"/>
              </a:ext>
            </a:extLst>
          </p:cNvPr>
          <p:cNvSpPr>
            <a:spLocks noGrp="1"/>
          </p:cNvSpPr>
          <p:nvPr/>
        </p:nvSpPr>
        <p:spPr>
          <a:xfrm>
            <a:off x="1200150" y="6067425"/>
            <a:ext cx="8096250" cy="219075"/>
          </a:xfrm>
          <a:prstGeom prst="rect">
            <a:avLst/>
          </a:prstGeom>
          <a:noFill/>
          <a:ln w="0">
            <a:noFill/>
            <a:prstDash val="solid"/>
          </a:ln>
        </p:spPr>
        <p:txBody>
          <a:bodyPr wrap="none" lIns="0" tIns="0" rIns="0" bIns="0" anchor="t"/>
          <a:lstStyle/>
          <a:p>
            <a:pPr algn="l">
              <a:lnSpc>
                <a:spcPct val="100000"/>
              </a:lnSpc>
              <a:buNone/>
              <a:defRPr sz="1185" b="1" i="0">
                <a:solidFill>
                  <a:srgbClr val="FFFFFF"/>
                </a:solidFill>
                <a:latin typeface="Arial"/>
                <a:ea typeface="Arial"/>
                <a:cs typeface="Arial"/>
              </a:defRPr>
            </a:pPr>
            <a:r>
              <a:rPr sz="1185" b="1" i="0">
                <a:solidFill>
                  <a:srgbClr val="FFFFFF"/>
                </a:solidFill>
                <a:latin typeface="Arial"/>
                <a:ea typeface="Arial"/>
                <a:cs typeface="Arial"/>
              </a:rPr>
              <a:t>Modernize VMware workloads on OCI with flexible compute, managed storage and cloud-native services.</a:t>
            </a:r>
          </a:p>
        </p:txBody>
      </p:sp>
      <p:sp>
        <p:nvSpPr>
          <p:cNvPr id="119" name="Rectangle 118">
            <a:extLst>
              <a:ext uri="{FF2B5EF4-FFF2-40B4-BE49-F238E27FC236}">
                <a16:creationId xmlns:a16="http://schemas.microsoft.com/office/drawing/2014/main" id="{CA710CD1-804A-407C-9DAD-7BB1F02E2B2F}"/>
              </a:ext>
            </a:extLst>
          </p:cNvPr>
          <p:cNvSpPr>
            <a:spLocks noGrp="1"/>
          </p:cNvSpPr>
          <p:nvPr/>
        </p:nvSpPr>
        <p:spPr>
          <a:xfrm>
            <a:off x="1200150" y="6219825"/>
            <a:ext cx="7858125" cy="304800"/>
          </a:xfrm>
          <a:prstGeom prst="rect">
            <a:avLst/>
          </a:prstGeom>
          <a:noFill/>
          <a:ln w="0">
            <a:noFill/>
            <a:prstDash val="solid"/>
          </a:ln>
        </p:spPr>
        <p:txBody>
          <a:bodyPr wrap="square" lIns="0" tIns="0" rIns="0" bIns="0" anchor="t"/>
          <a:lstStyle/>
          <a:p>
            <a:pPr algn="l">
              <a:lnSpc>
                <a:spcPct val="125000"/>
              </a:lnSpc>
              <a:buNone/>
              <a:defRPr sz="930" b="0" i="0">
                <a:solidFill>
                  <a:srgbClr val="FFFFFF"/>
                </a:solidFill>
                <a:latin typeface="Arial"/>
                <a:ea typeface="Arial"/>
                <a:cs typeface="Arial"/>
              </a:defRPr>
            </a:pPr>
            <a:r>
              <a:rPr sz="930" b="0" i="0">
                <a:solidFill>
                  <a:srgbClr val="FFFFFF"/>
                </a:solidFill>
                <a:latin typeface="Arial"/>
                <a:ea typeface="Arial"/>
                <a:cs typeface="Arial"/>
              </a:rPr>
              <a:t>Reduce costs, simplify operations and accelerate innovation.</a:t>
            </a:r>
          </a:p>
          <a:p>
            <a:pPr algn="l">
              <a:lnSpc>
                <a:spcPct val="125000"/>
              </a:lnSpc>
              <a:buNone/>
              <a:defRPr sz="930" b="0" i="0">
                <a:solidFill>
                  <a:srgbClr val="FFFFFF"/>
                </a:solidFill>
                <a:latin typeface="Arial"/>
                <a:ea typeface="Arial"/>
                <a:cs typeface="Arial"/>
              </a:defRPr>
            </a:pPr>
            <a:r>
              <a:rPr sz="930" b="0" i="0">
                <a:solidFill>
                  <a:srgbClr val="FFFFFF"/>
                </a:solidFill>
                <a:latin typeface="Arial"/>
                <a:ea typeface="Arial"/>
                <a:cs typeface="Arial"/>
              </a:rPr>
              <a:t>Reduce VMware dependency while accelerating cloud adoption.</a:t>
            </a:r>
          </a:p>
        </p:txBody>
      </p:sp>
      <p:sp>
        <p:nvSpPr>
          <p:cNvPr id="120" name="Rectangle 119">
            <a:extLst>
              <a:ext uri="{FF2B5EF4-FFF2-40B4-BE49-F238E27FC236}">
                <a16:creationId xmlns:a16="http://schemas.microsoft.com/office/drawing/2014/main" id="{B07D6D35-4848-4C5A-A5CC-A315549C1905}"/>
              </a:ext>
            </a:extLst>
          </p:cNvPr>
          <p:cNvSpPr>
            <a:spLocks noGrp="1"/>
          </p:cNvSpPr>
          <p:nvPr/>
        </p:nvSpPr>
        <p:spPr>
          <a:xfrm>
            <a:off x="342900" y="6677025"/>
            <a:ext cx="6858000" cy="171450"/>
          </a:xfrm>
          <a:prstGeom prst="rect">
            <a:avLst/>
          </a:prstGeom>
          <a:noFill/>
          <a:ln w="0">
            <a:noFill/>
            <a:prstDash val="solid"/>
          </a:ln>
        </p:spPr>
        <p:txBody>
          <a:bodyPr wrap="none" lIns="0" tIns="0" rIns="0" bIns="0" anchor="t"/>
          <a:lstStyle/>
          <a:p>
            <a:pPr algn="l">
              <a:lnSpc>
                <a:spcPct val="100000"/>
              </a:lnSpc>
              <a:buNone/>
              <a:defRPr sz="713" b="0" i="0">
                <a:solidFill>
                  <a:srgbClr val="555555"/>
                </a:solidFill>
                <a:latin typeface="Arial"/>
                <a:ea typeface="Arial"/>
                <a:cs typeface="Arial"/>
              </a:defRPr>
            </a:pPr>
            <a:r>
              <a:rPr sz="713" b="0" i="0">
                <a:solidFill>
                  <a:srgbClr val="555555"/>
                </a:solidFill>
                <a:latin typeface="Arial"/>
                <a:ea typeface="Arial"/>
                <a:cs typeface="Arial"/>
              </a:rPr>
              <a:t>Copyright © 2026, Oracle and/or its affiliates</a:t>
            </a:r>
          </a:p>
        </p:txBody>
      </p:sp>
      <p:sp>
        <p:nvSpPr>
          <p:cNvPr id="121" name="Rectangle 120">
            <a:extLst>
              <a:ext uri="{FF2B5EF4-FFF2-40B4-BE49-F238E27FC236}">
                <a16:creationId xmlns:a16="http://schemas.microsoft.com/office/drawing/2014/main" id="{41B98EDE-E064-4E06-A83D-0FAE69F642FC}"/>
              </a:ext>
            </a:extLst>
          </p:cNvPr>
          <p:cNvSpPr>
            <a:spLocks noGrp="1"/>
          </p:cNvSpPr>
          <p:nvPr/>
        </p:nvSpPr>
        <p:spPr>
          <a:xfrm>
            <a:off x="2647950" y="6677025"/>
            <a:ext cx="114300" cy="171450"/>
          </a:xfrm>
          <a:prstGeom prst="rect">
            <a:avLst/>
          </a:prstGeom>
          <a:noFill/>
          <a:ln w="0">
            <a:noFill/>
            <a:prstDash val="solid"/>
          </a:ln>
        </p:spPr>
        <p:txBody>
          <a:bodyPr wrap="none" lIns="0" tIns="0" rIns="0" bIns="0" anchor="t"/>
          <a:lstStyle/>
          <a:p>
            <a:pPr algn="l">
              <a:lnSpc>
                <a:spcPct val="100000"/>
              </a:lnSpc>
              <a:buNone/>
              <a:defRPr sz="713" b="0" i="0">
                <a:solidFill>
                  <a:srgbClr val="555555"/>
                </a:solidFill>
                <a:latin typeface="Arial"/>
                <a:ea typeface="Arial"/>
                <a:cs typeface="Arial"/>
              </a:defRPr>
            </a:pPr>
            <a:r>
              <a:rPr sz="713" b="0" i="0">
                <a:solidFill>
                  <a:srgbClr val="555555"/>
                </a:solidFill>
                <a:latin typeface="Arial"/>
                <a:ea typeface="Arial"/>
                <a:cs typeface="Arial"/>
              </a:rPr>
              <a:t>|</a:t>
            </a:r>
          </a:p>
        </p:txBody>
      </p:sp>
      <p:sp>
        <p:nvSpPr>
          <p:cNvPr id="122" name="Rectangle 121">
            <a:extLst>
              <a:ext uri="{FF2B5EF4-FFF2-40B4-BE49-F238E27FC236}">
                <a16:creationId xmlns:a16="http://schemas.microsoft.com/office/drawing/2014/main" id="{BE42D4B6-72DF-483D-B805-D2F82CFE7DA8}"/>
              </a:ext>
            </a:extLst>
          </p:cNvPr>
          <p:cNvSpPr>
            <a:spLocks noGrp="1"/>
          </p:cNvSpPr>
          <p:nvPr/>
        </p:nvSpPr>
        <p:spPr>
          <a:xfrm>
            <a:off x="2819400" y="6677025"/>
            <a:ext cx="3143250" cy="171450"/>
          </a:xfrm>
          <a:prstGeom prst="rect">
            <a:avLst/>
          </a:prstGeom>
          <a:noFill/>
          <a:ln w="0">
            <a:noFill/>
            <a:prstDash val="solid"/>
          </a:ln>
        </p:spPr>
        <p:txBody>
          <a:bodyPr wrap="none" lIns="0" tIns="0" rIns="0" bIns="0" anchor="t"/>
          <a:lstStyle/>
          <a:p>
            <a:pPr algn="l">
              <a:lnSpc>
                <a:spcPct val="100000"/>
              </a:lnSpc>
              <a:buNone/>
              <a:defRPr sz="713" b="0" i="0">
                <a:solidFill>
                  <a:srgbClr val="E30613"/>
                </a:solidFill>
                <a:latin typeface="Arial"/>
                <a:ea typeface="Arial"/>
                <a:cs typeface="Arial"/>
              </a:defRPr>
            </a:pPr>
            <a:r>
              <a:rPr sz="713" b="0" i="0">
                <a:solidFill>
                  <a:srgbClr val="E30613"/>
                </a:solidFill>
                <a:latin typeface="Arial"/>
                <a:ea typeface="Arial"/>
                <a:cs typeface="Arial"/>
              </a:rPr>
              <a:t>Confidential: Internal/Restricted/Highly Restricted</a:t>
            </a:r>
          </a:p>
        </p:txBody>
      </p:sp>
    </p:spTree>
    <p:extLst>
      <p:ext uri="{BB962C8B-B14F-4D97-AF65-F5344CB8AC3E}">
        <p14:creationId xmlns:p14="http://schemas.microsoft.com/office/powerpoint/2010/main" val="720350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Oval 74">
            <a:extLst>
              <a:ext uri="{FF2B5EF4-FFF2-40B4-BE49-F238E27FC236}">
                <a16:creationId xmlns:a16="http://schemas.microsoft.com/office/drawing/2014/main" id="{21F0DC85-8080-41CB-9F08-90BF24F47782}"/>
              </a:ext>
            </a:extLst>
          </p:cNvPr>
          <p:cNvSpPr>
            <a:spLocks noGrp="1"/>
          </p:cNvSpPr>
          <p:nvPr/>
        </p:nvSpPr>
        <p:spPr>
          <a:xfrm>
            <a:off x="219075" y="2838450"/>
            <a:ext cx="47625" cy="47625"/>
          </a:xfrm>
          <a:prstGeom prst="ellipse">
            <a:avLst/>
          </a:prstGeom>
          <a:solidFill>
            <a:srgbClr val="E6E8E6"/>
          </a:solidFill>
          <a:ln w="0">
            <a:noFill/>
            <a:prstDash val="solid"/>
          </a:ln>
        </p:spPr>
        <p:txBody>
          <a:bodyPr/>
          <a:lstStyle/>
          <a:p>
            <a:endParaRPr lang="en-FR"/>
          </a:p>
        </p:txBody>
      </p:sp>
      <p:sp>
        <p:nvSpPr>
          <p:cNvPr id="2" name="Oval 1">
            <a:extLst>
              <a:ext uri="{FF2B5EF4-FFF2-40B4-BE49-F238E27FC236}">
                <a16:creationId xmlns:a16="http://schemas.microsoft.com/office/drawing/2014/main" id="{2F83E7F2-4739-496D-AEA1-9C7E9AF7442A}"/>
              </a:ext>
            </a:extLst>
          </p:cNvPr>
          <p:cNvSpPr>
            <a:spLocks noGrp="1"/>
          </p:cNvSpPr>
          <p:nvPr/>
        </p:nvSpPr>
        <p:spPr>
          <a:xfrm>
            <a:off x="5133975" y="552450"/>
            <a:ext cx="38100" cy="38100"/>
          </a:xfrm>
          <a:prstGeom prst="ellipse">
            <a:avLst/>
          </a:prstGeom>
          <a:solidFill>
            <a:srgbClr val="E6E8E6"/>
          </a:solidFill>
          <a:ln w="0">
            <a:noFill/>
            <a:prstDash val="solid"/>
          </a:ln>
        </p:spPr>
        <p:txBody>
          <a:bodyPr/>
          <a:lstStyle/>
          <a:p>
            <a:endParaRPr lang="en-FR"/>
          </a:p>
        </p:txBody>
      </p:sp>
      <p:sp>
        <p:nvSpPr>
          <p:cNvPr id="3" name="Oval 2">
            <a:extLst>
              <a:ext uri="{FF2B5EF4-FFF2-40B4-BE49-F238E27FC236}">
                <a16:creationId xmlns:a16="http://schemas.microsoft.com/office/drawing/2014/main" id="{50365660-F790-4395-BCCA-A1B5A74443CB}"/>
              </a:ext>
            </a:extLst>
          </p:cNvPr>
          <p:cNvSpPr>
            <a:spLocks noGrp="1"/>
          </p:cNvSpPr>
          <p:nvPr/>
        </p:nvSpPr>
        <p:spPr>
          <a:xfrm>
            <a:off x="5638800" y="933450"/>
            <a:ext cx="38100" cy="38100"/>
          </a:xfrm>
          <a:prstGeom prst="ellipse">
            <a:avLst/>
          </a:prstGeom>
          <a:solidFill>
            <a:srgbClr val="E6E8E6"/>
          </a:solidFill>
          <a:ln w="0">
            <a:noFill/>
            <a:prstDash val="solid"/>
          </a:ln>
        </p:spPr>
        <p:txBody>
          <a:bodyPr/>
          <a:lstStyle/>
          <a:p>
            <a:endParaRPr lang="en-FR"/>
          </a:p>
        </p:txBody>
      </p:sp>
      <p:sp>
        <p:nvSpPr>
          <p:cNvPr id="4" name="Oval 3">
            <a:extLst>
              <a:ext uri="{FF2B5EF4-FFF2-40B4-BE49-F238E27FC236}">
                <a16:creationId xmlns:a16="http://schemas.microsoft.com/office/drawing/2014/main" id="{9375D8DC-CA5F-40B0-B7BF-056CF93CA4C9}"/>
              </a:ext>
            </a:extLst>
          </p:cNvPr>
          <p:cNvSpPr>
            <a:spLocks noGrp="1"/>
          </p:cNvSpPr>
          <p:nvPr/>
        </p:nvSpPr>
        <p:spPr>
          <a:xfrm>
            <a:off x="5810250" y="552450"/>
            <a:ext cx="28575" cy="28575"/>
          </a:xfrm>
          <a:prstGeom prst="ellipse">
            <a:avLst/>
          </a:prstGeom>
          <a:solidFill>
            <a:srgbClr val="E6E8E6"/>
          </a:solidFill>
          <a:ln w="0">
            <a:noFill/>
            <a:prstDash val="solid"/>
          </a:ln>
        </p:spPr>
        <p:txBody>
          <a:bodyPr/>
          <a:lstStyle/>
          <a:p>
            <a:endParaRPr lang="en-FR"/>
          </a:p>
        </p:txBody>
      </p:sp>
      <p:sp>
        <p:nvSpPr>
          <p:cNvPr id="5" name="Oval 4">
            <a:extLst>
              <a:ext uri="{FF2B5EF4-FFF2-40B4-BE49-F238E27FC236}">
                <a16:creationId xmlns:a16="http://schemas.microsoft.com/office/drawing/2014/main" id="{9B4636DC-97BE-46CA-BEB6-6BF5B65A7B74}"/>
              </a:ext>
            </a:extLst>
          </p:cNvPr>
          <p:cNvSpPr>
            <a:spLocks noGrp="1"/>
          </p:cNvSpPr>
          <p:nvPr/>
        </p:nvSpPr>
        <p:spPr>
          <a:xfrm>
            <a:off x="4505325" y="981075"/>
            <a:ext cx="57150" cy="57150"/>
          </a:xfrm>
          <a:prstGeom prst="ellipse">
            <a:avLst/>
          </a:prstGeom>
          <a:solidFill>
            <a:srgbClr val="E6E8E6"/>
          </a:solidFill>
          <a:ln w="0">
            <a:noFill/>
            <a:prstDash val="solid"/>
          </a:ln>
        </p:spPr>
        <p:txBody>
          <a:bodyPr/>
          <a:lstStyle/>
          <a:p>
            <a:endParaRPr lang="en-FR"/>
          </a:p>
        </p:txBody>
      </p:sp>
      <p:sp>
        <p:nvSpPr>
          <p:cNvPr id="6" name="Oval 5">
            <a:extLst>
              <a:ext uri="{FF2B5EF4-FFF2-40B4-BE49-F238E27FC236}">
                <a16:creationId xmlns:a16="http://schemas.microsoft.com/office/drawing/2014/main" id="{567805AE-F6C9-426B-897E-D76835211245}"/>
              </a:ext>
            </a:extLst>
          </p:cNvPr>
          <p:cNvSpPr>
            <a:spLocks noGrp="1"/>
          </p:cNvSpPr>
          <p:nvPr/>
        </p:nvSpPr>
        <p:spPr>
          <a:xfrm>
            <a:off x="5705475" y="990600"/>
            <a:ext cx="38100" cy="38100"/>
          </a:xfrm>
          <a:prstGeom prst="ellipse">
            <a:avLst/>
          </a:prstGeom>
          <a:solidFill>
            <a:srgbClr val="E6E8E6"/>
          </a:solidFill>
          <a:ln w="0">
            <a:noFill/>
            <a:prstDash val="solid"/>
          </a:ln>
        </p:spPr>
        <p:txBody>
          <a:bodyPr/>
          <a:lstStyle/>
          <a:p>
            <a:endParaRPr lang="en-FR"/>
          </a:p>
        </p:txBody>
      </p:sp>
      <p:sp>
        <p:nvSpPr>
          <p:cNvPr id="7" name="Oval 6">
            <a:extLst>
              <a:ext uri="{FF2B5EF4-FFF2-40B4-BE49-F238E27FC236}">
                <a16:creationId xmlns:a16="http://schemas.microsoft.com/office/drawing/2014/main" id="{B71CAA8A-0646-4E30-A41C-31D47C1744F5}"/>
              </a:ext>
            </a:extLst>
          </p:cNvPr>
          <p:cNvSpPr>
            <a:spLocks noGrp="1"/>
          </p:cNvSpPr>
          <p:nvPr/>
        </p:nvSpPr>
        <p:spPr>
          <a:xfrm>
            <a:off x="6096000" y="1162050"/>
            <a:ext cx="38100" cy="38100"/>
          </a:xfrm>
          <a:prstGeom prst="ellipse">
            <a:avLst/>
          </a:prstGeom>
          <a:solidFill>
            <a:srgbClr val="E6E8E6"/>
          </a:solidFill>
          <a:ln w="0">
            <a:noFill/>
            <a:prstDash val="solid"/>
          </a:ln>
        </p:spPr>
        <p:txBody>
          <a:bodyPr/>
          <a:lstStyle/>
          <a:p>
            <a:endParaRPr lang="en-FR"/>
          </a:p>
        </p:txBody>
      </p:sp>
      <p:sp>
        <p:nvSpPr>
          <p:cNvPr id="8" name="Oval 7">
            <a:extLst>
              <a:ext uri="{FF2B5EF4-FFF2-40B4-BE49-F238E27FC236}">
                <a16:creationId xmlns:a16="http://schemas.microsoft.com/office/drawing/2014/main" id="{8004BEBF-6AFB-4C2C-929C-BF89C0BEE4CC}"/>
              </a:ext>
            </a:extLst>
          </p:cNvPr>
          <p:cNvSpPr>
            <a:spLocks noGrp="1"/>
          </p:cNvSpPr>
          <p:nvPr/>
        </p:nvSpPr>
        <p:spPr>
          <a:xfrm>
            <a:off x="6753225" y="1304925"/>
            <a:ext cx="28575" cy="28575"/>
          </a:xfrm>
          <a:prstGeom prst="ellipse">
            <a:avLst/>
          </a:prstGeom>
          <a:solidFill>
            <a:srgbClr val="E6E8E6"/>
          </a:solidFill>
          <a:ln w="0">
            <a:noFill/>
            <a:prstDash val="solid"/>
          </a:ln>
        </p:spPr>
        <p:txBody>
          <a:bodyPr/>
          <a:lstStyle/>
          <a:p>
            <a:endParaRPr lang="en-FR"/>
          </a:p>
        </p:txBody>
      </p:sp>
      <p:sp>
        <p:nvSpPr>
          <p:cNvPr id="9" name="Oval 8">
            <a:extLst>
              <a:ext uri="{FF2B5EF4-FFF2-40B4-BE49-F238E27FC236}">
                <a16:creationId xmlns:a16="http://schemas.microsoft.com/office/drawing/2014/main" id="{971687F6-47A9-4150-89D4-7D270B8B3DC6}"/>
              </a:ext>
            </a:extLst>
          </p:cNvPr>
          <p:cNvSpPr>
            <a:spLocks noGrp="1"/>
          </p:cNvSpPr>
          <p:nvPr/>
        </p:nvSpPr>
        <p:spPr>
          <a:xfrm>
            <a:off x="7239000" y="381000"/>
            <a:ext cx="66675" cy="66675"/>
          </a:xfrm>
          <a:prstGeom prst="ellipse">
            <a:avLst/>
          </a:prstGeom>
          <a:solidFill>
            <a:srgbClr val="E6E8E6"/>
          </a:solidFill>
          <a:ln w="0">
            <a:noFill/>
            <a:prstDash val="solid"/>
          </a:ln>
        </p:spPr>
        <p:txBody>
          <a:bodyPr/>
          <a:lstStyle/>
          <a:p>
            <a:endParaRPr lang="en-FR"/>
          </a:p>
        </p:txBody>
      </p:sp>
      <p:sp>
        <p:nvSpPr>
          <p:cNvPr id="10" name="Oval 9">
            <a:extLst>
              <a:ext uri="{FF2B5EF4-FFF2-40B4-BE49-F238E27FC236}">
                <a16:creationId xmlns:a16="http://schemas.microsoft.com/office/drawing/2014/main" id="{22DB11DC-8AE3-4708-B895-9DCF02DCCDCD}"/>
              </a:ext>
            </a:extLst>
          </p:cNvPr>
          <p:cNvSpPr>
            <a:spLocks noGrp="1"/>
          </p:cNvSpPr>
          <p:nvPr/>
        </p:nvSpPr>
        <p:spPr>
          <a:xfrm>
            <a:off x="8839200" y="790575"/>
            <a:ext cx="28575" cy="28575"/>
          </a:xfrm>
          <a:prstGeom prst="ellipse">
            <a:avLst/>
          </a:prstGeom>
          <a:solidFill>
            <a:srgbClr val="E6E8E6"/>
          </a:solidFill>
          <a:ln w="0">
            <a:noFill/>
            <a:prstDash val="solid"/>
          </a:ln>
        </p:spPr>
        <p:txBody>
          <a:bodyPr/>
          <a:lstStyle/>
          <a:p>
            <a:endParaRPr lang="en-FR"/>
          </a:p>
        </p:txBody>
      </p:sp>
      <p:sp>
        <p:nvSpPr>
          <p:cNvPr id="11" name="Oval 10">
            <a:extLst>
              <a:ext uri="{FF2B5EF4-FFF2-40B4-BE49-F238E27FC236}">
                <a16:creationId xmlns:a16="http://schemas.microsoft.com/office/drawing/2014/main" id="{4170C531-2321-40E2-8044-BC5E8CA5BB58}"/>
              </a:ext>
            </a:extLst>
          </p:cNvPr>
          <p:cNvSpPr>
            <a:spLocks noGrp="1"/>
          </p:cNvSpPr>
          <p:nvPr/>
        </p:nvSpPr>
        <p:spPr>
          <a:xfrm>
            <a:off x="9048750" y="1495425"/>
            <a:ext cx="28575" cy="28575"/>
          </a:xfrm>
          <a:prstGeom prst="ellipse">
            <a:avLst/>
          </a:prstGeom>
          <a:solidFill>
            <a:srgbClr val="E6E8E6"/>
          </a:solidFill>
          <a:ln w="0">
            <a:noFill/>
            <a:prstDash val="solid"/>
          </a:ln>
        </p:spPr>
        <p:txBody>
          <a:bodyPr/>
          <a:lstStyle/>
          <a:p>
            <a:endParaRPr lang="en-FR"/>
          </a:p>
        </p:txBody>
      </p:sp>
      <p:sp>
        <p:nvSpPr>
          <p:cNvPr id="12" name="Oval 11">
            <a:extLst>
              <a:ext uri="{FF2B5EF4-FFF2-40B4-BE49-F238E27FC236}">
                <a16:creationId xmlns:a16="http://schemas.microsoft.com/office/drawing/2014/main" id="{7A4DA6F0-0E7F-4975-91FC-B8833E1EF25E}"/>
              </a:ext>
            </a:extLst>
          </p:cNvPr>
          <p:cNvSpPr>
            <a:spLocks noGrp="1"/>
          </p:cNvSpPr>
          <p:nvPr/>
        </p:nvSpPr>
        <p:spPr>
          <a:xfrm>
            <a:off x="9239250" y="1647825"/>
            <a:ext cx="28575" cy="28575"/>
          </a:xfrm>
          <a:prstGeom prst="ellipse">
            <a:avLst/>
          </a:prstGeom>
          <a:solidFill>
            <a:srgbClr val="E6E8E6"/>
          </a:solidFill>
          <a:ln w="0">
            <a:noFill/>
            <a:prstDash val="solid"/>
          </a:ln>
        </p:spPr>
        <p:txBody>
          <a:bodyPr/>
          <a:lstStyle/>
          <a:p>
            <a:endParaRPr lang="en-FR"/>
          </a:p>
        </p:txBody>
      </p:sp>
      <p:sp>
        <p:nvSpPr>
          <p:cNvPr id="13" name="Oval 12">
            <a:extLst>
              <a:ext uri="{FF2B5EF4-FFF2-40B4-BE49-F238E27FC236}">
                <a16:creationId xmlns:a16="http://schemas.microsoft.com/office/drawing/2014/main" id="{30D3E989-E565-43CA-B47B-51F6E2E6D5A5}"/>
              </a:ext>
            </a:extLst>
          </p:cNvPr>
          <p:cNvSpPr>
            <a:spLocks noGrp="1"/>
          </p:cNvSpPr>
          <p:nvPr/>
        </p:nvSpPr>
        <p:spPr>
          <a:xfrm>
            <a:off x="9944100" y="2076450"/>
            <a:ext cx="47625" cy="47625"/>
          </a:xfrm>
          <a:prstGeom prst="ellipse">
            <a:avLst/>
          </a:prstGeom>
          <a:solidFill>
            <a:srgbClr val="E6E8E6"/>
          </a:solidFill>
          <a:ln w="0">
            <a:noFill/>
            <a:prstDash val="solid"/>
          </a:ln>
        </p:spPr>
        <p:txBody>
          <a:bodyPr/>
          <a:lstStyle/>
          <a:p>
            <a:endParaRPr lang="en-FR"/>
          </a:p>
        </p:txBody>
      </p:sp>
      <p:sp>
        <p:nvSpPr>
          <p:cNvPr id="14" name="Oval 13">
            <a:extLst>
              <a:ext uri="{FF2B5EF4-FFF2-40B4-BE49-F238E27FC236}">
                <a16:creationId xmlns:a16="http://schemas.microsoft.com/office/drawing/2014/main" id="{E90AC5F6-AD11-4372-9904-82389EC0DDD8}"/>
              </a:ext>
            </a:extLst>
          </p:cNvPr>
          <p:cNvSpPr>
            <a:spLocks noGrp="1"/>
          </p:cNvSpPr>
          <p:nvPr/>
        </p:nvSpPr>
        <p:spPr>
          <a:xfrm>
            <a:off x="11258550" y="228600"/>
            <a:ext cx="28575" cy="28575"/>
          </a:xfrm>
          <a:prstGeom prst="ellipse">
            <a:avLst/>
          </a:prstGeom>
          <a:solidFill>
            <a:srgbClr val="E6E8E6"/>
          </a:solidFill>
          <a:ln w="0">
            <a:noFill/>
            <a:prstDash val="solid"/>
          </a:ln>
        </p:spPr>
        <p:txBody>
          <a:bodyPr/>
          <a:lstStyle/>
          <a:p>
            <a:endParaRPr lang="en-FR"/>
          </a:p>
        </p:txBody>
      </p:sp>
      <p:sp>
        <p:nvSpPr>
          <p:cNvPr id="15" name="Oval 14">
            <a:extLst>
              <a:ext uri="{FF2B5EF4-FFF2-40B4-BE49-F238E27FC236}">
                <a16:creationId xmlns:a16="http://schemas.microsoft.com/office/drawing/2014/main" id="{7B52B2D8-D6B9-4D4D-B2A5-2C8D8AA80805}"/>
              </a:ext>
            </a:extLst>
          </p:cNvPr>
          <p:cNvSpPr>
            <a:spLocks noGrp="1"/>
          </p:cNvSpPr>
          <p:nvPr/>
        </p:nvSpPr>
        <p:spPr>
          <a:xfrm>
            <a:off x="11306175" y="466725"/>
            <a:ext cx="38100" cy="38100"/>
          </a:xfrm>
          <a:prstGeom prst="ellipse">
            <a:avLst/>
          </a:prstGeom>
          <a:solidFill>
            <a:srgbClr val="E6E8E6"/>
          </a:solidFill>
          <a:ln w="0">
            <a:noFill/>
            <a:prstDash val="solid"/>
          </a:ln>
        </p:spPr>
        <p:txBody>
          <a:bodyPr/>
          <a:lstStyle/>
          <a:p>
            <a:endParaRPr lang="en-FR"/>
          </a:p>
        </p:txBody>
      </p:sp>
      <p:sp>
        <p:nvSpPr>
          <p:cNvPr id="16" name="Oval 15">
            <a:extLst>
              <a:ext uri="{FF2B5EF4-FFF2-40B4-BE49-F238E27FC236}">
                <a16:creationId xmlns:a16="http://schemas.microsoft.com/office/drawing/2014/main" id="{69CE3ABD-20CA-492A-A395-49E29EFAB399}"/>
              </a:ext>
            </a:extLst>
          </p:cNvPr>
          <p:cNvSpPr>
            <a:spLocks noGrp="1"/>
          </p:cNvSpPr>
          <p:nvPr/>
        </p:nvSpPr>
        <p:spPr>
          <a:xfrm>
            <a:off x="11811000" y="723900"/>
            <a:ext cx="38100" cy="38100"/>
          </a:xfrm>
          <a:prstGeom prst="ellipse">
            <a:avLst/>
          </a:prstGeom>
          <a:solidFill>
            <a:srgbClr val="E6E8E6"/>
          </a:solidFill>
          <a:ln w="0">
            <a:noFill/>
            <a:prstDash val="solid"/>
          </a:ln>
        </p:spPr>
        <p:txBody>
          <a:bodyPr/>
          <a:lstStyle/>
          <a:p>
            <a:endParaRPr lang="en-FR"/>
          </a:p>
        </p:txBody>
      </p:sp>
      <p:sp>
        <p:nvSpPr>
          <p:cNvPr id="17" name="Oval 16">
            <a:extLst>
              <a:ext uri="{FF2B5EF4-FFF2-40B4-BE49-F238E27FC236}">
                <a16:creationId xmlns:a16="http://schemas.microsoft.com/office/drawing/2014/main" id="{B88F33C5-401C-4533-ABE2-633CA7C878A6}"/>
              </a:ext>
            </a:extLst>
          </p:cNvPr>
          <p:cNvSpPr>
            <a:spLocks noGrp="1"/>
          </p:cNvSpPr>
          <p:nvPr/>
        </p:nvSpPr>
        <p:spPr>
          <a:xfrm>
            <a:off x="11991975" y="1181100"/>
            <a:ext cx="47625" cy="47625"/>
          </a:xfrm>
          <a:prstGeom prst="ellipse">
            <a:avLst/>
          </a:prstGeom>
          <a:solidFill>
            <a:srgbClr val="E6E8E6"/>
          </a:solidFill>
          <a:ln w="0">
            <a:noFill/>
            <a:prstDash val="solid"/>
          </a:ln>
        </p:spPr>
        <p:txBody>
          <a:bodyPr/>
          <a:lstStyle/>
          <a:p>
            <a:endParaRPr lang="en-FR"/>
          </a:p>
        </p:txBody>
      </p:sp>
      <p:sp>
        <p:nvSpPr>
          <p:cNvPr id="18" name="Oval 17">
            <a:extLst>
              <a:ext uri="{FF2B5EF4-FFF2-40B4-BE49-F238E27FC236}">
                <a16:creationId xmlns:a16="http://schemas.microsoft.com/office/drawing/2014/main" id="{81912CAD-A491-40CB-BE59-97E8CE401F65}"/>
              </a:ext>
            </a:extLst>
          </p:cNvPr>
          <p:cNvSpPr>
            <a:spLocks noGrp="1"/>
          </p:cNvSpPr>
          <p:nvPr/>
        </p:nvSpPr>
        <p:spPr>
          <a:xfrm>
            <a:off x="0" y="3028950"/>
            <a:ext cx="1381125" cy="1219200"/>
          </a:xfrm>
          <a:prstGeom prst="ellipse">
            <a:avLst/>
          </a:prstGeom>
          <a:solidFill>
            <a:srgbClr val="F5F8F6"/>
          </a:solidFill>
          <a:ln w="9525">
            <a:solidFill>
              <a:srgbClr val="E3E8E5"/>
            </a:solidFill>
            <a:prstDash val="dot"/>
          </a:ln>
        </p:spPr>
        <p:txBody>
          <a:bodyPr/>
          <a:lstStyle/>
          <a:p>
            <a:endParaRPr lang="en-FR"/>
          </a:p>
        </p:txBody>
      </p:sp>
      <p:pic>
        <p:nvPicPr>
          <p:cNvPr id="94" name="Picture 93"/>
          <p:cNvPicPr>
            <a:picLocks noChangeAspect="1"/>
          </p:cNvPicPr>
          <p:nvPr/>
        </p:nvPicPr>
        <p:blipFill>
          <a:blip r:embed="rId3"/>
          <a:stretch/>
        </p:blipFill>
        <p:spPr>
          <a:xfrm>
            <a:off x="426149" y="276225"/>
            <a:ext cx="1824228" cy="542925"/>
          </a:xfrm>
          <a:prstGeom prst="rect">
            <a:avLst/>
          </a:prstGeom>
        </p:spPr>
      </p:pic>
      <p:sp>
        <p:nvSpPr>
          <p:cNvPr id="21" name="Rectangle 20">
            <a:extLst>
              <a:ext uri="{FF2B5EF4-FFF2-40B4-BE49-F238E27FC236}">
                <a16:creationId xmlns:a16="http://schemas.microsoft.com/office/drawing/2014/main" id="{C287F6CF-5BDC-4BBA-BB60-B25AA48793ED}"/>
              </a:ext>
            </a:extLst>
          </p:cNvPr>
          <p:cNvSpPr>
            <a:spLocks noGrp="1"/>
          </p:cNvSpPr>
          <p:nvPr/>
        </p:nvSpPr>
        <p:spPr>
          <a:xfrm>
            <a:off x="400050" y="1118185"/>
            <a:ext cx="4953000" cy="495300"/>
          </a:xfrm>
          <a:prstGeom prst="rect">
            <a:avLst/>
          </a:prstGeom>
          <a:noFill/>
          <a:ln w="0">
            <a:noFill/>
            <a:prstDash val="solid"/>
          </a:ln>
        </p:spPr>
        <p:txBody>
          <a:bodyPr wrap="none" lIns="0" tIns="0" rIns="0" bIns="0" anchor="t"/>
          <a:lstStyle/>
          <a:p>
            <a:pPr algn="l">
              <a:lnSpc>
                <a:spcPct val="100000"/>
              </a:lnSpc>
              <a:buNone/>
              <a:defRPr sz="3150" b="1" i="0">
                <a:solidFill>
                  <a:srgbClr val="003B25"/>
                </a:solidFill>
                <a:latin typeface="Arial"/>
                <a:ea typeface="Arial"/>
                <a:cs typeface="Arial"/>
              </a:defRPr>
            </a:pPr>
            <a:r>
              <a:rPr sz="3150" b="1" i="0" dirty="0">
                <a:solidFill>
                  <a:srgbClr val="003B25"/>
                </a:solidFill>
                <a:latin typeface="Arial"/>
                <a:ea typeface="Arial"/>
                <a:cs typeface="Arial"/>
              </a:rPr>
              <a:t>Current Environment</a:t>
            </a:r>
          </a:p>
        </p:txBody>
      </p:sp>
      <p:sp>
        <p:nvSpPr>
          <p:cNvPr id="22" name="Rectangle 21">
            <a:extLst>
              <a:ext uri="{FF2B5EF4-FFF2-40B4-BE49-F238E27FC236}">
                <a16:creationId xmlns:a16="http://schemas.microsoft.com/office/drawing/2014/main" id="{7181C17D-13DF-4692-BC64-FC2AD05459C9}"/>
              </a:ext>
            </a:extLst>
          </p:cNvPr>
          <p:cNvSpPr>
            <a:spLocks noGrp="1"/>
          </p:cNvSpPr>
          <p:nvPr/>
        </p:nvSpPr>
        <p:spPr>
          <a:xfrm>
            <a:off x="400050" y="1704975"/>
            <a:ext cx="371475" cy="38100"/>
          </a:xfrm>
          <a:prstGeom prst="rect">
            <a:avLst/>
          </a:prstGeom>
          <a:solidFill>
            <a:srgbClr val="F00000"/>
          </a:solidFill>
          <a:ln w="0">
            <a:noFill/>
            <a:prstDash val="solid"/>
          </a:ln>
        </p:spPr>
        <p:txBody>
          <a:bodyPr/>
          <a:lstStyle/>
          <a:p>
            <a:endParaRPr lang="en-FR"/>
          </a:p>
        </p:txBody>
      </p:sp>
      <p:sp>
        <p:nvSpPr>
          <p:cNvPr id="23" name="Rectangle 22">
            <a:extLst>
              <a:ext uri="{FF2B5EF4-FFF2-40B4-BE49-F238E27FC236}">
                <a16:creationId xmlns:a16="http://schemas.microsoft.com/office/drawing/2014/main" id="{CF1157D8-7FA6-44EE-9ABA-8C1B2D76EB92}"/>
              </a:ext>
            </a:extLst>
          </p:cNvPr>
          <p:cNvSpPr>
            <a:spLocks noGrp="1"/>
          </p:cNvSpPr>
          <p:nvPr/>
        </p:nvSpPr>
        <p:spPr>
          <a:xfrm>
            <a:off x="400050" y="1885950"/>
            <a:ext cx="5334000" cy="209550"/>
          </a:xfrm>
          <a:prstGeom prst="rect">
            <a:avLst/>
          </a:prstGeom>
          <a:noFill/>
          <a:ln w="0">
            <a:noFill/>
            <a:prstDash val="solid"/>
          </a:ln>
        </p:spPr>
        <p:txBody>
          <a:bodyPr wrap="none" lIns="0" tIns="0" rIns="0" bIns="0" anchor="t"/>
          <a:lstStyle/>
          <a:p>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a:ext uri="{FF2B5EF4-FFF2-40B4-BE49-F238E27FC236}">
                <a16:creationId xmlns:a16="http://schemas.microsoft.com/office/drawing/2014/main" id="{7742F759-7FA3-4F04-BD5F-BC22AB94CD82}"/>
              </a:ext>
            </a:extLst>
          </p:cNvPr>
          <p:cNvSpPr>
            <a:spLocks noGrp="1"/>
          </p:cNvSpPr>
          <p:nvPr/>
        </p:nvSpPr>
        <p:spPr>
          <a:xfrm>
            <a:off x="400050" y="2181225"/>
            <a:ext cx="11334750" cy="2152650"/>
          </a:xfrm>
          <a:prstGeom prst="roundRect">
            <a:avLst>
              <a:gd name="adj" fmla="val 3097"/>
            </a:avLst>
          </a:prstGeom>
          <a:solidFill>
            <a:srgbClr val="FFFFFF"/>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25" name="Rounded Rectangle 24">
            <a:extLst>
              <a:ext uri="{FF2B5EF4-FFF2-40B4-BE49-F238E27FC236}">
                <a16:creationId xmlns:a16="http://schemas.microsoft.com/office/drawing/2014/main" id="{B404DBE3-517A-4268-99D5-24CDE97D5A55}"/>
              </a:ext>
            </a:extLst>
          </p:cNvPr>
          <p:cNvSpPr>
            <a:spLocks noGrp="1"/>
          </p:cNvSpPr>
          <p:nvPr/>
        </p:nvSpPr>
        <p:spPr>
          <a:xfrm>
            <a:off x="400050" y="2181225"/>
            <a:ext cx="11334750" cy="419100"/>
          </a:xfrm>
          <a:prstGeom prst="roundRect">
            <a:avLst>
              <a:gd name="adj" fmla="val 15909"/>
            </a:avLst>
          </a:prstGeom>
          <a:gradFill>
            <a:gsLst>
              <a:gs pos="0">
                <a:srgbClr val="003B25"/>
              </a:gs>
              <a:gs pos="100000">
                <a:srgbClr val="0A4B30"/>
              </a:gs>
            </a:gsLst>
            <a:lin ang="5400000"/>
          </a:gradFill>
          <a:ln w="0">
            <a:noFill/>
            <a:prstDash val="solid"/>
          </a:ln>
        </p:spPr>
        <p:txBody>
          <a:bodyPr/>
          <a:lstStyle/>
          <a:p>
            <a:endParaRPr lang="en-FR"/>
          </a:p>
        </p:txBody>
      </p:sp>
      <p:sp>
        <p:nvSpPr>
          <p:cNvPr id="26" name="Rectangle 25">
            <a:extLst>
              <a:ext uri="{FF2B5EF4-FFF2-40B4-BE49-F238E27FC236}">
                <a16:creationId xmlns:a16="http://schemas.microsoft.com/office/drawing/2014/main" id="{F149E187-8D0C-45BD-B937-45018F857AE1}"/>
              </a:ext>
            </a:extLst>
          </p:cNvPr>
          <p:cNvSpPr>
            <a:spLocks noGrp="1"/>
          </p:cNvSpPr>
          <p:nvPr/>
        </p:nvSpPr>
        <p:spPr>
          <a:xfrm>
            <a:off x="400050" y="2514600"/>
            <a:ext cx="11334750" cy="85725"/>
          </a:xfrm>
          <a:prstGeom prst="rect">
            <a:avLst/>
          </a:prstGeom>
          <a:gradFill>
            <a:gsLst>
              <a:gs pos="0">
                <a:srgbClr val="003B25"/>
              </a:gs>
              <a:gs pos="100000">
                <a:srgbClr val="0A4B30"/>
              </a:gs>
            </a:gsLst>
            <a:lin ang="5400000"/>
          </a:gradFill>
          <a:ln w="0">
            <a:noFill/>
            <a:prstDash val="solid"/>
          </a:ln>
        </p:spPr>
        <p:txBody>
          <a:bodyPr/>
          <a:lstStyle/>
          <a:p>
            <a:endParaRPr lang="en-FR"/>
          </a:p>
        </p:txBody>
      </p:sp>
      <p:pic>
        <p:nvPicPr>
          <p:cNvPr id="101" name="Picture 100"/>
          <p:cNvPicPr>
            <a:picLocks noChangeAspect="1"/>
          </p:cNvPicPr>
          <p:nvPr/>
        </p:nvPicPr>
        <p:blipFill>
          <a:blip r:embed="rId4"/>
          <a:stretch/>
        </p:blipFill>
        <p:spPr>
          <a:xfrm>
            <a:off x="600075" y="2261185"/>
            <a:ext cx="285750" cy="278230"/>
          </a:xfrm>
          <a:prstGeom prst="rect">
            <a:avLst/>
          </a:prstGeom>
        </p:spPr>
      </p:pic>
      <p:sp>
        <p:nvSpPr>
          <p:cNvPr id="28" name="Rectangle 27">
            <a:extLst>
              <a:ext uri="{FF2B5EF4-FFF2-40B4-BE49-F238E27FC236}">
                <a16:creationId xmlns:a16="http://schemas.microsoft.com/office/drawing/2014/main" id="{1FCDE930-188D-4EA2-8394-918FC60EA432}"/>
              </a:ext>
            </a:extLst>
          </p:cNvPr>
          <p:cNvSpPr>
            <a:spLocks noGrp="1"/>
          </p:cNvSpPr>
          <p:nvPr/>
        </p:nvSpPr>
        <p:spPr>
          <a:xfrm>
            <a:off x="981075" y="2333625"/>
            <a:ext cx="2381250" cy="209550"/>
          </a:xfrm>
          <a:prstGeom prst="rect">
            <a:avLst/>
          </a:prstGeom>
          <a:noFill/>
          <a:ln w="0">
            <a:noFill/>
            <a:prstDash val="solid"/>
          </a:ln>
        </p:spPr>
        <p:txBody>
          <a:bodyPr wrap="none" lIns="0" tIns="0" rIns="0" bIns="0" anchor="t"/>
          <a:lstStyle/>
          <a:p>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a:ext uri="{FF2B5EF4-FFF2-40B4-BE49-F238E27FC236}">
                <a16:creationId xmlns:a16="http://schemas.microsoft.com/office/drawing/2014/main" id="{073F4B3D-A689-436F-BCE6-8235406074F8}"/>
              </a:ext>
            </a:extLst>
          </p:cNvPr>
          <p:cNvSpPr>
            <a:spLocks noGrp="1"/>
          </p:cNvSpPr>
          <p:nvPr/>
        </p:nvSpPr>
        <p:spPr>
          <a:xfrm>
            <a:off x="3200400" y="2857500"/>
            <a:ext cx="0" cy="1028700"/>
          </a:xfrm>
          <a:prstGeom prst="line">
            <a:avLst/>
          </a:prstGeom>
          <a:noFill/>
          <a:ln w="9525">
            <a:solidFill>
              <a:srgbClr val="C9CECA"/>
            </a:solidFill>
            <a:prstDash val="solid"/>
          </a:ln>
        </p:spPr>
        <p:txBody>
          <a:bodyPr/>
          <a:lstStyle/>
          <a:p>
            <a:endParaRPr lang="en-FR"/>
          </a:p>
        </p:txBody>
      </p:sp>
      <p:sp>
        <p:nvSpPr>
          <p:cNvPr id="30" name="Straight Connector 29">
            <a:extLst>
              <a:ext uri="{FF2B5EF4-FFF2-40B4-BE49-F238E27FC236}">
                <a16:creationId xmlns:a16="http://schemas.microsoft.com/office/drawing/2014/main" id="{FB60119E-4550-4C62-A1C7-2490DD52390F}"/>
              </a:ext>
            </a:extLst>
          </p:cNvPr>
          <p:cNvSpPr>
            <a:spLocks noGrp="1"/>
          </p:cNvSpPr>
          <p:nvPr/>
        </p:nvSpPr>
        <p:spPr>
          <a:xfrm>
            <a:off x="5981700" y="2857500"/>
            <a:ext cx="0" cy="1028700"/>
          </a:xfrm>
          <a:prstGeom prst="line">
            <a:avLst/>
          </a:prstGeom>
          <a:noFill/>
          <a:ln w="9525">
            <a:solidFill>
              <a:srgbClr val="C9CECA"/>
            </a:solidFill>
            <a:prstDash val="solid"/>
          </a:ln>
        </p:spPr>
        <p:txBody>
          <a:bodyPr/>
          <a:lstStyle/>
          <a:p>
            <a:endParaRPr lang="en-FR"/>
          </a:p>
        </p:txBody>
      </p:sp>
      <p:sp>
        <p:nvSpPr>
          <p:cNvPr id="31" name="Straight Connector 30">
            <a:extLst>
              <a:ext uri="{FF2B5EF4-FFF2-40B4-BE49-F238E27FC236}">
                <a16:creationId xmlns:a16="http://schemas.microsoft.com/office/drawing/2014/main" id="{635B3C01-9C5E-4AA0-AC7B-F394D0687E36}"/>
              </a:ext>
            </a:extLst>
          </p:cNvPr>
          <p:cNvSpPr>
            <a:spLocks noGrp="1"/>
          </p:cNvSpPr>
          <p:nvPr/>
        </p:nvSpPr>
        <p:spPr>
          <a:xfrm>
            <a:off x="8724900" y="2857500"/>
            <a:ext cx="0" cy="1028700"/>
          </a:xfrm>
          <a:prstGeom prst="line">
            <a:avLst/>
          </a:prstGeom>
          <a:noFill/>
          <a:ln w="9525">
            <a:solidFill>
              <a:srgbClr val="C9CECA"/>
            </a:solidFill>
            <a:prstDash val="solid"/>
          </a:ln>
        </p:spPr>
        <p:txBody>
          <a:bodyPr/>
          <a:lstStyle/>
          <a:p>
            <a:endParaRPr lang="en-FR"/>
          </a:p>
        </p:txBody>
      </p:sp>
      <p:sp>
        <p:nvSpPr>
          <p:cNvPr id="32" name="Rectangle 31">
            <a:extLst>
              <a:ext uri="{FF2B5EF4-FFF2-40B4-BE49-F238E27FC236}">
                <a16:creationId xmlns:a16="http://schemas.microsoft.com/office/drawing/2014/main" id="{B59BC397-1AED-455B-BFE0-6D1460C9CD8C}"/>
              </a:ext>
            </a:extLst>
          </p:cNvPr>
          <p:cNvSpPr>
            <a:spLocks noGrp="1"/>
          </p:cNvSpPr>
          <p:nvPr/>
        </p:nvSpPr>
        <p:spPr>
          <a:xfrm>
            <a:off x="11715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Rectangle 32">
            <a:extLst>
              <a:ext uri="{FF2B5EF4-FFF2-40B4-BE49-F238E27FC236}">
                <a16:creationId xmlns:a16="http://schemas.microsoft.com/office/drawing/2014/main" id="{127C50D5-D813-45E0-8A65-C431BD0456FE}"/>
              </a:ext>
            </a:extLst>
          </p:cNvPr>
          <p:cNvSpPr>
            <a:spLocks noGrp="1"/>
          </p:cNvSpPr>
          <p:nvPr/>
        </p:nvSpPr>
        <p:spPr>
          <a:xfrm>
            <a:off x="11715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08" name="Picture 107"/>
          <p:cNvPicPr>
            <a:picLocks noChangeAspect="1"/>
          </p:cNvPicPr>
          <p:nvPr/>
        </p:nvPicPr>
        <p:blipFill>
          <a:blip r:embed="rId5"/>
          <a:stretch/>
        </p:blipFill>
        <p:spPr>
          <a:xfrm>
            <a:off x="1590675" y="2781300"/>
            <a:ext cx="495300" cy="495300"/>
          </a:xfrm>
          <a:prstGeom prst="rect">
            <a:avLst/>
          </a:prstGeom>
        </p:spPr>
      </p:pic>
      <p:sp>
        <p:nvSpPr>
          <p:cNvPr id="35" name="Rectangle 34">
            <a:extLst>
              <a:ext uri="{FF2B5EF4-FFF2-40B4-BE49-F238E27FC236}">
                <a16:creationId xmlns:a16="http://schemas.microsoft.com/office/drawing/2014/main" id="{CCA77633-015F-457C-984D-6673C096DB92}"/>
              </a:ext>
            </a:extLst>
          </p:cNvPr>
          <p:cNvSpPr>
            <a:spLocks noGrp="1"/>
          </p:cNvSpPr>
          <p:nvPr/>
        </p:nvSpPr>
        <p:spPr>
          <a:xfrm>
            <a:off x="39528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Rectangle 35">
            <a:extLst>
              <a:ext uri="{FF2B5EF4-FFF2-40B4-BE49-F238E27FC236}">
                <a16:creationId xmlns:a16="http://schemas.microsoft.com/office/drawing/2014/main" id="{D3349B43-D610-4795-98E9-37BED54D9ECE}"/>
              </a:ext>
            </a:extLst>
          </p:cNvPr>
          <p:cNvSpPr>
            <a:spLocks noGrp="1"/>
          </p:cNvSpPr>
          <p:nvPr/>
        </p:nvSpPr>
        <p:spPr>
          <a:xfrm>
            <a:off x="39528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11" name="Picture 110"/>
          <p:cNvPicPr>
            <a:picLocks noChangeAspect="1"/>
          </p:cNvPicPr>
          <p:nvPr/>
        </p:nvPicPr>
        <p:blipFill>
          <a:blip r:embed="rId6"/>
          <a:stretch/>
        </p:blipFill>
        <p:spPr>
          <a:xfrm>
            <a:off x="4371975" y="2781300"/>
            <a:ext cx="495300" cy="495300"/>
          </a:xfrm>
          <a:prstGeom prst="rect">
            <a:avLst/>
          </a:prstGeom>
        </p:spPr>
      </p:pic>
      <p:sp>
        <p:nvSpPr>
          <p:cNvPr id="38" name="Rectangle 37">
            <a:extLst>
              <a:ext uri="{FF2B5EF4-FFF2-40B4-BE49-F238E27FC236}">
                <a16:creationId xmlns:a16="http://schemas.microsoft.com/office/drawing/2014/main" id="{52A61E4A-8FF4-4FA2-BD1B-74AD7A47DE93}"/>
              </a:ext>
            </a:extLst>
          </p:cNvPr>
          <p:cNvSpPr>
            <a:spLocks noGrp="1"/>
          </p:cNvSpPr>
          <p:nvPr/>
        </p:nvSpPr>
        <p:spPr>
          <a:xfrm>
            <a:off x="66960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Rectangle 38">
            <a:extLst>
              <a:ext uri="{FF2B5EF4-FFF2-40B4-BE49-F238E27FC236}">
                <a16:creationId xmlns:a16="http://schemas.microsoft.com/office/drawing/2014/main" id="{90A624D4-C31B-42AE-A588-376259BB8A49}"/>
              </a:ext>
            </a:extLst>
          </p:cNvPr>
          <p:cNvSpPr>
            <a:spLocks noGrp="1"/>
          </p:cNvSpPr>
          <p:nvPr/>
        </p:nvSpPr>
        <p:spPr>
          <a:xfrm>
            <a:off x="66960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14" name="Picture 113"/>
          <p:cNvPicPr>
            <a:picLocks noChangeAspect="1"/>
          </p:cNvPicPr>
          <p:nvPr/>
        </p:nvPicPr>
        <p:blipFill>
          <a:blip r:embed="rId7"/>
          <a:stretch/>
        </p:blipFill>
        <p:spPr>
          <a:xfrm>
            <a:off x="7115175" y="2781300"/>
            <a:ext cx="495300" cy="495300"/>
          </a:xfrm>
          <a:prstGeom prst="rect">
            <a:avLst/>
          </a:prstGeom>
        </p:spPr>
      </p:pic>
      <p:sp>
        <p:nvSpPr>
          <p:cNvPr id="41" name="Rectangle 40">
            <a:extLst>
              <a:ext uri="{FF2B5EF4-FFF2-40B4-BE49-F238E27FC236}">
                <a16:creationId xmlns:a16="http://schemas.microsoft.com/office/drawing/2014/main" id="{8F1EB62F-0498-4D60-9534-8F4AE5E5A7C5}"/>
              </a:ext>
            </a:extLst>
          </p:cNvPr>
          <p:cNvSpPr>
            <a:spLocks noGrp="1"/>
          </p:cNvSpPr>
          <p:nvPr/>
        </p:nvSpPr>
        <p:spPr>
          <a:xfrm>
            <a:off x="9448800"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Rectangle 41">
            <a:extLst>
              <a:ext uri="{FF2B5EF4-FFF2-40B4-BE49-F238E27FC236}">
                <a16:creationId xmlns:a16="http://schemas.microsoft.com/office/drawing/2014/main" id="{84830E81-2535-4FE2-8239-D8779C43C1A8}"/>
              </a:ext>
            </a:extLst>
          </p:cNvPr>
          <p:cNvSpPr>
            <a:spLocks noGrp="1"/>
          </p:cNvSpPr>
          <p:nvPr/>
        </p:nvSpPr>
        <p:spPr>
          <a:xfrm>
            <a:off x="9448800"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17" name="Picture 116"/>
          <p:cNvPicPr>
            <a:picLocks noChangeAspect="1"/>
          </p:cNvPicPr>
          <p:nvPr/>
        </p:nvPicPr>
        <p:blipFill>
          <a:blip r:embed="rId8"/>
          <a:stretch/>
        </p:blipFill>
        <p:spPr>
          <a:xfrm>
            <a:off x="9867900" y="2781300"/>
            <a:ext cx="495300" cy="495300"/>
          </a:xfrm>
          <a:prstGeom prst="rect">
            <a:avLst/>
          </a:prstGeom>
        </p:spPr>
      </p:pic>
      <p:sp>
        <p:nvSpPr>
          <p:cNvPr id="44" name="Rectangle 43">
            <a:extLst>
              <a:ext uri="{FF2B5EF4-FFF2-40B4-BE49-F238E27FC236}">
                <a16:creationId xmlns:a16="http://schemas.microsoft.com/office/drawing/2014/main" id="{40B2A91E-AAE2-4FEB-AD52-D18E23D0EC0B}"/>
              </a:ext>
            </a:extLst>
          </p:cNvPr>
          <p:cNvSpPr>
            <a:spLocks noGrp="1"/>
          </p:cNvSpPr>
          <p:nvPr/>
        </p:nvSpPr>
        <p:spPr>
          <a:xfrm>
            <a:off x="1323975" y="3876675"/>
            <a:ext cx="428625" cy="171450"/>
          </a:xfrm>
          <a:prstGeom prst="rect">
            <a:avLst/>
          </a:prstGeom>
          <a:noFill/>
          <a:ln w="0">
            <a:noFill/>
            <a:prstDash val="solid"/>
          </a:ln>
        </p:spPr>
        <p:txBody>
          <a:bodyPr wrap="none" lIns="0" tIns="0" rIns="0" bIns="0" anchor="t"/>
          <a:lstStyle/>
          <a:p>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a:ext uri="{FF2B5EF4-FFF2-40B4-BE49-F238E27FC236}">
                <a16:creationId xmlns:a16="http://schemas.microsoft.com/office/drawing/2014/main" id="{277AB89B-0977-4880-A97D-D7648C371A3B}"/>
              </a:ext>
            </a:extLst>
          </p:cNvPr>
          <p:cNvSpPr>
            <a:spLocks noGrp="1"/>
          </p:cNvSpPr>
          <p:nvPr/>
        </p:nvSpPr>
        <p:spPr>
          <a:xfrm>
            <a:off x="1800225" y="3876675"/>
            <a:ext cx="809625" cy="171450"/>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Rectangle 45">
            <a:extLst>
              <a:ext uri="{FF2B5EF4-FFF2-40B4-BE49-F238E27FC236}">
                <a16:creationId xmlns:a16="http://schemas.microsoft.com/office/drawing/2014/main" id="{F7F48385-3BC4-475A-A935-67C101D814FB}"/>
              </a:ext>
            </a:extLst>
          </p:cNvPr>
          <p:cNvSpPr>
            <a:spLocks noGrp="1"/>
          </p:cNvSpPr>
          <p:nvPr/>
        </p:nvSpPr>
        <p:spPr>
          <a:xfrm>
            <a:off x="1323975" y="4067175"/>
            <a:ext cx="428625" cy="171450"/>
          </a:xfrm>
          <a:prstGeom prst="rect">
            <a:avLst/>
          </a:prstGeom>
          <a:noFill/>
          <a:ln w="0">
            <a:noFill/>
            <a:prstDash val="solid"/>
          </a:ln>
        </p:spPr>
        <p:txBody>
          <a:bodyPr wrap="none" lIns="0" tIns="0" rIns="0" bIns="0" anchor="t"/>
          <a:lstStyle/>
          <a:p>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a:ext uri="{FF2B5EF4-FFF2-40B4-BE49-F238E27FC236}">
                <a16:creationId xmlns:a16="http://schemas.microsoft.com/office/drawing/2014/main" id="{4F72CCE0-CF33-447A-9A99-12F0DB96E23B}"/>
              </a:ext>
            </a:extLst>
          </p:cNvPr>
          <p:cNvSpPr>
            <a:spLocks noGrp="1"/>
          </p:cNvSpPr>
          <p:nvPr/>
        </p:nvSpPr>
        <p:spPr>
          <a:xfrm>
            <a:off x="1800225" y="4067175"/>
            <a:ext cx="876300" cy="171450"/>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a:ext uri="{FF2B5EF4-FFF2-40B4-BE49-F238E27FC236}">
                <a16:creationId xmlns:a16="http://schemas.microsoft.com/office/drawing/2014/main" id="{298F7E7A-D055-437F-B62D-B044692E6F88}"/>
              </a:ext>
            </a:extLst>
          </p:cNvPr>
          <p:cNvSpPr>
            <a:spLocks noGrp="1"/>
          </p:cNvSpPr>
          <p:nvPr/>
        </p:nvSpPr>
        <p:spPr>
          <a:xfrm>
            <a:off x="400050" y="4486275"/>
            <a:ext cx="11334750" cy="1009650"/>
          </a:xfrm>
          <a:prstGeom prst="roundRect">
            <a:avLst>
              <a:gd name="adj" fmla="val 6604"/>
            </a:avLst>
          </a:prstGeom>
          <a:solidFill>
            <a:srgbClr val="F3F7F5"/>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49" name="Rounded Rectangle 48">
            <a:extLst>
              <a:ext uri="{FF2B5EF4-FFF2-40B4-BE49-F238E27FC236}">
                <a16:creationId xmlns:a16="http://schemas.microsoft.com/office/drawing/2014/main" id="{F92C2AB9-B877-4DDB-BCDD-C92BBFD94A50}"/>
              </a:ext>
            </a:extLst>
          </p:cNvPr>
          <p:cNvSpPr>
            <a:spLocks noGrp="1"/>
          </p:cNvSpPr>
          <p:nvPr/>
        </p:nvSpPr>
        <p:spPr>
          <a:xfrm>
            <a:off x="400050" y="4486275"/>
            <a:ext cx="1819275" cy="1009650"/>
          </a:xfrm>
          <a:prstGeom prst="roundRect">
            <a:avLst>
              <a:gd name="adj" fmla="val 6604"/>
            </a:avLst>
          </a:prstGeom>
          <a:gradFill>
            <a:gsLst>
              <a:gs pos="0">
                <a:srgbClr val="003B25"/>
              </a:gs>
              <a:gs pos="100000">
                <a:srgbClr val="0A4B30"/>
              </a:gs>
            </a:gsLst>
            <a:lin ang="5400000"/>
          </a:gradFill>
          <a:ln w="0">
            <a:noFill/>
            <a:prstDash val="solid"/>
          </a:ln>
        </p:spPr>
        <p:txBody>
          <a:bodyPr/>
          <a:lstStyle/>
          <a:p>
            <a:endParaRPr lang="en-FR"/>
          </a:p>
        </p:txBody>
      </p:sp>
      <p:sp>
        <p:nvSpPr>
          <p:cNvPr id="50" name="Rectangle 49">
            <a:extLst>
              <a:ext uri="{FF2B5EF4-FFF2-40B4-BE49-F238E27FC236}">
                <a16:creationId xmlns:a16="http://schemas.microsoft.com/office/drawing/2014/main" id="{47D07B68-7D3B-4636-AEC8-6CB4A4FC4595}"/>
              </a:ext>
            </a:extLst>
          </p:cNvPr>
          <p:cNvSpPr>
            <a:spLocks noGrp="1"/>
          </p:cNvSpPr>
          <p:nvPr/>
        </p:nvSpPr>
        <p:spPr>
          <a:xfrm>
            <a:off x="1447800" y="4486275"/>
            <a:ext cx="771525" cy="1009650"/>
          </a:xfrm>
          <a:prstGeom prst="rect">
            <a:avLst/>
          </a:prstGeom>
          <a:gradFill>
            <a:gsLst>
              <a:gs pos="0">
                <a:srgbClr val="003B25"/>
              </a:gs>
              <a:gs pos="100000">
                <a:srgbClr val="0A4B30"/>
              </a:gs>
            </a:gsLst>
            <a:lin ang="5400000"/>
          </a:gradFill>
          <a:ln w="0">
            <a:noFill/>
            <a:prstDash val="solid"/>
          </a:ln>
        </p:spPr>
        <p:txBody>
          <a:bodyPr/>
          <a:lstStyle/>
          <a:p>
            <a:endParaRPr lang="en-FR"/>
          </a:p>
        </p:txBody>
      </p:sp>
      <p:pic>
        <p:nvPicPr>
          <p:cNvPr id="125" name="Picture 124"/>
          <p:cNvPicPr>
            <a:picLocks noChangeAspect="1"/>
          </p:cNvPicPr>
          <p:nvPr/>
        </p:nvPicPr>
        <p:blipFill>
          <a:blip r:embed="rId9"/>
          <a:stretch/>
        </p:blipFill>
        <p:spPr>
          <a:xfrm>
            <a:off x="1076325" y="4671030"/>
            <a:ext cx="476250" cy="468690"/>
          </a:xfrm>
          <a:prstGeom prst="rect">
            <a:avLst/>
          </a:prstGeom>
        </p:spPr>
      </p:pic>
      <p:sp>
        <p:nvSpPr>
          <p:cNvPr id="52" name="Rectangle 51">
            <a:extLst>
              <a:ext uri="{FF2B5EF4-FFF2-40B4-BE49-F238E27FC236}">
                <a16:creationId xmlns:a16="http://schemas.microsoft.com/office/drawing/2014/main" id="{7135EB0C-DEDC-471B-8F07-A8F41F1E2D6A}"/>
              </a:ext>
            </a:extLst>
          </p:cNvPr>
          <p:cNvSpPr>
            <a:spLocks noGrp="1"/>
          </p:cNvSpPr>
          <p:nvPr/>
        </p:nvSpPr>
        <p:spPr>
          <a:xfrm>
            <a:off x="666750" y="5162550"/>
            <a:ext cx="1257300" cy="209550"/>
          </a:xfrm>
          <a:prstGeom prst="rect">
            <a:avLst/>
          </a:prstGeom>
          <a:noFill/>
          <a:ln w="0">
            <a:noFill/>
            <a:prstDash val="solid"/>
          </a:ln>
        </p:spPr>
        <p:txBody>
          <a:bodyPr wrap="none" lIns="0" tIns="0" rIns="0" bIns="0" anchor="t"/>
          <a:lstStyle/>
          <a:p>
            <a:pPr algn="ctr">
              <a:lnSpc>
                <a:spcPct val="100000"/>
              </a:lnSpc>
              <a:buNone/>
              <a:defRPr sz="1200" b="1" i="0">
                <a:solidFill>
                  <a:srgbClr val="FFFFFF"/>
                </a:solidFill>
                <a:latin typeface="Arial"/>
                <a:ea typeface="Arial"/>
                <a:cs typeface="Arial"/>
              </a:defRPr>
            </a:pPr>
            <a:r>
              <a:rPr sz="1200" b="1" i="0" dirty="0">
                <a:solidFill>
                  <a:srgbClr val="FFFFFF"/>
                </a:solidFill>
                <a:latin typeface="Arial"/>
                <a:ea typeface="Arial"/>
                <a:cs typeface="Arial"/>
              </a:rPr>
              <a:t>Total Environment</a:t>
            </a:r>
          </a:p>
        </p:txBody>
      </p:sp>
      <p:sp>
        <p:nvSpPr>
          <p:cNvPr id="53" name="Straight Connector 52">
            <a:extLst>
              <a:ext uri="{FF2B5EF4-FFF2-40B4-BE49-F238E27FC236}">
                <a16:creationId xmlns:a16="http://schemas.microsoft.com/office/drawing/2014/main" id="{6A04919F-C898-4046-9165-502C7FD7BAF0}"/>
              </a:ext>
            </a:extLst>
          </p:cNvPr>
          <p:cNvSpPr>
            <a:spLocks noGrp="1"/>
          </p:cNvSpPr>
          <p:nvPr/>
        </p:nvSpPr>
        <p:spPr>
          <a:xfrm>
            <a:off x="4686300" y="4714875"/>
            <a:ext cx="0" cy="590550"/>
          </a:xfrm>
          <a:prstGeom prst="line">
            <a:avLst/>
          </a:prstGeom>
          <a:noFill/>
          <a:ln w="9525">
            <a:solidFill>
              <a:srgbClr val="C9CECA"/>
            </a:solidFill>
            <a:prstDash val="solid"/>
          </a:ln>
        </p:spPr>
        <p:txBody>
          <a:bodyPr/>
          <a:lstStyle/>
          <a:p>
            <a:endParaRPr lang="en-FR"/>
          </a:p>
        </p:txBody>
      </p:sp>
      <p:sp>
        <p:nvSpPr>
          <p:cNvPr id="54" name="Straight Connector 53">
            <a:extLst>
              <a:ext uri="{FF2B5EF4-FFF2-40B4-BE49-F238E27FC236}">
                <a16:creationId xmlns:a16="http://schemas.microsoft.com/office/drawing/2014/main" id="{279DB36C-681C-4FD2-A588-9A4BF85211F2}"/>
              </a:ext>
            </a:extLst>
          </p:cNvPr>
          <p:cNvSpPr>
            <a:spLocks noGrp="1"/>
          </p:cNvSpPr>
          <p:nvPr/>
        </p:nvSpPr>
        <p:spPr>
          <a:xfrm>
            <a:off x="7029450" y="4714875"/>
            <a:ext cx="0" cy="590550"/>
          </a:xfrm>
          <a:prstGeom prst="line">
            <a:avLst/>
          </a:prstGeom>
          <a:noFill/>
          <a:ln w="9525">
            <a:solidFill>
              <a:srgbClr val="C9CECA"/>
            </a:solidFill>
            <a:prstDash val="solid"/>
          </a:ln>
        </p:spPr>
        <p:txBody>
          <a:bodyPr/>
          <a:lstStyle/>
          <a:p>
            <a:endParaRPr lang="en-FR"/>
          </a:p>
        </p:txBody>
      </p:sp>
      <p:sp>
        <p:nvSpPr>
          <p:cNvPr id="55" name="Straight Connector 54">
            <a:extLst>
              <a:ext uri="{FF2B5EF4-FFF2-40B4-BE49-F238E27FC236}">
                <a16:creationId xmlns:a16="http://schemas.microsoft.com/office/drawing/2014/main" id="{C8F92710-B721-4F19-B1ED-A9D5B1B54C85}"/>
              </a:ext>
            </a:extLst>
          </p:cNvPr>
          <p:cNvSpPr>
            <a:spLocks noGrp="1"/>
          </p:cNvSpPr>
          <p:nvPr/>
        </p:nvSpPr>
        <p:spPr>
          <a:xfrm>
            <a:off x="9486900" y="4714875"/>
            <a:ext cx="0" cy="590550"/>
          </a:xfrm>
          <a:prstGeom prst="line">
            <a:avLst/>
          </a:prstGeom>
          <a:noFill/>
          <a:ln w="9525">
            <a:solidFill>
              <a:srgbClr val="C9CECA"/>
            </a:solidFill>
            <a:prstDash val="solid"/>
          </a:ln>
        </p:spPr>
        <p:txBody>
          <a:bodyPr/>
          <a:lstStyle/>
          <a:p>
            <a:endParaRPr lang="en-FR"/>
          </a:p>
        </p:txBody>
      </p:sp>
      <p:sp>
        <p:nvSpPr>
          <p:cNvPr id="56" name="Rectangle 55">
            <a:extLst>
              <a:ext uri="{FF2B5EF4-FFF2-40B4-BE49-F238E27FC236}">
                <a16:creationId xmlns:a16="http://schemas.microsoft.com/office/drawing/2014/main" id="{347AE0DB-5FC1-4C08-A3B9-5D2E17AF0014}"/>
              </a:ext>
            </a:extLst>
          </p:cNvPr>
          <p:cNvSpPr>
            <a:spLocks noGrp="1"/>
          </p:cNvSpPr>
          <p:nvPr/>
        </p:nvSpPr>
        <p:spPr>
          <a:xfrm>
            <a:off x="3343275" y="4714875"/>
            <a:ext cx="114300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Rectangle 56">
            <a:extLst>
              <a:ext uri="{FF2B5EF4-FFF2-40B4-BE49-F238E27FC236}">
                <a16:creationId xmlns:a16="http://schemas.microsoft.com/office/drawing/2014/main" id="{51D8B33B-988C-462B-91B7-386F22B8BCA6}"/>
              </a:ext>
            </a:extLst>
          </p:cNvPr>
          <p:cNvSpPr>
            <a:spLocks noGrp="1"/>
          </p:cNvSpPr>
          <p:nvPr/>
        </p:nvSpPr>
        <p:spPr>
          <a:xfrm>
            <a:off x="3343275" y="4972050"/>
            <a:ext cx="114300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32" name="Picture 131"/>
          <p:cNvPicPr>
            <a:picLocks noChangeAspect="1"/>
          </p:cNvPicPr>
          <p:nvPr/>
        </p:nvPicPr>
        <p:blipFill>
          <a:blip r:embed="rId10"/>
          <a:stretch/>
        </p:blipFill>
        <p:spPr>
          <a:xfrm>
            <a:off x="2887742" y="4905375"/>
            <a:ext cx="396716" cy="323850"/>
          </a:xfrm>
          <a:prstGeom prst="rect">
            <a:avLst/>
          </a:prstGeom>
        </p:spPr>
      </p:pic>
      <p:sp>
        <p:nvSpPr>
          <p:cNvPr id="59" name="Rectangle 58">
            <a:extLst>
              <a:ext uri="{FF2B5EF4-FFF2-40B4-BE49-F238E27FC236}">
                <a16:creationId xmlns:a16="http://schemas.microsoft.com/office/drawing/2014/main" id="{8DF81488-E310-4D2F-9D0F-A65D6E2C5976}"/>
              </a:ext>
            </a:extLst>
          </p:cNvPr>
          <p:cNvSpPr>
            <a:spLocks noGrp="1"/>
          </p:cNvSpPr>
          <p:nvPr/>
        </p:nvSpPr>
        <p:spPr>
          <a:xfrm>
            <a:off x="3286125" y="5229225"/>
            <a:ext cx="1285875" cy="171450"/>
          </a:xfrm>
          <a:prstGeom prst="rect">
            <a:avLst/>
          </a:prstGeom>
          <a:noFill/>
          <a:ln w="0">
            <a:noFill/>
            <a:prstDash val="solid"/>
          </a:ln>
        </p:spPr>
        <p:txBody>
          <a:bodyPr wrap="none" lIns="0" tIns="0" rIns="0" bIns="0" anchor="t"/>
          <a:lstStyle/>
          <a:p>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Rectangle 59">
            <a:extLst>
              <a:ext uri="{FF2B5EF4-FFF2-40B4-BE49-F238E27FC236}">
                <a16:creationId xmlns:a16="http://schemas.microsoft.com/office/drawing/2014/main" id="{51FD95D0-64F2-4723-B4EF-3731265C852D}"/>
              </a:ext>
            </a:extLst>
          </p:cNvPr>
          <p:cNvSpPr>
            <a:spLocks noGrp="1"/>
          </p:cNvSpPr>
          <p:nvPr/>
        </p:nvSpPr>
        <p:spPr>
          <a:xfrm>
            <a:off x="3286125" y="5391150"/>
            <a:ext cx="1285875" cy="171450"/>
          </a:xfrm>
          <a:prstGeom prst="rect">
            <a:avLst/>
          </a:prstGeom>
          <a:noFill/>
          <a:ln w="0">
            <a:noFill/>
            <a:prstDash val="solid"/>
          </a:ln>
        </p:spPr>
        <p:txBody>
          <a:bodyPr wrap="none" lIns="0" tIns="0" rIns="0" bIns="0" anchor="t"/>
          <a:lstStyle/>
          <a:p>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a:ext uri="{FF2B5EF4-FFF2-40B4-BE49-F238E27FC236}">
                <a16:creationId xmlns:a16="http://schemas.microsoft.com/office/drawing/2014/main" id="{9F4CC3CC-C30D-4DD3-B648-2B2F6B76145C}"/>
              </a:ext>
            </a:extLst>
          </p:cNvPr>
          <p:cNvSpPr>
            <a:spLocks noGrp="1"/>
          </p:cNvSpPr>
          <p:nvPr/>
        </p:nvSpPr>
        <p:spPr>
          <a:xfrm>
            <a:off x="5743575" y="4714875"/>
            <a:ext cx="114300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Rectangle 61">
            <a:extLst>
              <a:ext uri="{FF2B5EF4-FFF2-40B4-BE49-F238E27FC236}">
                <a16:creationId xmlns:a16="http://schemas.microsoft.com/office/drawing/2014/main" id="{E325BBAA-CE89-47A2-A7F4-5A715EE06FCB}"/>
              </a:ext>
            </a:extLst>
          </p:cNvPr>
          <p:cNvSpPr>
            <a:spLocks noGrp="1"/>
          </p:cNvSpPr>
          <p:nvPr/>
        </p:nvSpPr>
        <p:spPr>
          <a:xfrm>
            <a:off x="5743575" y="4972050"/>
            <a:ext cx="114300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37" name="Picture 136"/>
          <p:cNvPicPr>
            <a:picLocks noChangeAspect="1"/>
          </p:cNvPicPr>
          <p:nvPr/>
        </p:nvPicPr>
        <p:blipFill>
          <a:blip r:embed="rId11"/>
          <a:stretch/>
        </p:blipFill>
        <p:spPr>
          <a:xfrm>
            <a:off x="5190898" y="4905375"/>
            <a:ext cx="362404" cy="323850"/>
          </a:xfrm>
          <a:prstGeom prst="rect">
            <a:avLst/>
          </a:prstGeom>
        </p:spPr>
      </p:pic>
      <p:sp>
        <p:nvSpPr>
          <p:cNvPr id="64" name="Rectangle 63">
            <a:extLst>
              <a:ext uri="{FF2B5EF4-FFF2-40B4-BE49-F238E27FC236}">
                <a16:creationId xmlns:a16="http://schemas.microsoft.com/office/drawing/2014/main" id="{E2B940B4-7B6B-4837-992C-0BD50611487D}"/>
              </a:ext>
            </a:extLst>
          </p:cNvPr>
          <p:cNvSpPr>
            <a:spLocks noGrp="1"/>
          </p:cNvSpPr>
          <p:nvPr/>
        </p:nvSpPr>
        <p:spPr>
          <a:xfrm>
            <a:off x="8048625" y="4714875"/>
            <a:ext cx="142875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Rectangle 64">
            <a:extLst>
              <a:ext uri="{FF2B5EF4-FFF2-40B4-BE49-F238E27FC236}">
                <a16:creationId xmlns:a16="http://schemas.microsoft.com/office/drawing/2014/main" id="{56B58190-EEA5-42BC-BCEE-C9F09864DABB}"/>
              </a:ext>
            </a:extLst>
          </p:cNvPr>
          <p:cNvSpPr>
            <a:spLocks noGrp="1"/>
          </p:cNvSpPr>
          <p:nvPr/>
        </p:nvSpPr>
        <p:spPr>
          <a:xfrm>
            <a:off x="8048625" y="4972050"/>
            <a:ext cx="142875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40" name="Picture 139"/>
          <p:cNvPicPr>
            <a:picLocks noChangeAspect="1"/>
          </p:cNvPicPr>
          <p:nvPr/>
        </p:nvPicPr>
        <p:blipFill>
          <a:blip r:embed="rId12"/>
          <a:stretch/>
        </p:blipFill>
        <p:spPr>
          <a:xfrm>
            <a:off x="7477125" y="4907280"/>
            <a:ext cx="400050" cy="320040"/>
          </a:xfrm>
          <a:prstGeom prst="rect">
            <a:avLst/>
          </a:prstGeom>
        </p:spPr>
      </p:pic>
      <p:sp>
        <p:nvSpPr>
          <p:cNvPr id="67" name="Rectangle 66">
            <a:extLst>
              <a:ext uri="{FF2B5EF4-FFF2-40B4-BE49-F238E27FC236}">
                <a16:creationId xmlns:a16="http://schemas.microsoft.com/office/drawing/2014/main" id="{BA2E8F4D-19EC-4045-BD00-D33C490582FA}"/>
              </a:ext>
            </a:extLst>
          </p:cNvPr>
          <p:cNvSpPr>
            <a:spLocks noGrp="1"/>
          </p:cNvSpPr>
          <p:nvPr/>
        </p:nvSpPr>
        <p:spPr>
          <a:xfrm>
            <a:off x="10306050" y="4714875"/>
            <a:ext cx="150495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Rectangle 67">
            <a:extLst>
              <a:ext uri="{FF2B5EF4-FFF2-40B4-BE49-F238E27FC236}">
                <a16:creationId xmlns:a16="http://schemas.microsoft.com/office/drawing/2014/main" id="{53CE7ECC-6CED-4750-B06E-332986EBDB45}"/>
              </a:ext>
            </a:extLst>
          </p:cNvPr>
          <p:cNvSpPr>
            <a:spLocks noGrp="1"/>
          </p:cNvSpPr>
          <p:nvPr/>
        </p:nvSpPr>
        <p:spPr>
          <a:xfrm>
            <a:off x="10306050" y="4972050"/>
            <a:ext cx="150495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43" name="Picture 142"/>
          <p:cNvPicPr>
            <a:picLocks noChangeAspect="1"/>
          </p:cNvPicPr>
          <p:nvPr/>
        </p:nvPicPr>
        <p:blipFill>
          <a:blip r:embed="rId13"/>
          <a:stretch/>
        </p:blipFill>
        <p:spPr>
          <a:xfrm>
            <a:off x="9960531" y="4905375"/>
            <a:ext cx="348139" cy="323850"/>
          </a:xfrm>
          <a:prstGeom prst="rect">
            <a:avLst/>
          </a:prstGeom>
        </p:spPr>
      </p:pic>
      <p:sp>
        <p:nvSpPr>
          <p:cNvPr id="70" name="Rounded Rectangle 69">
            <a:extLst>
              <a:ext uri="{FF2B5EF4-FFF2-40B4-BE49-F238E27FC236}">
                <a16:creationId xmlns:a16="http://schemas.microsoft.com/office/drawing/2014/main" id="{B6E9607F-C2EC-477A-BAF6-C5E067CAF87D}"/>
              </a:ext>
            </a:extLst>
          </p:cNvPr>
          <p:cNvSpPr>
            <a:spLocks noGrp="1"/>
          </p:cNvSpPr>
          <p:nvPr/>
        </p:nvSpPr>
        <p:spPr>
          <a:xfrm>
            <a:off x="400050" y="5734050"/>
            <a:ext cx="11334750" cy="476250"/>
          </a:xfrm>
          <a:prstGeom prst="roundRect">
            <a:avLst>
              <a:gd name="adj" fmla="val 12000"/>
            </a:avLst>
          </a:prstGeom>
          <a:solidFill>
            <a:srgbClr val="FFFFFF"/>
          </a:solidFill>
          <a:ln w="9525">
            <a:solidFill>
              <a:srgbClr val="D9DEDA"/>
            </a:solidFill>
            <a:prstDash val="solid"/>
          </a:ln>
        </p:spPr>
        <p:txBody>
          <a:bodyPr/>
          <a:lstStyle/>
          <a:p>
            <a:endParaRPr lang="en-FR"/>
          </a:p>
        </p:txBody>
      </p:sp>
      <p:pic>
        <p:nvPicPr>
          <p:cNvPr id="145" name="Picture 144"/>
          <p:cNvPicPr>
            <a:picLocks noChangeAspect="1"/>
          </p:cNvPicPr>
          <p:nvPr/>
        </p:nvPicPr>
        <p:blipFill>
          <a:blip r:embed="rId14"/>
          <a:stretch/>
        </p:blipFill>
        <p:spPr>
          <a:xfrm>
            <a:off x="632416" y="5838825"/>
            <a:ext cx="316319" cy="323850"/>
          </a:xfrm>
          <a:prstGeom prst="rect">
            <a:avLst/>
          </a:prstGeom>
        </p:spPr>
      </p:pic>
      <p:sp>
        <p:nvSpPr>
          <p:cNvPr id="72" name="Rectangle 71">
            <a:extLst>
              <a:ext uri="{FF2B5EF4-FFF2-40B4-BE49-F238E27FC236}">
                <a16:creationId xmlns:a16="http://schemas.microsoft.com/office/drawing/2014/main" id="{C928459C-9AA2-4970-83C9-66B7F0DEE5BA}"/>
              </a:ext>
            </a:extLst>
          </p:cNvPr>
          <p:cNvSpPr>
            <a:spLocks noGrp="1"/>
          </p:cNvSpPr>
          <p:nvPr/>
        </p:nvSpPr>
        <p:spPr>
          <a:xfrm>
            <a:off x="1085850" y="5934075"/>
            <a:ext cx="9334500" cy="209550"/>
          </a:xfrm>
          <a:prstGeom prst="rect">
            <a:avLst/>
          </a:prstGeom>
          <a:noFill/>
          <a:ln w="0">
            <a:noFill/>
            <a:prstDash val="solid"/>
          </a:ln>
        </p:spPr>
        <p:txBody>
          <a:bodyPr wrap="none" lIns="0" tIns="0" rIns="0" bIns="0" anchor="t"/>
          <a:lstStyle/>
          <a:p>
            <a:pPr algn="l">
              <a:lnSpc>
                <a:spcPct val="100000"/>
              </a:lnSpc>
              <a:buNone/>
              <a:defRPr sz="1050" b="0" i="0">
                <a:solidFill>
                  <a:srgbClr val="111111"/>
                </a:solidFill>
                <a:latin typeface="Arial"/>
                <a:ea typeface="Arial"/>
                <a:cs typeface="Arial"/>
              </a:defRPr>
            </a:pPr>
            <a:r>
              <a:rPr sz="1050" b="0" i="0" dirty="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a:ext uri="{FF2B5EF4-FFF2-40B4-BE49-F238E27FC236}">
                <a16:creationId xmlns:a16="http://schemas.microsoft.com/office/drawing/2014/main" id="{B0FDF0E8-75F0-4E20-AB65-98949A664606}"/>
              </a:ext>
            </a:extLst>
          </p:cNvPr>
          <p:cNvSpPr>
            <a:spLocks noGrp="1"/>
          </p:cNvSpPr>
          <p:nvPr/>
        </p:nvSpPr>
        <p:spPr>
          <a:xfrm>
            <a:off x="1133475" y="6553200"/>
            <a:ext cx="5334000" cy="152400"/>
          </a:xfrm>
          <a:prstGeom prst="rect">
            <a:avLst/>
          </a:prstGeom>
          <a:noFill/>
          <a:ln w="0">
            <a:noFill/>
            <a:prstDash val="solid"/>
          </a:ln>
        </p:spPr>
        <p:txBody>
          <a:bodyPr wrap="none" lIns="0" tIns="0" rIns="0" bIns="0" anchor="t"/>
          <a:lstStyle/>
          <a:p>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48" name="Picture 147"/>
          <p:cNvPicPr>
            <a:picLocks noChangeAspect="1"/>
          </p:cNvPicPr>
          <p:nvPr/>
        </p:nvPicPr>
        <p:blipFill>
          <a:blip r:embed="rId15"/>
          <a:stretch/>
        </p:blipFill>
        <p:spPr>
          <a:xfrm>
            <a:off x="11382375" y="6459855"/>
            <a:ext cx="419100" cy="396240"/>
          </a:xfrm>
          <a:prstGeom prst="rect">
            <a:avLst/>
          </a:prstGeom>
        </p:spPr>
      </p:pic>
    </p:spTree>
    <p:extLst>
      <p:ext uri="{BB962C8B-B14F-4D97-AF65-F5344CB8AC3E}">
        <p14:creationId xmlns:p14="http://schemas.microsoft.com/office/powerpoint/2010/main" val="1621222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Oval 50">
            <a:extLst>
              <a:ext uri="{FF2B5EF4-FFF2-40B4-BE49-F238E27FC236}">
                <a16:creationId xmlns:a16="http://schemas.microsoft.com/office/drawing/2014/main" id="{73A5942D-D23C-45E6-ACE1-2F77352B9317}"/>
              </a:ext>
            </a:extLst>
          </p:cNvPr>
          <p:cNvSpPr>
            <a:spLocks noGrp="1"/>
          </p:cNvSpPr>
          <p:nvPr/>
        </p:nvSpPr>
        <p:spPr>
          <a:xfrm>
            <a:off x="5133975" y="657225"/>
            <a:ext cx="38100" cy="38100"/>
          </a:xfrm>
          <a:prstGeom prst="ellipse">
            <a:avLst/>
          </a:prstGeom>
          <a:solidFill>
            <a:srgbClr val="E6E9E7"/>
          </a:solidFill>
          <a:ln w="0">
            <a:noFill/>
            <a:prstDash val="solid"/>
          </a:ln>
        </p:spPr>
        <p:txBody>
          <a:bodyPr/>
          <a:lstStyle/>
          <a:p>
            <a:endParaRPr lang="en-FR"/>
          </a:p>
        </p:txBody>
      </p:sp>
      <p:sp>
        <p:nvSpPr>
          <p:cNvPr id="2" name="Oval 1">
            <a:extLst>
              <a:ext uri="{FF2B5EF4-FFF2-40B4-BE49-F238E27FC236}">
                <a16:creationId xmlns:a16="http://schemas.microsoft.com/office/drawing/2014/main" id="{73088BEA-17DF-442D-9BC7-02155DD5C445}"/>
              </a:ext>
            </a:extLst>
          </p:cNvPr>
          <p:cNvSpPr>
            <a:spLocks noGrp="1"/>
          </p:cNvSpPr>
          <p:nvPr/>
        </p:nvSpPr>
        <p:spPr>
          <a:xfrm>
            <a:off x="6181725" y="685800"/>
            <a:ext cx="28575" cy="28575"/>
          </a:xfrm>
          <a:prstGeom prst="ellipse">
            <a:avLst/>
          </a:prstGeom>
          <a:solidFill>
            <a:srgbClr val="E6E9E7"/>
          </a:solidFill>
          <a:ln w="0">
            <a:noFill/>
            <a:prstDash val="solid"/>
          </a:ln>
        </p:spPr>
        <p:txBody>
          <a:bodyPr/>
          <a:lstStyle/>
          <a:p>
            <a:endParaRPr lang="en-FR"/>
          </a:p>
        </p:txBody>
      </p:sp>
      <p:sp>
        <p:nvSpPr>
          <p:cNvPr id="3" name="Oval 2">
            <a:extLst>
              <a:ext uri="{FF2B5EF4-FFF2-40B4-BE49-F238E27FC236}">
                <a16:creationId xmlns:a16="http://schemas.microsoft.com/office/drawing/2014/main" id="{FF40793F-68B7-4A09-857E-9B1E1E9D9BCF}"/>
              </a:ext>
            </a:extLst>
          </p:cNvPr>
          <p:cNvSpPr>
            <a:spLocks noGrp="1"/>
          </p:cNvSpPr>
          <p:nvPr/>
        </p:nvSpPr>
        <p:spPr>
          <a:xfrm>
            <a:off x="7239000" y="504825"/>
            <a:ext cx="57150" cy="57150"/>
          </a:xfrm>
          <a:prstGeom prst="ellipse">
            <a:avLst/>
          </a:prstGeom>
          <a:solidFill>
            <a:srgbClr val="E6E9E7"/>
          </a:solidFill>
          <a:ln w="0">
            <a:noFill/>
            <a:prstDash val="solid"/>
          </a:ln>
        </p:spPr>
        <p:txBody>
          <a:bodyPr/>
          <a:lstStyle/>
          <a:p>
            <a:endParaRPr lang="en-FR"/>
          </a:p>
        </p:txBody>
      </p:sp>
      <p:sp>
        <p:nvSpPr>
          <p:cNvPr id="4" name="Oval 3">
            <a:extLst>
              <a:ext uri="{FF2B5EF4-FFF2-40B4-BE49-F238E27FC236}">
                <a16:creationId xmlns:a16="http://schemas.microsoft.com/office/drawing/2014/main" id="{674B1F8E-B96D-4B16-B046-787E8702A629}"/>
              </a:ext>
            </a:extLst>
          </p:cNvPr>
          <p:cNvSpPr>
            <a:spLocks noGrp="1"/>
          </p:cNvSpPr>
          <p:nvPr/>
        </p:nvSpPr>
        <p:spPr>
          <a:xfrm>
            <a:off x="11010900" y="1123950"/>
            <a:ext cx="19050" cy="19050"/>
          </a:xfrm>
          <a:prstGeom prst="ellipse">
            <a:avLst/>
          </a:prstGeom>
          <a:solidFill>
            <a:srgbClr val="E6E9E7"/>
          </a:solidFill>
          <a:ln w="0">
            <a:noFill/>
            <a:prstDash val="solid"/>
          </a:ln>
        </p:spPr>
        <p:txBody>
          <a:bodyPr/>
          <a:lstStyle/>
          <a:p>
            <a:endParaRPr lang="en-FR"/>
          </a:p>
        </p:txBody>
      </p:sp>
      <p:sp>
        <p:nvSpPr>
          <p:cNvPr id="5" name="Oval 4">
            <a:extLst>
              <a:ext uri="{FF2B5EF4-FFF2-40B4-BE49-F238E27FC236}">
                <a16:creationId xmlns:a16="http://schemas.microsoft.com/office/drawing/2014/main" id="{ECE320BA-C63B-4BBF-94C5-92BE5192DC61}"/>
              </a:ext>
            </a:extLst>
          </p:cNvPr>
          <p:cNvSpPr>
            <a:spLocks noGrp="1"/>
          </p:cNvSpPr>
          <p:nvPr/>
        </p:nvSpPr>
        <p:spPr>
          <a:xfrm>
            <a:off x="9220200" y="1581150"/>
            <a:ext cx="38100" cy="38100"/>
          </a:xfrm>
          <a:prstGeom prst="ellipse">
            <a:avLst/>
          </a:prstGeom>
          <a:solidFill>
            <a:srgbClr val="E6E9E7"/>
          </a:solidFill>
          <a:ln w="0">
            <a:noFill/>
            <a:prstDash val="solid"/>
          </a:ln>
        </p:spPr>
        <p:txBody>
          <a:bodyPr/>
          <a:lstStyle/>
          <a:p>
            <a:endParaRPr lang="en-FR"/>
          </a:p>
        </p:txBody>
      </p:sp>
      <p:sp>
        <p:nvSpPr>
          <p:cNvPr id="6" name="Oval 5">
            <a:extLst>
              <a:ext uri="{FF2B5EF4-FFF2-40B4-BE49-F238E27FC236}">
                <a16:creationId xmlns:a16="http://schemas.microsoft.com/office/drawing/2014/main" id="{AF232F3B-1324-4364-BD60-137FAF1990F8}"/>
              </a:ext>
            </a:extLst>
          </p:cNvPr>
          <p:cNvSpPr>
            <a:spLocks noGrp="1"/>
          </p:cNvSpPr>
          <p:nvPr/>
        </p:nvSpPr>
        <p:spPr>
          <a:xfrm>
            <a:off x="11410950" y="1647825"/>
            <a:ext cx="28575" cy="28575"/>
          </a:xfrm>
          <a:prstGeom prst="ellipse">
            <a:avLst/>
          </a:prstGeom>
          <a:solidFill>
            <a:srgbClr val="E6E9E7"/>
          </a:solidFill>
          <a:ln w="0">
            <a:noFill/>
            <a:prstDash val="solid"/>
          </a:ln>
        </p:spPr>
        <p:txBody>
          <a:bodyPr/>
          <a:lstStyle/>
          <a:p>
            <a:endParaRPr lang="en-FR"/>
          </a:p>
        </p:txBody>
      </p:sp>
      <p:sp>
        <p:nvSpPr>
          <p:cNvPr id="7" name="Oval 6">
            <a:extLst>
              <a:ext uri="{FF2B5EF4-FFF2-40B4-BE49-F238E27FC236}">
                <a16:creationId xmlns:a16="http://schemas.microsoft.com/office/drawing/2014/main" id="{12DA0ADF-18D5-4143-BAFB-C1D4E0322D43}"/>
              </a:ext>
            </a:extLst>
          </p:cNvPr>
          <p:cNvSpPr>
            <a:spLocks noGrp="1"/>
          </p:cNvSpPr>
          <p:nvPr/>
        </p:nvSpPr>
        <p:spPr>
          <a:xfrm>
            <a:off x="9982200" y="3000375"/>
            <a:ext cx="28575" cy="28575"/>
          </a:xfrm>
          <a:prstGeom prst="ellipse">
            <a:avLst/>
          </a:prstGeom>
          <a:solidFill>
            <a:srgbClr val="E6E9E7"/>
          </a:solidFill>
          <a:ln w="0">
            <a:noFill/>
            <a:prstDash val="solid"/>
          </a:ln>
        </p:spPr>
        <p:txBody>
          <a:bodyPr/>
          <a:lstStyle/>
          <a:p>
            <a:endParaRPr lang="en-FR"/>
          </a:p>
        </p:txBody>
      </p:sp>
      <p:sp>
        <p:nvSpPr>
          <p:cNvPr id="8" name="Oval 7">
            <a:extLst>
              <a:ext uri="{FF2B5EF4-FFF2-40B4-BE49-F238E27FC236}">
                <a16:creationId xmlns:a16="http://schemas.microsoft.com/office/drawing/2014/main" id="{8EF1F3FD-6495-4F9F-8163-4CEB685C76C1}"/>
              </a:ext>
            </a:extLst>
          </p:cNvPr>
          <p:cNvSpPr>
            <a:spLocks noGrp="1"/>
          </p:cNvSpPr>
          <p:nvPr/>
        </p:nvSpPr>
        <p:spPr>
          <a:xfrm>
            <a:off x="9344025" y="4781550"/>
            <a:ext cx="47625" cy="47625"/>
          </a:xfrm>
          <a:prstGeom prst="ellipse">
            <a:avLst/>
          </a:prstGeom>
          <a:solidFill>
            <a:srgbClr val="E6E9E7"/>
          </a:solidFill>
          <a:ln w="0">
            <a:noFill/>
            <a:prstDash val="solid"/>
          </a:ln>
        </p:spPr>
        <p:txBody>
          <a:bodyPr/>
          <a:lstStyle/>
          <a:p>
            <a:endParaRPr lang="en-FR"/>
          </a:p>
        </p:txBody>
      </p:sp>
      <p:sp>
        <p:nvSpPr>
          <p:cNvPr id="9" name="Oval 8">
            <a:extLst>
              <a:ext uri="{FF2B5EF4-FFF2-40B4-BE49-F238E27FC236}">
                <a16:creationId xmlns:a16="http://schemas.microsoft.com/office/drawing/2014/main" id="{B3A8DECC-6222-4521-82D5-B349CA05389D}"/>
              </a:ext>
            </a:extLst>
          </p:cNvPr>
          <p:cNvSpPr>
            <a:spLocks noGrp="1"/>
          </p:cNvSpPr>
          <p:nvPr/>
        </p:nvSpPr>
        <p:spPr>
          <a:xfrm>
            <a:off x="11658600" y="5848350"/>
            <a:ext cx="38100" cy="38100"/>
          </a:xfrm>
          <a:prstGeom prst="ellipse">
            <a:avLst/>
          </a:prstGeom>
          <a:solidFill>
            <a:srgbClr val="E6E9E7"/>
          </a:solidFill>
          <a:ln w="0">
            <a:noFill/>
            <a:prstDash val="solid"/>
          </a:ln>
        </p:spPr>
        <p:txBody>
          <a:bodyPr/>
          <a:lstStyle/>
          <a:p>
            <a:endParaRPr lang="en-FR"/>
          </a:p>
        </p:txBody>
      </p:sp>
      <p:pic>
        <p:nvPicPr>
          <p:cNvPr id="61" name="Picture 60"/>
          <p:cNvPicPr>
            <a:picLocks noChangeAspect="1"/>
          </p:cNvPicPr>
          <p:nvPr/>
        </p:nvPicPr>
        <p:blipFill>
          <a:blip r:embed="rId3"/>
          <a:stretch/>
        </p:blipFill>
        <p:spPr>
          <a:xfrm>
            <a:off x="361950" y="357187"/>
            <a:ext cx="1927741" cy="600075"/>
          </a:xfrm>
          <a:prstGeom prst="rect">
            <a:avLst/>
          </a:prstGeom>
        </p:spPr>
      </p:pic>
      <p:sp>
        <p:nvSpPr>
          <p:cNvPr id="12" name="Rectangle 11">
            <a:extLst>
              <a:ext uri="{FF2B5EF4-FFF2-40B4-BE49-F238E27FC236}">
                <a16:creationId xmlns:a16="http://schemas.microsoft.com/office/drawing/2014/main" id="{181FA5E6-65B3-42DA-A23A-AE93E6720CB2}"/>
              </a:ext>
            </a:extLst>
          </p:cNvPr>
          <p:cNvSpPr>
            <a:spLocks noGrp="1"/>
          </p:cNvSpPr>
          <p:nvPr/>
        </p:nvSpPr>
        <p:spPr>
          <a:xfrm>
            <a:off x="361950" y="1133475"/>
            <a:ext cx="6286500" cy="523875"/>
          </a:xfrm>
          <a:prstGeom prst="rect">
            <a:avLst/>
          </a:prstGeom>
          <a:noFill/>
          <a:ln w="0">
            <a:noFill/>
            <a:prstDash val="solid"/>
          </a:ln>
        </p:spPr>
        <p:txBody>
          <a:bodyPr wrap="none" lIns="0" tIns="0" rIns="0" bIns="0" anchor="t"/>
          <a:lstStyle/>
          <a:p>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a:ext uri="{FF2B5EF4-FFF2-40B4-BE49-F238E27FC236}">
                <a16:creationId xmlns:a16="http://schemas.microsoft.com/office/drawing/2014/main" id="{B629860D-8183-4AA2-8F53-EEB151589651}"/>
              </a:ext>
            </a:extLst>
          </p:cNvPr>
          <p:cNvSpPr>
            <a:spLocks noGrp="1"/>
          </p:cNvSpPr>
          <p:nvPr/>
        </p:nvSpPr>
        <p:spPr>
          <a:xfrm>
            <a:off x="371475" y="1676400"/>
            <a:ext cx="381000" cy="38100"/>
          </a:xfrm>
          <a:prstGeom prst="rect">
            <a:avLst/>
          </a:prstGeom>
          <a:solidFill>
            <a:srgbClr val="F00000"/>
          </a:solidFill>
          <a:ln w="0">
            <a:noFill/>
            <a:prstDash val="solid"/>
          </a:ln>
        </p:spPr>
        <p:txBody>
          <a:bodyPr/>
          <a:lstStyle/>
          <a:p>
            <a:endParaRPr lang="en-FR"/>
          </a:p>
        </p:txBody>
      </p:sp>
      <p:sp>
        <p:nvSpPr>
          <p:cNvPr id="14" name="Rectangle 13">
            <a:extLst>
              <a:ext uri="{FF2B5EF4-FFF2-40B4-BE49-F238E27FC236}">
                <a16:creationId xmlns:a16="http://schemas.microsoft.com/office/drawing/2014/main" id="{3E173982-393B-42AC-A28E-FA0B0948FCC0}"/>
              </a:ext>
            </a:extLst>
          </p:cNvPr>
          <p:cNvSpPr>
            <a:spLocks noGrp="1"/>
          </p:cNvSpPr>
          <p:nvPr/>
        </p:nvSpPr>
        <p:spPr>
          <a:xfrm>
            <a:off x="390525" y="1838325"/>
            <a:ext cx="6096000" cy="457200"/>
          </a:xfrm>
          <a:prstGeom prst="rect">
            <a:avLst/>
          </a:prstGeom>
          <a:noFill/>
          <a:ln w="0">
            <a:noFill/>
            <a:prstDash val="solid"/>
          </a:ln>
        </p:spPr>
        <p:txBody>
          <a:bodyPr wrap="square" lIns="0" tIns="0" rIns="0" bIns="0" anchor="t"/>
          <a:lstStyle/>
          <a:p>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a:ext uri="{FF2B5EF4-FFF2-40B4-BE49-F238E27FC236}">
                <a16:creationId xmlns:a16="http://schemas.microsoft.com/office/drawing/2014/main" id="{D05FD567-6830-4B7C-A6B4-1C17F3F5C538}"/>
              </a:ext>
            </a:extLst>
          </p:cNvPr>
          <p:cNvSpPr>
            <a:spLocks noGrp="1"/>
          </p:cNvSpPr>
          <p:nvPr/>
        </p:nvSpPr>
        <p:spPr>
          <a:xfrm>
            <a:off x="381000" y="2343150"/>
            <a:ext cx="7391400" cy="3676650"/>
          </a:xfrm>
          <a:prstGeom prst="roundRect">
            <a:avLst>
              <a:gd name="adj" fmla="val 1813"/>
            </a:avLst>
          </a:prstGeom>
          <a:solidFill>
            <a:srgbClr val="FFFFFF"/>
          </a:solidFill>
          <a:ln w="9525">
            <a:solidFill>
              <a:srgbClr val="CED6D1"/>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16" name="Rounded Rectangle 15">
            <a:extLst>
              <a:ext uri="{FF2B5EF4-FFF2-40B4-BE49-F238E27FC236}">
                <a16:creationId xmlns:a16="http://schemas.microsoft.com/office/drawing/2014/main" id="{7E7120EA-B371-422A-9F44-F023B4B89BD2}"/>
              </a:ext>
            </a:extLst>
          </p:cNvPr>
          <p:cNvSpPr>
            <a:spLocks noGrp="1"/>
          </p:cNvSpPr>
          <p:nvPr/>
        </p:nvSpPr>
        <p:spPr>
          <a:xfrm>
            <a:off x="381000" y="2343150"/>
            <a:ext cx="7391400" cy="361950"/>
          </a:xfrm>
          <a:prstGeom prst="roundRect">
            <a:avLst>
              <a:gd name="adj" fmla="val 18421"/>
            </a:avLst>
          </a:prstGeom>
          <a:gradFill>
            <a:gsLst>
              <a:gs pos="0">
                <a:srgbClr val="00351F"/>
              </a:gs>
              <a:gs pos="100000">
                <a:srgbClr val="075431"/>
              </a:gs>
            </a:gsLst>
            <a:lin ang="0"/>
          </a:gradFill>
          <a:ln w="0">
            <a:noFill/>
            <a:prstDash val="solid"/>
          </a:ln>
        </p:spPr>
        <p:txBody>
          <a:bodyPr/>
          <a:lstStyle/>
          <a:p>
            <a:endParaRPr lang="en-FR"/>
          </a:p>
        </p:txBody>
      </p:sp>
      <p:pic>
        <p:nvPicPr>
          <p:cNvPr id="67" name="Picture 66"/>
          <p:cNvPicPr>
            <a:picLocks noChangeAspect="1"/>
          </p:cNvPicPr>
          <p:nvPr/>
        </p:nvPicPr>
        <p:blipFill>
          <a:blip r:embed="rId4"/>
          <a:stretch/>
        </p:blipFill>
        <p:spPr>
          <a:xfrm>
            <a:off x="617492" y="2390775"/>
            <a:ext cx="260441" cy="276225"/>
          </a:xfrm>
          <a:prstGeom prst="rect">
            <a:avLst/>
          </a:prstGeom>
        </p:spPr>
      </p:pic>
      <p:sp>
        <p:nvSpPr>
          <p:cNvPr id="18" name="Rectangle 17">
            <a:extLst>
              <a:ext uri="{FF2B5EF4-FFF2-40B4-BE49-F238E27FC236}">
                <a16:creationId xmlns:a16="http://schemas.microsoft.com/office/drawing/2014/main" id="{E91505E6-4E87-4F2F-9412-FA897C3D79C8}"/>
              </a:ext>
            </a:extLst>
          </p:cNvPr>
          <p:cNvSpPr>
            <a:spLocks noGrp="1"/>
          </p:cNvSpPr>
          <p:nvPr/>
        </p:nvSpPr>
        <p:spPr>
          <a:xfrm>
            <a:off x="1019175" y="2438400"/>
            <a:ext cx="2095500" cy="209550"/>
          </a:xfrm>
          <a:prstGeom prst="rect">
            <a:avLst/>
          </a:prstGeom>
          <a:noFill/>
          <a:ln w="0">
            <a:noFill/>
            <a:prstDash val="solid"/>
          </a:ln>
        </p:spPr>
        <p:txBody>
          <a:bodyPr wrap="none" lIns="0" tIns="0" rIns="0" bIns="0" anchor="t"/>
          <a:lstStyle/>
          <a:p>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69" name="Picture 68"/>
          <p:cNvPicPr>
            <a:picLocks noChangeAspect="1"/>
          </p:cNvPicPr>
          <p:nvPr/>
        </p:nvPicPr>
        <p:blipFill>
          <a:blip r:embed="rId5"/>
          <a:stretch/>
        </p:blipFill>
        <p:spPr>
          <a:xfrm>
            <a:off x="600075" y="2779303"/>
            <a:ext cx="466725" cy="451669"/>
          </a:xfrm>
          <a:prstGeom prst="rect">
            <a:avLst/>
          </a:prstGeom>
        </p:spPr>
      </p:pic>
      <p:sp>
        <p:nvSpPr>
          <p:cNvPr id="20" name="Rectangle 19">
            <a:extLst>
              <a:ext uri="{FF2B5EF4-FFF2-40B4-BE49-F238E27FC236}">
                <a16:creationId xmlns:a16="http://schemas.microsoft.com/office/drawing/2014/main" id="{42908386-5A93-4A58-A462-83A24A156EB4}"/>
              </a:ext>
            </a:extLst>
          </p:cNvPr>
          <p:cNvSpPr>
            <a:spLocks noGrp="1"/>
          </p:cNvSpPr>
          <p:nvPr/>
        </p:nvSpPr>
        <p:spPr>
          <a:xfrm>
            <a:off x="1333500" y="2914650"/>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a:ext uri="{FF2B5EF4-FFF2-40B4-BE49-F238E27FC236}">
                <a16:creationId xmlns:a16="http://schemas.microsoft.com/office/drawing/2014/main" id="{74A58121-1B16-4F12-92B5-F259AF492CB0}"/>
              </a:ext>
            </a:extLst>
          </p:cNvPr>
          <p:cNvSpPr>
            <a:spLocks noGrp="1"/>
          </p:cNvSpPr>
          <p:nvPr/>
        </p:nvSpPr>
        <p:spPr>
          <a:xfrm>
            <a:off x="3333750" y="2828925"/>
            <a:ext cx="0" cy="314325"/>
          </a:xfrm>
          <a:prstGeom prst="line">
            <a:avLst/>
          </a:prstGeom>
          <a:noFill/>
          <a:ln w="9525">
            <a:solidFill>
              <a:srgbClr val="CBD2CE"/>
            </a:solidFill>
            <a:prstDash val="solid"/>
          </a:ln>
        </p:spPr>
        <p:txBody>
          <a:bodyPr/>
          <a:lstStyle/>
          <a:p>
            <a:endParaRPr lang="en-FR"/>
          </a:p>
        </p:txBody>
      </p:sp>
      <p:sp>
        <p:nvSpPr>
          <p:cNvPr id="22" name="Rectangle 21">
            <a:extLst>
              <a:ext uri="{FF2B5EF4-FFF2-40B4-BE49-F238E27FC236}">
                <a16:creationId xmlns:a16="http://schemas.microsoft.com/office/drawing/2014/main" id="{71D931CB-6DBE-4D20-B729-98885198EFAC}"/>
              </a:ext>
            </a:extLst>
          </p:cNvPr>
          <p:cNvSpPr>
            <a:spLocks noGrp="1"/>
          </p:cNvSpPr>
          <p:nvPr/>
        </p:nvSpPr>
        <p:spPr>
          <a:xfrm>
            <a:off x="3676650" y="2828925"/>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May 08, 2025)</a:t>
            </a:r>
          </a:p>
        </p:txBody>
      </p:sp>
      <p:sp>
        <p:nvSpPr>
          <p:cNvPr id="23" name="Straight Connector 22">
            <a:extLst>
              <a:ext uri="{FF2B5EF4-FFF2-40B4-BE49-F238E27FC236}">
                <a16:creationId xmlns:a16="http://schemas.microsoft.com/office/drawing/2014/main" id="{23397379-0F76-4614-83F5-A13601AE9797}"/>
              </a:ext>
            </a:extLst>
          </p:cNvPr>
          <p:cNvSpPr>
            <a:spLocks noGrp="1"/>
          </p:cNvSpPr>
          <p:nvPr/>
        </p:nvSpPr>
        <p:spPr>
          <a:xfrm>
            <a:off x="600075" y="3264218"/>
            <a:ext cx="6981825" cy="0"/>
          </a:xfrm>
          <a:prstGeom prst="line">
            <a:avLst/>
          </a:prstGeom>
          <a:noFill/>
          <a:ln w="9525">
            <a:solidFill>
              <a:srgbClr val="DDE2DE"/>
            </a:solidFill>
            <a:prstDash val="solid"/>
          </a:ln>
        </p:spPr>
        <p:txBody>
          <a:bodyPr/>
          <a:lstStyle/>
          <a:p>
            <a:endParaRPr lang="en-FR"/>
          </a:p>
        </p:txBody>
      </p:sp>
      <p:pic>
        <p:nvPicPr>
          <p:cNvPr id="74" name="Picture 73"/>
          <p:cNvPicPr>
            <a:picLocks noChangeAspect="1"/>
          </p:cNvPicPr>
          <p:nvPr/>
        </p:nvPicPr>
        <p:blipFill>
          <a:blip r:embed="rId6"/>
          <a:stretch/>
        </p:blipFill>
        <p:spPr>
          <a:xfrm>
            <a:off x="600075" y="3309845"/>
            <a:ext cx="466725" cy="451669"/>
          </a:xfrm>
          <a:prstGeom prst="rect">
            <a:avLst/>
          </a:prstGeom>
        </p:spPr>
      </p:pic>
      <p:sp>
        <p:nvSpPr>
          <p:cNvPr id="25" name="Rectangle 24">
            <a:extLst>
              <a:ext uri="{FF2B5EF4-FFF2-40B4-BE49-F238E27FC236}">
                <a16:creationId xmlns:a16="http://schemas.microsoft.com/office/drawing/2014/main" id="{DE8908F2-D896-472D-AF70-B94F25AE6292}"/>
              </a:ext>
            </a:extLst>
          </p:cNvPr>
          <p:cNvSpPr>
            <a:spLocks noGrp="1"/>
          </p:cNvSpPr>
          <p:nvPr/>
        </p:nvSpPr>
        <p:spPr>
          <a:xfrm>
            <a:off x="1333500" y="3445193"/>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a:ext uri="{FF2B5EF4-FFF2-40B4-BE49-F238E27FC236}">
                <a16:creationId xmlns:a16="http://schemas.microsoft.com/office/drawing/2014/main" id="{CFDEC23A-6F66-49D5-87D3-62C87F39D16D}"/>
              </a:ext>
            </a:extLst>
          </p:cNvPr>
          <p:cNvSpPr>
            <a:spLocks noGrp="1"/>
          </p:cNvSpPr>
          <p:nvPr/>
        </p:nvSpPr>
        <p:spPr>
          <a:xfrm>
            <a:off x="3333750" y="3359468"/>
            <a:ext cx="0" cy="314325"/>
          </a:xfrm>
          <a:prstGeom prst="line">
            <a:avLst/>
          </a:prstGeom>
          <a:noFill/>
          <a:ln w="9525">
            <a:solidFill>
              <a:srgbClr val="CBD2CE"/>
            </a:solidFill>
            <a:prstDash val="solid"/>
          </a:ln>
        </p:spPr>
        <p:txBody>
          <a:bodyPr/>
          <a:lstStyle/>
          <a:p>
            <a:endParaRPr lang="en-FR"/>
          </a:p>
        </p:txBody>
      </p:sp>
      <p:sp>
        <p:nvSpPr>
          <p:cNvPr id="27" name="Rectangle 26">
            <a:extLst>
              <a:ext uri="{FF2B5EF4-FFF2-40B4-BE49-F238E27FC236}">
                <a16:creationId xmlns:a16="http://schemas.microsoft.com/office/drawing/2014/main" id="{0ECE9441-9ABA-4D86-B0D0-CA3DF1A3EB96}"/>
              </a:ext>
            </a:extLst>
          </p:cNvPr>
          <p:cNvSpPr>
            <a:spLocks noGrp="1"/>
          </p:cNvSpPr>
          <p:nvPr/>
        </p:nvSpPr>
        <p:spPr>
          <a:xfrm>
            <a:off x="3676650" y="3359468"/>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Capacity based on current utilization</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projected growth</a:t>
            </a:r>
          </a:p>
        </p:txBody>
      </p:sp>
      <p:sp>
        <p:nvSpPr>
          <p:cNvPr id="28" name="Straight Connector 27">
            <a:extLst>
              <a:ext uri="{FF2B5EF4-FFF2-40B4-BE49-F238E27FC236}">
                <a16:creationId xmlns:a16="http://schemas.microsoft.com/office/drawing/2014/main" id="{45CE46C6-B9C0-4849-A834-96BE06538FA8}"/>
              </a:ext>
            </a:extLst>
          </p:cNvPr>
          <p:cNvSpPr>
            <a:spLocks noGrp="1"/>
          </p:cNvSpPr>
          <p:nvPr/>
        </p:nvSpPr>
        <p:spPr>
          <a:xfrm>
            <a:off x="600075" y="3794760"/>
            <a:ext cx="6981825" cy="0"/>
          </a:xfrm>
          <a:prstGeom prst="line">
            <a:avLst/>
          </a:prstGeom>
          <a:noFill/>
          <a:ln w="9525">
            <a:solidFill>
              <a:srgbClr val="DDE2DE"/>
            </a:solidFill>
            <a:prstDash val="solid"/>
          </a:ln>
        </p:spPr>
        <p:txBody>
          <a:bodyPr/>
          <a:lstStyle/>
          <a:p>
            <a:endParaRPr lang="en-FR"/>
          </a:p>
        </p:txBody>
      </p:sp>
      <p:pic>
        <p:nvPicPr>
          <p:cNvPr id="79" name="Picture 78"/>
          <p:cNvPicPr>
            <a:picLocks noChangeAspect="1"/>
          </p:cNvPicPr>
          <p:nvPr/>
        </p:nvPicPr>
        <p:blipFill>
          <a:blip r:embed="rId7"/>
          <a:stretch/>
        </p:blipFill>
        <p:spPr>
          <a:xfrm>
            <a:off x="600075" y="3836686"/>
            <a:ext cx="466725" cy="459074"/>
          </a:xfrm>
          <a:prstGeom prst="rect">
            <a:avLst/>
          </a:prstGeom>
        </p:spPr>
      </p:pic>
      <p:sp>
        <p:nvSpPr>
          <p:cNvPr id="30" name="Rectangle 29">
            <a:extLst>
              <a:ext uri="{FF2B5EF4-FFF2-40B4-BE49-F238E27FC236}">
                <a16:creationId xmlns:a16="http://schemas.microsoft.com/office/drawing/2014/main" id="{78085D01-F2D9-4FF8-AFE8-59DAD7CB0343}"/>
              </a:ext>
            </a:extLst>
          </p:cNvPr>
          <p:cNvSpPr>
            <a:spLocks noGrp="1"/>
          </p:cNvSpPr>
          <p:nvPr/>
        </p:nvSpPr>
        <p:spPr>
          <a:xfrm>
            <a:off x="1333500" y="3975735"/>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Contention Ratio</a:t>
            </a:r>
          </a:p>
        </p:txBody>
      </p:sp>
      <p:sp>
        <p:nvSpPr>
          <p:cNvPr id="31" name="Straight Connector 30">
            <a:extLst>
              <a:ext uri="{FF2B5EF4-FFF2-40B4-BE49-F238E27FC236}">
                <a16:creationId xmlns:a16="http://schemas.microsoft.com/office/drawing/2014/main" id="{72944B4F-936E-4666-BCB5-19428C80B4D4}"/>
              </a:ext>
            </a:extLst>
          </p:cNvPr>
          <p:cNvSpPr>
            <a:spLocks noGrp="1"/>
          </p:cNvSpPr>
          <p:nvPr/>
        </p:nvSpPr>
        <p:spPr>
          <a:xfrm>
            <a:off x="3333750" y="3890010"/>
            <a:ext cx="0" cy="314325"/>
          </a:xfrm>
          <a:prstGeom prst="line">
            <a:avLst/>
          </a:prstGeom>
          <a:noFill/>
          <a:ln w="9525">
            <a:solidFill>
              <a:srgbClr val="CBD2CE"/>
            </a:solidFill>
            <a:prstDash val="solid"/>
          </a:ln>
        </p:spPr>
        <p:txBody>
          <a:bodyPr/>
          <a:lstStyle/>
          <a:p>
            <a:endParaRPr lang="en-FR"/>
          </a:p>
        </p:txBody>
      </p:sp>
      <p:sp>
        <p:nvSpPr>
          <p:cNvPr id="32" name="Rectangle 31">
            <a:extLst>
              <a:ext uri="{FF2B5EF4-FFF2-40B4-BE49-F238E27FC236}">
                <a16:creationId xmlns:a16="http://schemas.microsoft.com/office/drawing/2014/main" id="{4BB2C1F5-D562-49B2-9F9A-0CC0CC218F6B}"/>
              </a:ext>
            </a:extLst>
          </p:cNvPr>
          <p:cNvSpPr>
            <a:spLocks noGrp="1"/>
          </p:cNvSpPr>
          <p:nvPr/>
        </p:nvSpPr>
        <p:spPr>
          <a:xfrm>
            <a:off x="3676650" y="3890010"/>
            <a:ext cx="762000" cy="209550"/>
          </a:xfrm>
          <a:prstGeom prst="rect">
            <a:avLst/>
          </a:prstGeom>
          <a:noFill/>
          <a:ln w="0">
            <a:noFill/>
            <a:prstDash val="solid"/>
          </a:ln>
        </p:spPr>
        <p:txBody>
          <a:bodyPr wrap="none" lIns="0" tIns="0" rIns="0" bIns="0" anchor="t"/>
          <a:lstStyle/>
          <a:p>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1:6</a:t>
            </a:r>
          </a:p>
        </p:txBody>
      </p:sp>
      <p:sp>
        <p:nvSpPr>
          <p:cNvPr id="33" name="Rectangle 32">
            <a:extLst>
              <a:ext uri="{FF2B5EF4-FFF2-40B4-BE49-F238E27FC236}">
                <a16:creationId xmlns:a16="http://schemas.microsoft.com/office/drawing/2014/main" id="{C1010FD1-CF72-4430-AE27-159930A3A4CD}"/>
              </a:ext>
            </a:extLst>
          </p:cNvPr>
          <p:cNvSpPr>
            <a:spLocks noGrp="1"/>
          </p:cNvSpPr>
          <p:nvPr/>
        </p:nvSpPr>
        <p:spPr>
          <a:xfrm>
            <a:off x="3676650" y="4109085"/>
            <a:ext cx="3714750" cy="17145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(Industry standard for medium consolidation)</a:t>
            </a:r>
          </a:p>
        </p:txBody>
      </p:sp>
      <p:sp>
        <p:nvSpPr>
          <p:cNvPr id="34" name="Straight Connector 33">
            <a:extLst>
              <a:ext uri="{FF2B5EF4-FFF2-40B4-BE49-F238E27FC236}">
                <a16:creationId xmlns:a16="http://schemas.microsoft.com/office/drawing/2014/main" id="{02CD068C-C8FC-47C9-BB57-3D4C64351CFA}"/>
              </a:ext>
            </a:extLst>
          </p:cNvPr>
          <p:cNvSpPr>
            <a:spLocks noGrp="1"/>
          </p:cNvSpPr>
          <p:nvPr/>
        </p:nvSpPr>
        <p:spPr>
          <a:xfrm>
            <a:off x="600075" y="4325303"/>
            <a:ext cx="6981825" cy="0"/>
          </a:xfrm>
          <a:prstGeom prst="line">
            <a:avLst/>
          </a:prstGeom>
          <a:noFill/>
          <a:ln w="9525">
            <a:solidFill>
              <a:srgbClr val="DDE2DE"/>
            </a:solidFill>
            <a:prstDash val="solid"/>
          </a:ln>
        </p:spPr>
        <p:txBody>
          <a:bodyPr/>
          <a:lstStyle/>
          <a:p>
            <a:endParaRPr lang="en-FR"/>
          </a:p>
        </p:txBody>
      </p:sp>
      <p:pic>
        <p:nvPicPr>
          <p:cNvPr id="85" name="Picture 84"/>
          <p:cNvPicPr>
            <a:picLocks noChangeAspect="1"/>
          </p:cNvPicPr>
          <p:nvPr/>
        </p:nvPicPr>
        <p:blipFill>
          <a:blip r:embed="rId8"/>
          <a:stretch/>
        </p:blipFill>
        <p:spPr>
          <a:xfrm>
            <a:off x="600075" y="4367228"/>
            <a:ext cx="466725" cy="459074"/>
          </a:xfrm>
          <a:prstGeom prst="rect">
            <a:avLst/>
          </a:prstGeom>
        </p:spPr>
      </p:pic>
      <p:sp>
        <p:nvSpPr>
          <p:cNvPr id="36" name="Rectangle 35">
            <a:extLst>
              <a:ext uri="{FF2B5EF4-FFF2-40B4-BE49-F238E27FC236}">
                <a16:creationId xmlns:a16="http://schemas.microsoft.com/office/drawing/2014/main" id="{35B0B338-2A00-4402-837C-6832FD369235}"/>
              </a:ext>
            </a:extLst>
          </p:cNvPr>
          <p:cNvSpPr>
            <a:spLocks noGrp="1"/>
          </p:cNvSpPr>
          <p:nvPr/>
        </p:nvSpPr>
        <p:spPr>
          <a:xfrm>
            <a:off x="1333500" y="4506278"/>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Average Utilization</a:t>
            </a:r>
          </a:p>
        </p:txBody>
      </p:sp>
      <p:sp>
        <p:nvSpPr>
          <p:cNvPr id="37" name="Straight Connector 36">
            <a:extLst>
              <a:ext uri="{FF2B5EF4-FFF2-40B4-BE49-F238E27FC236}">
                <a16:creationId xmlns:a16="http://schemas.microsoft.com/office/drawing/2014/main" id="{0004D49C-3CEF-4D64-8EE4-5C2EF19B65F0}"/>
              </a:ext>
            </a:extLst>
          </p:cNvPr>
          <p:cNvSpPr>
            <a:spLocks noGrp="1"/>
          </p:cNvSpPr>
          <p:nvPr/>
        </p:nvSpPr>
        <p:spPr>
          <a:xfrm>
            <a:off x="3333750" y="4420553"/>
            <a:ext cx="0" cy="314325"/>
          </a:xfrm>
          <a:prstGeom prst="line">
            <a:avLst/>
          </a:prstGeom>
          <a:noFill/>
          <a:ln w="9525">
            <a:solidFill>
              <a:srgbClr val="CBD2CE"/>
            </a:solidFill>
            <a:prstDash val="solid"/>
          </a:ln>
        </p:spPr>
        <p:txBody>
          <a:bodyPr/>
          <a:lstStyle/>
          <a:p>
            <a:endParaRPr lang="en-FR"/>
          </a:p>
        </p:txBody>
      </p:sp>
      <p:sp>
        <p:nvSpPr>
          <p:cNvPr id="38" name="Rectangle 37">
            <a:extLst>
              <a:ext uri="{FF2B5EF4-FFF2-40B4-BE49-F238E27FC236}">
                <a16:creationId xmlns:a16="http://schemas.microsoft.com/office/drawing/2014/main" id="{B09B219E-B635-42E5-8711-6CCAA05CC5BA}"/>
              </a:ext>
            </a:extLst>
          </p:cNvPr>
          <p:cNvSpPr>
            <a:spLocks noGrp="1"/>
          </p:cNvSpPr>
          <p:nvPr/>
        </p:nvSpPr>
        <p:spPr>
          <a:xfrm>
            <a:off x="3676650" y="4420553"/>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dirty="0">
                <a:solidFill>
                  <a:srgbClr val="111111"/>
                </a:solidFill>
                <a:latin typeface="Arial"/>
                <a:ea typeface="Arial"/>
                <a:cs typeface="Arial"/>
              </a:rPr>
              <a:t>vCPU: 50%</a:t>
            </a:r>
          </a:p>
          <a:p>
            <a:pPr algn="l">
              <a:lnSpc>
                <a:spcPct val="112000"/>
              </a:lnSpc>
              <a:buNone/>
              <a:defRPr sz="1125" b="0" i="0">
                <a:solidFill>
                  <a:srgbClr val="111111"/>
                </a:solidFill>
                <a:latin typeface="Arial"/>
                <a:ea typeface="Arial"/>
                <a:cs typeface="Arial"/>
              </a:defRPr>
            </a:pPr>
            <a:r>
              <a:rPr sz="1125" b="0" i="0" dirty="0" err="1">
                <a:solidFill>
                  <a:srgbClr val="111111"/>
                </a:solidFill>
                <a:latin typeface="Arial"/>
                <a:ea typeface="Arial"/>
                <a:cs typeface="Arial"/>
              </a:rPr>
              <a:t>vMEM</a:t>
            </a:r>
            <a:r>
              <a:rPr sz="1125" b="0" i="0" dirty="0">
                <a:solidFill>
                  <a:srgbClr val="111111"/>
                </a:solidFill>
                <a:latin typeface="Arial"/>
                <a:ea typeface="Arial"/>
                <a:cs typeface="Arial"/>
              </a:rPr>
              <a:t>: 60%</a:t>
            </a:r>
          </a:p>
        </p:txBody>
      </p:sp>
      <p:sp>
        <p:nvSpPr>
          <p:cNvPr id="39" name="Straight Connector 38">
            <a:extLst>
              <a:ext uri="{FF2B5EF4-FFF2-40B4-BE49-F238E27FC236}">
                <a16:creationId xmlns:a16="http://schemas.microsoft.com/office/drawing/2014/main" id="{B5294845-2E5B-41F1-8CD4-A4D7AFAA9406}"/>
              </a:ext>
            </a:extLst>
          </p:cNvPr>
          <p:cNvSpPr>
            <a:spLocks noGrp="1"/>
          </p:cNvSpPr>
          <p:nvPr/>
        </p:nvSpPr>
        <p:spPr>
          <a:xfrm>
            <a:off x="600075" y="4855845"/>
            <a:ext cx="6981825" cy="0"/>
          </a:xfrm>
          <a:prstGeom prst="line">
            <a:avLst/>
          </a:prstGeom>
          <a:noFill/>
          <a:ln w="9525">
            <a:solidFill>
              <a:srgbClr val="DDE2DE"/>
            </a:solidFill>
            <a:prstDash val="solid"/>
          </a:ln>
        </p:spPr>
        <p:txBody>
          <a:bodyPr/>
          <a:lstStyle/>
          <a:p>
            <a:endParaRPr lang="en-FR"/>
          </a:p>
        </p:txBody>
      </p:sp>
      <p:pic>
        <p:nvPicPr>
          <p:cNvPr id="90" name="Picture 89"/>
          <p:cNvPicPr>
            <a:picLocks noChangeAspect="1"/>
          </p:cNvPicPr>
          <p:nvPr/>
        </p:nvPicPr>
        <p:blipFill>
          <a:blip r:embed="rId9"/>
          <a:stretch/>
        </p:blipFill>
        <p:spPr>
          <a:xfrm>
            <a:off x="600075" y="4897771"/>
            <a:ext cx="466725" cy="459074"/>
          </a:xfrm>
          <a:prstGeom prst="rect">
            <a:avLst/>
          </a:prstGeom>
        </p:spPr>
      </p:pic>
      <p:sp>
        <p:nvSpPr>
          <p:cNvPr id="41" name="Rectangle 40">
            <a:extLst>
              <a:ext uri="{FF2B5EF4-FFF2-40B4-BE49-F238E27FC236}">
                <a16:creationId xmlns:a16="http://schemas.microsoft.com/office/drawing/2014/main" id="{3237AD7F-4836-4176-AF9D-C45EBA307DA5}"/>
              </a:ext>
            </a:extLst>
          </p:cNvPr>
          <p:cNvSpPr>
            <a:spLocks noGrp="1"/>
          </p:cNvSpPr>
          <p:nvPr/>
        </p:nvSpPr>
        <p:spPr>
          <a:xfrm>
            <a:off x="1333500" y="5036820"/>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Target Utilization</a:t>
            </a:r>
          </a:p>
        </p:txBody>
      </p:sp>
      <p:sp>
        <p:nvSpPr>
          <p:cNvPr id="42" name="Straight Connector 41">
            <a:extLst>
              <a:ext uri="{FF2B5EF4-FFF2-40B4-BE49-F238E27FC236}">
                <a16:creationId xmlns:a16="http://schemas.microsoft.com/office/drawing/2014/main" id="{4D9346C3-2665-41B0-99E5-1FA2EBA0C533}"/>
              </a:ext>
            </a:extLst>
          </p:cNvPr>
          <p:cNvSpPr>
            <a:spLocks noGrp="1"/>
          </p:cNvSpPr>
          <p:nvPr/>
        </p:nvSpPr>
        <p:spPr>
          <a:xfrm>
            <a:off x="3333750" y="4951095"/>
            <a:ext cx="0" cy="314325"/>
          </a:xfrm>
          <a:prstGeom prst="line">
            <a:avLst/>
          </a:prstGeom>
          <a:noFill/>
          <a:ln w="9525">
            <a:solidFill>
              <a:srgbClr val="CBD2CE"/>
            </a:solidFill>
            <a:prstDash val="solid"/>
          </a:ln>
        </p:spPr>
        <p:txBody>
          <a:bodyPr/>
          <a:lstStyle/>
          <a:p>
            <a:endParaRPr lang="en-FR"/>
          </a:p>
        </p:txBody>
      </p:sp>
      <p:sp>
        <p:nvSpPr>
          <p:cNvPr id="43" name="Rectangle 42">
            <a:extLst>
              <a:ext uri="{FF2B5EF4-FFF2-40B4-BE49-F238E27FC236}">
                <a16:creationId xmlns:a16="http://schemas.microsoft.com/office/drawing/2014/main" id="{DBC0D906-17E6-4658-8738-8B3675430291}"/>
              </a:ext>
            </a:extLst>
          </p:cNvPr>
          <p:cNvSpPr>
            <a:spLocks noGrp="1"/>
          </p:cNvSpPr>
          <p:nvPr/>
        </p:nvSpPr>
        <p:spPr>
          <a:xfrm>
            <a:off x="3676650" y="4951095"/>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80%</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(For both vCPU and vMEM)</a:t>
            </a:r>
          </a:p>
        </p:txBody>
      </p:sp>
      <p:sp>
        <p:nvSpPr>
          <p:cNvPr id="44" name="Straight Connector 43">
            <a:extLst>
              <a:ext uri="{FF2B5EF4-FFF2-40B4-BE49-F238E27FC236}">
                <a16:creationId xmlns:a16="http://schemas.microsoft.com/office/drawing/2014/main" id="{76C190DA-7557-4EF8-A3B4-C1CD1D532610}"/>
              </a:ext>
            </a:extLst>
          </p:cNvPr>
          <p:cNvSpPr>
            <a:spLocks noGrp="1"/>
          </p:cNvSpPr>
          <p:nvPr/>
        </p:nvSpPr>
        <p:spPr>
          <a:xfrm>
            <a:off x="600075" y="5386388"/>
            <a:ext cx="6981825" cy="0"/>
          </a:xfrm>
          <a:prstGeom prst="line">
            <a:avLst/>
          </a:prstGeom>
          <a:noFill/>
          <a:ln w="9525">
            <a:solidFill>
              <a:srgbClr val="DDE2DE"/>
            </a:solidFill>
            <a:prstDash val="solid"/>
          </a:ln>
        </p:spPr>
        <p:txBody>
          <a:bodyPr/>
          <a:lstStyle/>
          <a:p>
            <a:endParaRPr lang="en-FR"/>
          </a:p>
        </p:txBody>
      </p:sp>
      <p:pic>
        <p:nvPicPr>
          <p:cNvPr id="95" name="Picture 94"/>
          <p:cNvPicPr>
            <a:picLocks noChangeAspect="1"/>
          </p:cNvPicPr>
          <p:nvPr/>
        </p:nvPicPr>
        <p:blipFill>
          <a:blip r:embed="rId10"/>
          <a:stretch/>
        </p:blipFill>
        <p:spPr>
          <a:xfrm>
            <a:off x="600075" y="5424488"/>
            <a:ext cx="466725" cy="466725"/>
          </a:xfrm>
          <a:prstGeom prst="rect">
            <a:avLst/>
          </a:prstGeom>
        </p:spPr>
      </p:pic>
      <p:sp>
        <p:nvSpPr>
          <p:cNvPr id="46" name="Rectangle 45">
            <a:extLst>
              <a:ext uri="{FF2B5EF4-FFF2-40B4-BE49-F238E27FC236}">
                <a16:creationId xmlns:a16="http://schemas.microsoft.com/office/drawing/2014/main" id="{1AAF8FDE-50FC-4C3F-9F81-15310F8F98EE}"/>
              </a:ext>
            </a:extLst>
          </p:cNvPr>
          <p:cNvSpPr>
            <a:spLocks noGrp="1"/>
          </p:cNvSpPr>
          <p:nvPr/>
        </p:nvSpPr>
        <p:spPr>
          <a:xfrm>
            <a:off x="1333500" y="5567363"/>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Type</a:t>
            </a:r>
          </a:p>
        </p:txBody>
      </p:sp>
      <p:sp>
        <p:nvSpPr>
          <p:cNvPr id="47" name="Straight Connector 46">
            <a:extLst>
              <a:ext uri="{FF2B5EF4-FFF2-40B4-BE49-F238E27FC236}">
                <a16:creationId xmlns:a16="http://schemas.microsoft.com/office/drawing/2014/main" id="{FFEF831B-5985-4EBD-83C8-50668461DF24}"/>
              </a:ext>
            </a:extLst>
          </p:cNvPr>
          <p:cNvSpPr>
            <a:spLocks noGrp="1"/>
          </p:cNvSpPr>
          <p:nvPr/>
        </p:nvSpPr>
        <p:spPr>
          <a:xfrm>
            <a:off x="3333750" y="5481638"/>
            <a:ext cx="0" cy="314325"/>
          </a:xfrm>
          <a:prstGeom prst="line">
            <a:avLst/>
          </a:prstGeom>
          <a:noFill/>
          <a:ln w="9525">
            <a:solidFill>
              <a:srgbClr val="CBD2CE"/>
            </a:solidFill>
            <a:prstDash val="solid"/>
          </a:ln>
        </p:spPr>
        <p:txBody>
          <a:bodyPr/>
          <a:lstStyle/>
          <a:p>
            <a:endParaRPr lang="en-FR"/>
          </a:p>
        </p:txBody>
      </p:sp>
      <p:sp>
        <p:nvSpPr>
          <p:cNvPr id="48" name="Rectangle 47">
            <a:extLst>
              <a:ext uri="{FF2B5EF4-FFF2-40B4-BE49-F238E27FC236}">
                <a16:creationId xmlns:a16="http://schemas.microsoft.com/office/drawing/2014/main" id="{FCCC5123-50EE-49F7-9C4E-AD8B5F15572B}"/>
              </a:ext>
            </a:extLst>
          </p:cNvPr>
          <p:cNvSpPr>
            <a:spLocks noGrp="1"/>
          </p:cNvSpPr>
          <p:nvPr/>
        </p:nvSpPr>
        <p:spPr>
          <a:xfrm>
            <a:off x="3676650" y="5481638"/>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OCI Block Volume</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(Block Storage)</a:t>
            </a:r>
          </a:p>
        </p:txBody>
      </p:sp>
      <p:sp>
        <p:nvSpPr>
          <p:cNvPr id="49" name="Rectangle 48">
            <a:extLst>
              <a:ext uri="{FF2B5EF4-FFF2-40B4-BE49-F238E27FC236}">
                <a16:creationId xmlns:a16="http://schemas.microsoft.com/office/drawing/2014/main" id="{16E4D860-FD45-4FE4-BDF9-3E6C0A6C9676}"/>
              </a:ext>
            </a:extLst>
          </p:cNvPr>
          <p:cNvSpPr>
            <a:spLocks noGrp="1"/>
          </p:cNvSpPr>
          <p:nvPr/>
        </p:nvSpPr>
        <p:spPr>
          <a:xfrm>
            <a:off x="1133475" y="6553200"/>
            <a:ext cx="5143500" cy="171450"/>
          </a:xfrm>
          <a:prstGeom prst="rect">
            <a:avLst/>
          </a:prstGeom>
          <a:noFill/>
          <a:ln w="0">
            <a:noFill/>
            <a:prstDash val="solid"/>
          </a:ln>
        </p:spPr>
        <p:txBody>
          <a:bodyPr wrap="none" lIns="0" tIns="0" rIns="0" bIns="0" anchor="t"/>
          <a:lstStyle/>
          <a:p>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0" name="Picture 99"/>
          <p:cNvPicPr>
            <a:picLocks noChangeAspect="1"/>
          </p:cNvPicPr>
          <p:nvPr/>
        </p:nvPicPr>
        <p:blipFill>
          <a:blip r:embed="rId11"/>
          <a:stretch/>
        </p:blipFill>
        <p:spPr>
          <a:xfrm>
            <a:off x="11391900" y="6479151"/>
            <a:ext cx="400050" cy="329073"/>
          </a:xfrm>
          <a:prstGeom prst="rect">
            <a:avLst/>
          </a:prstGeom>
        </p:spPr>
      </p:pic>
    </p:spTree>
    <p:extLst>
      <p:ext uri="{BB962C8B-B14F-4D97-AF65-F5344CB8AC3E}">
        <p14:creationId xmlns:p14="http://schemas.microsoft.com/office/powerpoint/2010/main" val="948357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8"/>
        </a:solidFill>
        <a:effectLst/>
      </p:bgPr>
    </p:bg>
    <p:spTree>
      <p:nvGrpSpPr>
        <p:cNvPr id="1" name=""/>
        <p:cNvGrpSpPr/>
        <p:nvPr/>
      </p:nvGrpSpPr>
      <p:grpSpPr>
        <a:xfrm>
          <a:off x="0" y="0"/>
          <a:ext cx="0" cy="0"/>
          <a:chOff x="0" y="0"/>
          <a:chExt cx="0" cy="0"/>
        </a:xfrm>
      </p:grpSpPr>
      <p:sp>
        <p:nvSpPr>
          <p:cNvPr id="153" name="Oval 152">
            <a:extLst>
              <a:ext uri="{FF2B5EF4-FFF2-40B4-BE49-F238E27FC236}">
                <a16:creationId xmlns:a16="http://schemas.microsoft.com/office/drawing/2014/main" id="{0F5C40B1-2D39-4222-A6F8-D1BB4CF316FA}"/>
              </a:ext>
            </a:extLst>
          </p:cNvPr>
          <p:cNvSpPr>
            <a:spLocks noGrp="1"/>
          </p:cNvSpPr>
          <p:nvPr/>
        </p:nvSpPr>
        <p:spPr>
          <a:xfrm>
            <a:off x="4876800" y="552450"/>
            <a:ext cx="38100" cy="38100"/>
          </a:xfrm>
          <a:prstGeom prst="ellipse">
            <a:avLst/>
          </a:prstGeom>
          <a:solidFill>
            <a:srgbClr val="E4E6E4"/>
          </a:solidFill>
          <a:ln w="0">
            <a:noFill/>
            <a:prstDash val="solid"/>
          </a:ln>
        </p:spPr>
        <p:txBody>
          <a:bodyPr/>
          <a:lstStyle/>
          <a:p>
            <a:endParaRPr lang="en-FR"/>
          </a:p>
        </p:txBody>
      </p:sp>
      <p:sp>
        <p:nvSpPr>
          <p:cNvPr id="2" name="Oval 1">
            <a:extLst>
              <a:ext uri="{FF2B5EF4-FFF2-40B4-BE49-F238E27FC236}">
                <a16:creationId xmlns:a16="http://schemas.microsoft.com/office/drawing/2014/main" id="{5684B581-FEC6-42E9-8C15-C82B7A6ABF9B}"/>
              </a:ext>
            </a:extLst>
          </p:cNvPr>
          <p:cNvSpPr>
            <a:spLocks noGrp="1"/>
          </p:cNvSpPr>
          <p:nvPr/>
        </p:nvSpPr>
        <p:spPr>
          <a:xfrm>
            <a:off x="5886450" y="628650"/>
            <a:ext cx="23813" cy="23813"/>
          </a:xfrm>
          <a:prstGeom prst="ellipse">
            <a:avLst/>
          </a:prstGeom>
          <a:solidFill>
            <a:srgbClr val="E4E6E4"/>
          </a:solidFill>
          <a:ln w="0">
            <a:noFill/>
            <a:prstDash val="solid"/>
          </a:ln>
        </p:spPr>
        <p:txBody>
          <a:bodyPr/>
          <a:lstStyle/>
          <a:p>
            <a:endParaRPr lang="en-FR"/>
          </a:p>
        </p:txBody>
      </p:sp>
      <p:sp>
        <p:nvSpPr>
          <p:cNvPr id="3" name="Oval 2">
            <a:extLst>
              <a:ext uri="{FF2B5EF4-FFF2-40B4-BE49-F238E27FC236}">
                <a16:creationId xmlns:a16="http://schemas.microsoft.com/office/drawing/2014/main" id="{5A62B43D-936A-4C36-BD98-97DC7B6119FA}"/>
              </a:ext>
            </a:extLst>
          </p:cNvPr>
          <p:cNvSpPr>
            <a:spLocks noGrp="1"/>
          </p:cNvSpPr>
          <p:nvPr/>
        </p:nvSpPr>
        <p:spPr>
          <a:xfrm>
            <a:off x="6896100" y="400050"/>
            <a:ext cx="57150" cy="57150"/>
          </a:xfrm>
          <a:prstGeom prst="ellipse">
            <a:avLst/>
          </a:prstGeom>
          <a:solidFill>
            <a:srgbClr val="E4E6E4"/>
          </a:solidFill>
          <a:ln w="0">
            <a:noFill/>
            <a:prstDash val="solid"/>
          </a:ln>
        </p:spPr>
        <p:txBody>
          <a:bodyPr/>
          <a:lstStyle/>
          <a:p>
            <a:endParaRPr lang="en-FR"/>
          </a:p>
        </p:txBody>
      </p:sp>
      <p:sp>
        <p:nvSpPr>
          <p:cNvPr id="4" name="Oval 3">
            <a:extLst>
              <a:ext uri="{FF2B5EF4-FFF2-40B4-BE49-F238E27FC236}">
                <a16:creationId xmlns:a16="http://schemas.microsoft.com/office/drawing/2014/main" id="{685F7376-8139-4332-A399-A233C35663D6}"/>
              </a:ext>
            </a:extLst>
          </p:cNvPr>
          <p:cNvSpPr>
            <a:spLocks noGrp="1"/>
          </p:cNvSpPr>
          <p:nvPr/>
        </p:nvSpPr>
        <p:spPr>
          <a:xfrm>
            <a:off x="8858250" y="838200"/>
            <a:ext cx="23813" cy="23813"/>
          </a:xfrm>
          <a:prstGeom prst="ellipse">
            <a:avLst/>
          </a:prstGeom>
          <a:solidFill>
            <a:srgbClr val="E4E6E4"/>
          </a:solidFill>
          <a:ln w="0">
            <a:noFill/>
            <a:prstDash val="solid"/>
          </a:ln>
        </p:spPr>
        <p:txBody>
          <a:bodyPr/>
          <a:lstStyle/>
          <a:p>
            <a:endParaRPr lang="en-FR"/>
          </a:p>
        </p:txBody>
      </p:sp>
      <p:sp>
        <p:nvSpPr>
          <p:cNvPr id="5" name="Oval 4">
            <a:extLst>
              <a:ext uri="{FF2B5EF4-FFF2-40B4-BE49-F238E27FC236}">
                <a16:creationId xmlns:a16="http://schemas.microsoft.com/office/drawing/2014/main" id="{00725A03-9564-450A-9A96-3A9EA4C50CC0}"/>
              </a:ext>
            </a:extLst>
          </p:cNvPr>
          <p:cNvSpPr>
            <a:spLocks noGrp="1"/>
          </p:cNvSpPr>
          <p:nvPr/>
        </p:nvSpPr>
        <p:spPr>
          <a:xfrm>
            <a:off x="10515600" y="723900"/>
            <a:ext cx="28575" cy="28575"/>
          </a:xfrm>
          <a:prstGeom prst="ellipse">
            <a:avLst/>
          </a:prstGeom>
          <a:solidFill>
            <a:srgbClr val="E4E6E4"/>
          </a:solidFill>
          <a:ln w="0">
            <a:noFill/>
            <a:prstDash val="solid"/>
          </a:ln>
        </p:spPr>
        <p:txBody>
          <a:bodyPr/>
          <a:lstStyle/>
          <a:p>
            <a:endParaRPr lang="en-FR"/>
          </a:p>
        </p:txBody>
      </p:sp>
      <p:sp>
        <p:nvSpPr>
          <p:cNvPr id="6" name="Oval 5">
            <a:extLst>
              <a:ext uri="{FF2B5EF4-FFF2-40B4-BE49-F238E27FC236}">
                <a16:creationId xmlns:a16="http://schemas.microsoft.com/office/drawing/2014/main" id="{D25C76D9-771C-486C-8E5F-A0A6E453F9D5}"/>
              </a:ext>
            </a:extLst>
          </p:cNvPr>
          <p:cNvSpPr>
            <a:spLocks noGrp="1"/>
          </p:cNvSpPr>
          <p:nvPr/>
        </p:nvSpPr>
        <p:spPr>
          <a:xfrm>
            <a:off x="11163300" y="1181100"/>
            <a:ext cx="28575" cy="28575"/>
          </a:xfrm>
          <a:prstGeom prst="ellipse">
            <a:avLst/>
          </a:prstGeom>
          <a:solidFill>
            <a:srgbClr val="E4E6E4"/>
          </a:solidFill>
          <a:ln w="0">
            <a:noFill/>
            <a:prstDash val="solid"/>
          </a:ln>
        </p:spPr>
        <p:txBody>
          <a:bodyPr/>
          <a:lstStyle/>
          <a:p>
            <a:endParaRPr lang="en-FR"/>
          </a:p>
        </p:txBody>
      </p:sp>
      <p:sp>
        <p:nvSpPr>
          <p:cNvPr id="7" name="Oval 6">
            <a:extLst>
              <a:ext uri="{FF2B5EF4-FFF2-40B4-BE49-F238E27FC236}">
                <a16:creationId xmlns:a16="http://schemas.microsoft.com/office/drawing/2014/main" id="{74847140-2288-47BB-B3DA-D500C2B53C1C}"/>
              </a:ext>
            </a:extLst>
          </p:cNvPr>
          <p:cNvSpPr>
            <a:spLocks noGrp="1"/>
          </p:cNvSpPr>
          <p:nvPr/>
        </p:nvSpPr>
        <p:spPr>
          <a:xfrm>
            <a:off x="4629150" y="2990850"/>
            <a:ext cx="28575" cy="28575"/>
          </a:xfrm>
          <a:prstGeom prst="ellipse">
            <a:avLst/>
          </a:prstGeom>
          <a:solidFill>
            <a:srgbClr val="E4E6E4"/>
          </a:solidFill>
          <a:ln w="0">
            <a:noFill/>
            <a:prstDash val="solid"/>
          </a:ln>
        </p:spPr>
        <p:txBody>
          <a:bodyPr/>
          <a:lstStyle/>
          <a:p>
            <a:endParaRPr lang="en-FR"/>
          </a:p>
        </p:txBody>
      </p:sp>
      <p:sp>
        <p:nvSpPr>
          <p:cNvPr id="8" name="Oval 7">
            <a:extLst>
              <a:ext uri="{FF2B5EF4-FFF2-40B4-BE49-F238E27FC236}">
                <a16:creationId xmlns:a16="http://schemas.microsoft.com/office/drawing/2014/main" id="{1ACA8D49-49E9-43C9-AB15-9555E9CAF9FF}"/>
              </a:ext>
            </a:extLst>
          </p:cNvPr>
          <p:cNvSpPr>
            <a:spLocks noGrp="1"/>
          </p:cNvSpPr>
          <p:nvPr/>
        </p:nvSpPr>
        <p:spPr>
          <a:xfrm>
            <a:off x="8496300" y="2943225"/>
            <a:ext cx="19050" cy="19050"/>
          </a:xfrm>
          <a:prstGeom prst="ellipse">
            <a:avLst/>
          </a:prstGeom>
          <a:solidFill>
            <a:srgbClr val="E4E6E4"/>
          </a:solidFill>
          <a:ln w="0">
            <a:noFill/>
            <a:prstDash val="solid"/>
          </a:ln>
        </p:spPr>
        <p:txBody>
          <a:bodyPr/>
          <a:lstStyle/>
          <a:p>
            <a:endParaRPr lang="en-FR"/>
          </a:p>
        </p:txBody>
      </p:sp>
      <p:sp>
        <p:nvSpPr>
          <p:cNvPr id="9" name="Oval 8">
            <a:extLst>
              <a:ext uri="{FF2B5EF4-FFF2-40B4-BE49-F238E27FC236}">
                <a16:creationId xmlns:a16="http://schemas.microsoft.com/office/drawing/2014/main" id="{9C1B150D-EE77-490D-A5FB-D305DF80D731}"/>
              </a:ext>
            </a:extLst>
          </p:cNvPr>
          <p:cNvSpPr>
            <a:spLocks noGrp="1"/>
          </p:cNvSpPr>
          <p:nvPr/>
        </p:nvSpPr>
        <p:spPr>
          <a:xfrm>
            <a:off x="9677400" y="3790950"/>
            <a:ext cx="38100" cy="38100"/>
          </a:xfrm>
          <a:prstGeom prst="ellipse">
            <a:avLst/>
          </a:prstGeom>
          <a:solidFill>
            <a:srgbClr val="E4E6E4"/>
          </a:solidFill>
          <a:ln w="0">
            <a:noFill/>
            <a:prstDash val="solid"/>
          </a:ln>
        </p:spPr>
        <p:txBody>
          <a:bodyPr/>
          <a:lstStyle/>
          <a:p>
            <a:endParaRPr lang="en-FR"/>
          </a:p>
        </p:txBody>
      </p:sp>
      <p:sp>
        <p:nvSpPr>
          <p:cNvPr id="10" name="Oval 9">
            <a:extLst>
              <a:ext uri="{FF2B5EF4-FFF2-40B4-BE49-F238E27FC236}">
                <a16:creationId xmlns:a16="http://schemas.microsoft.com/office/drawing/2014/main" id="{4A30984B-6790-4BDE-8A69-6285AD5ABAE7}"/>
              </a:ext>
            </a:extLst>
          </p:cNvPr>
          <p:cNvSpPr>
            <a:spLocks noGrp="1"/>
          </p:cNvSpPr>
          <p:nvPr/>
        </p:nvSpPr>
        <p:spPr>
          <a:xfrm>
            <a:off x="11468100" y="5857875"/>
            <a:ext cx="28575" cy="28575"/>
          </a:xfrm>
          <a:prstGeom prst="ellipse">
            <a:avLst/>
          </a:prstGeom>
          <a:solidFill>
            <a:srgbClr val="E4E6E4"/>
          </a:solidFill>
          <a:ln w="0">
            <a:noFill/>
            <a:prstDash val="solid"/>
          </a:ln>
        </p:spPr>
        <p:txBody>
          <a:bodyPr/>
          <a:lstStyle/>
          <a:p>
            <a:endParaRPr lang="en-FR"/>
          </a:p>
        </p:txBody>
      </p:sp>
      <p:sp>
        <p:nvSpPr>
          <p:cNvPr id="11" name="Oval 10">
            <a:extLst>
              <a:ext uri="{FF2B5EF4-FFF2-40B4-BE49-F238E27FC236}">
                <a16:creationId xmlns:a16="http://schemas.microsoft.com/office/drawing/2014/main" id="{211058D5-9C5F-4DFF-ADC2-124BD7436C61}"/>
              </a:ext>
            </a:extLst>
          </p:cNvPr>
          <p:cNvSpPr>
            <a:spLocks noGrp="1"/>
          </p:cNvSpPr>
          <p:nvPr/>
        </p:nvSpPr>
        <p:spPr>
          <a:xfrm>
            <a:off x="514350" y="2895600"/>
            <a:ext cx="38100" cy="38100"/>
          </a:xfrm>
          <a:prstGeom prst="ellipse">
            <a:avLst/>
          </a:prstGeom>
          <a:solidFill>
            <a:srgbClr val="E4E6E4"/>
          </a:solidFill>
          <a:ln w="0">
            <a:noFill/>
            <a:prstDash val="solid"/>
          </a:ln>
        </p:spPr>
        <p:txBody>
          <a:bodyPr/>
          <a:lstStyle/>
          <a:p>
            <a:endParaRPr lang="en-FR"/>
          </a:p>
        </p:txBody>
      </p:sp>
      <p:sp>
        <p:nvSpPr>
          <p:cNvPr id="12" name="Oval 11">
            <a:extLst>
              <a:ext uri="{FF2B5EF4-FFF2-40B4-BE49-F238E27FC236}">
                <a16:creationId xmlns:a16="http://schemas.microsoft.com/office/drawing/2014/main" id="{A7D0A6C1-AA22-4638-8D95-CA9B235D9112}"/>
              </a:ext>
            </a:extLst>
          </p:cNvPr>
          <p:cNvSpPr>
            <a:spLocks noGrp="1"/>
          </p:cNvSpPr>
          <p:nvPr/>
        </p:nvSpPr>
        <p:spPr>
          <a:xfrm>
            <a:off x="304800" y="3409950"/>
            <a:ext cx="28575" cy="28575"/>
          </a:xfrm>
          <a:prstGeom prst="ellipse">
            <a:avLst/>
          </a:prstGeom>
          <a:solidFill>
            <a:srgbClr val="E4E6E4"/>
          </a:solidFill>
          <a:ln w="0">
            <a:noFill/>
            <a:prstDash val="solid"/>
          </a:ln>
        </p:spPr>
        <p:txBody>
          <a:bodyPr/>
          <a:lstStyle/>
          <a:p>
            <a:endParaRPr lang="en-FR"/>
          </a:p>
        </p:txBody>
      </p:sp>
      <p:sp>
        <p:nvSpPr>
          <p:cNvPr id="13" name="Oval 12">
            <a:extLst>
              <a:ext uri="{FF2B5EF4-FFF2-40B4-BE49-F238E27FC236}">
                <a16:creationId xmlns:a16="http://schemas.microsoft.com/office/drawing/2014/main" id="{CC8EA281-0968-492E-8C57-1F692D023A02}"/>
              </a:ext>
            </a:extLst>
          </p:cNvPr>
          <p:cNvSpPr>
            <a:spLocks noGrp="1"/>
          </p:cNvSpPr>
          <p:nvPr/>
        </p:nvSpPr>
        <p:spPr>
          <a:xfrm>
            <a:off x="0" y="3124200"/>
            <a:ext cx="1524000" cy="2381250"/>
          </a:xfrm>
          <a:prstGeom prst="ellipse">
            <a:avLst/>
          </a:prstGeom>
          <a:solidFill>
            <a:srgbClr val="F5F7F5"/>
          </a:solidFill>
          <a:ln w="0">
            <a:noFill/>
            <a:prstDash val="solid"/>
          </a:ln>
        </p:spPr>
        <p:txBody>
          <a:bodyPr/>
          <a:lstStyle/>
          <a:p>
            <a:endParaRPr lang="en-FR"/>
          </a:p>
        </p:txBody>
      </p:sp>
      <p:pic>
        <p:nvPicPr>
          <p:cNvPr id="166" name="Picture 165"/>
          <p:cNvPicPr>
            <a:picLocks noChangeAspect="1"/>
          </p:cNvPicPr>
          <p:nvPr/>
        </p:nvPicPr>
        <p:blipFill>
          <a:blip r:embed="rId3"/>
          <a:stretch/>
        </p:blipFill>
        <p:spPr>
          <a:xfrm>
            <a:off x="9525000" y="285750"/>
            <a:ext cx="2514600" cy="314325"/>
          </a:xfrm>
          <a:prstGeom prst="rect">
            <a:avLst/>
          </a:prstGeom>
        </p:spPr>
      </p:pic>
      <p:sp>
        <p:nvSpPr>
          <p:cNvPr id="15" name="Rectangle 14">
            <a:extLst>
              <a:ext uri="{FF2B5EF4-FFF2-40B4-BE49-F238E27FC236}">
                <a16:creationId xmlns:a16="http://schemas.microsoft.com/office/drawing/2014/main" id="{0FC4DED7-B5EA-40DB-94F5-26999F2D98AF}"/>
              </a:ext>
            </a:extLst>
          </p:cNvPr>
          <p:cNvSpPr>
            <a:spLocks noGrp="1"/>
          </p:cNvSpPr>
          <p:nvPr/>
        </p:nvSpPr>
        <p:spPr>
          <a:xfrm>
            <a:off x="342900" y="238125"/>
            <a:ext cx="7239000" cy="428625"/>
          </a:xfrm>
          <a:prstGeom prst="rect">
            <a:avLst/>
          </a:prstGeom>
          <a:noFill/>
          <a:ln w="0">
            <a:noFill/>
            <a:prstDash val="solid"/>
          </a:ln>
        </p:spPr>
        <p:txBody>
          <a:bodyPr wrap="none" lIns="0" tIns="0" rIns="0" bIns="0" anchor="t"/>
          <a:lstStyle/>
          <a:p>
            <a:pPr algn="l">
              <a:lnSpc>
                <a:spcPct val="100000"/>
              </a:lnSpc>
              <a:buNone/>
              <a:defRPr sz="2700" b="1" i="0">
                <a:solidFill>
                  <a:srgbClr val="111111"/>
                </a:solidFill>
                <a:latin typeface="Arial"/>
                <a:ea typeface="Arial"/>
                <a:cs typeface="Arial"/>
              </a:defRPr>
            </a:pPr>
            <a:r>
              <a:rPr sz="2700" b="1" i="0">
                <a:solidFill>
                  <a:srgbClr val="111111"/>
                </a:solidFill>
                <a:latin typeface="Arial"/>
                <a:ea typeface="Arial"/>
                <a:cs typeface="Arial"/>
              </a:rPr>
              <a:t>Infrastructure Sizing Summary – OCI Compute</a:t>
            </a:r>
          </a:p>
        </p:txBody>
      </p:sp>
      <p:sp>
        <p:nvSpPr>
          <p:cNvPr id="16" name="Rectangle 15">
            <a:extLst>
              <a:ext uri="{FF2B5EF4-FFF2-40B4-BE49-F238E27FC236}">
                <a16:creationId xmlns:a16="http://schemas.microsoft.com/office/drawing/2014/main" id="{46351190-4281-4DE0-B53D-F17CA7BE60D9}"/>
              </a:ext>
            </a:extLst>
          </p:cNvPr>
          <p:cNvSpPr>
            <a:spLocks noGrp="1"/>
          </p:cNvSpPr>
          <p:nvPr/>
        </p:nvSpPr>
        <p:spPr>
          <a:xfrm>
            <a:off x="342900" y="723900"/>
            <a:ext cx="581025" cy="38100"/>
          </a:xfrm>
          <a:prstGeom prst="rect">
            <a:avLst/>
          </a:prstGeom>
          <a:solidFill>
            <a:srgbClr val="00452C"/>
          </a:solidFill>
          <a:ln w="0">
            <a:noFill/>
            <a:prstDash val="solid"/>
          </a:ln>
        </p:spPr>
        <p:txBody>
          <a:bodyPr/>
          <a:lstStyle/>
          <a:p>
            <a:endParaRPr lang="en-FR"/>
          </a:p>
        </p:txBody>
      </p:sp>
      <p:sp>
        <p:nvSpPr>
          <p:cNvPr id="17" name="Rectangle 16">
            <a:extLst>
              <a:ext uri="{FF2B5EF4-FFF2-40B4-BE49-F238E27FC236}">
                <a16:creationId xmlns:a16="http://schemas.microsoft.com/office/drawing/2014/main" id="{8DAAEEB6-CEBA-4804-A585-EBFACBC5DD19}"/>
              </a:ext>
            </a:extLst>
          </p:cNvPr>
          <p:cNvSpPr>
            <a:spLocks noGrp="1"/>
          </p:cNvSpPr>
          <p:nvPr/>
        </p:nvSpPr>
        <p:spPr>
          <a:xfrm>
            <a:off x="342900" y="895350"/>
            <a:ext cx="6572250" cy="247650"/>
          </a:xfrm>
          <a:prstGeom prst="rect">
            <a:avLst/>
          </a:prstGeom>
          <a:noFill/>
          <a:ln w="0">
            <a:noFill/>
            <a:prstDash val="solid"/>
          </a:ln>
        </p:spPr>
        <p:txBody>
          <a:bodyPr wrap="none" lIns="0" tIns="0" rIns="0" bIns="0" anchor="t"/>
          <a:lstStyle/>
          <a:p>
            <a:pPr algn="l">
              <a:lnSpc>
                <a:spcPct val="100000"/>
              </a:lnSpc>
              <a:buNone/>
              <a:defRPr sz="1275" b="0" i="0">
                <a:solidFill>
                  <a:srgbClr val="0E1E2A"/>
                </a:solidFill>
                <a:latin typeface="Arial"/>
                <a:ea typeface="Arial"/>
                <a:cs typeface="Arial"/>
              </a:defRPr>
            </a:pPr>
            <a:r>
              <a:rPr sz="1275" b="0" i="0">
                <a:solidFill>
                  <a:srgbClr val="0E1E2A"/>
                </a:solidFill>
                <a:latin typeface="Arial"/>
                <a:ea typeface="Arial"/>
                <a:cs typeface="Arial"/>
              </a:rPr>
              <a:t>Right-sized OCI Compute infrastructure to support your VMware workloads.</a:t>
            </a:r>
          </a:p>
        </p:txBody>
      </p:sp>
      <p:sp>
        <p:nvSpPr>
          <p:cNvPr id="18" name="Rounded Rectangle 17">
            <a:extLst>
              <a:ext uri="{FF2B5EF4-FFF2-40B4-BE49-F238E27FC236}">
                <a16:creationId xmlns:a16="http://schemas.microsoft.com/office/drawing/2014/main" id="{FB98C243-7D70-4693-913A-5BC45CA807EA}"/>
              </a:ext>
            </a:extLst>
          </p:cNvPr>
          <p:cNvSpPr>
            <a:spLocks noGrp="1"/>
          </p:cNvSpPr>
          <p:nvPr/>
        </p:nvSpPr>
        <p:spPr>
          <a:xfrm>
            <a:off x="342900" y="1333500"/>
            <a:ext cx="11334750" cy="1362075"/>
          </a:xfrm>
          <a:prstGeom prst="roundRect">
            <a:avLst>
              <a:gd name="adj" fmla="val 5594"/>
            </a:avLst>
          </a:prstGeom>
          <a:solidFill>
            <a:srgbClr val="FFFFFF"/>
          </a:solidFill>
          <a:ln w="9525">
            <a:solidFill>
              <a:srgbClr val="D7DD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19" name="Rounded Rectangle 18">
            <a:extLst>
              <a:ext uri="{FF2B5EF4-FFF2-40B4-BE49-F238E27FC236}">
                <a16:creationId xmlns:a16="http://schemas.microsoft.com/office/drawing/2014/main" id="{E2A44A89-B4D1-4515-A302-E480AA4A3AFB}"/>
              </a:ext>
            </a:extLst>
          </p:cNvPr>
          <p:cNvSpPr>
            <a:spLocks noGrp="1"/>
          </p:cNvSpPr>
          <p:nvPr/>
        </p:nvSpPr>
        <p:spPr>
          <a:xfrm>
            <a:off x="342900" y="1276350"/>
            <a:ext cx="2190750" cy="276225"/>
          </a:xfrm>
          <a:prstGeom prst="roundRect">
            <a:avLst>
              <a:gd name="adj" fmla="val 20690"/>
            </a:avLst>
          </a:prstGeom>
          <a:gradFill>
            <a:gsLst>
              <a:gs pos="0">
                <a:srgbClr val="00351F"/>
              </a:gs>
              <a:gs pos="100000">
                <a:srgbClr val="075A35"/>
              </a:gs>
            </a:gsLst>
            <a:lin ang="0"/>
          </a:gradFill>
          <a:ln w="0">
            <a:noFill/>
            <a:prstDash val="solid"/>
          </a:ln>
        </p:spPr>
        <p:txBody>
          <a:bodyPr/>
          <a:lstStyle/>
          <a:p>
            <a:endParaRPr lang="en-FR"/>
          </a:p>
        </p:txBody>
      </p:sp>
      <p:sp>
        <p:nvSpPr>
          <p:cNvPr id="20" name="Rectangle 19">
            <a:extLst>
              <a:ext uri="{FF2B5EF4-FFF2-40B4-BE49-F238E27FC236}">
                <a16:creationId xmlns:a16="http://schemas.microsoft.com/office/drawing/2014/main" id="{8BFCB290-C148-4AAD-8F8C-70319E36710F}"/>
              </a:ext>
            </a:extLst>
          </p:cNvPr>
          <p:cNvSpPr>
            <a:spLocks noGrp="1"/>
          </p:cNvSpPr>
          <p:nvPr/>
        </p:nvSpPr>
        <p:spPr>
          <a:xfrm>
            <a:off x="342900" y="1495425"/>
            <a:ext cx="2190750" cy="66675"/>
          </a:xfrm>
          <a:prstGeom prst="rect">
            <a:avLst/>
          </a:prstGeom>
          <a:gradFill>
            <a:gsLst>
              <a:gs pos="0">
                <a:srgbClr val="00351F"/>
              </a:gs>
              <a:gs pos="100000">
                <a:srgbClr val="075A35"/>
              </a:gs>
            </a:gsLst>
            <a:lin ang="0"/>
          </a:gradFill>
          <a:ln w="0">
            <a:noFill/>
            <a:prstDash val="solid"/>
          </a:ln>
        </p:spPr>
        <p:txBody>
          <a:bodyPr/>
          <a:lstStyle/>
          <a:p>
            <a:endParaRPr lang="en-FR"/>
          </a:p>
        </p:txBody>
      </p:sp>
      <p:sp>
        <p:nvSpPr>
          <p:cNvPr id="21" name="Oval 20">
            <a:extLst>
              <a:ext uri="{FF2B5EF4-FFF2-40B4-BE49-F238E27FC236}">
                <a16:creationId xmlns:a16="http://schemas.microsoft.com/office/drawing/2014/main" id="{31F0F078-BD49-4751-8BC4-2B0F1FD77DAA}"/>
              </a:ext>
            </a:extLst>
          </p:cNvPr>
          <p:cNvSpPr>
            <a:spLocks noGrp="1"/>
          </p:cNvSpPr>
          <p:nvPr/>
        </p:nvSpPr>
        <p:spPr>
          <a:xfrm>
            <a:off x="438150" y="1314450"/>
            <a:ext cx="209550" cy="209550"/>
          </a:xfrm>
          <a:prstGeom prst="ellipse">
            <a:avLst/>
          </a:prstGeom>
          <a:solidFill>
            <a:srgbClr val="FFFFFF"/>
          </a:solidFill>
          <a:ln w="0">
            <a:noFill/>
            <a:prstDash val="solid"/>
          </a:ln>
        </p:spPr>
        <p:txBody>
          <a:bodyPr/>
          <a:lstStyle/>
          <a:p>
            <a:endParaRPr lang="en-FR"/>
          </a:p>
        </p:txBody>
      </p:sp>
      <p:sp>
        <p:nvSpPr>
          <p:cNvPr id="22" name="Rectangle 21">
            <a:extLst>
              <a:ext uri="{FF2B5EF4-FFF2-40B4-BE49-F238E27FC236}">
                <a16:creationId xmlns:a16="http://schemas.microsoft.com/office/drawing/2014/main" id="{734FE3E6-3270-49AF-98A8-ED52F54827C3}"/>
              </a:ext>
            </a:extLst>
          </p:cNvPr>
          <p:cNvSpPr>
            <a:spLocks noGrp="1"/>
          </p:cNvSpPr>
          <p:nvPr/>
        </p:nvSpPr>
        <p:spPr>
          <a:xfrm>
            <a:off x="485775" y="1343025"/>
            <a:ext cx="114300" cy="152400"/>
          </a:xfrm>
          <a:prstGeom prst="rect">
            <a:avLst/>
          </a:prstGeom>
          <a:noFill/>
          <a:ln w="0">
            <a:noFill/>
            <a:prstDash val="solid"/>
          </a:ln>
        </p:spPr>
        <p:txBody>
          <a:bodyPr wrap="none" lIns="0" tIns="0" rIns="0" bIns="0" anchor="t"/>
          <a:lstStyle/>
          <a:p>
            <a:pPr algn="ctr">
              <a:lnSpc>
                <a:spcPct val="100000"/>
              </a:lnSpc>
              <a:buNone/>
              <a:defRPr sz="975" b="1" i="0">
                <a:solidFill>
                  <a:srgbClr val="00452C"/>
                </a:solidFill>
                <a:latin typeface="Arial"/>
                <a:ea typeface="Arial"/>
                <a:cs typeface="Arial"/>
              </a:defRPr>
            </a:pPr>
            <a:r>
              <a:rPr sz="975" b="1" i="0">
                <a:solidFill>
                  <a:srgbClr val="00452C"/>
                </a:solidFill>
                <a:latin typeface="Arial"/>
                <a:ea typeface="Arial"/>
                <a:cs typeface="Arial"/>
              </a:rPr>
              <a:t>1</a:t>
            </a:r>
          </a:p>
        </p:txBody>
      </p:sp>
      <p:sp>
        <p:nvSpPr>
          <p:cNvPr id="23" name="Rectangle 22">
            <a:extLst>
              <a:ext uri="{FF2B5EF4-FFF2-40B4-BE49-F238E27FC236}">
                <a16:creationId xmlns:a16="http://schemas.microsoft.com/office/drawing/2014/main" id="{F7D18801-948C-4538-83C7-34E7284F6A9F}"/>
              </a:ext>
            </a:extLst>
          </p:cNvPr>
          <p:cNvSpPr>
            <a:spLocks noGrp="1"/>
          </p:cNvSpPr>
          <p:nvPr/>
        </p:nvSpPr>
        <p:spPr>
          <a:xfrm>
            <a:off x="752475" y="1333500"/>
            <a:ext cx="1695450" cy="190500"/>
          </a:xfrm>
          <a:prstGeom prst="rect">
            <a:avLst/>
          </a:prstGeom>
          <a:noFill/>
          <a:ln w="0">
            <a:noFill/>
            <a:prstDash val="solid"/>
          </a:ln>
        </p:spPr>
        <p:txBody>
          <a:bodyPr wrap="none" lIns="0" tIns="0" rIns="0" bIns="0" anchor="t"/>
          <a:lstStyle/>
          <a:p>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WORKLOAD SUMMARY</a:t>
            </a:r>
          </a:p>
        </p:txBody>
      </p:sp>
      <p:pic>
        <p:nvPicPr>
          <p:cNvPr id="176" name="Picture 175"/>
          <p:cNvPicPr>
            <a:picLocks noChangeAspect="1"/>
          </p:cNvPicPr>
          <p:nvPr/>
        </p:nvPicPr>
        <p:blipFill>
          <a:blip r:embed="rId4"/>
          <a:stretch/>
        </p:blipFill>
        <p:spPr>
          <a:xfrm>
            <a:off x="514350" y="1740333"/>
            <a:ext cx="552450" cy="443634"/>
          </a:xfrm>
          <a:prstGeom prst="rect">
            <a:avLst/>
          </a:prstGeom>
        </p:spPr>
      </p:pic>
      <p:sp>
        <p:nvSpPr>
          <p:cNvPr id="25" name="Rectangle 24">
            <a:extLst>
              <a:ext uri="{FF2B5EF4-FFF2-40B4-BE49-F238E27FC236}">
                <a16:creationId xmlns:a16="http://schemas.microsoft.com/office/drawing/2014/main" id="{9A623641-6420-4B80-A2DD-146AA2489F45}"/>
              </a:ext>
            </a:extLst>
          </p:cNvPr>
          <p:cNvSpPr>
            <a:spLocks noGrp="1"/>
          </p:cNvSpPr>
          <p:nvPr/>
        </p:nvSpPr>
        <p:spPr>
          <a:xfrm>
            <a:off x="1295400" y="1695450"/>
            <a:ext cx="1047750" cy="285750"/>
          </a:xfrm>
          <a:prstGeom prst="rect">
            <a:avLst/>
          </a:prstGeom>
          <a:noFill/>
          <a:ln w="0">
            <a:noFill/>
            <a:prstDash val="solid"/>
          </a:ln>
        </p:spPr>
        <p:txBody>
          <a:bodyPr wrap="none" lIns="0" tIns="0" rIns="0" bIns="0" anchor="t"/>
          <a:lstStyle/>
          <a:p>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110</a:t>
            </a:r>
          </a:p>
        </p:txBody>
      </p:sp>
      <p:sp>
        <p:nvSpPr>
          <p:cNvPr id="26" name="Rectangle 25">
            <a:extLst>
              <a:ext uri="{FF2B5EF4-FFF2-40B4-BE49-F238E27FC236}">
                <a16:creationId xmlns:a16="http://schemas.microsoft.com/office/drawing/2014/main" id="{B6E5F444-5AF6-4696-AF38-DED2CD5E3576}"/>
              </a:ext>
            </a:extLst>
          </p:cNvPr>
          <p:cNvSpPr>
            <a:spLocks noGrp="1"/>
          </p:cNvSpPr>
          <p:nvPr/>
        </p:nvSpPr>
        <p:spPr>
          <a:xfrm>
            <a:off x="1295400" y="2038350"/>
            <a:ext cx="1047750" cy="200025"/>
          </a:xfrm>
          <a:prstGeom prst="rect">
            <a:avLst/>
          </a:prstGeom>
          <a:noFill/>
          <a:ln w="0">
            <a:noFill/>
            <a:prstDash val="solid"/>
          </a:ln>
        </p:spPr>
        <p:txBody>
          <a:bodyPr wrap="none" lIns="0" tIns="0" rIns="0" bIns="0" anchor="t"/>
          <a:lstStyle/>
          <a:p>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VMs</a:t>
            </a:r>
          </a:p>
        </p:txBody>
      </p:sp>
      <p:sp>
        <p:nvSpPr>
          <p:cNvPr id="27" name="Rectangle 26">
            <a:extLst>
              <a:ext uri="{FF2B5EF4-FFF2-40B4-BE49-F238E27FC236}">
                <a16:creationId xmlns:a16="http://schemas.microsoft.com/office/drawing/2014/main" id="{69786406-2288-49FC-A285-FC52A51E9E22}"/>
              </a:ext>
            </a:extLst>
          </p:cNvPr>
          <p:cNvSpPr>
            <a:spLocks noGrp="1"/>
          </p:cNvSpPr>
          <p:nvPr/>
        </p:nvSpPr>
        <p:spPr>
          <a:xfrm>
            <a:off x="1295400" y="2305050"/>
            <a:ext cx="1333500" cy="142875"/>
          </a:xfrm>
          <a:prstGeom prst="rect">
            <a:avLst/>
          </a:prstGeom>
          <a:noFill/>
          <a:ln w="0">
            <a:noFill/>
            <a:prstDash val="solid"/>
          </a:ln>
        </p:spPr>
        <p:txBody>
          <a:bodyPr wrap="none" lIns="0" tIns="0" rIns="0" bIns="0" anchor="t"/>
          <a:lstStyle/>
          <a:p>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Selected in Step 2</a:t>
            </a:r>
          </a:p>
        </p:txBody>
      </p:sp>
      <p:sp>
        <p:nvSpPr>
          <p:cNvPr id="28" name="Straight Connector 27">
            <a:extLst>
              <a:ext uri="{FF2B5EF4-FFF2-40B4-BE49-F238E27FC236}">
                <a16:creationId xmlns:a16="http://schemas.microsoft.com/office/drawing/2014/main" id="{222143D4-E12A-4927-A960-3AF5D2061537}"/>
              </a:ext>
            </a:extLst>
          </p:cNvPr>
          <p:cNvSpPr>
            <a:spLocks noGrp="1"/>
          </p:cNvSpPr>
          <p:nvPr/>
        </p:nvSpPr>
        <p:spPr>
          <a:xfrm>
            <a:off x="2762250" y="1628775"/>
            <a:ext cx="0" cy="790575"/>
          </a:xfrm>
          <a:prstGeom prst="line">
            <a:avLst/>
          </a:prstGeom>
          <a:noFill/>
          <a:ln w="9525">
            <a:solidFill>
              <a:srgbClr val="D7DDDA"/>
            </a:solidFill>
            <a:prstDash val="solid"/>
          </a:ln>
        </p:spPr>
        <p:txBody>
          <a:bodyPr/>
          <a:lstStyle/>
          <a:p>
            <a:endParaRPr lang="en-FR"/>
          </a:p>
        </p:txBody>
      </p:sp>
      <p:pic>
        <p:nvPicPr>
          <p:cNvPr id="181" name="Picture 180"/>
          <p:cNvPicPr>
            <a:picLocks noChangeAspect="1"/>
          </p:cNvPicPr>
          <p:nvPr/>
        </p:nvPicPr>
        <p:blipFill>
          <a:blip r:embed="rId5"/>
          <a:stretch/>
        </p:blipFill>
        <p:spPr>
          <a:xfrm>
            <a:off x="3143250" y="1704975"/>
            <a:ext cx="514350" cy="514350"/>
          </a:xfrm>
          <a:prstGeom prst="rect">
            <a:avLst/>
          </a:prstGeom>
        </p:spPr>
      </p:pic>
      <p:sp>
        <p:nvSpPr>
          <p:cNvPr id="30" name="Rectangle 29">
            <a:extLst>
              <a:ext uri="{FF2B5EF4-FFF2-40B4-BE49-F238E27FC236}">
                <a16:creationId xmlns:a16="http://schemas.microsoft.com/office/drawing/2014/main" id="{F99680A0-0BC2-44CD-9973-BC6E0AE488BC}"/>
              </a:ext>
            </a:extLst>
          </p:cNvPr>
          <p:cNvSpPr>
            <a:spLocks noGrp="1"/>
          </p:cNvSpPr>
          <p:nvPr/>
        </p:nvSpPr>
        <p:spPr>
          <a:xfrm>
            <a:off x="3924300" y="1695450"/>
            <a:ext cx="1047750" cy="285750"/>
          </a:xfrm>
          <a:prstGeom prst="rect">
            <a:avLst/>
          </a:prstGeom>
          <a:noFill/>
          <a:ln w="0">
            <a:noFill/>
            <a:prstDash val="solid"/>
          </a:ln>
        </p:spPr>
        <p:txBody>
          <a:bodyPr wrap="none" lIns="0" tIns="0" rIns="0" bIns="0" anchor="t"/>
          <a:lstStyle/>
          <a:p>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377</a:t>
            </a:r>
          </a:p>
        </p:txBody>
      </p:sp>
      <p:sp>
        <p:nvSpPr>
          <p:cNvPr id="31" name="Rectangle 30">
            <a:extLst>
              <a:ext uri="{FF2B5EF4-FFF2-40B4-BE49-F238E27FC236}">
                <a16:creationId xmlns:a16="http://schemas.microsoft.com/office/drawing/2014/main" id="{BC6F9212-2F26-4DE0-8DBF-7ADF6CF4A267}"/>
              </a:ext>
            </a:extLst>
          </p:cNvPr>
          <p:cNvSpPr>
            <a:spLocks noGrp="1"/>
          </p:cNvSpPr>
          <p:nvPr/>
        </p:nvSpPr>
        <p:spPr>
          <a:xfrm>
            <a:off x="3924300" y="2038350"/>
            <a:ext cx="1047750" cy="200025"/>
          </a:xfrm>
          <a:prstGeom prst="rect">
            <a:avLst/>
          </a:prstGeom>
          <a:noFill/>
          <a:ln w="0">
            <a:noFill/>
            <a:prstDash val="solid"/>
          </a:ln>
        </p:spPr>
        <p:txBody>
          <a:bodyPr wrap="none" lIns="0" tIns="0" rIns="0" bIns="0" anchor="t"/>
          <a:lstStyle/>
          <a:p>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OCPU</a:t>
            </a:r>
          </a:p>
        </p:txBody>
      </p:sp>
      <p:sp>
        <p:nvSpPr>
          <p:cNvPr id="32" name="Rectangle 31">
            <a:extLst>
              <a:ext uri="{FF2B5EF4-FFF2-40B4-BE49-F238E27FC236}">
                <a16:creationId xmlns:a16="http://schemas.microsoft.com/office/drawing/2014/main" id="{E044A9BF-F0E8-4177-98DE-BE5DCA1B078B}"/>
              </a:ext>
            </a:extLst>
          </p:cNvPr>
          <p:cNvSpPr>
            <a:spLocks noGrp="1"/>
          </p:cNvSpPr>
          <p:nvPr/>
        </p:nvSpPr>
        <p:spPr>
          <a:xfrm>
            <a:off x="3924300" y="2305050"/>
            <a:ext cx="1333500" cy="142875"/>
          </a:xfrm>
          <a:prstGeom prst="rect">
            <a:avLst/>
          </a:prstGeom>
          <a:noFill/>
          <a:ln w="0">
            <a:noFill/>
            <a:prstDash val="solid"/>
          </a:ln>
        </p:spPr>
        <p:txBody>
          <a:bodyPr wrap="none" lIns="0" tIns="0" rIns="0" bIns="0" anchor="t"/>
          <a:lstStyle/>
          <a:p>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Source VM inventory</a:t>
            </a:r>
          </a:p>
        </p:txBody>
      </p:sp>
      <p:sp>
        <p:nvSpPr>
          <p:cNvPr id="33" name="Straight Connector 32">
            <a:extLst>
              <a:ext uri="{FF2B5EF4-FFF2-40B4-BE49-F238E27FC236}">
                <a16:creationId xmlns:a16="http://schemas.microsoft.com/office/drawing/2014/main" id="{56AFE074-F29A-4789-99EE-DBD469BD38DB}"/>
              </a:ext>
            </a:extLst>
          </p:cNvPr>
          <p:cNvSpPr>
            <a:spLocks noGrp="1"/>
          </p:cNvSpPr>
          <p:nvPr/>
        </p:nvSpPr>
        <p:spPr>
          <a:xfrm>
            <a:off x="5000625" y="1628775"/>
            <a:ext cx="0" cy="790575"/>
          </a:xfrm>
          <a:prstGeom prst="line">
            <a:avLst/>
          </a:prstGeom>
          <a:noFill/>
          <a:ln w="9525">
            <a:solidFill>
              <a:srgbClr val="D7DDDA"/>
            </a:solidFill>
            <a:prstDash val="solid"/>
          </a:ln>
        </p:spPr>
        <p:txBody>
          <a:bodyPr/>
          <a:lstStyle/>
          <a:p>
            <a:endParaRPr lang="en-FR"/>
          </a:p>
        </p:txBody>
      </p:sp>
      <p:pic>
        <p:nvPicPr>
          <p:cNvPr id="186" name="Picture 185"/>
          <p:cNvPicPr>
            <a:picLocks noChangeAspect="1"/>
          </p:cNvPicPr>
          <p:nvPr/>
        </p:nvPicPr>
        <p:blipFill>
          <a:blip r:embed="rId6"/>
          <a:stretch/>
        </p:blipFill>
        <p:spPr>
          <a:xfrm>
            <a:off x="5314950" y="1781175"/>
            <a:ext cx="552450" cy="361950"/>
          </a:xfrm>
          <a:prstGeom prst="rect">
            <a:avLst/>
          </a:prstGeom>
        </p:spPr>
      </p:pic>
      <p:sp>
        <p:nvSpPr>
          <p:cNvPr id="35" name="Rectangle 34">
            <a:extLst>
              <a:ext uri="{FF2B5EF4-FFF2-40B4-BE49-F238E27FC236}">
                <a16:creationId xmlns:a16="http://schemas.microsoft.com/office/drawing/2014/main" id="{B1C599DD-A402-4C39-982C-F4F03E17CBEC}"/>
              </a:ext>
            </a:extLst>
          </p:cNvPr>
          <p:cNvSpPr>
            <a:spLocks noGrp="1"/>
          </p:cNvSpPr>
          <p:nvPr/>
        </p:nvSpPr>
        <p:spPr>
          <a:xfrm>
            <a:off x="6096000" y="1695450"/>
            <a:ext cx="1047750" cy="285750"/>
          </a:xfrm>
          <a:prstGeom prst="rect">
            <a:avLst/>
          </a:prstGeom>
          <a:noFill/>
          <a:ln w="0">
            <a:noFill/>
            <a:prstDash val="solid"/>
          </a:ln>
        </p:spPr>
        <p:txBody>
          <a:bodyPr wrap="none" lIns="0" tIns="0" rIns="0" bIns="0" anchor="t"/>
          <a:lstStyle/>
          <a:p>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1.2 TB</a:t>
            </a:r>
          </a:p>
        </p:txBody>
      </p:sp>
      <p:sp>
        <p:nvSpPr>
          <p:cNvPr id="36" name="Rectangle 35">
            <a:extLst>
              <a:ext uri="{FF2B5EF4-FFF2-40B4-BE49-F238E27FC236}">
                <a16:creationId xmlns:a16="http://schemas.microsoft.com/office/drawing/2014/main" id="{FDE2EA0D-B5D2-46F8-A047-39A27378D0F6}"/>
              </a:ext>
            </a:extLst>
          </p:cNvPr>
          <p:cNvSpPr>
            <a:spLocks noGrp="1"/>
          </p:cNvSpPr>
          <p:nvPr/>
        </p:nvSpPr>
        <p:spPr>
          <a:xfrm>
            <a:off x="6096000" y="2038350"/>
            <a:ext cx="1047750" cy="200025"/>
          </a:xfrm>
          <a:prstGeom prst="rect">
            <a:avLst/>
          </a:prstGeom>
          <a:noFill/>
          <a:ln w="0">
            <a:noFill/>
            <a:prstDash val="solid"/>
          </a:ln>
        </p:spPr>
        <p:txBody>
          <a:bodyPr wrap="none" lIns="0" tIns="0" rIns="0" bIns="0" anchor="t"/>
          <a:lstStyle/>
          <a:p>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RAM</a:t>
            </a:r>
          </a:p>
        </p:txBody>
      </p:sp>
      <p:sp>
        <p:nvSpPr>
          <p:cNvPr id="37" name="Rectangle 36">
            <a:extLst>
              <a:ext uri="{FF2B5EF4-FFF2-40B4-BE49-F238E27FC236}">
                <a16:creationId xmlns:a16="http://schemas.microsoft.com/office/drawing/2014/main" id="{8E5E2C64-4744-4711-8984-E8679875A543}"/>
              </a:ext>
            </a:extLst>
          </p:cNvPr>
          <p:cNvSpPr>
            <a:spLocks noGrp="1"/>
          </p:cNvSpPr>
          <p:nvPr/>
        </p:nvSpPr>
        <p:spPr>
          <a:xfrm>
            <a:off x="6096000" y="2305050"/>
            <a:ext cx="1333500" cy="142875"/>
          </a:xfrm>
          <a:prstGeom prst="rect">
            <a:avLst/>
          </a:prstGeom>
          <a:noFill/>
          <a:ln w="0">
            <a:noFill/>
            <a:prstDash val="solid"/>
          </a:ln>
        </p:spPr>
        <p:txBody>
          <a:bodyPr wrap="none" lIns="0" tIns="0" rIns="0" bIns="0" anchor="t"/>
          <a:lstStyle/>
          <a:p>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Priced as flexible memory</a:t>
            </a:r>
          </a:p>
        </p:txBody>
      </p:sp>
      <p:sp>
        <p:nvSpPr>
          <p:cNvPr id="38" name="Straight Connector 37">
            <a:extLst>
              <a:ext uri="{FF2B5EF4-FFF2-40B4-BE49-F238E27FC236}">
                <a16:creationId xmlns:a16="http://schemas.microsoft.com/office/drawing/2014/main" id="{776BAA67-345E-4985-9D5A-ED097B39B353}"/>
              </a:ext>
            </a:extLst>
          </p:cNvPr>
          <p:cNvSpPr>
            <a:spLocks noGrp="1"/>
          </p:cNvSpPr>
          <p:nvPr/>
        </p:nvSpPr>
        <p:spPr>
          <a:xfrm>
            <a:off x="7486650" y="1628775"/>
            <a:ext cx="0" cy="790575"/>
          </a:xfrm>
          <a:prstGeom prst="line">
            <a:avLst/>
          </a:prstGeom>
          <a:noFill/>
          <a:ln w="9525">
            <a:solidFill>
              <a:srgbClr val="D7DDDA"/>
            </a:solidFill>
            <a:prstDash val="solid"/>
          </a:ln>
        </p:spPr>
        <p:txBody>
          <a:bodyPr/>
          <a:lstStyle/>
          <a:p>
            <a:endParaRPr lang="en-FR"/>
          </a:p>
        </p:txBody>
      </p:sp>
      <p:pic>
        <p:nvPicPr>
          <p:cNvPr id="191" name="Picture 190"/>
          <p:cNvPicPr>
            <a:picLocks noChangeAspect="1"/>
          </p:cNvPicPr>
          <p:nvPr/>
        </p:nvPicPr>
        <p:blipFill>
          <a:blip r:embed="rId7"/>
          <a:stretch/>
        </p:blipFill>
        <p:spPr>
          <a:xfrm>
            <a:off x="7872413" y="1695450"/>
            <a:ext cx="504825" cy="533400"/>
          </a:xfrm>
          <a:prstGeom prst="rect">
            <a:avLst/>
          </a:prstGeom>
        </p:spPr>
      </p:pic>
      <p:sp>
        <p:nvSpPr>
          <p:cNvPr id="40" name="Rectangle 39">
            <a:extLst>
              <a:ext uri="{FF2B5EF4-FFF2-40B4-BE49-F238E27FC236}">
                <a16:creationId xmlns:a16="http://schemas.microsoft.com/office/drawing/2014/main" id="{F637F980-5E38-4595-9C0C-ACE4B526ADEA}"/>
              </a:ext>
            </a:extLst>
          </p:cNvPr>
          <p:cNvSpPr>
            <a:spLocks noGrp="1"/>
          </p:cNvSpPr>
          <p:nvPr/>
        </p:nvSpPr>
        <p:spPr>
          <a:xfrm>
            <a:off x="8629650" y="1695450"/>
            <a:ext cx="1047750" cy="285750"/>
          </a:xfrm>
          <a:prstGeom prst="rect">
            <a:avLst/>
          </a:prstGeom>
          <a:noFill/>
          <a:ln w="0">
            <a:noFill/>
            <a:prstDash val="solid"/>
          </a:ln>
        </p:spPr>
        <p:txBody>
          <a:bodyPr wrap="none" lIns="0" tIns="0" rIns="0" bIns="0" anchor="t"/>
          <a:lstStyle/>
          <a:p>
            <a:pPr algn="l">
              <a:lnSpc>
                <a:spcPct val="100000"/>
              </a:lnSpc>
              <a:buNone/>
              <a:defRPr sz="1875" b="1" i="0">
                <a:solidFill>
                  <a:srgbClr val="00452C"/>
                </a:solidFill>
                <a:latin typeface="Arial"/>
                <a:ea typeface="Arial"/>
                <a:cs typeface="Arial"/>
              </a:defRPr>
            </a:pPr>
            <a:r>
              <a:rPr sz="1875" b="1" i="0">
                <a:solidFill>
                  <a:srgbClr val="00452C"/>
                </a:solidFill>
                <a:latin typeface="Arial"/>
                <a:ea typeface="Arial"/>
                <a:cs typeface="Arial"/>
              </a:rPr>
              <a:t>35 TB</a:t>
            </a:r>
          </a:p>
        </p:txBody>
      </p:sp>
      <p:sp>
        <p:nvSpPr>
          <p:cNvPr id="41" name="Rectangle 40">
            <a:extLst>
              <a:ext uri="{FF2B5EF4-FFF2-40B4-BE49-F238E27FC236}">
                <a16:creationId xmlns:a16="http://schemas.microsoft.com/office/drawing/2014/main" id="{F8214754-DCEA-4AC3-AE90-D183D4BF763A}"/>
              </a:ext>
            </a:extLst>
          </p:cNvPr>
          <p:cNvSpPr>
            <a:spLocks noGrp="1"/>
          </p:cNvSpPr>
          <p:nvPr/>
        </p:nvSpPr>
        <p:spPr>
          <a:xfrm>
            <a:off x="8629650" y="2038350"/>
            <a:ext cx="1047750" cy="200025"/>
          </a:xfrm>
          <a:prstGeom prst="rect">
            <a:avLst/>
          </a:prstGeom>
          <a:noFill/>
          <a:ln w="0">
            <a:noFill/>
            <a:prstDash val="solid"/>
          </a:ln>
        </p:spPr>
        <p:txBody>
          <a:bodyPr wrap="none" lIns="0" tIns="0" rIns="0" bIns="0" anchor="t"/>
          <a:lstStyle/>
          <a:p>
            <a:pPr algn="l">
              <a:lnSpc>
                <a:spcPct val="100000"/>
              </a:lnSpc>
              <a:buNone/>
              <a:defRPr sz="1088" b="0" i="0">
                <a:solidFill>
                  <a:srgbClr val="111111"/>
                </a:solidFill>
                <a:latin typeface="Arial"/>
                <a:ea typeface="Arial"/>
                <a:cs typeface="Arial"/>
              </a:defRPr>
            </a:pPr>
            <a:r>
              <a:rPr sz="1088" b="0" i="0">
                <a:solidFill>
                  <a:srgbClr val="111111"/>
                </a:solidFill>
                <a:latin typeface="Arial"/>
                <a:ea typeface="Arial"/>
                <a:cs typeface="Arial"/>
              </a:rPr>
              <a:t>Block Volume</a:t>
            </a:r>
          </a:p>
        </p:txBody>
      </p:sp>
      <p:sp>
        <p:nvSpPr>
          <p:cNvPr id="42" name="Rectangle 41">
            <a:extLst>
              <a:ext uri="{FF2B5EF4-FFF2-40B4-BE49-F238E27FC236}">
                <a16:creationId xmlns:a16="http://schemas.microsoft.com/office/drawing/2014/main" id="{4AB5FAF1-3190-4DED-ADF2-18F3644BBF0E}"/>
              </a:ext>
            </a:extLst>
          </p:cNvPr>
          <p:cNvSpPr>
            <a:spLocks noGrp="1"/>
          </p:cNvSpPr>
          <p:nvPr/>
        </p:nvSpPr>
        <p:spPr>
          <a:xfrm>
            <a:off x="8629650" y="2305050"/>
            <a:ext cx="1333500" cy="142875"/>
          </a:xfrm>
          <a:prstGeom prst="rect">
            <a:avLst/>
          </a:prstGeom>
          <a:noFill/>
          <a:ln w="0">
            <a:noFill/>
            <a:prstDash val="solid"/>
          </a:ln>
        </p:spPr>
        <p:txBody>
          <a:bodyPr wrap="none" lIns="0" tIns="0" rIns="0" bIns="0" anchor="t"/>
          <a:lstStyle/>
          <a:p>
            <a:pPr algn="l">
              <a:lnSpc>
                <a:spcPct val="100000"/>
              </a:lnSpc>
              <a:buNone/>
              <a:defRPr sz="713" b="0" i="0">
                <a:solidFill>
                  <a:srgbClr val="222222"/>
                </a:solidFill>
                <a:latin typeface="Arial"/>
                <a:ea typeface="Arial"/>
                <a:cs typeface="Arial"/>
              </a:defRPr>
            </a:pPr>
            <a:r>
              <a:rPr sz="713" b="0" i="0">
                <a:solidFill>
                  <a:srgbClr val="222222"/>
                </a:solidFill>
                <a:latin typeface="Arial"/>
                <a:ea typeface="Arial"/>
                <a:cs typeface="Arial"/>
              </a:rPr>
              <a:t>Total capacity</a:t>
            </a:r>
          </a:p>
        </p:txBody>
      </p:sp>
      <p:sp>
        <p:nvSpPr>
          <p:cNvPr id="43" name="Straight Connector 42">
            <a:extLst>
              <a:ext uri="{FF2B5EF4-FFF2-40B4-BE49-F238E27FC236}">
                <a16:creationId xmlns:a16="http://schemas.microsoft.com/office/drawing/2014/main" id="{9D05C6B1-2591-47E8-8B5F-3B6B104DDA4D}"/>
              </a:ext>
            </a:extLst>
          </p:cNvPr>
          <p:cNvSpPr>
            <a:spLocks noGrp="1"/>
          </p:cNvSpPr>
          <p:nvPr/>
        </p:nvSpPr>
        <p:spPr>
          <a:xfrm>
            <a:off x="9544050" y="1628775"/>
            <a:ext cx="0" cy="790575"/>
          </a:xfrm>
          <a:prstGeom prst="line">
            <a:avLst/>
          </a:prstGeom>
          <a:noFill/>
          <a:ln w="9525">
            <a:solidFill>
              <a:srgbClr val="D7DDDA"/>
            </a:solidFill>
            <a:prstDash val="solid"/>
          </a:ln>
        </p:spPr>
        <p:txBody>
          <a:bodyPr/>
          <a:lstStyle/>
          <a:p>
            <a:endParaRPr lang="en-FR"/>
          </a:p>
        </p:txBody>
      </p:sp>
      <p:pic>
        <p:nvPicPr>
          <p:cNvPr id="196" name="Picture 195"/>
          <p:cNvPicPr>
            <a:picLocks noChangeAspect="1"/>
          </p:cNvPicPr>
          <p:nvPr/>
        </p:nvPicPr>
        <p:blipFill>
          <a:blip r:embed="rId8"/>
          <a:stretch/>
        </p:blipFill>
        <p:spPr>
          <a:xfrm>
            <a:off x="9886950" y="1600200"/>
            <a:ext cx="819150" cy="857250"/>
          </a:xfrm>
          <a:prstGeom prst="rect">
            <a:avLst/>
          </a:prstGeom>
        </p:spPr>
      </p:pic>
      <p:sp>
        <p:nvSpPr>
          <p:cNvPr id="45" name="Rectangle 44">
            <a:extLst>
              <a:ext uri="{FF2B5EF4-FFF2-40B4-BE49-F238E27FC236}">
                <a16:creationId xmlns:a16="http://schemas.microsoft.com/office/drawing/2014/main" id="{781979E5-4762-4996-9358-55BF34F04657}"/>
              </a:ext>
            </a:extLst>
          </p:cNvPr>
          <p:cNvSpPr>
            <a:spLocks noGrp="1"/>
          </p:cNvSpPr>
          <p:nvPr/>
        </p:nvSpPr>
        <p:spPr>
          <a:xfrm>
            <a:off x="10144125" y="1905000"/>
            <a:ext cx="352425" cy="257175"/>
          </a:xfrm>
          <a:prstGeom prst="rect">
            <a:avLst/>
          </a:prstGeom>
          <a:noFill/>
          <a:ln w="0">
            <a:noFill/>
            <a:prstDash val="solid"/>
          </a:ln>
        </p:spPr>
        <p:txBody>
          <a:bodyPr wrap="none" lIns="0" tIns="0" rIns="0" bIns="0" anchor="t"/>
          <a:lstStyle/>
          <a:p>
            <a:pPr algn="ctr">
              <a:lnSpc>
                <a:spcPct val="100000"/>
              </a:lnSpc>
              <a:buNone/>
              <a:defRPr sz="1350" b="1" i="0">
                <a:solidFill>
                  <a:srgbClr val="00452C"/>
                </a:solidFill>
                <a:latin typeface="Arial"/>
                <a:ea typeface="Arial"/>
                <a:cs typeface="Arial"/>
              </a:defRPr>
            </a:pPr>
            <a:r>
              <a:rPr sz="1350" b="1" i="0" dirty="0">
                <a:solidFill>
                  <a:srgbClr val="00452C"/>
                </a:solidFill>
                <a:latin typeface="Arial"/>
                <a:ea typeface="Arial"/>
                <a:cs typeface="Arial"/>
              </a:rPr>
              <a:t>83%</a:t>
            </a:r>
          </a:p>
        </p:txBody>
      </p:sp>
      <p:sp>
        <p:nvSpPr>
          <p:cNvPr id="46" name="Rectangle 45">
            <a:extLst>
              <a:ext uri="{FF2B5EF4-FFF2-40B4-BE49-F238E27FC236}">
                <a16:creationId xmlns:a16="http://schemas.microsoft.com/office/drawing/2014/main" id="{EA23A37D-74E2-4BB1-9AD1-19FDA9C1F518}"/>
              </a:ext>
            </a:extLst>
          </p:cNvPr>
          <p:cNvSpPr>
            <a:spLocks noGrp="1"/>
          </p:cNvSpPr>
          <p:nvPr/>
        </p:nvSpPr>
        <p:spPr>
          <a:xfrm>
            <a:off x="10763250" y="1762125"/>
            <a:ext cx="857250" cy="400050"/>
          </a:xfrm>
          <a:prstGeom prst="rect">
            <a:avLst/>
          </a:prstGeom>
          <a:noFill/>
          <a:ln w="0">
            <a:noFill/>
            <a:prstDash val="solid"/>
          </a:ln>
        </p:spPr>
        <p:txBody>
          <a:bodyPr wrap="square" lIns="0" tIns="0" rIns="0" bIns="0" anchor="t"/>
          <a:lstStyle/>
          <a:p>
            <a:pPr algn="l">
              <a:lnSpc>
                <a:spcPct val="115000"/>
              </a:lnSpc>
              <a:buNone/>
              <a:defRPr sz="1013" b="1" i="0">
                <a:solidFill>
                  <a:srgbClr val="00452C"/>
                </a:solidFill>
                <a:latin typeface="Arial"/>
                <a:ea typeface="Arial"/>
                <a:cs typeface="Arial"/>
              </a:defRPr>
            </a:pPr>
            <a:r>
              <a:rPr sz="1013" b="1" i="0">
                <a:solidFill>
                  <a:srgbClr val="00452C"/>
                </a:solidFill>
                <a:latin typeface="Arial"/>
                <a:ea typeface="Arial"/>
                <a:cs typeface="Arial"/>
              </a:rPr>
              <a:t>OCI Native</a:t>
            </a:r>
          </a:p>
          <a:p>
            <a:pPr algn="l">
              <a:lnSpc>
                <a:spcPct val="115000"/>
              </a:lnSpc>
              <a:buNone/>
              <a:defRPr sz="1013" b="1" i="0">
                <a:solidFill>
                  <a:srgbClr val="00452C"/>
                </a:solidFill>
                <a:latin typeface="Arial"/>
                <a:ea typeface="Arial"/>
                <a:cs typeface="Arial"/>
              </a:defRPr>
            </a:pPr>
            <a:r>
              <a:rPr sz="1013" b="1" i="0">
                <a:solidFill>
                  <a:srgbClr val="00452C"/>
                </a:solidFill>
                <a:latin typeface="Arial"/>
                <a:ea typeface="Arial"/>
                <a:cs typeface="Arial"/>
              </a:rPr>
              <a:t>Ready</a:t>
            </a:r>
          </a:p>
        </p:txBody>
      </p:sp>
      <p:sp>
        <p:nvSpPr>
          <p:cNvPr id="47" name="Rectangle 46">
            <a:extLst>
              <a:ext uri="{FF2B5EF4-FFF2-40B4-BE49-F238E27FC236}">
                <a16:creationId xmlns:a16="http://schemas.microsoft.com/office/drawing/2014/main" id="{D719B753-8129-4A71-805F-20EB497DCF7E}"/>
              </a:ext>
            </a:extLst>
          </p:cNvPr>
          <p:cNvSpPr>
            <a:spLocks noGrp="1"/>
          </p:cNvSpPr>
          <p:nvPr/>
        </p:nvSpPr>
        <p:spPr>
          <a:xfrm>
            <a:off x="10763250" y="2266950"/>
            <a:ext cx="857250" cy="333375"/>
          </a:xfrm>
          <a:prstGeom prst="rect">
            <a:avLst/>
          </a:prstGeom>
          <a:noFill/>
          <a:ln w="0">
            <a:noFill/>
            <a:prstDash val="solid"/>
          </a:ln>
        </p:spPr>
        <p:txBody>
          <a:bodyPr wrap="square" lIns="0" tIns="0" rIns="0" bIns="0" anchor="t"/>
          <a:lstStyle/>
          <a:p>
            <a:pPr algn="l">
              <a:lnSpc>
                <a:spcPct val="120000"/>
              </a:lnSpc>
              <a:buNone/>
              <a:defRPr sz="863" b="0" i="0">
                <a:solidFill>
                  <a:srgbClr val="1A1A1A"/>
                </a:solidFill>
                <a:latin typeface="Arial"/>
                <a:ea typeface="Arial"/>
                <a:cs typeface="Arial"/>
              </a:defRPr>
            </a:pPr>
            <a:r>
              <a:rPr sz="863" b="0" i="0">
                <a:solidFill>
                  <a:srgbClr val="1A1A1A"/>
                </a:solidFill>
                <a:latin typeface="Arial"/>
                <a:ea typeface="Arial"/>
                <a:cs typeface="Arial"/>
              </a:rPr>
              <a:t>Flexible and</a:t>
            </a:r>
          </a:p>
          <a:p>
            <a:pPr algn="l">
              <a:lnSpc>
                <a:spcPct val="120000"/>
              </a:lnSpc>
              <a:buNone/>
              <a:defRPr sz="863" b="0" i="0">
                <a:solidFill>
                  <a:srgbClr val="1A1A1A"/>
                </a:solidFill>
                <a:latin typeface="Arial"/>
                <a:ea typeface="Arial"/>
                <a:cs typeface="Arial"/>
              </a:defRPr>
            </a:pPr>
            <a:r>
              <a:rPr sz="863" b="0" i="0">
                <a:solidFill>
                  <a:srgbClr val="1A1A1A"/>
                </a:solidFill>
                <a:latin typeface="Arial"/>
                <a:ea typeface="Arial"/>
                <a:cs typeface="Arial"/>
              </a:rPr>
              <a:t>optimized</a:t>
            </a:r>
          </a:p>
        </p:txBody>
      </p:sp>
      <p:sp>
        <p:nvSpPr>
          <p:cNvPr id="48" name="Rounded Rectangle 47">
            <a:extLst>
              <a:ext uri="{FF2B5EF4-FFF2-40B4-BE49-F238E27FC236}">
                <a16:creationId xmlns:a16="http://schemas.microsoft.com/office/drawing/2014/main" id="{1AAA120E-A24A-4AE5-8884-932DE1E913AD}"/>
              </a:ext>
            </a:extLst>
          </p:cNvPr>
          <p:cNvSpPr>
            <a:spLocks noGrp="1"/>
          </p:cNvSpPr>
          <p:nvPr/>
        </p:nvSpPr>
        <p:spPr>
          <a:xfrm>
            <a:off x="571500" y="2847975"/>
            <a:ext cx="4695825" cy="3409950"/>
          </a:xfrm>
          <a:prstGeom prst="roundRect">
            <a:avLst>
              <a:gd name="adj" fmla="val 2235"/>
            </a:avLst>
          </a:prstGeom>
          <a:solidFill>
            <a:srgbClr val="FFFFFF"/>
          </a:solidFill>
          <a:ln w="9525">
            <a:solidFill>
              <a:srgbClr val="D7DD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49" name="Rounded Rectangle 48">
            <a:extLst>
              <a:ext uri="{FF2B5EF4-FFF2-40B4-BE49-F238E27FC236}">
                <a16:creationId xmlns:a16="http://schemas.microsoft.com/office/drawing/2014/main" id="{7FAA2FD4-7125-4D07-8E20-F4B095A06329}"/>
              </a:ext>
            </a:extLst>
          </p:cNvPr>
          <p:cNvSpPr>
            <a:spLocks noGrp="1"/>
          </p:cNvSpPr>
          <p:nvPr/>
        </p:nvSpPr>
        <p:spPr>
          <a:xfrm>
            <a:off x="571500" y="2847975"/>
            <a:ext cx="4695825" cy="276225"/>
          </a:xfrm>
          <a:prstGeom prst="roundRect">
            <a:avLst>
              <a:gd name="adj" fmla="val 20690"/>
            </a:avLst>
          </a:prstGeom>
          <a:gradFill>
            <a:gsLst>
              <a:gs pos="0">
                <a:srgbClr val="00351F"/>
              </a:gs>
              <a:gs pos="100000">
                <a:srgbClr val="075A35"/>
              </a:gs>
            </a:gsLst>
            <a:lin ang="0"/>
          </a:gradFill>
          <a:ln w="0">
            <a:noFill/>
            <a:prstDash val="solid"/>
          </a:ln>
        </p:spPr>
        <p:txBody>
          <a:bodyPr/>
          <a:lstStyle/>
          <a:p>
            <a:endParaRPr lang="en-FR"/>
          </a:p>
        </p:txBody>
      </p:sp>
      <p:sp>
        <p:nvSpPr>
          <p:cNvPr id="50" name="Rectangle 49">
            <a:extLst>
              <a:ext uri="{FF2B5EF4-FFF2-40B4-BE49-F238E27FC236}">
                <a16:creationId xmlns:a16="http://schemas.microsoft.com/office/drawing/2014/main" id="{4A4A5C32-4BB8-4B47-AC2F-0000D474A75E}"/>
              </a:ext>
            </a:extLst>
          </p:cNvPr>
          <p:cNvSpPr>
            <a:spLocks noGrp="1"/>
          </p:cNvSpPr>
          <p:nvPr/>
        </p:nvSpPr>
        <p:spPr>
          <a:xfrm>
            <a:off x="571500" y="3067050"/>
            <a:ext cx="4695825" cy="66675"/>
          </a:xfrm>
          <a:prstGeom prst="rect">
            <a:avLst/>
          </a:prstGeom>
          <a:gradFill>
            <a:gsLst>
              <a:gs pos="0">
                <a:srgbClr val="00351F"/>
              </a:gs>
              <a:gs pos="100000">
                <a:srgbClr val="075A35"/>
              </a:gs>
            </a:gsLst>
            <a:lin ang="0"/>
          </a:gradFill>
          <a:ln w="0">
            <a:noFill/>
            <a:prstDash val="solid"/>
          </a:ln>
        </p:spPr>
        <p:txBody>
          <a:bodyPr/>
          <a:lstStyle/>
          <a:p>
            <a:endParaRPr lang="en-FR"/>
          </a:p>
        </p:txBody>
      </p:sp>
      <p:sp>
        <p:nvSpPr>
          <p:cNvPr id="51" name="Oval 50">
            <a:extLst>
              <a:ext uri="{FF2B5EF4-FFF2-40B4-BE49-F238E27FC236}">
                <a16:creationId xmlns:a16="http://schemas.microsoft.com/office/drawing/2014/main" id="{E0517C72-BBA0-486C-AE03-6781A25B6179}"/>
              </a:ext>
            </a:extLst>
          </p:cNvPr>
          <p:cNvSpPr>
            <a:spLocks noGrp="1"/>
          </p:cNvSpPr>
          <p:nvPr/>
        </p:nvSpPr>
        <p:spPr>
          <a:xfrm>
            <a:off x="666750" y="2886075"/>
            <a:ext cx="209550" cy="209550"/>
          </a:xfrm>
          <a:prstGeom prst="ellipse">
            <a:avLst/>
          </a:prstGeom>
          <a:solidFill>
            <a:srgbClr val="FFFFFF"/>
          </a:solidFill>
          <a:ln w="0">
            <a:noFill/>
            <a:prstDash val="solid"/>
          </a:ln>
        </p:spPr>
        <p:txBody>
          <a:bodyPr/>
          <a:lstStyle/>
          <a:p>
            <a:endParaRPr lang="en-FR"/>
          </a:p>
        </p:txBody>
      </p:sp>
      <p:sp>
        <p:nvSpPr>
          <p:cNvPr id="52" name="Rectangle 51">
            <a:extLst>
              <a:ext uri="{FF2B5EF4-FFF2-40B4-BE49-F238E27FC236}">
                <a16:creationId xmlns:a16="http://schemas.microsoft.com/office/drawing/2014/main" id="{D268825C-C656-443E-976B-A98861EFA2D8}"/>
              </a:ext>
            </a:extLst>
          </p:cNvPr>
          <p:cNvSpPr>
            <a:spLocks noGrp="1"/>
          </p:cNvSpPr>
          <p:nvPr/>
        </p:nvSpPr>
        <p:spPr>
          <a:xfrm>
            <a:off x="714375" y="2914650"/>
            <a:ext cx="114300" cy="152400"/>
          </a:xfrm>
          <a:prstGeom prst="rect">
            <a:avLst/>
          </a:prstGeom>
          <a:noFill/>
          <a:ln w="0">
            <a:noFill/>
            <a:prstDash val="solid"/>
          </a:ln>
        </p:spPr>
        <p:txBody>
          <a:bodyPr wrap="none" lIns="0" tIns="0" rIns="0" bIns="0" anchor="t"/>
          <a:lstStyle/>
          <a:p>
            <a:pPr algn="ctr">
              <a:lnSpc>
                <a:spcPct val="100000"/>
              </a:lnSpc>
              <a:buNone/>
              <a:defRPr sz="975" b="1" i="0">
                <a:solidFill>
                  <a:srgbClr val="00452C"/>
                </a:solidFill>
                <a:latin typeface="Arial"/>
                <a:ea typeface="Arial"/>
                <a:cs typeface="Arial"/>
              </a:defRPr>
            </a:pPr>
            <a:r>
              <a:rPr sz="975" b="1" i="0">
                <a:solidFill>
                  <a:srgbClr val="00452C"/>
                </a:solidFill>
                <a:latin typeface="Arial"/>
                <a:ea typeface="Arial"/>
                <a:cs typeface="Arial"/>
              </a:rPr>
              <a:t>2</a:t>
            </a:r>
          </a:p>
        </p:txBody>
      </p:sp>
      <p:sp>
        <p:nvSpPr>
          <p:cNvPr id="53" name="Rectangle 52">
            <a:extLst>
              <a:ext uri="{FF2B5EF4-FFF2-40B4-BE49-F238E27FC236}">
                <a16:creationId xmlns:a16="http://schemas.microsoft.com/office/drawing/2014/main" id="{9E15C135-65BF-48C9-A161-25889273F150}"/>
              </a:ext>
            </a:extLst>
          </p:cNvPr>
          <p:cNvSpPr>
            <a:spLocks noGrp="1"/>
          </p:cNvSpPr>
          <p:nvPr/>
        </p:nvSpPr>
        <p:spPr>
          <a:xfrm>
            <a:off x="981075" y="2905125"/>
            <a:ext cx="4200525" cy="190500"/>
          </a:xfrm>
          <a:prstGeom prst="rect">
            <a:avLst/>
          </a:prstGeom>
          <a:noFill/>
          <a:ln w="0">
            <a:noFill/>
            <a:prstDash val="solid"/>
          </a:ln>
        </p:spPr>
        <p:txBody>
          <a:bodyPr wrap="none" lIns="0" tIns="0" rIns="0" bIns="0" anchor="t"/>
          <a:lstStyle/>
          <a:p>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COMPUTE MIX (BY SHAPE)</a:t>
            </a:r>
          </a:p>
        </p:txBody>
      </p:sp>
      <p:pic>
        <p:nvPicPr>
          <p:cNvPr id="206" name="Picture 205"/>
          <p:cNvPicPr>
            <a:picLocks noChangeAspect="1"/>
          </p:cNvPicPr>
          <p:nvPr/>
        </p:nvPicPr>
        <p:blipFill>
          <a:blip r:embed="rId9"/>
          <a:stretch/>
        </p:blipFill>
        <p:spPr>
          <a:xfrm>
            <a:off x="762000" y="3262313"/>
            <a:ext cx="304800" cy="219075"/>
          </a:xfrm>
          <a:prstGeom prst="rect">
            <a:avLst/>
          </a:prstGeom>
        </p:spPr>
      </p:pic>
      <p:sp>
        <p:nvSpPr>
          <p:cNvPr id="55" name="Rectangle 54">
            <a:extLst>
              <a:ext uri="{FF2B5EF4-FFF2-40B4-BE49-F238E27FC236}">
                <a16:creationId xmlns:a16="http://schemas.microsoft.com/office/drawing/2014/main" id="{671D7800-7190-4F18-BDA3-24DA5B48AA19}"/>
              </a:ext>
            </a:extLst>
          </p:cNvPr>
          <p:cNvSpPr>
            <a:spLocks noGrp="1"/>
          </p:cNvSpPr>
          <p:nvPr/>
        </p:nvSpPr>
        <p:spPr>
          <a:xfrm>
            <a:off x="1162050" y="3267075"/>
            <a:ext cx="3429000" cy="180975"/>
          </a:xfrm>
          <a:prstGeom prst="rect">
            <a:avLst/>
          </a:prstGeom>
          <a:noFill/>
          <a:ln w="0">
            <a:noFill/>
            <a:prstDash val="solid"/>
          </a:ln>
        </p:spPr>
        <p:txBody>
          <a:bodyPr wrap="none" lIns="0" tIns="0" rIns="0" bIns="0" anchor="t"/>
          <a:lstStyle/>
          <a:p>
            <a:pPr algn="l">
              <a:lnSpc>
                <a:spcPct val="100000"/>
              </a:lnSpc>
              <a:buNone/>
              <a:defRPr sz="840" b="0" i="0">
                <a:solidFill>
                  <a:srgbClr val="111111"/>
                </a:solidFill>
                <a:latin typeface="Arial"/>
                <a:ea typeface="Arial"/>
                <a:cs typeface="Arial"/>
              </a:defRPr>
            </a:pPr>
            <a:r>
              <a:rPr sz="840" b="0" i="0">
                <a:solidFill>
                  <a:srgbClr val="111111"/>
                </a:solidFill>
                <a:latin typeface="Arial"/>
                <a:ea typeface="Arial"/>
                <a:cs typeface="Arial"/>
              </a:rPr>
              <a:t>Right-sized compute shapes based on workload requirements</a:t>
            </a:r>
          </a:p>
        </p:txBody>
      </p:sp>
      <p:sp>
        <p:nvSpPr>
          <p:cNvPr id="56" name="Rectangle 55">
            <a:extLst>
              <a:ext uri="{FF2B5EF4-FFF2-40B4-BE49-F238E27FC236}">
                <a16:creationId xmlns:a16="http://schemas.microsoft.com/office/drawing/2014/main" id="{B5D952D8-A518-482B-B3A3-73BC8C2118D9}"/>
              </a:ext>
            </a:extLst>
          </p:cNvPr>
          <p:cNvSpPr>
            <a:spLocks noGrp="1"/>
          </p:cNvSpPr>
          <p:nvPr/>
        </p:nvSpPr>
        <p:spPr>
          <a:xfrm>
            <a:off x="1104900" y="3676650"/>
            <a:ext cx="1238250"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Compute Shape</a:t>
            </a:r>
          </a:p>
        </p:txBody>
      </p:sp>
      <p:sp>
        <p:nvSpPr>
          <p:cNvPr id="57" name="Rectangle 56">
            <a:extLst>
              <a:ext uri="{FF2B5EF4-FFF2-40B4-BE49-F238E27FC236}">
                <a16:creationId xmlns:a16="http://schemas.microsoft.com/office/drawing/2014/main" id="{0E397972-565E-48D2-9FA2-8A886F707C1D}"/>
              </a:ext>
            </a:extLst>
          </p:cNvPr>
          <p:cNvSpPr>
            <a:spLocks noGrp="1"/>
          </p:cNvSpPr>
          <p:nvPr/>
        </p:nvSpPr>
        <p:spPr>
          <a:xfrm>
            <a:off x="2781300" y="3676650"/>
            <a:ext cx="523875"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VMs</a:t>
            </a:r>
          </a:p>
        </p:txBody>
      </p:sp>
      <p:sp>
        <p:nvSpPr>
          <p:cNvPr id="58" name="Rectangle 57">
            <a:extLst>
              <a:ext uri="{FF2B5EF4-FFF2-40B4-BE49-F238E27FC236}">
                <a16:creationId xmlns:a16="http://schemas.microsoft.com/office/drawing/2014/main" id="{1F17AF45-8495-4674-A1CE-37BC0DA4FE0B}"/>
              </a:ext>
            </a:extLst>
          </p:cNvPr>
          <p:cNvSpPr>
            <a:spLocks noGrp="1"/>
          </p:cNvSpPr>
          <p:nvPr/>
        </p:nvSpPr>
        <p:spPr>
          <a:xfrm>
            <a:off x="3619500" y="3676650"/>
            <a:ext cx="523875"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OCPU</a:t>
            </a:r>
          </a:p>
        </p:txBody>
      </p:sp>
      <p:sp>
        <p:nvSpPr>
          <p:cNvPr id="59" name="Rectangle 58">
            <a:extLst>
              <a:ext uri="{FF2B5EF4-FFF2-40B4-BE49-F238E27FC236}">
                <a16:creationId xmlns:a16="http://schemas.microsoft.com/office/drawing/2014/main" id="{C4C6B76F-431F-432D-80B8-6DC1CEE14E93}"/>
              </a:ext>
            </a:extLst>
          </p:cNvPr>
          <p:cNvSpPr>
            <a:spLocks noGrp="1"/>
          </p:cNvSpPr>
          <p:nvPr/>
        </p:nvSpPr>
        <p:spPr>
          <a:xfrm>
            <a:off x="4457700" y="3676650"/>
            <a:ext cx="666750"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RAM</a:t>
            </a:r>
          </a:p>
        </p:txBody>
      </p:sp>
      <p:sp>
        <p:nvSpPr>
          <p:cNvPr id="60" name="Straight Connector 59">
            <a:extLst>
              <a:ext uri="{FF2B5EF4-FFF2-40B4-BE49-F238E27FC236}">
                <a16:creationId xmlns:a16="http://schemas.microsoft.com/office/drawing/2014/main" id="{30542356-6660-487D-9F86-80D148EA8BDE}"/>
              </a:ext>
            </a:extLst>
          </p:cNvPr>
          <p:cNvSpPr>
            <a:spLocks noGrp="1"/>
          </p:cNvSpPr>
          <p:nvPr/>
        </p:nvSpPr>
        <p:spPr>
          <a:xfrm>
            <a:off x="676275" y="3933825"/>
            <a:ext cx="4448175" cy="0"/>
          </a:xfrm>
          <a:prstGeom prst="line">
            <a:avLst/>
          </a:prstGeom>
          <a:noFill/>
          <a:ln w="9525">
            <a:solidFill>
              <a:srgbClr val="D7DDDA"/>
            </a:solidFill>
            <a:prstDash val="solid"/>
          </a:ln>
        </p:spPr>
        <p:txBody>
          <a:bodyPr/>
          <a:lstStyle/>
          <a:p>
            <a:endParaRPr lang="en-FR"/>
          </a:p>
        </p:txBody>
      </p:sp>
      <p:pic>
        <p:nvPicPr>
          <p:cNvPr id="213" name="Picture 212"/>
          <p:cNvPicPr>
            <a:picLocks noChangeAspect="1"/>
          </p:cNvPicPr>
          <p:nvPr/>
        </p:nvPicPr>
        <p:blipFill>
          <a:blip r:embed="rId10"/>
          <a:stretch/>
        </p:blipFill>
        <p:spPr>
          <a:xfrm>
            <a:off x="787567" y="4124325"/>
            <a:ext cx="234616" cy="171450"/>
          </a:xfrm>
          <a:prstGeom prst="rect">
            <a:avLst/>
          </a:prstGeom>
        </p:spPr>
      </p:pic>
      <p:sp>
        <p:nvSpPr>
          <p:cNvPr id="62" name="Rectangle 61">
            <a:extLst>
              <a:ext uri="{FF2B5EF4-FFF2-40B4-BE49-F238E27FC236}">
                <a16:creationId xmlns:a16="http://schemas.microsoft.com/office/drawing/2014/main" id="{4DA9F587-EB3B-4D97-AC01-9AB43EB6D755}"/>
              </a:ext>
            </a:extLst>
          </p:cNvPr>
          <p:cNvSpPr>
            <a:spLocks noGrp="1"/>
          </p:cNvSpPr>
          <p:nvPr/>
        </p:nvSpPr>
        <p:spPr>
          <a:xfrm>
            <a:off x="1200150" y="4053344"/>
            <a:ext cx="1476375" cy="171450"/>
          </a:xfrm>
          <a:prstGeom prst="rect">
            <a:avLst/>
          </a:prstGeom>
          <a:noFill/>
          <a:ln w="0">
            <a:noFill/>
            <a:prstDash val="solid"/>
          </a:ln>
        </p:spPr>
        <p:txBody>
          <a:bodyPr wrap="none" lIns="0" tIns="0" rIns="0" bIns="0" anchor="t"/>
          <a:lstStyle/>
          <a:p>
            <a:pPr algn="l">
              <a:lnSpc>
                <a:spcPct val="100000"/>
              </a:lnSpc>
              <a:buNone/>
              <a:defRPr sz="810" b="1" i="0">
                <a:solidFill>
                  <a:srgbClr val="111111"/>
                </a:solidFill>
                <a:latin typeface="Arial"/>
                <a:ea typeface="Arial"/>
                <a:cs typeface="Arial"/>
              </a:defRPr>
            </a:pPr>
            <a:r>
              <a:rPr sz="810" b="1" i="0" dirty="0">
                <a:solidFill>
                  <a:srgbClr val="111111"/>
                </a:solidFill>
                <a:latin typeface="Arial"/>
                <a:ea typeface="Arial"/>
                <a:cs typeface="Arial"/>
              </a:rPr>
              <a:t>VM.Standard.E5.Flex</a:t>
            </a:r>
          </a:p>
        </p:txBody>
      </p:sp>
      <p:sp>
        <p:nvSpPr>
          <p:cNvPr id="63" name="Rectangle 62">
            <a:extLst>
              <a:ext uri="{FF2B5EF4-FFF2-40B4-BE49-F238E27FC236}">
                <a16:creationId xmlns:a16="http://schemas.microsoft.com/office/drawing/2014/main" id="{DEF1117B-2D1B-455D-8280-E9ADEFD597CD}"/>
              </a:ext>
            </a:extLst>
          </p:cNvPr>
          <p:cNvSpPr>
            <a:spLocks noGrp="1"/>
          </p:cNvSpPr>
          <p:nvPr/>
        </p:nvSpPr>
        <p:spPr>
          <a:xfrm>
            <a:off x="2819400" y="4048125"/>
            <a:ext cx="42862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62</a:t>
            </a:r>
          </a:p>
        </p:txBody>
      </p:sp>
      <p:sp>
        <p:nvSpPr>
          <p:cNvPr id="64" name="Rectangle 63">
            <a:extLst>
              <a:ext uri="{FF2B5EF4-FFF2-40B4-BE49-F238E27FC236}">
                <a16:creationId xmlns:a16="http://schemas.microsoft.com/office/drawing/2014/main" id="{DC01B53D-D41E-4423-B4AA-B997311FF885}"/>
              </a:ext>
            </a:extLst>
          </p:cNvPr>
          <p:cNvSpPr>
            <a:spLocks noGrp="1"/>
          </p:cNvSpPr>
          <p:nvPr/>
        </p:nvSpPr>
        <p:spPr>
          <a:xfrm>
            <a:off x="2819400" y="4229100"/>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65" name="Rectangle 64">
            <a:extLst>
              <a:ext uri="{FF2B5EF4-FFF2-40B4-BE49-F238E27FC236}">
                <a16:creationId xmlns:a16="http://schemas.microsoft.com/office/drawing/2014/main" id="{C489FA76-6094-4711-8687-F9C0CB1950BA}"/>
              </a:ext>
            </a:extLst>
          </p:cNvPr>
          <p:cNvSpPr>
            <a:spLocks noGrp="1"/>
          </p:cNvSpPr>
          <p:nvPr/>
        </p:nvSpPr>
        <p:spPr>
          <a:xfrm>
            <a:off x="3629025" y="4048125"/>
            <a:ext cx="55245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214</a:t>
            </a:r>
          </a:p>
        </p:txBody>
      </p:sp>
      <p:sp>
        <p:nvSpPr>
          <p:cNvPr id="66" name="Rectangle 65">
            <a:extLst>
              <a:ext uri="{FF2B5EF4-FFF2-40B4-BE49-F238E27FC236}">
                <a16:creationId xmlns:a16="http://schemas.microsoft.com/office/drawing/2014/main" id="{6D04C927-1851-4A82-8A6D-A217A01FFFE0}"/>
              </a:ext>
            </a:extLst>
          </p:cNvPr>
          <p:cNvSpPr>
            <a:spLocks noGrp="1"/>
          </p:cNvSpPr>
          <p:nvPr/>
        </p:nvSpPr>
        <p:spPr>
          <a:xfrm>
            <a:off x="3629025" y="4229100"/>
            <a:ext cx="552450"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67" name="Rectangle 66">
            <a:extLst>
              <a:ext uri="{FF2B5EF4-FFF2-40B4-BE49-F238E27FC236}">
                <a16:creationId xmlns:a16="http://schemas.microsoft.com/office/drawing/2014/main" id="{4136FCAB-51C5-4149-B832-02ED86F2BC14}"/>
              </a:ext>
            </a:extLst>
          </p:cNvPr>
          <p:cNvSpPr>
            <a:spLocks noGrp="1"/>
          </p:cNvSpPr>
          <p:nvPr/>
        </p:nvSpPr>
        <p:spPr>
          <a:xfrm>
            <a:off x="4457700" y="4048125"/>
            <a:ext cx="66675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684 GB</a:t>
            </a:r>
          </a:p>
        </p:txBody>
      </p:sp>
      <p:sp>
        <p:nvSpPr>
          <p:cNvPr id="68" name="Rectangle 67">
            <a:extLst>
              <a:ext uri="{FF2B5EF4-FFF2-40B4-BE49-F238E27FC236}">
                <a16:creationId xmlns:a16="http://schemas.microsoft.com/office/drawing/2014/main" id="{FE7FF1C7-C8F2-49F1-93EA-C7F7BB5FAA5E}"/>
              </a:ext>
            </a:extLst>
          </p:cNvPr>
          <p:cNvSpPr>
            <a:spLocks noGrp="1"/>
          </p:cNvSpPr>
          <p:nvPr/>
        </p:nvSpPr>
        <p:spPr>
          <a:xfrm>
            <a:off x="4533900" y="4229100"/>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RAM</a:t>
            </a:r>
          </a:p>
        </p:txBody>
      </p:sp>
      <p:sp>
        <p:nvSpPr>
          <p:cNvPr id="69" name="Straight Connector 68">
            <a:extLst>
              <a:ext uri="{FF2B5EF4-FFF2-40B4-BE49-F238E27FC236}">
                <a16:creationId xmlns:a16="http://schemas.microsoft.com/office/drawing/2014/main" id="{F89A755B-EE44-4109-81E3-977A31DB9580}"/>
              </a:ext>
            </a:extLst>
          </p:cNvPr>
          <p:cNvSpPr>
            <a:spLocks noGrp="1"/>
          </p:cNvSpPr>
          <p:nvPr/>
        </p:nvSpPr>
        <p:spPr>
          <a:xfrm>
            <a:off x="676275" y="4410075"/>
            <a:ext cx="4448175" cy="0"/>
          </a:xfrm>
          <a:prstGeom prst="line">
            <a:avLst/>
          </a:prstGeom>
          <a:noFill/>
          <a:ln w="9525">
            <a:solidFill>
              <a:srgbClr val="E6E9E7"/>
            </a:solidFill>
            <a:prstDash val="solid"/>
          </a:ln>
        </p:spPr>
        <p:txBody>
          <a:bodyPr/>
          <a:lstStyle/>
          <a:p>
            <a:endParaRPr lang="en-FR"/>
          </a:p>
        </p:txBody>
      </p:sp>
      <p:pic>
        <p:nvPicPr>
          <p:cNvPr id="222" name="Picture 221"/>
          <p:cNvPicPr>
            <a:picLocks noChangeAspect="1"/>
          </p:cNvPicPr>
          <p:nvPr/>
        </p:nvPicPr>
        <p:blipFill>
          <a:blip r:embed="rId10"/>
          <a:stretch/>
        </p:blipFill>
        <p:spPr>
          <a:xfrm>
            <a:off x="787567" y="4667250"/>
            <a:ext cx="234616" cy="171450"/>
          </a:xfrm>
          <a:prstGeom prst="rect">
            <a:avLst/>
          </a:prstGeom>
        </p:spPr>
      </p:pic>
      <p:sp>
        <p:nvSpPr>
          <p:cNvPr id="71" name="Rectangle 70">
            <a:extLst>
              <a:ext uri="{FF2B5EF4-FFF2-40B4-BE49-F238E27FC236}">
                <a16:creationId xmlns:a16="http://schemas.microsoft.com/office/drawing/2014/main" id="{E36ABAB3-D988-412A-9D95-1E1E1F23C15C}"/>
              </a:ext>
            </a:extLst>
          </p:cNvPr>
          <p:cNvSpPr>
            <a:spLocks noGrp="1"/>
          </p:cNvSpPr>
          <p:nvPr/>
        </p:nvSpPr>
        <p:spPr>
          <a:xfrm>
            <a:off x="1200149" y="4610100"/>
            <a:ext cx="1476375" cy="171450"/>
          </a:xfrm>
          <a:prstGeom prst="rect">
            <a:avLst/>
          </a:prstGeom>
          <a:noFill/>
          <a:ln w="0">
            <a:noFill/>
            <a:prstDash val="solid"/>
          </a:ln>
        </p:spPr>
        <p:txBody>
          <a:bodyPr wrap="none" lIns="0" tIns="0" rIns="0" bIns="0" anchor="t"/>
          <a:lstStyle/>
          <a:p>
            <a:pPr algn="l">
              <a:lnSpc>
                <a:spcPct val="100000"/>
              </a:lnSpc>
              <a:buNone/>
              <a:defRPr sz="810" b="1" i="0">
                <a:solidFill>
                  <a:srgbClr val="111111"/>
                </a:solidFill>
                <a:latin typeface="Arial"/>
                <a:ea typeface="Arial"/>
                <a:cs typeface="Arial"/>
              </a:defRPr>
            </a:pPr>
            <a:r>
              <a:rPr sz="810" b="1" i="0" dirty="0">
                <a:solidFill>
                  <a:srgbClr val="111111"/>
                </a:solidFill>
                <a:latin typeface="Arial"/>
                <a:ea typeface="Arial"/>
                <a:cs typeface="Arial"/>
              </a:rPr>
              <a:t>VM.Standard.E6.Flex</a:t>
            </a:r>
          </a:p>
        </p:txBody>
      </p:sp>
      <p:sp>
        <p:nvSpPr>
          <p:cNvPr id="72" name="Rectangle 71">
            <a:extLst>
              <a:ext uri="{FF2B5EF4-FFF2-40B4-BE49-F238E27FC236}">
                <a16:creationId xmlns:a16="http://schemas.microsoft.com/office/drawing/2014/main" id="{D8A4960A-E4DB-4F30-A87D-2C46E22E077B}"/>
              </a:ext>
            </a:extLst>
          </p:cNvPr>
          <p:cNvSpPr>
            <a:spLocks noGrp="1"/>
          </p:cNvSpPr>
          <p:nvPr/>
        </p:nvSpPr>
        <p:spPr>
          <a:xfrm>
            <a:off x="2819400" y="4591050"/>
            <a:ext cx="42862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31</a:t>
            </a:r>
          </a:p>
        </p:txBody>
      </p:sp>
      <p:sp>
        <p:nvSpPr>
          <p:cNvPr id="73" name="Rectangle 72">
            <a:extLst>
              <a:ext uri="{FF2B5EF4-FFF2-40B4-BE49-F238E27FC236}">
                <a16:creationId xmlns:a16="http://schemas.microsoft.com/office/drawing/2014/main" id="{D31167C3-AA04-446E-AB16-C0BFD7E7E145}"/>
              </a:ext>
            </a:extLst>
          </p:cNvPr>
          <p:cNvSpPr>
            <a:spLocks noGrp="1"/>
          </p:cNvSpPr>
          <p:nvPr/>
        </p:nvSpPr>
        <p:spPr>
          <a:xfrm>
            <a:off x="2819400" y="4772025"/>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74" name="Rectangle 73">
            <a:extLst>
              <a:ext uri="{FF2B5EF4-FFF2-40B4-BE49-F238E27FC236}">
                <a16:creationId xmlns:a16="http://schemas.microsoft.com/office/drawing/2014/main" id="{3FAE9FD8-6B2E-458E-ADCE-1565FC1FF558}"/>
              </a:ext>
            </a:extLst>
          </p:cNvPr>
          <p:cNvSpPr>
            <a:spLocks noGrp="1"/>
          </p:cNvSpPr>
          <p:nvPr/>
        </p:nvSpPr>
        <p:spPr>
          <a:xfrm>
            <a:off x="3629025" y="4591050"/>
            <a:ext cx="55245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124</a:t>
            </a:r>
          </a:p>
        </p:txBody>
      </p:sp>
      <p:sp>
        <p:nvSpPr>
          <p:cNvPr id="75" name="Rectangle 74">
            <a:extLst>
              <a:ext uri="{FF2B5EF4-FFF2-40B4-BE49-F238E27FC236}">
                <a16:creationId xmlns:a16="http://schemas.microsoft.com/office/drawing/2014/main" id="{2FF09BC0-A1B6-47FB-91AC-5A06531F290A}"/>
              </a:ext>
            </a:extLst>
          </p:cNvPr>
          <p:cNvSpPr>
            <a:spLocks noGrp="1"/>
          </p:cNvSpPr>
          <p:nvPr/>
        </p:nvSpPr>
        <p:spPr>
          <a:xfrm>
            <a:off x="3629025" y="4772025"/>
            <a:ext cx="552450"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76" name="Rectangle 75">
            <a:extLst>
              <a:ext uri="{FF2B5EF4-FFF2-40B4-BE49-F238E27FC236}">
                <a16:creationId xmlns:a16="http://schemas.microsoft.com/office/drawing/2014/main" id="{C3C14EEB-E95A-4735-B498-777AC08DFE28}"/>
              </a:ext>
            </a:extLst>
          </p:cNvPr>
          <p:cNvSpPr>
            <a:spLocks noGrp="1"/>
          </p:cNvSpPr>
          <p:nvPr/>
        </p:nvSpPr>
        <p:spPr>
          <a:xfrm>
            <a:off x="4457700" y="4591050"/>
            <a:ext cx="66675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496 GB</a:t>
            </a:r>
          </a:p>
        </p:txBody>
      </p:sp>
      <p:sp>
        <p:nvSpPr>
          <p:cNvPr id="77" name="Rectangle 76">
            <a:extLst>
              <a:ext uri="{FF2B5EF4-FFF2-40B4-BE49-F238E27FC236}">
                <a16:creationId xmlns:a16="http://schemas.microsoft.com/office/drawing/2014/main" id="{2B73E0EF-6BBE-4FDC-8927-42A4A9A118BF}"/>
              </a:ext>
            </a:extLst>
          </p:cNvPr>
          <p:cNvSpPr>
            <a:spLocks noGrp="1"/>
          </p:cNvSpPr>
          <p:nvPr/>
        </p:nvSpPr>
        <p:spPr>
          <a:xfrm>
            <a:off x="4533900" y="4772025"/>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RAM</a:t>
            </a:r>
          </a:p>
        </p:txBody>
      </p:sp>
      <p:sp>
        <p:nvSpPr>
          <p:cNvPr id="78" name="Straight Connector 77">
            <a:extLst>
              <a:ext uri="{FF2B5EF4-FFF2-40B4-BE49-F238E27FC236}">
                <a16:creationId xmlns:a16="http://schemas.microsoft.com/office/drawing/2014/main" id="{96314882-AA52-46F5-8616-FE97FF9AF11B}"/>
              </a:ext>
            </a:extLst>
          </p:cNvPr>
          <p:cNvSpPr>
            <a:spLocks noGrp="1"/>
          </p:cNvSpPr>
          <p:nvPr/>
        </p:nvSpPr>
        <p:spPr>
          <a:xfrm>
            <a:off x="676275" y="4953000"/>
            <a:ext cx="4448175" cy="0"/>
          </a:xfrm>
          <a:prstGeom prst="line">
            <a:avLst/>
          </a:prstGeom>
          <a:noFill/>
          <a:ln w="9525">
            <a:solidFill>
              <a:srgbClr val="E6E9E7"/>
            </a:solidFill>
            <a:prstDash val="solid"/>
          </a:ln>
        </p:spPr>
        <p:txBody>
          <a:bodyPr/>
          <a:lstStyle/>
          <a:p>
            <a:endParaRPr lang="en-FR"/>
          </a:p>
        </p:txBody>
      </p:sp>
      <p:pic>
        <p:nvPicPr>
          <p:cNvPr id="231" name="Picture 230"/>
          <p:cNvPicPr>
            <a:picLocks noChangeAspect="1"/>
          </p:cNvPicPr>
          <p:nvPr/>
        </p:nvPicPr>
        <p:blipFill>
          <a:blip r:embed="rId10"/>
          <a:stretch/>
        </p:blipFill>
        <p:spPr>
          <a:xfrm>
            <a:off x="787567" y="5219700"/>
            <a:ext cx="234616" cy="171450"/>
          </a:xfrm>
          <a:prstGeom prst="rect">
            <a:avLst/>
          </a:prstGeom>
        </p:spPr>
      </p:pic>
      <p:sp>
        <p:nvSpPr>
          <p:cNvPr id="80" name="Rectangle 79">
            <a:extLst>
              <a:ext uri="{FF2B5EF4-FFF2-40B4-BE49-F238E27FC236}">
                <a16:creationId xmlns:a16="http://schemas.microsoft.com/office/drawing/2014/main" id="{EFF80087-E774-46C7-BCF3-DD112D95C409}"/>
              </a:ext>
            </a:extLst>
          </p:cNvPr>
          <p:cNvSpPr>
            <a:spLocks noGrp="1"/>
          </p:cNvSpPr>
          <p:nvPr/>
        </p:nvSpPr>
        <p:spPr>
          <a:xfrm>
            <a:off x="1200148" y="5191125"/>
            <a:ext cx="1476375" cy="171450"/>
          </a:xfrm>
          <a:prstGeom prst="rect">
            <a:avLst/>
          </a:prstGeom>
          <a:noFill/>
          <a:ln w="0">
            <a:noFill/>
            <a:prstDash val="solid"/>
          </a:ln>
        </p:spPr>
        <p:txBody>
          <a:bodyPr wrap="none" lIns="0" tIns="0" rIns="0" bIns="0" anchor="t"/>
          <a:lstStyle/>
          <a:p>
            <a:pPr algn="l">
              <a:lnSpc>
                <a:spcPct val="100000"/>
              </a:lnSpc>
              <a:buNone/>
              <a:defRPr sz="810" b="1" i="0">
                <a:solidFill>
                  <a:srgbClr val="111111"/>
                </a:solidFill>
                <a:latin typeface="Arial"/>
                <a:ea typeface="Arial"/>
                <a:cs typeface="Arial"/>
              </a:defRPr>
            </a:pPr>
            <a:r>
              <a:rPr sz="810" b="1" i="0" dirty="0">
                <a:solidFill>
                  <a:srgbClr val="111111"/>
                </a:solidFill>
                <a:latin typeface="Arial"/>
                <a:ea typeface="Arial"/>
                <a:cs typeface="Arial"/>
              </a:rPr>
              <a:t>BM.DenseIO.E5</a:t>
            </a:r>
          </a:p>
        </p:txBody>
      </p:sp>
      <p:sp>
        <p:nvSpPr>
          <p:cNvPr id="81" name="Rectangle 80">
            <a:extLst>
              <a:ext uri="{FF2B5EF4-FFF2-40B4-BE49-F238E27FC236}">
                <a16:creationId xmlns:a16="http://schemas.microsoft.com/office/drawing/2014/main" id="{CC30234A-7C8A-4DC8-9F9E-538820CB488B}"/>
              </a:ext>
            </a:extLst>
          </p:cNvPr>
          <p:cNvSpPr>
            <a:spLocks noGrp="1"/>
          </p:cNvSpPr>
          <p:nvPr/>
        </p:nvSpPr>
        <p:spPr>
          <a:xfrm>
            <a:off x="2819400" y="5143500"/>
            <a:ext cx="42862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a:t>
            </a:r>
          </a:p>
        </p:txBody>
      </p:sp>
      <p:sp>
        <p:nvSpPr>
          <p:cNvPr id="82" name="Rectangle 81">
            <a:extLst>
              <a:ext uri="{FF2B5EF4-FFF2-40B4-BE49-F238E27FC236}">
                <a16:creationId xmlns:a16="http://schemas.microsoft.com/office/drawing/2014/main" id="{B49A8037-1E77-4C84-BB82-D98A6266C8F2}"/>
              </a:ext>
            </a:extLst>
          </p:cNvPr>
          <p:cNvSpPr>
            <a:spLocks noGrp="1"/>
          </p:cNvSpPr>
          <p:nvPr/>
        </p:nvSpPr>
        <p:spPr>
          <a:xfrm>
            <a:off x="2819400" y="5324475"/>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83" name="Rectangle 82">
            <a:extLst>
              <a:ext uri="{FF2B5EF4-FFF2-40B4-BE49-F238E27FC236}">
                <a16:creationId xmlns:a16="http://schemas.microsoft.com/office/drawing/2014/main" id="{D5987254-B875-4497-AB47-0E60374C901A}"/>
              </a:ext>
            </a:extLst>
          </p:cNvPr>
          <p:cNvSpPr>
            <a:spLocks noGrp="1"/>
          </p:cNvSpPr>
          <p:nvPr/>
        </p:nvSpPr>
        <p:spPr>
          <a:xfrm>
            <a:off x="3629025" y="5143500"/>
            <a:ext cx="55245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39</a:t>
            </a:r>
          </a:p>
        </p:txBody>
      </p:sp>
      <p:sp>
        <p:nvSpPr>
          <p:cNvPr id="84" name="Rectangle 83">
            <a:extLst>
              <a:ext uri="{FF2B5EF4-FFF2-40B4-BE49-F238E27FC236}">
                <a16:creationId xmlns:a16="http://schemas.microsoft.com/office/drawing/2014/main" id="{58DC17B7-E284-465C-8C7D-69A095F96B40}"/>
              </a:ext>
            </a:extLst>
          </p:cNvPr>
          <p:cNvSpPr>
            <a:spLocks noGrp="1"/>
          </p:cNvSpPr>
          <p:nvPr/>
        </p:nvSpPr>
        <p:spPr>
          <a:xfrm>
            <a:off x="3629025" y="5324475"/>
            <a:ext cx="552450"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85" name="Rectangle 84">
            <a:extLst>
              <a:ext uri="{FF2B5EF4-FFF2-40B4-BE49-F238E27FC236}">
                <a16:creationId xmlns:a16="http://schemas.microsoft.com/office/drawing/2014/main" id="{7BD55E35-31A2-4F87-BE60-3D500AD6A4B6}"/>
              </a:ext>
            </a:extLst>
          </p:cNvPr>
          <p:cNvSpPr>
            <a:spLocks noGrp="1"/>
          </p:cNvSpPr>
          <p:nvPr/>
        </p:nvSpPr>
        <p:spPr>
          <a:xfrm>
            <a:off x="4457700" y="5143500"/>
            <a:ext cx="66675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252 GB</a:t>
            </a:r>
          </a:p>
        </p:txBody>
      </p:sp>
      <p:sp>
        <p:nvSpPr>
          <p:cNvPr id="86" name="Rectangle 85">
            <a:extLst>
              <a:ext uri="{FF2B5EF4-FFF2-40B4-BE49-F238E27FC236}">
                <a16:creationId xmlns:a16="http://schemas.microsoft.com/office/drawing/2014/main" id="{BE6D8D19-89A6-4D87-B195-2C86BA10DF61}"/>
              </a:ext>
            </a:extLst>
          </p:cNvPr>
          <p:cNvSpPr>
            <a:spLocks noGrp="1"/>
          </p:cNvSpPr>
          <p:nvPr/>
        </p:nvSpPr>
        <p:spPr>
          <a:xfrm>
            <a:off x="4533900" y="5324475"/>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RAM</a:t>
            </a:r>
          </a:p>
        </p:txBody>
      </p:sp>
      <p:sp>
        <p:nvSpPr>
          <p:cNvPr id="87" name="Straight Connector 86">
            <a:extLst>
              <a:ext uri="{FF2B5EF4-FFF2-40B4-BE49-F238E27FC236}">
                <a16:creationId xmlns:a16="http://schemas.microsoft.com/office/drawing/2014/main" id="{15449D5B-5AE6-4578-9AFD-B34D19DF4E16}"/>
              </a:ext>
            </a:extLst>
          </p:cNvPr>
          <p:cNvSpPr>
            <a:spLocks noGrp="1"/>
          </p:cNvSpPr>
          <p:nvPr/>
        </p:nvSpPr>
        <p:spPr>
          <a:xfrm>
            <a:off x="676275" y="5505450"/>
            <a:ext cx="4448175" cy="0"/>
          </a:xfrm>
          <a:prstGeom prst="line">
            <a:avLst/>
          </a:prstGeom>
          <a:noFill/>
          <a:ln w="9525">
            <a:solidFill>
              <a:srgbClr val="E6E9E7"/>
            </a:solidFill>
            <a:prstDash val="solid"/>
          </a:ln>
        </p:spPr>
        <p:txBody>
          <a:bodyPr/>
          <a:lstStyle/>
          <a:p>
            <a:endParaRPr lang="en-FR"/>
          </a:p>
        </p:txBody>
      </p:sp>
      <p:sp>
        <p:nvSpPr>
          <p:cNvPr id="88" name="Rectangle 87">
            <a:extLst>
              <a:ext uri="{FF2B5EF4-FFF2-40B4-BE49-F238E27FC236}">
                <a16:creationId xmlns:a16="http://schemas.microsoft.com/office/drawing/2014/main" id="{4BA23839-AFBE-48E0-B4EF-024108A33F3B}"/>
              </a:ext>
            </a:extLst>
          </p:cNvPr>
          <p:cNvSpPr>
            <a:spLocks noGrp="1"/>
          </p:cNvSpPr>
          <p:nvPr/>
        </p:nvSpPr>
        <p:spPr>
          <a:xfrm>
            <a:off x="685800" y="5486400"/>
            <a:ext cx="4438650" cy="476250"/>
          </a:xfrm>
          <a:prstGeom prst="rect">
            <a:avLst/>
          </a:prstGeom>
          <a:solidFill>
            <a:srgbClr val="EFF6F2"/>
          </a:solidFill>
          <a:ln w="0">
            <a:noFill/>
            <a:prstDash val="solid"/>
          </a:ln>
        </p:spPr>
        <p:txBody>
          <a:bodyPr/>
          <a:lstStyle/>
          <a:p>
            <a:endParaRPr lang="en-FR"/>
          </a:p>
        </p:txBody>
      </p:sp>
      <p:sp>
        <p:nvSpPr>
          <p:cNvPr id="89" name="Rectangle 88">
            <a:extLst>
              <a:ext uri="{FF2B5EF4-FFF2-40B4-BE49-F238E27FC236}">
                <a16:creationId xmlns:a16="http://schemas.microsoft.com/office/drawing/2014/main" id="{B4DC424C-D37F-44FE-BC99-3D7875890C64}"/>
              </a:ext>
            </a:extLst>
          </p:cNvPr>
          <p:cNvSpPr>
            <a:spLocks noGrp="1"/>
          </p:cNvSpPr>
          <p:nvPr/>
        </p:nvSpPr>
        <p:spPr>
          <a:xfrm>
            <a:off x="781050" y="5610225"/>
            <a:ext cx="590550" cy="200025"/>
          </a:xfrm>
          <a:prstGeom prst="rect">
            <a:avLst/>
          </a:prstGeom>
          <a:noFill/>
          <a:ln w="0">
            <a:noFill/>
            <a:prstDash val="solid"/>
          </a:ln>
        </p:spPr>
        <p:txBody>
          <a:bodyPr wrap="none" lIns="0" tIns="0" rIns="0" bIns="0" anchor="t"/>
          <a:lstStyle/>
          <a:p>
            <a:pPr algn="l">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TOTAL</a:t>
            </a:r>
          </a:p>
        </p:txBody>
      </p:sp>
      <p:sp>
        <p:nvSpPr>
          <p:cNvPr id="90" name="Rectangle 89">
            <a:extLst>
              <a:ext uri="{FF2B5EF4-FFF2-40B4-BE49-F238E27FC236}">
                <a16:creationId xmlns:a16="http://schemas.microsoft.com/office/drawing/2014/main" id="{D45822BA-A045-427C-AE67-0A4A62C226D6}"/>
              </a:ext>
            </a:extLst>
          </p:cNvPr>
          <p:cNvSpPr>
            <a:spLocks noGrp="1"/>
          </p:cNvSpPr>
          <p:nvPr/>
        </p:nvSpPr>
        <p:spPr>
          <a:xfrm>
            <a:off x="2819400" y="5572125"/>
            <a:ext cx="428625" cy="171450"/>
          </a:xfrm>
          <a:prstGeom prst="rect">
            <a:avLst/>
          </a:prstGeom>
          <a:noFill/>
          <a:ln w="0">
            <a:noFill/>
            <a:prstDash val="solid"/>
          </a:ln>
        </p:spPr>
        <p:txBody>
          <a:bodyPr wrap="none" lIns="0" tIns="0" rIns="0" bIns="0" anchor="t"/>
          <a:lstStyle/>
          <a:p>
            <a:pPr algn="ctr">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110</a:t>
            </a:r>
          </a:p>
        </p:txBody>
      </p:sp>
      <p:sp>
        <p:nvSpPr>
          <p:cNvPr id="91" name="Rectangle 90">
            <a:extLst>
              <a:ext uri="{FF2B5EF4-FFF2-40B4-BE49-F238E27FC236}">
                <a16:creationId xmlns:a16="http://schemas.microsoft.com/office/drawing/2014/main" id="{9C48D5A1-26B7-4D13-8978-B48152097957}"/>
              </a:ext>
            </a:extLst>
          </p:cNvPr>
          <p:cNvSpPr>
            <a:spLocks noGrp="1"/>
          </p:cNvSpPr>
          <p:nvPr/>
        </p:nvSpPr>
        <p:spPr>
          <a:xfrm>
            <a:off x="2819400" y="5753100"/>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92" name="Rectangle 91">
            <a:extLst>
              <a:ext uri="{FF2B5EF4-FFF2-40B4-BE49-F238E27FC236}">
                <a16:creationId xmlns:a16="http://schemas.microsoft.com/office/drawing/2014/main" id="{CEB68A3B-45E3-4739-A8D3-2E6F8EDC66AF}"/>
              </a:ext>
            </a:extLst>
          </p:cNvPr>
          <p:cNvSpPr>
            <a:spLocks noGrp="1"/>
          </p:cNvSpPr>
          <p:nvPr/>
        </p:nvSpPr>
        <p:spPr>
          <a:xfrm>
            <a:off x="3629025" y="5572125"/>
            <a:ext cx="552450" cy="171450"/>
          </a:xfrm>
          <a:prstGeom prst="rect">
            <a:avLst/>
          </a:prstGeom>
          <a:noFill/>
          <a:ln w="0">
            <a:noFill/>
            <a:prstDash val="solid"/>
          </a:ln>
        </p:spPr>
        <p:txBody>
          <a:bodyPr wrap="none" lIns="0" tIns="0" rIns="0" bIns="0" anchor="t"/>
          <a:lstStyle/>
          <a:p>
            <a:pPr algn="ctr">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377</a:t>
            </a:r>
          </a:p>
        </p:txBody>
      </p:sp>
      <p:sp>
        <p:nvSpPr>
          <p:cNvPr id="93" name="Rectangle 92">
            <a:extLst>
              <a:ext uri="{FF2B5EF4-FFF2-40B4-BE49-F238E27FC236}">
                <a16:creationId xmlns:a16="http://schemas.microsoft.com/office/drawing/2014/main" id="{0053FC22-FC07-47D9-8479-689EF59DE9C7}"/>
              </a:ext>
            </a:extLst>
          </p:cNvPr>
          <p:cNvSpPr>
            <a:spLocks noGrp="1"/>
          </p:cNvSpPr>
          <p:nvPr/>
        </p:nvSpPr>
        <p:spPr>
          <a:xfrm>
            <a:off x="3629025" y="5753100"/>
            <a:ext cx="552450"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OCPU</a:t>
            </a:r>
          </a:p>
        </p:txBody>
      </p:sp>
      <p:sp>
        <p:nvSpPr>
          <p:cNvPr id="94" name="Rectangle 93">
            <a:extLst>
              <a:ext uri="{FF2B5EF4-FFF2-40B4-BE49-F238E27FC236}">
                <a16:creationId xmlns:a16="http://schemas.microsoft.com/office/drawing/2014/main" id="{1550D006-7F89-48D3-B576-317BA3E5E41F}"/>
              </a:ext>
            </a:extLst>
          </p:cNvPr>
          <p:cNvSpPr>
            <a:spLocks noGrp="1"/>
          </p:cNvSpPr>
          <p:nvPr/>
        </p:nvSpPr>
        <p:spPr>
          <a:xfrm>
            <a:off x="4457700" y="5572125"/>
            <a:ext cx="666750" cy="171450"/>
          </a:xfrm>
          <a:prstGeom prst="rect">
            <a:avLst/>
          </a:prstGeom>
          <a:noFill/>
          <a:ln w="0">
            <a:noFill/>
            <a:prstDash val="solid"/>
          </a:ln>
        </p:spPr>
        <p:txBody>
          <a:bodyPr wrap="none" lIns="0" tIns="0" rIns="0" bIns="0" anchor="t"/>
          <a:lstStyle/>
          <a:p>
            <a:pPr algn="ctr">
              <a:lnSpc>
                <a:spcPct val="100000"/>
              </a:lnSpc>
              <a:buNone/>
              <a:defRPr sz="840" b="1" i="0">
                <a:solidFill>
                  <a:srgbClr val="00452C"/>
                </a:solidFill>
                <a:latin typeface="Arial"/>
                <a:ea typeface="Arial"/>
                <a:cs typeface="Arial"/>
              </a:defRPr>
            </a:pPr>
            <a:r>
              <a:rPr sz="840" b="1" i="0">
                <a:solidFill>
                  <a:srgbClr val="00452C"/>
                </a:solidFill>
                <a:latin typeface="Arial"/>
                <a:ea typeface="Arial"/>
                <a:cs typeface="Arial"/>
              </a:rPr>
              <a:t>1.2 TB</a:t>
            </a:r>
          </a:p>
        </p:txBody>
      </p:sp>
      <p:sp>
        <p:nvSpPr>
          <p:cNvPr id="95" name="Rectangle 94">
            <a:extLst>
              <a:ext uri="{FF2B5EF4-FFF2-40B4-BE49-F238E27FC236}">
                <a16:creationId xmlns:a16="http://schemas.microsoft.com/office/drawing/2014/main" id="{E9690FD8-CC19-4453-A350-88492AA1794E}"/>
              </a:ext>
            </a:extLst>
          </p:cNvPr>
          <p:cNvSpPr>
            <a:spLocks noGrp="1"/>
          </p:cNvSpPr>
          <p:nvPr/>
        </p:nvSpPr>
        <p:spPr>
          <a:xfrm>
            <a:off x="4533900" y="5753100"/>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RAM</a:t>
            </a:r>
          </a:p>
        </p:txBody>
      </p:sp>
      <p:sp>
        <p:nvSpPr>
          <p:cNvPr id="96" name="Rounded Rectangle 95">
            <a:extLst>
              <a:ext uri="{FF2B5EF4-FFF2-40B4-BE49-F238E27FC236}">
                <a16:creationId xmlns:a16="http://schemas.microsoft.com/office/drawing/2014/main" id="{A80BD8E3-19C8-4C5C-8504-D8D4872131DC}"/>
              </a:ext>
            </a:extLst>
          </p:cNvPr>
          <p:cNvSpPr>
            <a:spLocks noGrp="1"/>
          </p:cNvSpPr>
          <p:nvPr/>
        </p:nvSpPr>
        <p:spPr>
          <a:xfrm>
            <a:off x="5429250" y="2847975"/>
            <a:ext cx="6191250" cy="3409950"/>
          </a:xfrm>
          <a:prstGeom prst="roundRect">
            <a:avLst>
              <a:gd name="adj" fmla="val 2235"/>
            </a:avLst>
          </a:prstGeom>
          <a:solidFill>
            <a:srgbClr val="FFFFFF"/>
          </a:solidFill>
          <a:ln w="9525">
            <a:solidFill>
              <a:srgbClr val="D7DD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97" name="Rounded Rectangle 96">
            <a:extLst>
              <a:ext uri="{FF2B5EF4-FFF2-40B4-BE49-F238E27FC236}">
                <a16:creationId xmlns:a16="http://schemas.microsoft.com/office/drawing/2014/main" id="{EFD72E2D-BB71-4AEB-A62C-106B2CF86469}"/>
              </a:ext>
            </a:extLst>
          </p:cNvPr>
          <p:cNvSpPr>
            <a:spLocks noGrp="1"/>
          </p:cNvSpPr>
          <p:nvPr/>
        </p:nvSpPr>
        <p:spPr>
          <a:xfrm>
            <a:off x="5429250" y="2847975"/>
            <a:ext cx="6191250" cy="276225"/>
          </a:xfrm>
          <a:prstGeom prst="roundRect">
            <a:avLst>
              <a:gd name="adj" fmla="val 20690"/>
            </a:avLst>
          </a:prstGeom>
          <a:gradFill>
            <a:gsLst>
              <a:gs pos="0">
                <a:srgbClr val="7E2700"/>
              </a:gs>
              <a:gs pos="100000">
                <a:srgbClr val="A93400"/>
              </a:gs>
            </a:gsLst>
            <a:lin ang="0"/>
          </a:gradFill>
          <a:ln w="0">
            <a:noFill/>
            <a:prstDash val="solid"/>
          </a:ln>
        </p:spPr>
        <p:txBody>
          <a:bodyPr/>
          <a:lstStyle/>
          <a:p>
            <a:endParaRPr lang="en-FR"/>
          </a:p>
        </p:txBody>
      </p:sp>
      <p:sp>
        <p:nvSpPr>
          <p:cNvPr id="98" name="Rectangle 97">
            <a:extLst>
              <a:ext uri="{FF2B5EF4-FFF2-40B4-BE49-F238E27FC236}">
                <a16:creationId xmlns:a16="http://schemas.microsoft.com/office/drawing/2014/main" id="{D61D5F00-695B-4459-B5D8-C230BEAB9957}"/>
              </a:ext>
            </a:extLst>
          </p:cNvPr>
          <p:cNvSpPr>
            <a:spLocks noGrp="1"/>
          </p:cNvSpPr>
          <p:nvPr/>
        </p:nvSpPr>
        <p:spPr>
          <a:xfrm>
            <a:off x="5429250" y="3067050"/>
            <a:ext cx="6191250" cy="66675"/>
          </a:xfrm>
          <a:prstGeom prst="rect">
            <a:avLst/>
          </a:prstGeom>
          <a:gradFill>
            <a:gsLst>
              <a:gs pos="0">
                <a:srgbClr val="7E2700"/>
              </a:gs>
              <a:gs pos="100000">
                <a:srgbClr val="A93400"/>
              </a:gs>
            </a:gsLst>
            <a:lin ang="0"/>
          </a:gradFill>
          <a:ln w="0">
            <a:noFill/>
            <a:prstDash val="solid"/>
          </a:ln>
        </p:spPr>
        <p:txBody>
          <a:bodyPr/>
          <a:lstStyle/>
          <a:p>
            <a:endParaRPr lang="en-FR"/>
          </a:p>
        </p:txBody>
      </p:sp>
      <p:sp>
        <p:nvSpPr>
          <p:cNvPr id="99" name="Oval 98">
            <a:extLst>
              <a:ext uri="{FF2B5EF4-FFF2-40B4-BE49-F238E27FC236}">
                <a16:creationId xmlns:a16="http://schemas.microsoft.com/office/drawing/2014/main" id="{7D7FF0B6-0EA1-47EC-B5DB-32963EFBD03E}"/>
              </a:ext>
            </a:extLst>
          </p:cNvPr>
          <p:cNvSpPr>
            <a:spLocks noGrp="1"/>
          </p:cNvSpPr>
          <p:nvPr/>
        </p:nvSpPr>
        <p:spPr>
          <a:xfrm>
            <a:off x="5524500" y="2886075"/>
            <a:ext cx="209550" cy="209550"/>
          </a:xfrm>
          <a:prstGeom prst="ellipse">
            <a:avLst/>
          </a:prstGeom>
          <a:solidFill>
            <a:srgbClr val="FFFFFF"/>
          </a:solidFill>
          <a:ln w="0">
            <a:noFill/>
            <a:prstDash val="solid"/>
          </a:ln>
        </p:spPr>
        <p:txBody>
          <a:bodyPr/>
          <a:lstStyle/>
          <a:p>
            <a:endParaRPr lang="en-FR"/>
          </a:p>
        </p:txBody>
      </p:sp>
      <p:sp>
        <p:nvSpPr>
          <p:cNvPr id="100" name="Rectangle 99">
            <a:extLst>
              <a:ext uri="{FF2B5EF4-FFF2-40B4-BE49-F238E27FC236}">
                <a16:creationId xmlns:a16="http://schemas.microsoft.com/office/drawing/2014/main" id="{64F89481-045B-4435-BA87-5651EAFE5F9D}"/>
              </a:ext>
            </a:extLst>
          </p:cNvPr>
          <p:cNvSpPr>
            <a:spLocks noGrp="1"/>
          </p:cNvSpPr>
          <p:nvPr/>
        </p:nvSpPr>
        <p:spPr>
          <a:xfrm>
            <a:off x="5572125" y="2914650"/>
            <a:ext cx="114300" cy="152400"/>
          </a:xfrm>
          <a:prstGeom prst="rect">
            <a:avLst/>
          </a:prstGeom>
          <a:noFill/>
          <a:ln w="0">
            <a:noFill/>
            <a:prstDash val="solid"/>
          </a:ln>
        </p:spPr>
        <p:txBody>
          <a:bodyPr wrap="none" lIns="0" tIns="0" rIns="0" bIns="0" anchor="t"/>
          <a:lstStyle/>
          <a:p>
            <a:pPr algn="ctr">
              <a:lnSpc>
                <a:spcPct val="100000"/>
              </a:lnSpc>
              <a:buNone/>
              <a:defRPr sz="975" b="1" i="0">
                <a:solidFill>
                  <a:srgbClr val="9B3000"/>
                </a:solidFill>
                <a:latin typeface="Arial"/>
                <a:ea typeface="Arial"/>
                <a:cs typeface="Arial"/>
              </a:defRPr>
            </a:pPr>
            <a:r>
              <a:rPr sz="975" b="1" i="0">
                <a:solidFill>
                  <a:srgbClr val="9B3000"/>
                </a:solidFill>
                <a:latin typeface="Arial"/>
                <a:ea typeface="Arial"/>
                <a:cs typeface="Arial"/>
              </a:rPr>
              <a:t>3</a:t>
            </a:r>
          </a:p>
        </p:txBody>
      </p:sp>
      <p:sp>
        <p:nvSpPr>
          <p:cNvPr id="101" name="Rectangle 100">
            <a:extLst>
              <a:ext uri="{FF2B5EF4-FFF2-40B4-BE49-F238E27FC236}">
                <a16:creationId xmlns:a16="http://schemas.microsoft.com/office/drawing/2014/main" id="{5BB16547-F52E-48F9-B7AF-E1BB0D3B7C44}"/>
              </a:ext>
            </a:extLst>
          </p:cNvPr>
          <p:cNvSpPr>
            <a:spLocks noGrp="1"/>
          </p:cNvSpPr>
          <p:nvPr/>
        </p:nvSpPr>
        <p:spPr>
          <a:xfrm>
            <a:off x="5838825" y="2905125"/>
            <a:ext cx="5695950" cy="190500"/>
          </a:xfrm>
          <a:prstGeom prst="rect">
            <a:avLst/>
          </a:prstGeom>
          <a:noFill/>
          <a:ln w="0">
            <a:noFill/>
            <a:prstDash val="solid"/>
          </a:ln>
        </p:spPr>
        <p:txBody>
          <a:bodyPr wrap="none" lIns="0" tIns="0" rIns="0" bIns="0" anchor="t"/>
          <a:lstStyle/>
          <a:p>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STORAGE MIX (BY VPU)</a:t>
            </a:r>
          </a:p>
        </p:txBody>
      </p:sp>
      <p:pic>
        <p:nvPicPr>
          <p:cNvPr id="254" name="Picture 253"/>
          <p:cNvPicPr>
            <a:picLocks noChangeAspect="1"/>
          </p:cNvPicPr>
          <p:nvPr/>
        </p:nvPicPr>
        <p:blipFill>
          <a:blip r:embed="rId11"/>
          <a:stretch/>
        </p:blipFill>
        <p:spPr>
          <a:xfrm>
            <a:off x="5600829" y="3257550"/>
            <a:ext cx="352168" cy="342900"/>
          </a:xfrm>
          <a:prstGeom prst="rect">
            <a:avLst/>
          </a:prstGeom>
        </p:spPr>
      </p:pic>
      <p:sp>
        <p:nvSpPr>
          <p:cNvPr id="103" name="Rectangle 102">
            <a:extLst>
              <a:ext uri="{FF2B5EF4-FFF2-40B4-BE49-F238E27FC236}">
                <a16:creationId xmlns:a16="http://schemas.microsoft.com/office/drawing/2014/main" id="{1B5AC616-8163-49F1-B55A-9839731719F4}"/>
              </a:ext>
            </a:extLst>
          </p:cNvPr>
          <p:cNvSpPr>
            <a:spLocks noGrp="1"/>
          </p:cNvSpPr>
          <p:nvPr/>
        </p:nvSpPr>
        <p:spPr>
          <a:xfrm>
            <a:off x="6029325" y="3276600"/>
            <a:ext cx="3429000" cy="171450"/>
          </a:xfrm>
          <a:prstGeom prst="rect">
            <a:avLst/>
          </a:prstGeom>
          <a:noFill/>
          <a:ln w="0">
            <a:noFill/>
            <a:prstDash val="solid"/>
          </a:ln>
        </p:spPr>
        <p:txBody>
          <a:bodyPr wrap="none" lIns="0" tIns="0" rIns="0" bIns="0" anchor="t"/>
          <a:lstStyle/>
          <a:p>
            <a:pPr algn="l">
              <a:lnSpc>
                <a:spcPct val="100000"/>
              </a:lnSpc>
              <a:buNone/>
              <a:defRPr sz="863" b="0" i="0">
                <a:solidFill>
                  <a:srgbClr val="111111"/>
                </a:solidFill>
                <a:latin typeface="Arial"/>
                <a:ea typeface="Arial"/>
                <a:cs typeface="Arial"/>
              </a:defRPr>
            </a:pPr>
            <a:r>
              <a:rPr sz="863" b="0" i="0">
                <a:solidFill>
                  <a:srgbClr val="111111"/>
                </a:solidFill>
                <a:latin typeface="Arial"/>
                <a:ea typeface="Arial"/>
                <a:cs typeface="Arial"/>
              </a:rPr>
              <a:t>Block Volume storage sized based on VPU requirements</a:t>
            </a:r>
          </a:p>
        </p:txBody>
      </p:sp>
      <p:sp>
        <p:nvSpPr>
          <p:cNvPr id="104" name="Rectangle 103">
            <a:extLst>
              <a:ext uri="{FF2B5EF4-FFF2-40B4-BE49-F238E27FC236}">
                <a16:creationId xmlns:a16="http://schemas.microsoft.com/office/drawing/2014/main" id="{CDA35A48-C8AD-4AEF-8F72-E018C18885F1}"/>
              </a:ext>
            </a:extLst>
          </p:cNvPr>
          <p:cNvSpPr>
            <a:spLocks noGrp="1"/>
          </p:cNvSpPr>
          <p:nvPr/>
        </p:nvSpPr>
        <p:spPr>
          <a:xfrm>
            <a:off x="6000750" y="3676650"/>
            <a:ext cx="1352550"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VPU Range (per VM)</a:t>
            </a:r>
          </a:p>
        </p:txBody>
      </p:sp>
      <p:sp>
        <p:nvSpPr>
          <p:cNvPr id="105" name="Rectangle 104">
            <a:extLst>
              <a:ext uri="{FF2B5EF4-FFF2-40B4-BE49-F238E27FC236}">
                <a16:creationId xmlns:a16="http://schemas.microsoft.com/office/drawing/2014/main" id="{F64AD504-9E26-49DE-BDB1-9800CCF021B3}"/>
              </a:ext>
            </a:extLst>
          </p:cNvPr>
          <p:cNvSpPr>
            <a:spLocks noGrp="1"/>
          </p:cNvSpPr>
          <p:nvPr/>
        </p:nvSpPr>
        <p:spPr>
          <a:xfrm>
            <a:off x="7381875" y="3676650"/>
            <a:ext cx="1285875"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Performance Tier</a:t>
            </a:r>
          </a:p>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(IOPS)</a:t>
            </a:r>
          </a:p>
        </p:txBody>
      </p:sp>
      <p:sp>
        <p:nvSpPr>
          <p:cNvPr id="106" name="Rectangle 105">
            <a:extLst>
              <a:ext uri="{FF2B5EF4-FFF2-40B4-BE49-F238E27FC236}">
                <a16:creationId xmlns:a16="http://schemas.microsoft.com/office/drawing/2014/main" id="{AE59B15F-FF11-4D50-AC19-31349401C183}"/>
              </a:ext>
            </a:extLst>
          </p:cNvPr>
          <p:cNvSpPr>
            <a:spLocks noGrp="1"/>
          </p:cNvSpPr>
          <p:nvPr/>
        </p:nvSpPr>
        <p:spPr>
          <a:xfrm>
            <a:off x="8524875" y="3676650"/>
            <a:ext cx="1000125"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Typical VPU</a:t>
            </a:r>
          </a:p>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per VM</a:t>
            </a:r>
          </a:p>
        </p:txBody>
      </p:sp>
      <p:sp>
        <p:nvSpPr>
          <p:cNvPr id="107" name="Rectangle 106">
            <a:extLst>
              <a:ext uri="{FF2B5EF4-FFF2-40B4-BE49-F238E27FC236}">
                <a16:creationId xmlns:a16="http://schemas.microsoft.com/office/drawing/2014/main" id="{DAACDA20-B29D-4C87-A84D-B15970D8E3C3}"/>
              </a:ext>
            </a:extLst>
          </p:cNvPr>
          <p:cNvSpPr>
            <a:spLocks noGrp="1"/>
          </p:cNvSpPr>
          <p:nvPr/>
        </p:nvSpPr>
        <p:spPr>
          <a:xfrm>
            <a:off x="9420225" y="3676650"/>
            <a:ext cx="714375"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Total VMs</a:t>
            </a:r>
          </a:p>
        </p:txBody>
      </p:sp>
      <p:sp>
        <p:nvSpPr>
          <p:cNvPr id="108" name="Rectangle 107">
            <a:extLst>
              <a:ext uri="{FF2B5EF4-FFF2-40B4-BE49-F238E27FC236}">
                <a16:creationId xmlns:a16="http://schemas.microsoft.com/office/drawing/2014/main" id="{FFFD1D9C-156A-4C22-BECE-2DB7E55FE03E}"/>
              </a:ext>
            </a:extLst>
          </p:cNvPr>
          <p:cNvSpPr>
            <a:spLocks noGrp="1"/>
          </p:cNvSpPr>
          <p:nvPr/>
        </p:nvSpPr>
        <p:spPr>
          <a:xfrm>
            <a:off x="10191750" y="3676650"/>
            <a:ext cx="733425"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Total VPU</a:t>
            </a:r>
          </a:p>
        </p:txBody>
      </p:sp>
      <p:sp>
        <p:nvSpPr>
          <p:cNvPr id="109" name="Rectangle 108">
            <a:extLst>
              <a:ext uri="{FF2B5EF4-FFF2-40B4-BE49-F238E27FC236}">
                <a16:creationId xmlns:a16="http://schemas.microsoft.com/office/drawing/2014/main" id="{AF2BCC5B-1985-42C0-8CF6-9FAAB2850A60}"/>
              </a:ext>
            </a:extLst>
          </p:cNvPr>
          <p:cNvSpPr>
            <a:spLocks noGrp="1"/>
          </p:cNvSpPr>
          <p:nvPr/>
        </p:nvSpPr>
        <p:spPr>
          <a:xfrm>
            <a:off x="10953750" y="3676650"/>
            <a:ext cx="619125" cy="266700"/>
          </a:xfrm>
          <a:prstGeom prst="rect">
            <a:avLst/>
          </a:prstGeom>
          <a:noFill/>
          <a:ln w="0">
            <a:noFill/>
            <a:prstDash val="solid"/>
          </a:ln>
        </p:spPr>
        <p:txBody>
          <a:bodyPr wrap="square" lIns="0" tIns="0" rIns="0" bIns="0" anchor="t"/>
          <a:lstStyle/>
          <a:p>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Capacity</a:t>
            </a:r>
          </a:p>
        </p:txBody>
      </p:sp>
      <p:sp>
        <p:nvSpPr>
          <p:cNvPr id="110" name="Straight Connector 109">
            <a:extLst>
              <a:ext uri="{FF2B5EF4-FFF2-40B4-BE49-F238E27FC236}">
                <a16:creationId xmlns:a16="http://schemas.microsoft.com/office/drawing/2014/main" id="{E8FD985B-FF91-4609-8A80-7E84D03AEC3F}"/>
              </a:ext>
            </a:extLst>
          </p:cNvPr>
          <p:cNvSpPr>
            <a:spLocks noGrp="1"/>
          </p:cNvSpPr>
          <p:nvPr/>
        </p:nvSpPr>
        <p:spPr>
          <a:xfrm>
            <a:off x="5524500" y="3933825"/>
            <a:ext cx="5905500" cy="0"/>
          </a:xfrm>
          <a:prstGeom prst="line">
            <a:avLst/>
          </a:prstGeom>
          <a:noFill/>
          <a:ln w="9525">
            <a:solidFill>
              <a:srgbClr val="D7DDDA"/>
            </a:solidFill>
            <a:prstDash val="solid"/>
          </a:ln>
        </p:spPr>
        <p:txBody>
          <a:bodyPr/>
          <a:lstStyle/>
          <a:p>
            <a:endParaRPr lang="en-FR"/>
          </a:p>
        </p:txBody>
      </p:sp>
      <p:pic>
        <p:nvPicPr>
          <p:cNvPr id="263" name="Picture 262"/>
          <p:cNvPicPr>
            <a:picLocks noChangeAspect="1"/>
          </p:cNvPicPr>
          <p:nvPr/>
        </p:nvPicPr>
        <p:blipFill>
          <a:blip r:embed="rId12"/>
          <a:stretch/>
        </p:blipFill>
        <p:spPr>
          <a:xfrm>
            <a:off x="5581650" y="4057650"/>
            <a:ext cx="352425" cy="352425"/>
          </a:xfrm>
          <a:prstGeom prst="rect">
            <a:avLst/>
          </a:prstGeom>
        </p:spPr>
      </p:pic>
      <p:sp>
        <p:nvSpPr>
          <p:cNvPr id="112" name="Rectangle 111">
            <a:extLst>
              <a:ext uri="{FF2B5EF4-FFF2-40B4-BE49-F238E27FC236}">
                <a16:creationId xmlns:a16="http://schemas.microsoft.com/office/drawing/2014/main" id="{FC866F95-894D-4208-A956-71AA20F6C187}"/>
              </a:ext>
            </a:extLst>
          </p:cNvPr>
          <p:cNvSpPr>
            <a:spLocks noGrp="1"/>
          </p:cNvSpPr>
          <p:nvPr/>
        </p:nvSpPr>
        <p:spPr>
          <a:xfrm>
            <a:off x="6019800" y="4095750"/>
            <a:ext cx="1143000" cy="190500"/>
          </a:xfrm>
          <a:prstGeom prst="rect">
            <a:avLst/>
          </a:prstGeom>
          <a:noFill/>
          <a:ln w="0">
            <a:noFill/>
            <a:prstDash val="solid"/>
          </a:ln>
        </p:spPr>
        <p:txBody>
          <a:bodyPr wrap="none" lIns="0" tIns="0" rIns="0" bIns="0" anchor="t"/>
          <a:lstStyle/>
          <a:p>
            <a:pPr algn="l">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0 – 20 VPU</a:t>
            </a:r>
          </a:p>
        </p:txBody>
      </p:sp>
      <p:sp>
        <p:nvSpPr>
          <p:cNvPr id="113" name="Rectangle 112">
            <a:extLst>
              <a:ext uri="{FF2B5EF4-FFF2-40B4-BE49-F238E27FC236}">
                <a16:creationId xmlns:a16="http://schemas.microsoft.com/office/drawing/2014/main" id="{0CAAEB36-7261-489A-9F6F-60D6B38D11A2}"/>
              </a:ext>
            </a:extLst>
          </p:cNvPr>
          <p:cNvSpPr>
            <a:spLocks noGrp="1"/>
          </p:cNvSpPr>
          <p:nvPr/>
        </p:nvSpPr>
        <p:spPr>
          <a:xfrm>
            <a:off x="7381875" y="4067175"/>
            <a:ext cx="1238250" cy="342900"/>
          </a:xfrm>
          <a:prstGeom prst="rect">
            <a:avLst/>
          </a:prstGeom>
          <a:noFill/>
          <a:ln w="0">
            <a:noFill/>
            <a:prstDash val="solid"/>
          </a:ln>
        </p:spPr>
        <p:txBody>
          <a:bodyPr wrap="square" lIns="0" tIns="0" rIns="0" bIns="0" anchor="t"/>
          <a:lstStyle/>
          <a:p>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Balanced</a:t>
            </a:r>
          </a:p>
          <a:p>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(10K IOPS)</a:t>
            </a:r>
          </a:p>
        </p:txBody>
      </p:sp>
      <p:sp>
        <p:nvSpPr>
          <p:cNvPr id="114" name="Rectangle 113">
            <a:extLst>
              <a:ext uri="{FF2B5EF4-FFF2-40B4-BE49-F238E27FC236}">
                <a16:creationId xmlns:a16="http://schemas.microsoft.com/office/drawing/2014/main" id="{FE7BBDCF-4EAB-4540-B52C-3F34D64208B0}"/>
              </a:ext>
            </a:extLst>
          </p:cNvPr>
          <p:cNvSpPr>
            <a:spLocks noGrp="1"/>
          </p:cNvSpPr>
          <p:nvPr/>
        </p:nvSpPr>
        <p:spPr>
          <a:xfrm>
            <a:off x="8667750" y="4114800"/>
            <a:ext cx="476250" cy="171450"/>
          </a:xfrm>
          <a:prstGeom prst="rect">
            <a:avLst/>
          </a:prstGeom>
          <a:noFill/>
          <a:ln w="0">
            <a:noFill/>
            <a:prstDash val="solid"/>
          </a:ln>
        </p:spPr>
        <p:txBody>
          <a:bodyPr wrap="none" lIns="0" tIns="0" rIns="0" bIns="0" anchor="t"/>
          <a:lstStyle/>
          <a:p>
            <a:pPr algn="ctr">
              <a:lnSpc>
                <a:spcPct val="100000"/>
              </a:lnSpc>
              <a:buNone/>
              <a:defRPr sz="855" b="1" i="0">
                <a:solidFill>
                  <a:srgbClr val="111111"/>
                </a:solidFill>
                <a:latin typeface="Arial"/>
                <a:ea typeface="Arial"/>
                <a:cs typeface="Arial"/>
              </a:defRPr>
            </a:pPr>
            <a:r>
              <a:rPr sz="855" b="1" i="0">
                <a:solidFill>
                  <a:srgbClr val="111111"/>
                </a:solidFill>
                <a:latin typeface="Arial"/>
                <a:ea typeface="Arial"/>
                <a:cs typeface="Arial"/>
              </a:rPr>
              <a:t>10</a:t>
            </a:r>
          </a:p>
        </p:txBody>
      </p:sp>
      <p:sp>
        <p:nvSpPr>
          <p:cNvPr id="115" name="Rectangle 114">
            <a:extLst>
              <a:ext uri="{FF2B5EF4-FFF2-40B4-BE49-F238E27FC236}">
                <a16:creationId xmlns:a16="http://schemas.microsoft.com/office/drawing/2014/main" id="{06B88A34-1D67-4E63-8FD0-9BD16F5F5025}"/>
              </a:ext>
            </a:extLst>
          </p:cNvPr>
          <p:cNvSpPr>
            <a:spLocks noGrp="1"/>
          </p:cNvSpPr>
          <p:nvPr/>
        </p:nvSpPr>
        <p:spPr>
          <a:xfrm>
            <a:off x="9401175" y="4048125"/>
            <a:ext cx="52387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48</a:t>
            </a:r>
          </a:p>
        </p:txBody>
      </p:sp>
      <p:sp>
        <p:nvSpPr>
          <p:cNvPr id="116" name="Rectangle 115">
            <a:extLst>
              <a:ext uri="{FF2B5EF4-FFF2-40B4-BE49-F238E27FC236}">
                <a16:creationId xmlns:a16="http://schemas.microsoft.com/office/drawing/2014/main" id="{977E3018-B39D-40EA-B0BB-C297E3CC9E6D}"/>
              </a:ext>
            </a:extLst>
          </p:cNvPr>
          <p:cNvSpPr>
            <a:spLocks noGrp="1"/>
          </p:cNvSpPr>
          <p:nvPr/>
        </p:nvSpPr>
        <p:spPr>
          <a:xfrm>
            <a:off x="9401175" y="4229100"/>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17" name="Rectangle 116">
            <a:extLst>
              <a:ext uri="{FF2B5EF4-FFF2-40B4-BE49-F238E27FC236}">
                <a16:creationId xmlns:a16="http://schemas.microsoft.com/office/drawing/2014/main" id="{06B3C4DB-4209-4F5E-8B37-BA16F9CA1732}"/>
              </a:ext>
            </a:extLst>
          </p:cNvPr>
          <p:cNvSpPr>
            <a:spLocks noGrp="1"/>
          </p:cNvSpPr>
          <p:nvPr/>
        </p:nvSpPr>
        <p:spPr>
          <a:xfrm>
            <a:off x="10125075" y="4048125"/>
            <a:ext cx="73342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320</a:t>
            </a:r>
          </a:p>
        </p:txBody>
      </p:sp>
      <p:sp>
        <p:nvSpPr>
          <p:cNvPr id="118" name="Rectangle 117">
            <a:extLst>
              <a:ext uri="{FF2B5EF4-FFF2-40B4-BE49-F238E27FC236}">
                <a16:creationId xmlns:a16="http://schemas.microsoft.com/office/drawing/2014/main" id="{BE73068D-F332-41C8-A305-6B722E97D554}"/>
              </a:ext>
            </a:extLst>
          </p:cNvPr>
          <p:cNvSpPr>
            <a:spLocks noGrp="1"/>
          </p:cNvSpPr>
          <p:nvPr/>
        </p:nvSpPr>
        <p:spPr>
          <a:xfrm>
            <a:off x="10287000" y="4229100"/>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19" name="Rectangle 118">
            <a:extLst>
              <a:ext uri="{FF2B5EF4-FFF2-40B4-BE49-F238E27FC236}">
                <a16:creationId xmlns:a16="http://schemas.microsoft.com/office/drawing/2014/main" id="{3E56873F-B4AD-44E2-81FA-61959D80E182}"/>
              </a:ext>
            </a:extLst>
          </p:cNvPr>
          <p:cNvSpPr>
            <a:spLocks noGrp="1"/>
          </p:cNvSpPr>
          <p:nvPr/>
        </p:nvSpPr>
        <p:spPr>
          <a:xfrm>
            <a:off x="10953750" y="4048125"/>
            <a:ext cx="64770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9.6 TB</a:t>
            </a:r>
          </a:p>
        </p:txBody>
      </p:sp>
      <p:sp>
        <p:nvSpPr>
          <p:cNvPr id="120" name="Straight Connector 119">
            <a:extLst>
              <a:ext uri="{FF2B5EF4-FFF2-40B4-BE49-F238E27FC236}">
                <a16:creationId xmlns:a16="http://schemas.microsoft.com/office/drawing/2014/main" id="{377B5392-41B4-4BCB-81AB-FBE36B5271CF}"/>
              </a:ext>
            </a:extLst>
          </p:cNvPr>
          <p:cNvSpPr>
            <a:spLocks noGrp="1"/>
          </p:cNvSpPr>
          <p:nvPr/>
        </p:nvSpPr>
        <p:spPr>
          <a:xfrm>
            <a:off x="5524500" y="4410075"/>
            <a:ext cx="5905500" cy="0"/>
          </a:xfrm>
          <a:prstGeom prst="line">
            <a:avLst/>
          </a:prstGeom>
          <a:noFill/>
          <a:ln w="9525">
            <a:solidFill>
              <a:srgbClr val="E6E9E7"/>
            </a:solidFill>
            <a:prstDash val="solid"/>
          </a:ln>
        </p:spPr>
        <p:txBody>
          <a:bodyPr/>
          <a:lstStyle/>
          <a:p>
            <a:endParaRPr lang="en-FR"/>
          </a:p>
        </p:txBody>
      </p:sp>
      <p:pic>
        <p:nvPicPr>
          <p:cNvPr id="273" name="Picture 272"/>
          <p:cNvPicPr>
            <a:picLocks noChangeAspect="1"/>
          </p:cNvPicPr>
          <p:nvPr/>
        </p:nvPicPr>
        <p:blipFill>
          <a:blip r:embed="rId13"/>
          <a:stretch/>
        </p:blipFill>
        <p:spPr>
          <a:xfrm>
            <a:off x="5581650" y="4600575"/>
            <a:ext cx="352425" cy="352425"/>
          </a:xfrm>
          <a:prstGeom prst="rect">
            <a:avLst/>
          </a:prstGeom>
        </p:spPr>
      </p:pic>
      <p:sp>
        <p:nvSpPr>
          <p:cNvPr id="122" name="Rectangle 121">
            <a:extLst>
              <a:ext uri="{FF2B5EF4-FFF2-40B4-BE49-F238E27FC236}">
                <a16:creationId xmlns:a16="http://schemas.microsoft.com/office/drawing/2014/main" id="{49BA21F8-960A-406A-95EE-B80CD29099DE}"/>
              </a:ext>
            </a:extLst>
          </p:cNvPr>
          <p:cNvSpPr>
            <a:spLocks noGrp="1"/>
          </p:cNvSpPr>
          <p:nvPr/>
        </p:nvSpPr>
        <p:spPr>
          <a:xfrm>
            <a:off x="6019800" y="4638675"/>
            <a:ext cx="1143000" cy="190500"/>
          </a:xfrm>
          <a:prstGeom prst="rect">
            <a:avLst/>
          </a:prstGeom>
          <a:noFill/>
          <a:ln w="0">
            <a:noFill/>
            <a:prstDash val="solid"/>
          </a:ln>
        </p:spPr>
        <p:txBody>
          <a:bodyPr wrap="none" lIns="0" tIns="0" rIns="0" bIns="0" anchor="t"/>
          <a:lstStyle/>
          <a:p>
            <a:pPr algn="l">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21 – 80 VPU</a:t>
            </a:r>
          </a:p>
        </p:txBody>
      </p:sp>
      <p:sp>
        <p:nvSpPr>
          <p:cNvPr id="123" name="Rectangle 122">
            <a:extLst>
              <a:ext uri="{FF2B5EF4-FFF2-40B4-BE49-F238E27FC236}">
                <a16:creationId xmlns:a16="http://schemas.microsoft.com/office/drawing/2014/main" id="{DF3B4760-868A-419B-BA9C-8FC878623A4B}"/>
              </a:ext>
            </a:extLst>
          </p:cNvPr>
          <p:cNvSpPr>
            <a:spLocks noGrp="1"/>
          </p:cNvSpPr>
          <p:nvPr/>
        </p:nvSpPr>
        <p:spPr>
          <a:xfrm>
            <a:off x="7381875" y="4610100"/>
            <a:ext cx="1238250" cy="342900"/>
          </a:xfrm>
          <a:prstGeom prst="rect">
            <a:avLst/>
          </a:prstGeom>
          <a:noFill/>
          <a:ln w="0">
            <a:noFill/>
            <a:prstDash val="solid"/>
          </a:ln>
        </p:spPr>
        <p:txBody>
          <a:bodyPr wrap="square" lIns="0" tIns="0" rIns="0" bIns="0" anchor="t"/>
          <a:lstStyle/>
          <a:p>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Balanced</a:t>
            </a:r>
          </a:p>
          <a:p>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(20K IOPS)</a:t>
            </a:r>
          </a:p>
        </p:txBody>
      </p:sp>
      <p:sp>
        <p:nvSpPr>
          <p:cNvPr id="124" name="Rectangle 123">
            <a:extLst>
              <a:ext uri="{FF2B5EF4-FFF2-40B4-BE49-F238E27FC236}">
                <a16:creationId xmlns:a16="http://schemas.microsoft.com/office/drawing/2014/main" id="{3A642C46-0FAA-49A6-AF1A-E7DA0DA79D03}"/>
              </a:ext>
            </a:extLst>
          </p:cNvPr>
          <p:cNvSpPr>
            <a:spLocks noGrp="1"/>
          </p:cNvSpPr>
          <p:nvPr/>
        </p:nvSpPr>
        <p:spPr>
          <a:xfrm>
            <a:off x="8667750" y="4657725"/>
            <a:ext cx="476250" cy="171450"/>
          </a:xfrm>
          <a:prstGeom prst="rect">
            <a:avLst/>
          </a:prstGeom>
          <a:noFill/>
          <a:ln w="0">
            <a:noFill/>
            <a:prstDash val="solid"/>
          </a:ln>
        </p:spPr>
        <p:txBody>
          <a:bodyPr wrap="none" lIns="0" tIns="0" rIns="0" bIns="0" anchor="t"/>
          <a:lstStyle/>
          <a:p>
            <a:pPr algn="ctr">
              <a:lnSpc>
                <a:spcPct val="100000"/>
              </a:lnSpc>
              <a:buNone/>
              <a:defRPr sz="855" b="1" i="0">
                <a:solidFill>
                  <a:srgbClr val="111111"/>
                </a:solidFill>
                <a:latin typeface="Arial"/>
                <a:ea typeface="Arial"/>
                <a:cs typeface="Arial"/>
              </a:defRPr>
            </a:pPr>
            <a:r>
              <a:rPr sz="855" b="1" i="0">
                <a:solidFill>
                  <a:srgbClr val="111111"/>
                </a:solidFill>
                <a:latin typeface="Arial"/>
                <a:ea typeface="Arial"/>
                <a:cs typeface="Arial"/>
              </a:rPr>
              <a:t>40</a:t>
            </a:r>
          </a:p>
        </p:txBody>
      </p:sp>
      <p:sp>
        <p:nvSpPr>
          <p:cNvPr id="125" name="Rectangle 124">
            <a:extLst>
              <a:ext uri="{FF2B5EF4-FFF2-40B4-BE49-F238E27FC236}">
                <a16:creationId xmlns:a16="http://schemas.microsoft.com/office/drawing/2014/main" id="{DD7DD402-3418-4498-9F15-ADD839DDDCEA}"/>
              </a:ext>
            </a:extLst>
          </p:cNvPr>
          <p:cNvSpPr>
            <a:spLocks noGrp="1"/>
          </p:cNvSpPr>
          <p:nvPr/>
        </p:nvSpPr>
        <p:spPr>
          <a:xfrm>
            <a:off x="9401175" y="4591050"/>
            <a:ext cx="52387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44</a:t>
            </a:r>
          </a:p>
        </p:txBody>
      </p:sp>
      <p:sp>
        <p:nvSpPr>
          <p:cNvPr id="126" name="Rectangle 125">
            <a:extLst>
              <a:ext uri="{FF2B5EF4-FFF2-40B4-BE49-F238E27FC236}">
                <a16:creationId xmlns:a16="http://schemas.microsoft.com/office/drawing/2014/main" id="{264B7D4F-3B4C-4260-AD9D-040FB36DDFA9}"/>
              </a:ext>
            </a:extLst>
          </p:cNvPr>
          <p:cNvSpPr>
            <a:spLocks noGrp="1"/>
          </p:cNvSpPr>
          <p:nvPr/>
        </p:nvSpPr>
        <p:spPr>
          <a:xfrm>
            <a:off x="9401175" y="4772025"/>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27" name="Rectangle 126">
            <a:extLst>
              <a:ext uri="{FF2B5EF4-FFF2-40B4-BE49-F238E27FC236}">
                <a16:creationId xmlns:a16="http://schemas.microsoft.com/office/drawing/2014/main" id="{83019A5C-3B4C-4305-8F10-E4477B55E6EE}"/>
              </a:ext>
            </a:extLst>
          </p:cNvPr>
          <p:cNvSpPr>
            <a:spLocks noGrp="1"/>
          </p:cNvSpPr>
          <p:nvPr/>
        </p:nvSpPr>
        <p:spPr>
          <a:xfrm>
            <a:off x="10125075" y="4591050"/>
            <a:ext cx="73342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1,760</a:t>
            </a:r>
          </a:p>
        </p:txBody>
      </p:sp>
      <p:sp>
        <p:nvSpPr>
          <p:cNvPr id="128" name="Rectangle 127">
            <a:extLst>
              <a:ext uri="{FF2B5EF4-FFF2-40B4-BE49-F238E27FC236}">
                <a16:creationId xmlns:a16="http://schemas.microsoft.com/office/drawing/2014/main" id="{6FB17C8C-05DC-489B-A841-36C98CCC739D}"/>
              </a:ext>
            </a:extLst>
          </p:cNvPr>
          <p:cNvSpPr>
            <a:spLocks noGrp="1"/>
          </p:cNvSpPr>
          <p:nvPr/>
        </p:nvSpPr>
        <p:spPr>
          <a:xfrm>
            <a:off x="10287000" y="4772025"/>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29" name="Rectangle 128">
            <a:extLst>
              <a:ext uri="{FF2B5EF4-FFF2-40B4-BE49-F238E27FC236}">
                <a16:creationId xmlns:a16="http://schemas.microsoft.com/office/drawing/2014/main" id="{7E1538A6-5117-4B36-B44D-D22933F18DD6}"/>
              </a:ext>
            </a:extLst>
          </p:cNvPr>
          <p:cNvSpPr>
            <a:spLocks noGrp="1"/>
          </p:cNvSpPr>
          <p:nvPr/>
        </p:nvSpPr>
        <p:spPr>
          <a:xfrm>
            <a:off x="10953750" y="4591050"/>
            <a:ext cx="64770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17.8 TB</a:t>
            </a:r>
          </a:p>
        </p:txBody>
      </p:sp>
      <p:sp>
        <p:nvSpPr>
          <p:cNvPr id="130" name="Straight Connector 129">
            <a:extLst>
              <a:ext uri="{FF2B5EF4-FFF2-40B4-BE49-F238E27FC236}">
                <a16:creationId xmlns:a16="http://schemas.microsoft.com/office/drawing/2014/main" id="{A9DBBE7A-8853-4F8C-B0F0-E1726400F3A1}"/>
              </a:ext>
            </a:extLst>
          </p:cNvPr>
          <p:cNvSpPr>
            <a:spLocks noGrp="1"/>
          </p:cNvSpPr>
          <p:nvPr/>
        </p:nvSpPr>
        <p:spPr>
          <a:xfrm>
            <a:off x="5524500" y="4953000"/>
            <a:ext cx="5905500" cy="0"/>
          </a:xfrm>
          <a:prstGeom prst="line">
            <a:avLst/>
          </a:prstGeom>
          <a:noFill/>
          <a:ln w="9525">
            <a:solidFill>
              <a:srgbClr val="E6E9E7"/>
            </a:solidFill>
            <a:prstDash val="solid"/>
          </a:ln>
        </p:spPr>
        <p:txBody>
          <a:bodyPr/>
          <a:lstStyle/>
          <a:p>
            <a:endParaRPr lang="en-FR"/>
          </a:p>
        </p:txBody>
      </p:sp>
      <p:pic>
        <p:nvPicPr>
          <p:cNvPr id="283" name="Picture 282"/>
          <p:cNvPicPr>
            <a:picLocks noChangeAspect="1"/>
          </p:cNvPicPr>
          <p:nvPr/>
        </p:nvPicPr>
        <p:blipFill>
          <a:blip r:embed="rId14"/>
          <a:stretch/>
        </p:blipFill>
        <p:spPr>
          <a:xfrm>
            <a:off x="5581650" y="5114925"/>
            <a:ext cx="352425" cy="352425"/>
          </a:xfrm>
          <a:prstGeom prst="rect">
            <a:avLst/>
          </a:prstGeom>
        </p:spPr>
      </p:pic>
      <p:sp>
        <p:nvSpPr>
          <p:cNvPr id="132" name="Rectangle 131">
            <a:extLst>
              <a:ext uri="{FF2B5EF4-FFF2-40B4-BE49-F238E27FC236}">
                <a16:creationId xmlns:a16="http://schemas.microsoft.com/office/drawing/2014/main" id="{54FC1FD1-5B86-4124-8CF6-E329BD7B7322}"/>
              </a:ext>
            </a:extLst>
          </p:cNvPr>
          <p:cNvSpPr>
            <a:spLocks noGrp="1"/>
          </p:cNvSpPr>
          <p:nvPr/>
        </p:nvSpPr>
        <p:spPr>
          <a:xfrm>
            <a:off x="6019800" y="5153025"/>
            <a:ext cx="1143000" cy="190500"/>
          </a:xfrm>
          <a:prstGeom prst="rect">
            <a:avLst/>
          </a:prstGeom>
          <a:noFill/>
          <a:ln w="0">
            <a:noFill/>
            <a:prstDash val="solid"/>
          </a:ln>
        </p:spPr>
        <p:txBody>
          <a:bodyPr wrap="none" lIns="0" tIns="0" rIns="0" bIns="0" anchor="t"/>
          <a:lstStyle/>
          <a:p>
            <a:pPr algn="l">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81 – 1200 VPU</a:t>
            </a:r>
          </a:p>
        </p:txBody>
      </p:sp>
      <p:sp>
        <p:nvSpPr>
          <p:cNvPr id="133" name="Rectangle 132">
            <a:extLst>
              <a:ext uri="{FF2B5EF4-FFF2-40B4-BE49-F238E27FC236}">
                <a16:creationId xmlns:a16="http://schemas.microsoft.com/office/drawing/2014/main" id="{09C7A465-73C0-4EC8-BB34-C47A64C8DB3D}"/>
              </a:ext>
            </a:extLst>
          </p:cNvPr>
          <p:cNvSpPr>
            <a:spLocks noGrp="1"/>
          </p:cNvSpPr>
          <p:nvPr/>
        </p:nvSpPr>
        <p:spPr>
          <a:xfrm>
            <a:off x="7381875" y="5124450"/>
            <a:ext cx="1238250" cy="342900"/>
          </a:xfrm>
          <a:prstGeom prst="rect">
            <a:avLst/>
          </a:prstGeom>
          <a:noFill/>
          <a:ln w="0">
            <a:noFill/>
            <a:prstDash val="solid"/>
          </a:ln>
        </p:spPr>
        <p:txBody>
          <a:bodyPr wrap="square" lIns="0" tIns="0" rIns="0" bIns="0" anchor="t"/>
          <a:lstStyle/>
          <a:p>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High Performance</a:t>
            </a:r>
          </a:p>
          <a:p>
            <a:pPr algn="ctr">
              <a:lnSpc>
                <a:spcPct val="110000"/>
              </a:lnSpc>
              <a:buNone/>
              <a:defRPr sz="788" b="1" i="0">
                <a:solidFill>
                  <a:srgbClr val="111111"/>
                </a:solidFill>
                <a:latin typeface="Arial"/>
                <a:ea typeface="Arial"/>
                <a:cs typeface="Arial"/>
              </a:defRPr>
            </a:pPr>
            <a:r>
              <a:rPr sz="788" b="1" i="0">
                <a:solidFill>
                  <a:srgbClr val="111111"/>
                </a:solidFill>
                <a:latin typeface="Arial"/>
                <a:ea typeface="Arial"/>
                <a:cs typeface="Arial"/>
              </a:rPr>
              <a:t>(60K IOPS)</a:t>
            </a:r>
          </a:p>
        </p:txBody>
      </p:sp>
      <p:sp>
        <p:nvSpPr>
          <p:cNvPr id="134" name="Rectangle 133">
            <a:extLst>
              <a:ext uri="{FF2B5EF4-FFF2-40B4-BE49-F238E27FC236}">
                <a16:creationId xmlns:a16="http://schemas.microsoft.com/office/drawing/2014/main" id="{13B0E788-939A-4812-8809-0B966E18F09F}"/>
              </a:ext>
            </a:extLst>
          </p:cNvPr>
          <p:cNvSpPr>
            <a:spLocks noGrp="1"/>
          </p:cNvSpPr>
          <p:nvPr/>
        </p:nvSpPr>
        <p:spPr>
          <a:xfrm>
            <a:off x="8667750" y="5172075"/>
            <a:ext cx="476250" cy="171450"/>
          </a:xfrm>
          <a:prstGeom prst="rect">
            <a:avLst/>
          </a:prstGeom>
          <a:noFill/>
          <a:ln w="0">
            <a:noFill/>
            <a:prstDash val="solid"/>
          </a:ln>
        </p:spPr>
        <p:txBody>
          <a:bodyPr wrap="none" lIns="0" tIns="0" rIns="0" bIns="0" anchor="t"/>
          <a:lstStyle/>
          <a:p>
            <a:pPr algn="ctr">
              <a:lnSpc>
                <a:spcPct val="100000"/>
              </a:lnSpc>
              <a:buNone/>
              <a:defRPr sz="855" b="1" i="0">
                <a:solidFill>
                  <a:srgbClr val="111111"/>
                </a:solidFill>
                <a:latin typeface="Arial"/>
                <a:ea typeface="Arial"/>
                <a:cs typeface="Arial"/>
              </a:defRPr>
            </a:pPr>
            <a:r>
              <a:rPr sz="855" b="1" i="0">
                <a:solidFill>
                  <a:srgbClr val="111111"/>
                </a:solidFill>
                <a:latin typeface="Arial"/>
                <a:ea typeface="Arial"/>
                <a:cs typeface="Arial"/>
              </a:rPr>
              <a:t>100</a:t>
            </a:r>
          </a:p>
        </p:txBody>
      </p:sp>
      <p:sp>
        <p:nvSpPr>
          <p:cNvPr id="135" name="Rectangle 134">
            <a:extLst>
              <a:ext uri="{FF2B5EF4-FFF2-40B4-BE49-F238E27FC236}">
                <a16:creationId xmlns:a16="http://schemas.microsoft.com/office/drawing/2014/main" id="{8361790C-EAFA-492D-8DB6-E33A450894AE}"/>
              </a:ext>
            </a:extLst>
          </p:cNvPr>
          <p:cNvSpPr>
            <a:spLocks noGrp="1"/>
          </p:cNvSpPr>
          <p:nvPr/>
        </p:nvSpPr>
        <p:spPr>
          <a:xfrm>
            <a:off x="9401175" y="5105400"/>
            <a:ext cx="52387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18</a:t>
            </a:r>
          </a:p>
        </p:txBody>
      </p:sp>
      <p:sp>
        <p:nvSpPr>
          <p:cNvPr id="136" name="Rectangle 135">
            <a:extLst>
              <a:ext uri="{FF2B5EF4-FFF2-40B4-BE49-F238E27FC236}">
                <a16:creationId xmlns:a16="http://schemas.microsoft.com/office/drawing/2014/main" id="{AFD42BBD-D03F-4F9E-AB49-1FB7750FDB8E}"/>
              </a:ext>
            </a:extLst>
          </p:cNvPr>
          <p:cNvSpPr>
            <a:spLocks noGrp="1"/>
          </p:cNvSpPr>
          <p:nvPr/>
        </p:nvSpPr>
        <p:spPr>
          <a:xfrm>
            <a:off x="9401175" y="5286375"/>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37" name="Rectangle 136">
            <a:extLst>
              <a:ext uri="{FF2B5EF4-FFF2-40B4-BE49-F238E27FC236}">
                <a16:creationId xmlns:a16="http://schemas.microsoft.com/office/drawing/2014/main" id="{12B70780-92E4-4567-A60E-2E7A8F41D4C1}"/>
              </a:ext>
            </a:extLst>
          </p:cNvPr>
          <p:cNvSpPr>
            <a:spLocks noGrp="1"/>
          </p:cNvSpPr>
          <p:nvPr/>
        </p:nvSpPr>
        <p:spPr>
          <a:xfrm>
            <a:off x="10125075" y="5105400"/>
            <a:ext cx="733425"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1,720</a:t>
            </a:r>
          </a:p>
        </p:txBody>
      </p:sp>
      <p:sp>
        <p:nvSpPr>
          <p:cNvPr id="138" name="Rectangle 137">
            <a:extLst>
              <a:ext uri="{FF2B5EF4-FFF2-40B4-BE49-F238E27FC236}">
                <a16:creationId xmlns:a16="http://schemas.microsoft.com/office/drawing/2014/main" id="{D184A9C0-0430-4323-9031-341113403D2A}"/>
              </a:ext>
            </a:extLst>
          </p:cNvPr>
          <p:cNvSpPr>
            <a:spLocks noGrp="1"/>
          </p:cNvSpPr>
          <p:nvPr/>
        </p:nvSpPr>
        <p:spPr>
          <a:xfrm>
            <a:off x="10287000" y="5286375"/>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39" name="Rectangle 138">
            <a:extLst>
              <a:ext uri="{FF2B5EF4-FFF2-40B4-BE49-F238E27FC236}">
                <a16:creationId xmlns:a16="http://schemas.microsoft.com/office/drawing/2014/main" id="{E7722D75-4A48-4FD3-9443-F24FB8C3E035}"/>
              </a:ext>
            </a:extLst>
          </p:cNvPr>
          <p:cNvSpPr>
            <a:spLocks noGrp="1"/>
          </p:cNvSpPr>
          <p:nvPr/>
        </p:nvSpPr>
        <p:spPr>
          <a:xfrm>
            <a:off x="10953750" y="5105400"/>
            <a:ext cx="647700" cy="171450"/>
          </a:xfrm>
          <a:prstGeom prst="rect">
            <a:avLst/>
          </a:prstGeom>
          <a:noFill/>
          <a:ln w="0">
            <a:noFill/>
            <a:prstDash val="solid"/>
          </a:ln>
        </p:spPr>
        <p:txBody>
          <a:bodyPr wrap="none" lIns="0" tIns="0" rIns="0" bIns="0" anchor="t"/>
          <a:lstStyle/>
          <a:p>
            <a:pPr algn="ctr">
              <a:lnSpc>
                <a:spcPct val="100000"/>
              </a:lnSpc>
              <a:buNone/>
              <a:defRPr sz="840" b="1" i="0">
                <a:solidFill>
                  <a:srgbClr val="111111"/>
                </a:solidFill>
                <a:latin typeface="Arial"/>
                <a:ea typeface="Arial"/>
                <a:cs typeface="Arial"/>
              </a:defRPr>
            </a:pPr>
            <a:r>
              <a:rPr sz="840" b="1" i="0">
                <a:solidFill>
                  <a:srgbClr val="111111"/>
                </a:solidFill>
                <a:latin typeface="Arial"/>
                <a:ea typeface="Arial"/>
                <a:cs typeface="Arial"/>
              </a:rPr>
              <a:t>7.6 TB</a:t>
            </a:r>
          </a:p>
        </p:txBody>
      </p:sp>
      <p:sp>
        <p:nvSpPr>
          <p:cNvPr id="140" name="Straight Connector 139">
            <a:extLst>
              <a:ext uri="{FF2B5EF4-FFF2-40B4-BE49-F238E27FC236}">
                <a16:creationId xmlns:a16="http://schemas.microsoft.com/office/drawing/2014/main" id="{9CBF0F34-6462-40CE-B26E-C9E4D4EDD49B}"/>
              </a:ext>
            </a:extLst>
          </p:cNvPr>
          <p:cNvSpPr>
            <a:spLocks noGrp="1"/>
          </p:cNvSpPr>
          <p:nvPr/>
        </p:nvSpPr>
        <p:spPr>
          <a:xfrm>
            <a:off x="5524500" y="5467350"/>
            <a:ext cx="5905500" cy="0"/>
          </a:xfrm>
          <a:prstGeom prst="line">
            <a:avLst/>
          </a:prstGeom>
          <a:noFill/>
          <a:ln w="9525">
            <a:solidFill>
              <a:srgbClr val="E6E9E7"/>
            </a:solidFill>
            <a:prstDash val="solid"/>
          </a:ln>
        </p:spPr>
        <p:txBody>
          <a:bodyPr/>
          <a:lstStyle/>
          <a:p>
            <a:endParaRPr lang="en-FR"/>
          </a:p>
        </p:txBody>
      </p:sp>
      <p:sp>
        <p:nvSpPr>
          <p:cNvPr id="141" name="Rectangle 140">
            <a:extLst>
              <a:ext uri="{FF2B5EF4-FFF2-40B4-BE49-F238E27FC236}">
                <a16:creationId xmlns:a16="http://schemas.microsoft.com/office/drawing/2014/main" id="{8D6F74AF-F67E-42E3-8BC7-C586E27F2B25}"/>
              </a:ext>
            </a:extLst>
          </p:cNvPr>
          <p:cNvSpPr>
            <a:spLocks noGrp="1"/>
          </p:cNvSpPr>
          <p:nvPr/>
        </p:nvSpPr>
        <p:spPr>
          <a:xfrm>
            <a:off x="5524500" y="5486400"/>
            <a:ext cx="5905500" cy="476250"/>
          </a:xfrm>
          <a:prstGeom prst="rect">
            <a:avLst/>
          </a:prstGeom>
          <a:solidFill>
            <a:srgbClr val="FEF1E9"/>
          </a:solidFill>
          <a:ln w="0">
            <a:noFill/>
            <a:prstDash val="solid"/>
          </a:ln>
        </p:spPr>
        <p:txBody>
          <a:bodyPr/>
          <a:lstStyle/>
          <a:p>
            <a:endParaRPr lang="en-FR"/>
          </a:p>
        </p:txBody>
      </p:sp>
      <p:sp>
        <p:nvSpPr>
          <p:cNvPr id="142" name="Rectangle 141">
            <a:extLst>
              <a:ext uri="{FF2B5EF4-FFF2-40B4-BE49-F238E27FC236}">
                <a16:creationId xmlns:a16="http://schemas.microsoft.com/office/drawing/2014/main" id="{1AF52623-19CE-444E-BD92-12CBF9410090}"/>
              </a:ext>
            </a:extLst>
          </p:cNvPr>
          <p:cNvSpPr>
            <a:spLocks noGrp="1"/>
          </p:cNvSpPr>
          <p:nvPr/>
        </p:nvSpPr>
        <p:spPr>
          <a:xfrm>
            <a:off x="5591175" y="5610225"/>
            <a:ext cx="552450" cy="200025"/>
          </a:xfrm>
          <a:prstGeom prst="rect">
            <a:avLst/>
          </a:prstGeom>
          <a:noFill/>
          <a:ln w="0">
            <a:noFill/>
            <a:prstDash val="solid"/>
          </a:ln>
        </p:spPr>
        <p:txBody>
          <a:bodyPr wrap="none" lIns="0" tIns="0" rIns="0" bIns="0" anchor="t"/>
          <a:lstStyle/>
          <a:p>
            <a:pPr algn="l">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TOTAL</a:t>
            </a:r>
          </a:p>
        </p:txBody>
      </p:sp>
      <p:sp>
        <p:nvSpPr>
          <p:cNvPr id="143" name="Rectangle 142">
            <a:extLst>
              <a:ext uri="{FF2B5EF4-FFF2-40B4-BE49-F238E27FC236}">
                <a16:creationId xmlns:a16="http://schemas.microsoft.com/office/drawing/2014/main" id="{C22E556B-0115-4786-8B15-10CAD3F38817}"/>
              </a:ext>
            </a:extLst>
          </p:cNvPr>
          <p:cNvSpPr>
            <a:spLocks noGrp="1"/>
          </p:cNvSpPr>
          <p:nvPr/>
        </p:nvSpPr>
        <p:spPr>
          <a:xfrm>
            <a:off x="9401175" y="5572125"/>
            <a:ext cx="523875" cy="171450"/>
          </a:xfrm>
          <a:prstGeom prst="rect">
            <a:avLst/>
          </a:prstGeom>
          <a:noFill/>
          <a:ln w="0">
            <a:noFill/>
            <a:prstDash val="solid"/>
          </a:ln>
        </p:spPr>
        <p:txBody>
          <a:bodyPr wrap="none" lIns="0" tIns="0" rIns="0" bIns="0" anchor="t"/>
          <a:lstStyle/>
          <a:p>
            <a:pPr algn="ctr">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110</a:t>
            </a:r>
          </a:p>
        </p:txBody>
      </p:sp>
      <p:sp>
        <p:nvSpPr>
          <p:cNvPr id="144" name="Rectangle 143">
            <a:extLst>
              <a:ext uri="{FF2B5EF4-FFF2-40B4-BE49-F238E27FC236}">
                <a16:creationId xmlns:a16="http://schemas.microsoft.com/office/drawing/2014/main" id="{1902B1ED-A6FE-4F60-BC01-E5AD15B54DE1}"/>
              </a:ext>
            </a:extLst>
          </p:cNvPr>
          <p:cNvSpPr>
            <a:spLocks noGrp="1"/>
          </p:cNvSpPr>
          <p:nvPr/>
        </p:nvSpPr>
        <p:spPr>
          <a:xfrm>
            <a:off x="9401175" y="5753100"/>
            <a:ext cx="52387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VMs</a:t>
            </a:r>
          </a:p>
        </p:txBody>
      </p:sp>
      <p:sp>
        <p:nvSpPr>
          <p:cNvPr id="145" name="Rectangle 144">
            <a:extLst>
              <a:ext uri="{FF2B5EF4-FFF2-40B4-BE49-F238E27FC236}">
                <a16:creationId xmlns:a16="http://schemas.microsoft.com/office/drawing/2014/main" id="{95B5EAD6-D0A6-4CC4-9FBA-ED35B44232F7}"/>
              </a:ext>
            </a:extLst>
          </p:cNvPr>
          <p:cNvSpPr>
            <a:spLocks noGrp="1"/>
          </p:cNvSpPr>
          <p:nvPr/>
        </p:nvSpPr>
        <p:spPr>
          <a:xfrm>
            <a:off x="10125075" y="5572125"/>
            <a:ext cx="733425" cy="171450"/>
          </a:xfrm>
          <a:prstGeom prst="rect">
            <a:avLst/>
          </a:prstGeom>
          <a:noFill/>
          <a:ln w="0">
            <a:noFill/>
            <a:prstDash val="solid"/>
          </a:ln>
        </p:spPr>
        <p:txBody>
          <a:bodyPr wrap="none" lIns="0" tIns="0" rIns="0" bIns="0" anchor="t"/>
          <a:lstStyle/>
          <a:p>
            <a:pPr algn="ctr">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3,800</a:t>
            </a:r>
          </a:p>
        </p:txBody>
      </p:sp>
      <p:sp>
        <p:nvSpPr>
          <p:cNvPr id="146" name="Rectangle 145">
            <a:extLst>
              <a:ext uri="{FF2B5EF4-FFF2-40B4-BE49-F238E27FC236}">
                <a16:creationId xmlns:a16="http://schemas.microsoft.com/office/drawing/2014/main" id="{FA239A5B-0F6A-4343-9B70-8575AD6729B3}"/>
              </a:ext>
            </a:extLst>
          </p:cNvPr>
          <p:cNvSpPr>
            <a:spLocks noGrp="1"/>
          </p:cNvSpPr>
          <p:nvPr/>
        </p:nvSpPr>
        <p:spPr>
          <a:xfrm>
            <a:off x="10287000" y="5753100"/>
            <a:ext cx="428625" cy="133350"/>
          </a:xfrm>
          <a:prstGeom prst="rect">
            <a:avLst/>
          </a:prstGeom>
          <a:noFill/>
          <a:ln w="0">
            <a:noFill/>
            <a:prstDash val="solid"/>
          </a:ln>
        </p:spPr>
        <p:txBody>
          <a:bodyPr wrap="none" lIns="0" tIns="0" rIns="0" bIns="0" anchor="t"/>
          <a:lstStyle/>
          <a:p>
            <a:pPr algn="ctr">
              <a:lnSpc>
                <a:spcPct val="100000"/>
              </a:lnSpc>
              <a:buNone/>
              <a:defRPr sz="638" b="0" i="0">
                <a:solidFill>
                  <a:srgbClr val="333333"/>
                </a:solidFill>
                <a:latin typeface="Arial"/>
                <a:ea typeface="Arial"/>
                <a:cs typeface="Arial"/>
              </a:defRPr>
            </a:pPr>
            <a:r>
              <a:rPr sz="638" b="0" i="0">
                <a:solidFill>
                  <a:srgbClr val="333333"/>
                </a:solidFill>
                <a:latin typeface="Arial"/>
                <a:ea typeface="Arial"/>
                <a:cs typeface="Arial"/>
              </a:rPr>
              <a:t>VPU</a:t>
            </a:r>
          </a:p>
        </p:txBody>
      </p:sp>
      <p:sp>
        <p:nvSpPr>
          <p:cNvPr id="147" name="Rectangle 146">
            <a:extLst>
              <a:ext uri="{FF2B5EF4-FFF2-40B4-BE49-F238E27FC236}">
                <a16:creationId xmlns:a16="http://schemas.microsoft.com/office/drawing/2014/main" id="{4D7F5A8C-CBFB-4B49-9A64-94D371C1198A}"/>
              </a:ext>
            </a:extLst>
          </p:cNvPr>
          <p:cNvSpPr>
            <a:spLocks noGrp="1"/>
          </p:cNvSpPr>
          <p:nvPr/>
        </p:nvSpPr>
        <p:spPr>
          <a:xfrm>
            <a:off x="10953750" y="5572125"/>
            <a:ext cx="647700" cy="171450"/>
          </a:xfrm>
          <a:prstGeom prst="rect">
            <a:avLst/>
          </a:prstGeom>
          <a:noFill/>
          <a:ln w="0">
            <a:noFill/>
            <a:prstDash val="solid"/>
          </a:ln>
        </p:spPr>
        <p:txBody>
          <a:bodyPr wrap="none" lIns="0" tIns="0" rIns="0" bIns="0" anchor="t"/>
          <a:lstStyle/>
          <a:p>
            <a:pPr algn="ctr">
              <a:lnSpc>
                <a:spcPct val="100000"/>
              </a:lnSpc>
              <a:buNone/>
              <a:defRPr sz="840" b="1" i="0">
                <a:solidFill>
                  <a:srgbClr val="E43D00"/>
                </a:solidFill>
                <a:latin typeface="Arial"/>
                <a:ea typeface="Arial"/>
                <a:cs typeface="Arial"/>
              </a:defRPr>
            </a:pPr>
            <a:r>
              <a:rPr sz="840" b="1" i="0">
                <a:solidFill>
                  <a:srgbClr val="E43D00"/>
                </a:solidFill>
                <a:latin typeface="Arial"/>
                <a:ea typeface="Arial"/>
                <a:cs typeface="Arial"/>
              </a:rPr>
              <a:t>35 TB</a:t>
            </a:r>
          </a:p>
        </p:txBody>
      </p:sp>
      <p:pic>
        <p:nvPicPr>
          <p:cNvPr id="300" name="Picture 299"/>
          <p:cNvPicPr>
            <a:picLocks noChangeAspect="1"/>
          </p:cNvPicPr>
          <p:nvPr/>
        </p:nvPicPr>
        <p:blipFill>
          <a:blip r:embed="rId15"/>
          <a:stretch/>
        </p:blipFill>
        <p:spPr>
          <a:xfrm>
            <a:off x="5548313" y="6029325"/>
            <a:ext cx="161925" cy="171450"/>
          </a:xfrm>
          <a:prstGeom prst="rect">
            <a:avLst/>
          </a:prstGeom>
        </p:spPr>
      </p:pic>
      <p:sp>
        <p:nvSpPr>
          <p:cNvPr id="149" name="Rectangle 148">
            <a:extLst>
              <a:ext uri="{FF2B5EF4-FFF2-40B4-BE49-F238E27FC236}">
                <a16:creationId xmlns:a16="http://schemas.microsoft.com/office/drawing/2014/main" id="{193EDF39-22F4-4FB8-846D-6A5292785FDF}"/>
              </a:ext>
            </a:extLst>
          </p:cNvPr>
          <p:cNvSpPr>
            <a:spLocks noGrp="1"/>
          </p:cNvSpPr>
          <p:nvPr/>
        </p:nvSpPr>
        <p:spPr>
          <a:xfrm>
            <a:off x="5791200" y="6057900"/>
            <a:ext cx="2381250" cy="142875"/>
          </a:xfrm>
          <a:prstGeom prst="rect">
            <a:avLst/>
          </a:prstGeom>
          <a:noFill/>
          <a:ln w="0">
            <a:noFill/>
            <a:prstDash val="solid"/>
          </a:ln>
        </p:spPr>
        <p:txBody>
          <a:bodyPr wrap="none" lIns="0" tIns="0" rIns="0" bIns="0" anchor="t"/>
          <a:lstStyle/>
          <a:p>
            <a:pPr algn="l">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VPU ranges and performance tiers per</a:t>
            </a:r>
          </a:p>
        </p:txBody>
      </p:sp>
      <p:sp>
        <p:nvSpPr>
          <p:cNvPr id="150" name="Rectangle 149">
            <a:extLst>
              <a:ext uri="{FF2B5EF4-FFF2-40B4-BE49-F238E27FC236}">
                <a16:creationId xmlns:a16="http://schemas.microsoft.com/office/drawing/2014/main" id="{A2A1937D-D277-47DA-8441-EEAF3835B927}"/>
              </a:ext>
            </a:extLst>
          </p:cNvPr>
          <p:cNvSpPr>
            <a:spLocks noGrp="1"/>
          </p:cNvSpPr>
          <p:nvPr/>
        </p:nvSpPr>
        <p:spPr>
          <a:xfrm>
            <a:off x="7524750" y="6057900"/>
            <a:ext cx="2095500" cy="142875"/>
          </a:xfrm>
          <a:prstGeom prst="rect">
            <a:avLst/>
          </a:prstGeom>
          <a:noFill/>
          <a:ln w="0">
            <a:noFill/>
            <a:prstDash val="solid"/>
          </a:ln>
        </p:spPr>
        <p:txBody>
          <a:bodyPr wrap="none" lIns="0" tIns="0" rIns="0" bIns="0" anchor="t"/>
          <a:lstStyle/>
          <a:p>
            <a:pPr algn="l">
              <a:lnSpc>
                <a:spcPct val="100000"/>
              </a:lnSpc>
              <a:buNone/>
              <a:defRPr sz="713" b="0" i="0">
                <a:solidFill>
                  <a:srgbClr val="1A5DFF"/>
                </a:solidFill>
                <a:latin typeface="Arial"/>
                <a:ea typeface="Arial"/>
                <a:cs typeface="Arial"/>
              </a:defRPr>
            </a:pPr>
            <a:r>
              <a:rPr sz="713" b="0" i="0">
                <a:solidFill>
                  <a:srgbClr val="1A5DFF"/>
                </a:solidFill>
                <a:latin typeface="Arial"/>
                <a:ea typeface="Arial"/>
                <a:cs typeface="Arial"/>
              </a:rPr>
              <a:t>Oracle Block Volume documentation.</a:t>
            </a:r>
          </a:p>
        </p:txBody>
      </p:sp>
      <p:sp>
        <p:nvSpPr>
          <p:cNvPr id="151" name="Rectangle 150">
            <a:extLst>
              <a:ext uri="{FF2B5EF4-FFF2-40B4-BE49-F238E27FC236}">
                <a16:creationId xmlns:a16="http://schemas.microsoft.com/office/drawing/2014/main" id="{E38CA9A0-8AD1-4085-A343-AA19469C75EF}"/>
              </a:ext>
            </a:extLst>
          </p:cNvPr>
          <p:cNvSpPr>
            <a:spLocks noGrp="1"/>
          </p:cNvSpPr>
          <p:nvPr/>
        </p:nvSpPr>
        <p:spPr>
          <a:xfrm>
            <a:off x="342900" y="6534150"/>
            <a:ext cx="6858000" cy="171450"/>
          </a:xfrm>
          <a:prstGeom prst="rect">
            <a:avLst/>
          </a:prstGeom>
          <a:noFill/>
          <a:ln w="0">
            <a:noFill/>
            <a:prstDash val="solid"/>
          </a:ln>
        </p:spPr>
        <p:txBody>
          <a:bodyPr wrap="none" lIns="0" tIns="0" rIns="0" bIns="0" anchor="t"/>
          <a:lstStyle/>
          <a:p>
            <a:pPr algn="l">
              <a:lnSpc>
                <a:spcPct val="100000"/>
              </a:lnSpc>
              <a:buNone/>
              <a:defRPr sz="713" b="0" i="0">
                <a:solidFill>
                  <a:srgbClr val="555555"/>
                </a:solidFill>
                <a:latin typeface="Arial"/>
                <a:ea typeface="Arial"/>
                <a:cs typeface="Arial"/>
              </a:defRPr>
            </a:pPr>
            <a:r>
              <a:rPr sz="713" b="0" i="0">
                <a:solidFill>
                  <a:srgbClr val="555555"/>
                </a:solidFill>
                <a:latin typeface="Arial"/>
                <a:ea typeface="Arial"/>
                <a:cs typeface="Arial"/>
              </a:rPr>
              <a:t>Copyright © 2026, Oracle and/or its affiliates  |  Confidential: Internal/Restricted/Highly Restricted</a:t>
            </a:r>
          </a:p>
        </p:txBody>
      </p:sp>
      <p:pic>
        <p:nvPicPr>
          <p:cNvPr id="304" name="Picture 303"/>
          <p:cNvPicPr>
            <a:picLocks noChangeAspect="1"/>
          </p:cNvPicPr>
          <p:nvPr/>
        </p:nvPicPr>
        <p:blipFill>
          <a:blip r:embed="rId16"/>
          <a:stretch/>
        </p:blipFill>
        <p:spPr>
          <a:xfrm>
            <a:off x="11458864" y="6496050"/>
            <a:ext cx="285173" cy="361950"/>
          </a:xfrm>
          <a:prstGeom prst="rect">
            <a:avLst/>
          </a:prstGeom>
        </p:spPr>
      </p:pic>
    </p:spTree>
    <p:extLst>
      <p:ext uri="{BB962C8B-B14F-4D97-AF65-F5344CB8AC3E}">
        <p14:creationId xmlns:p14="http://schemas.microsoft.com/office/powerpoint/2010/main" val="1701118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3E53A5-E3BC-4534-ACFE-4693EDB11BE2}"/>
              </a:ext>
            </a:extLst>
          </p:cNvPr>
          <p:cNvSpPr>
            <a:spLocks noGrp="1"/>
          </p:cNvSpPr>
          <p:nvPr/>
        </p:nvSpPr>
        <p:spPr>
          <a:xfrm>
            <a:off x="66675" y="85725"/>
            <a:ext cx="2571750" cy="342900"/>
          </a:xfrm>
          <a:prstGeom prst="rect">
            <a:avLst/>
          </a:prstGeom>
          <a:noFill/>
          <a:ln w="0">
            <a:noFill/>
            <a:prstDash val="solid"/>
          </a:ln>
        </p:spPr>
        <p:txBody>
          <a:bodyPr wrap="square" lIns="0" tIns="0" rIns="0" bIns="0" anchor="t"/>
          <a:lstStyle/>
          <a:p>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Confidential - Oracle Restricted \Employees</a:t>
            </a:r>
          </a:p>
          <a:p>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Only</a:t>
            </a:r>
          </a:p>
        </p:txBody>
      </p:sp>
      <p:pic>
        <p:nvPicPr>
          <p:cNvPr id="5" name="Picture 4"/>
          <p:cNvPicPr>
            <a:picLocks noChangeAspect="1"/>
          </p:cNvPicPr>
          <p:nvPr/>
        </p:nvPicPr>
        <p:blipFill>
          <a:blip r:embed="rId3"/>
          <a:stretch/>
        </p:blipFill>
        <p:spPr>
          <a:xfrm>
            <a:off x="4171950" y="3095625"/>
            <a:ext cx="3848100" cy="609600"/>
          </a:xfrm>
          <a:prstGeom prst="rect">
            <a:avLst/>
          </a:prstGeom>
        </p:spPr>
      </p:pic>
      <p:sp>
        <p:nvSpPr>
          <p:cNvPr id="3" name="Rectangle 2">
            <a:extLst>
              <a:ext uri="{FF2B5EF4-FFF2-40B4-BE49-F238E27FC236}">
                <a16:creationId xmlns:a16="http://schemas.microsoft.com/office/drawing/2014/main" id="{9D65AD44-E8D2-4785-A563-E45C5806CEB9}"/>
              </a:ext>
            </a:extLst>
          </p:cNvPr>
          <p:cNvSpPr>
            <a:spLocks noGrp="1"/>
          </p:cNvSpPr>
          <p:nvPr/>
        </p:nvSpPr>
        <p:spPr>
          <a:xfrm>
            <a:off x="66675" y="6648450"/>
            <a:ext cx="2571750" cy="342900"/>
          </a:xfrm>
          <a:prstGeom prst="rect">
            <a:avLst/>
          </a:prstGeom>
          <a:noFill/>
          <a:ln w="0">
            <a:noFill/>
            <a:prstDash val="solid"/>
          </a:ln>
        </p:spPr>
        <p:txBody>
          <a:bodyPr wrap="square" lIns="0" tIns="0" rIns="0" bIns="0" anchor="t"/>
          <a:lstStyle/>
          <a:p>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Confidential - Oracle Restricted \Employees</a:t>
            </a:r>
          </a:p>
          <a:p>
            <a:pPr algn="l">
              <a:lnSpc>
                <a:spcPct val="115000"/>
              </a:lnSpc>
              <a:buNone/>
              <a:defRPr sz="900" b="0" i="0">
                <a:solidFill>
                  <a:srgbClr val="777777"/>
                </a:solidFill>
                <a:latin typeface="Arial"/>
                <a:ea typeface="Arial"/>
                <a:cs typeface="Arial"/>
              </a:defRPr>
            </a:pPr>
            <a:r>
              <a:rPr sz="900" b="0" i="0">
                <a:solidFill>
                  <a:srgbClr val="777777"/>
                </a:solidFill>
                <a:latin typeface="Arial"/>
                <a:ea typeface="Arial"/>
                <a:cs typeface="Arial"/>
              </a:rPr>
              <a:t>Only</a:t>
            </a:r>
          </a:p>
        </p:txBody>
      </p:sp>
    </p:spTree>
    <p:extLst>
      <p:ext uri="{BB962C8B-B14F-4D97-AF65-F5344CB8AC3E}">
        <p14:creationId xmlns:p14="http://schemas.microsoft.com/office/powerpoint/2010/main" val="15454136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0</TotalTime>
  <Words>892</Words>
  <Application>Microsoft Macintosh PowerPoint</Application>
  <DocSecurity>0</DocSecurity>
  <PresentationFormat>Widescreen</PresentationFormat>
  <Paragraphs>244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Yoann JOSPITRE</cp:lastModifiedBy>
  <cp:revision>1</cp:revision>
  <dcterms:created xsi:type="dcterms:W3CDTF">2026-08-14T09:27:49Z</dcterms:created>
  <dcterms:modified xsi:type="dcterms:W3CDTF">2026-08-14T09:47:22Z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ChatGPT:5</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ChatGPT:4</vt:lpwstr>
  </property>
  <property fmtid="{D5CDD505-2E9C-101B-9397-08002B2CF9AE}" pid="5" name="ClassificationContentMarkingHeaderText">
    <vt:lpwstr>Confidential - Oracle Restricted \Employees Only</vt:lpwstr>
  </property>
</Properties>
</file>