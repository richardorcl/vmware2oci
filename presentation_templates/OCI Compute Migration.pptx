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2b9004971544891" /><Relationship Type="http://schemas.openxmlformats.org/officeDocument/2006/relationships/extended-properties" Target="/docProps/app.xml" Id="Rb7711b6f42dc48ba" /><Relationship Type="http://schemas.openxmlformats.org/officeDocument/2006/relationships/officeDocument" Target="/ppt/presentation.xml" Id="Rfcc8236e26be4fa7" /></Relationships>
</file>

<file path=ppt/presentation.xml><?xml version="1.0" encoding="utf-8"?>
<p:presentation xmlns:p="http://schemas.openxmlformats.org/presentationml/2006/main">
  <p:sldMasterIdLst>
    <p:sldMasterId xmlns:r="http://schemas.openxmlformats.org/officeDocument/2006/relationships" id="2147483648" r:id="Rbd8b998787164b46"/>
  </p:sldMasterIdLst>
  <p:notesMasterIdLst>
    <p:notesMasterId xmlns:r="http://schemas.openxmlformats.org/officeDocument/2006/relationships" r:id="R80f888efb8cf4a8c"/>
  </p:notesMasterIdLst>
  <p:sldIdLst>
    <p:sldId xmlns:r="http://schemas.openxmlformats.org/officeDocument/2006/relationships" id="256" r:id="R8a9d68fdea6d4939"/>
    <p:sldId xmlns:r="http://schemas.openxmlformats.org/officeDocument/2006/relationships" id="257" r:id="R97028b05c6cc4c29"/>
    <p:sldId xmlns:r="http://schemas.openxmlformats.org/officeDocument/2006/relationships" id="258" r:id="R675b322c12eb4e82"/>
    <p:sldId xmlns:r="http://schemas.openxmlformats.org/officeDocument/2006/relationships" id="259" r:id="Re1ecba782ec844e3"/>
    <p:sldId xmlns:r="http://schemas.openxmlformats.org/officeDocument/2006/relationships" id="260" r:id="R13fa41816bad4a5e"/>
    <p:sldId xmlns:r="http://schemas.openxmlformats.org/officeDocument/2006/relationships" id="261" r:id="R0afbdf76746c4551"/>
    <p:sldId xmlns:r="http://schemas.openxmlformats.org/officeDocument/2006/relationships" id="262" r:id="Re7c889ea7e38434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db2a9f8f22bb4a9d" /><Relationship Type="http://schemas.openxmlformats.org/officeDocument/2006/relationships/slideMaster" Target="/ppt/slideMasters/slideMaster1.xml" Id="Rbd8b998787164b46" /><Relationship Type="http://schemas.openxmlformats.org/officeDocument/2006/relationships/notesMaster" Target="/ppt/notesMasters/notesMaster1.xml" Id="R80f888efb8cf4a8c" /><Relationship Type="http://schemas.openxmlformats.org/officeDocument/2006/relationships/presProps" Target="/ppt/presProps.xml" Id="Reeec0d9820ca4349" /><Relationship Type="http://schemas.openxmlformats.org/officeDocument/2006/relationships/viewProps" Target="/ppt/viewProps.xml" Id="Rec439ea76f4a4eee" /><Relationship Type="http://schemas.openxmlformats.org/officeDocument/2006/relationships/tableStyles" Target="/ppt/tableStyles.xml" Id="Rf8bd739d49424d99" /><Relationship Type="http://schemas.openxmlformats.org/officeDocument/2006/relationships/slide" Target="/ppt/slides/slide1.xml" Id="R8a9d68fdea6d4939" /><Relationship Type="http://schemas.openxmlformats.org/officeDocument/2006/relationships/slide" Target="/ppt/slides/slide2.xml" Id="R97028b05c6cc4c29" /><Relationship Type="http://schemas.openxmlformats.org/officeDocument/2006/relationships/slide" Target="/ppt/slides/slide3.xml" Id="R675b322c12eb4e82" /><Relationship Type="http://schemas.openxmlformats.org/officeDocument/2006/relationships/slide" Target="/ppt/slides/slide4.xml" Id="Re1ecba782ec844e3" /><Relationship Type="http://schemas.openxmlformats.org/officeDocument/2006/relationships/slide" Target="/ppt/slides/slide5.xml" Id="R13fa41816bad4a5e" /><Relationship Type="http://schemas.openxmlformats.org/officeDocument/2006/relationships/slide" Target="/ppt/slides/slide6.xml" Id="R0afbdf76746c4551" /><Relationship Type="http://schemas.openxmlformats.org/officeDocument/2006/relationships/slide" Target="/ppt/slides/slide7.xml" Id="Re7c889ea7e38434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1c738b14f204ea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f625f59e42e4706" /><Relationship Type="http://schemas.openxmlformats.org/officeDocument/2006/relationships/notesMaster" Target="/ppt/notesMasters/notesMaster1.xml" Id="Rf69806d5f9b74c45" /></Relationships>
</file>

<file path=ppt/notesSlides/_rels/notesSlide2.xml.rels>&#65279;<?xml version="1.0" encoding="utf-8"?><Relationships xmlns="http://schemas.openxmlformats.org/package/2006/relationships"><Relationship Type="http://schemas.openxmlformats.org/officeDocument/2006/relationships/slide" Target="/ppt/slides/slide2.xml" Id="R2565f6dc60d7413d" /><Relationship Type="http://schemas.openxmlformats.org/officeDocument/2006/relationships/notesMaster" Target="/ppt/notesMasters/notesMaster1.xml" Id="R7d1ef72c0bb043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1a5d5b9509b24367" /><Relationship Type="http://schemas.openxmlformats.org/officeDocument/2006/relationships/notesMaster" Target="/ppt/notesMasters/notesMaster1.xml" Id="R8bbb66f1013f43c6" /></Relationships>
</file>

<file path=ppt/notesSlides/_rels/notesSlide4.xml.rels>&#65279;<?xml version="1.0" encoding="utf-8"?><Relationships xmlns="http://schemas.openxmlformats.org/package/2006/relationships"><Relationship Type="http://schemas.openxmlformats.org/officeDocument/2006/relationships/slide" Target="/ppt/slides/slide4.xml" Id="Rb323415cd0e84d85" /><Relationship Type="http://schemas.openxmlformats.org/officeDocument/2006/relationships/notesMaster" Target="/ppt/notesMasters/notesMaster1.xml" Id="R0ec2447cf7d349a7" /></Relationships>
</file>

<file path=ppt/notesSlides/_rels/notesSlide5.xml.rels>&#65279;<?xml version="1.0" encoding="utf-8"?><Relationships xmlns="http://schemas.openxmlformats.org/package/2006/relationships"><Relationship Type="http://schemas.openxmlformats.org/officeDocument/2006/relationships/slide" Target="/ppt/slides/slide5.xml" Id="Rcdffecd4257c492b" /><Relationship Type="http://schemas.openxmlformats.org/officeDocument/2006/relationships/notesMaster" Target="/ppt/notesMasters/notesMaster1.xml" Id="Rbc0a6360c8544395" /></Relationships>
</file>

<file path=ppt/notesSlides/_rels/notesSlide6.xml.rels>&#65279;<?xml version="1.0" encoding="utf-8"?><Relationships xmlns="http://schemas.openxmlformats.org/package/2006/relationships"><Relationship Type="http://schemas.openxmlformats.org/officeDocument/2006/relationships/slide" Target="/ppt/slides/slide6.xml" Id="R34c102c46a5644dd" /><Relationship Type="http://schemas.openxmlformats.org/officeDocument/2006/relationships/notesMaster" Target="/ppt/notesMasters/notesMaster1.xml" Id="R6de3cf6ca85d4d11" /></Relationships>
</file>

<file path=ppt/notesSlides/_rels/notesSlide7.xml.rels>&#65279;<?xml version="1.0" encoding="utf-8"?><Relationships xmlns="http://schemas.openxmlformats.org/package/2006/relationships"><Relationship Type="http://schemas.openxmlformats.org/officeDocument/2006/relationships/slide" Target="/ppt/slides/slide7.xml" Id="R3647795217d84f44" /><Relationship Type="http://schemas.openxmlformats.org/officeDocument/2006/relationships/notesMaster" Target="/ppt/notesMasters/notesMaster1.xml" Id="Re264d601c579446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Source: user-provided PowerPoint OCI Compute Migration.pptx, slide 1. Oracle logo, sidebar icons, Oracle mark, and OCI Compute illustration are cropped from the provided deck and retained as images. Title, subtitle, customer/date/prepared-by labels and values are recreated as editable PowerPoint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Source image: user-provided screenshot "Current Environment". Oracle logo, Oracle mark, datacenter icon, metric icons, total-environment icon, and information icon are embedded as cropped image assets from that screenshot. The visible title, subtitle, panel headers, labels, metric values, notes, footer, cards, separators, and decorative background elements are recreated as editable PowerPoint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Source: user-provided PowerPoint OCI Compute Migration.pptx, slide 4. Closing background and confidentiality labels are recreated as editable elements; Oracle logo is retained as a cropped image asset from the provided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ae104d65edb466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8e4eb1d7824cbe" /><Relationship Type="http://schemas.openxmlformats.org/officeDocument/2006/relationships/slideLayout" Target="/ppt/slideLayouts/slideLayout1.xml" Id="Rb13949a935d5463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
        <p:nvSpPr>
          <p:cNvPr id="4" name="TextBox 3">
            <a:extLst xmlns:a="http://schemas.openxmlformats.org/drawingml/2006/main">
              <a:ext uri="{FF2B5EF4-FFF2-40B4-BE49-F238E27FC236}">
                <a16:creationId xmlns:a16="http://schemas.microsoft.com/office/drawing/2014/main" id="{646BACDB-DFC1-8A58-B49D-615D07ADD164}"/>
              </a:ext>
            </a:extLst>
          </p:cNvPr>
          <p:cNvSpPr>
            <a:spLocks xmlns:a="http://schemas.openxmlformats.org/drawingml/2006/main" noGrp="1"/>
          </p:cNvSpPr>
          <p:nvPr/>
        </p:nvSpPr>
        <p:spPr>
          <a:xfrm xmlns:a="http://schemas.openxmlformats.org/drawingml/2006/main">
            <a:off x="63500" y="63500"/>
            <a:ext cx="2709863" cy="152400"/>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1000">
                <a:solidFill>
                  <a:srgbClr val="000000">
                    <a:alpha val="50000"/>
                  </a:srgbClr>
                </a:solidFill>
                <a:latin typeface="Aptos"/>
                <a:ea typeface="Aptos"/>
                <a:cs typeface="Aptos"/>
              </a:rPr>
              <a:t>Confidential - Oracle Restricted \Employees Only</a:t>
            </a:r>
          </a:p>
        </p:txBody>
      </p:sp>
      <p:sp>
        <p:nvSpPr>
          <p:cNvPr id="5" name="TextBox 4">
            <a:extLst xmlns:a="http://schemas.openxmlformats.org/drawingml/2006/main">
              <a:ext uri="{FF2B5EF4-FFF2-40B4-BE49-F238E27FC236}">
                <a16:creationId xmlns:a16="http://schemas.microsoft.com/office/drawing/2014/main" id="{70A77A44-BF93-BED5-E87B-2E2078C76C05}"/>
              </a:ext>
            </a:extLst>
          </p:cNvPr>
          <p:cNvSpPr>
            <a:spLocks xmlns:a="http://schemas.openxmlformats.org/drawingml/2006/main" noGrp="1"/>
          </p:cNvSpPr>
          <p:nvPr/>
        </p:nvSpPr>
        <p:spPr>
          <a:xfrm xmlns:a="http://schemas.openxmlformats.org/drawingml/2006/main">
            <a:off x="63500" y="6642100"/>
            <a:ext cx="2709863" cy="152400"/>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1000">
                <a:solidFill>
                  <a:srgbClr val="000000">
                    <a:alpha val="50000"/>
                  </a:srgbClr>
                </a:solidFill>
                <a:latin typeface="Aptos"/>
                <a:ea typeface="Aptos"/>
                <a:cs typeface="Aptos"/>
              </a:rPr>
              <a:t>Confidential - Oracle Restricted \Employees Only</a:t>
            </a: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3949a935d546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57f255f407e4971" /><Relationship Type="http://schemas.openxmlformats.org/officeDocument/2006/relationships/image" Target="/ppt/media/image.png" Id="R1eed4c738cc54fe0" /><Relationship Type="http://schemas.openxmlformats.org/officeDocument/2006/relationships/image" Target="/ppt/media/image2.png" Id="Rd29dd5e6c2674ab0" /><Relationship Type="http://schemas.openxmlformats.org/officeDocument/2006/relationships/image" Target="/ppt/media/image3.png" Id="R9cc5c7937e5f4fb5" /><Relationship Type="http://schemas.openxmlformats.org/officeDocument/2006/relationships/image" Target="/ppt/media/image4.png" Id="R054b58510ea741f8" /><Relationship Type="http://schemas.openxmlformats.org/officeDocument/2006/relationships/image" Target="/ppt/media/image5.png" Id="Rd6fb1be62b5a4492" /><Relationship Type="http://schemas.openxmlformats.org/officeDocument/2006/relationships/image" Target="/ppt/media/image6.png" Id="R3f74e7a5a9aa4360" /><Relationship Type="http://schemas.openxmlformats.org/officeDocument/2006/relationships/notesSlide" Target="/ppt/notesSlides/notesSlide1.xml" Id="Re35092f094e54c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573e31fc6004e95" /><Relationship Type="http://schemas.openxmlformats.org/officeDocument/2006/relationships/image" Target="/ppt/media/image7.png" Id="R62547c42b6054a6a" /><Relationship Type="http://schemas.openxmlformats.org/officeDocument/2006/relationships/image" Target="/ppt/media/image8.png" Id="R6260195c96a74cc6" /><Relationship Type="http://schemas.openxmlformats.org/officeDocument/2006/relationships/image" Target="/ppt/media/image9.png" Id="R570e129ae42247da" /><Relationship Type="http://schemas.openxmlformats.org/officeDocument/2006/relationships/image" Target="/ppt/media/image10.png" Id="R15c15e7780f146b0" /><Relationship Type="http://schemas.openxmlformats.org/officeDocument/2006/relationships/image" Target="/ppt/media/image11.png" Id="R36c013020f8f4dc4" /><Relationship Type="http://schemas.openxmlformats.org/officeDocument/2006/relationships/image" Target="/ppt/media/image12.png" Id="R9cce5d4685bf4eac" /><Relationship Type="http://schemas.openxmlformats.org/officeDocument/2006/relationships/image" Target="/ppt/media/image13.png" Id="R2fc52062993444f9" /><Relationship Type="http://schemas.openxmlformats.org/officeDocument/2006/relationships/image" Target="/ppt/media/image14.png" Id="R649b789933ec489e" /><Relationship Type="http://schemas.openxmlformats.org/officeDocument/2006/relationships/image" Target="/ppt/media/image15.png" Id="Rfd248a93af4f44af" /><Relationship Type="http://schemas.openxmlformats.org/officeDocument/2006/relationships/image" Target="/ppt/media/image16.png" Id="R3cb1303115554396" /><Relationship Type="http://schemas.openxmlformats.org/officeDocument/2006/relationships/image" Target="/ppt/media/image17.png" Id="R126eaaefffb84ca0" /><Relationship Type="http://schemas.openxmlformats.org/officeDocument/2006/relationships/image" Target="/ppt/media/image18.png" Id="R78b71d0b8ec84f5a" /><Relationship Type="http://schemas.openxmlformats.org/officeDocument/2006/relationships/image" Target="/ppt/media/image19.png" Id="Ra6ed862ea726440e" /><Relationship Type="http://schemas.openxmlformats.org/officeDocument/2006/relationships/image" Target="/ppt/media/image20.png" Id="R1f882357d4ec40bb" /><Relationship Type="http://schemas.openxmlformats.org/officeDocument/2006/relationships/image" Target="/ppt/media/image21.png" Id="R7b2aebf87dcd4780" /><Relationship Type="http://schemas.openxmlformats.org/officeDocument/2006/relationships/image" Target="/ppt/media/image22.png" Id="Re3774d944e054658" /><Relationship Type="http://schemas.openxmlformats.org/officeDocument/2006/relationships/image" Target="/ppt/media/image23.png" Id="Rcf2a221f2d09479e" /><Relationship Type="http://schemas.openxmlformats.org/officeDocument/2006/relationships/image" Target="/ppt/media/image24.png" Id="R67152b5db7744a37" /><Relationship Type="http://schemas.openxmlformats.org/officeDocument/2006/relationships/image" Target="/ppt/media/image25.png" Id="R3c65559d758b4446" /><Relationship Type="http://schemas.openxmlformats.org/officeDocument/2006/relationships/image" Target="/ppt/media/image26.png" Id="Rf8b7c29a505f4e65" /><Relationship Type="http://schemas.openxmlformats.org/officeDocument/2006/relationships/image" Target="/ppt/media/image27.png" Id="R7aac6ed38b834c64" /><Relationship Type="http://schemas.openxmlformats.org/officeDocument/2006/relationships/image" Target="/ppt/media/image28.png" Id="R8322d55074614bc3" /><Relationship Type="http://schemas.openxmlformats.org/officeDocument/2006/relationships/image" Target="/ppt/media/image29.png" Id="Rbaaf2aa210d449a6" /><Relationship Type="http://schemas.openxmlformats.org/officeDocument/2006/relationships/image" Target="/ppt/media/image30.png" Id="R73b0f90f1f6e4a6a" /><Relationship Type="http://schemas.openxmlformats.org/officeDocument/2006/relationships/image" Target="/ppt/media/image4.png" Id="R78a4e116b5d84e57" /><Relationship Type="http://schemas.openxmlformats.org/officeDocument/2006/relationships/notesSlide" Target="/ppt/notesSlides/notesSlide2.xml" Id="Re2a0c3f83fe2463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27ae4cf4cc4433c" /><Relationship Type="http://schemas.openxmlformats.org/officeDocument/2006/relationships/image" Target="/ppt/media/image31.png" Id="R474bb0d0adc34774" /><Relationship Type="http://schemas.openxmlformats.org/officeDocument/2006/relationships/image" Target="/ppt/media/image32.png" Id="R1607bb207e2843fb" /><Relationship Type="http://schemas.openxmlformats.org/officeDocument/2006/relationships/image" Target="/ppt/media/image33.png" Id="Rdddbc61065284a88" /><Relationship Type="http://schemas.openxmlformats.org/officeDocument/2006/relationships/image" Target="/ppt/media/image34.png" Id="Rbb764125a799488e" /><Relationship Type="http://schemas.openxmlformats.org/officeDocument/2006/relationships/image" Target="/ppt/media/image35.png" Id="R79560ff65246451b" /><Relationship Type="http://schemas.openxmlformats.org/officeDocument/2006/relationships/image" Target="/ppt/media/image36.png" Id="Rb427c01fcdd6411e" /><Relationship Type="http://schemas.openxmlformats.org/officeDocument/2006/relationships/image" Target="/ppt/media/image37.png" Id="R5f8e0989f94940fe" /><Relationship Type="http://schemas.openxmlformats.org/officeDocument/2006/relationships/image" Target="/ppt/media/image38.png" Id="Rbac8ab8481964f71" /><Relationship Type="http://schemas.openxmlformats.org/officeDocument/2006/relationships/image" Target="/ppt/media/image39.png" Id="R2ef9a590187f4fe6" /><Relationship Type="http://schemas.openxmlformats.org/officeDocument/2006/relationships/image" Target="/ppt/media/image40.png" Id="Rf75f40e91899469e" /><Relationship Type="http://schemas.openxmlformats.org/officeDocument/2006/relationships/image" Target="/ppt/media/image41.png" Id="R364bfb5575464c8c" /><Relationship Type="http://schemas.openxmlformats.org/officeDocument/2006/relationships/image" Target="/ppt/media/image42.png" Id="R41e20a1f82974890" /><Relationship Type="http://schemas.openxmlformats.org/officeDocument/2006/relationships/image" Target="/ppt/media/image43.png" Id="Rcbaae0a294184dd8" /><Relationship Type="http://schemas.openxmlformats.org/officeDocument/2006/relationships/notesSlide" Target="/ppt/notesSlides/notesSlide3.xml" Id="Rc99f7f394af14d6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3e0f398482448a9" /><Relationship Type="http://schemas.openxmlformats.org/officeDocument/2006/relationships/image" Target="/ppt/media/image44.png" Id="Rca884f5766464157" /><Relationship Type="http://schemas.openxmlformats.org/officeDocument/2006/relationships/image" Target="/ppt/media/image45.png" Id="R15474550d3de431b" /><Relationship Type="http://schemas.openxmlformats.org/officeDocument/2006/relationships/image" Target="/ppt/media/image46.png" Id="R47f703d25a284190" /><Relationship Type="http://schemas.openxmlformats.org/officeDocument/2006/relationships/image" Target="/ppt/media/image47.png" Id="Re334293b2d824656" /><Relationship Type="http://schemas.openxmlformats.org/officeDocument/2006/relationships/image" Target="/ppt/media/image48.png" Id="Rbd8e4503d75d4ca6" /><Relationship Type="http://schemas.openxmlformats.org/officeDocument/2006/relationships/image" Target="/ppt/media/image49.png" Id="R858885d355124eef" /><Relationship Type="http://schemas.openxmlformats.org/officeDocument/2006/relationships/image" Target="/ppt/media/image50.png" Id="R54bac7ebc6644b1a" /><Relationship Type="http://schemas.openxmlformats.org/officeDocument/2006/relationships/image" Target="/ppt/media/image51.png" Id="Reb31d60d3b714f8f" /><Relationship Type="http://schemas.openxmlformats.org/officeDocument/2006/relationships/image" Target="/ppt/media/image52.png" Id="R962b05af14364ab8" /><Relationship Type="http://schemas.openxmlformats.org/officeDocument/2006/relationships/image" Target="/ppt/media/image53.png" Id="R4cf47c3e4f444f2d" /><Relationship Type="http://schemas.openxmlformats.org/officeDocument/2006/relationships/notesSlide" Target="/ppt/notesSlides/notesSlide4.xml" Id="Ra9c929661a4c43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bafd96d5ae3455d" /><Relationship Type="http://schemas.openxmlformats.org/officeDocument/2006/relationships/image" Target="/ppt/media/image54.png" Id="R57ff72bd0ffc44ef" /><Relationship Type="http://schemas.openxmlformats.org/officeDocument/2006/relationships/image" Target="/ppt/media/image55.png" Id="Rc715ba98603f4a81" /><Relationship Type="http://schemas.openxmlformats.org/officeDocument/2006/relationships/image" Target="/ppt/media/image56.png" Id="R0687878141a04e1b" /><Relationship Type="http://schemas.openxmlformats.org/officeDocument/2006/relationships/image" Target="/ppt/media/image57.png" Id="Rafdddfe5467d4ab0" /><Relationship Type="http://schemas.openxmlformats.org/officeDocument/2006/relationships/image" Target="/ppt/media/image58.png" Id="R63d39b0ca37c489c" /><Relationship Type="http://schemas.openxmlformats.org/officeDocument/2006/relationships/image" Target="/ppt/media/image59.png" Id="Rfae6ee1867624899" /><Relationship Type="http://schemas.openxmlformats.org/officeDocument/2006/relationships/image" Target="/ppt/media/image60.png" Id="Rc8c1ac42cd1343a9" /><Relationship Type="http://schemas.openxmlformats.org/officeDocument/2006/relationships/image" Target="/ppt/media/image61.png" Id="R73b328661a214a65" /><Relationship Type="http://schemas.openxmlformats.org/officeDocument/2006/relationships/notesSlide" Target="/ppt/notesSlides/notesSlide5.xml" Id="R96fdafbe6fbe44a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034a6df3e8a4755" /><Relationship Type="http://schemas.openxmlformats.org/officeDocument/2006/relationships/image" Target="/ppt/media/image62.png" Id="Ra97f149dc9ec4c8e" /><Relationship Type="http://schemas.openxmlformats.org/officeDocument/2006/relationships/image" Target="/ppt/media/image63.png" Id="Ra5044e9990e24ef3" /><Relationship Type="http://schemas.openxmlformats.org/officeDocument/2006/relationships/notesSlide" Target="/ppt/notesSlides/notesSlide6.xml" Id="Rb20cecaa0417483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48ad37ce3844f70" /><Relationship Type="http://schemas.openxmlformats.org/officeDocument/2006/relationships/image" Target="/ppt/media/image64.png" Id="R1b484fac354340e9" /><Relationship Type="http://schemas.openxmlformats.org/officeDocument/2006/relationships/notesSlide" Target="/ppt/notesSlides/notesSlide7.xml" Id="R64be96486ea74a64" /></Relationships>
</file>

<file path=ppt/slides/slide1.xml><?xml version="1.0" encoding="utf-8"?>
<p:sld xmlns:p="http://schemas.openxmlformats.org/presentationml/2006/main">
  <p:cSld>
    <p:bg>
      <p:bgPr>
        <a:solidFill xmlns:a="http://schemas.openxmlformats.org/drawingml/2006/main">
          <a:srgbClr val="FAF9F7"/>
        </a:solidFill>
      </p:bgPr>
    </p:bg>
    <p:spTree>
      <p:nvGrpSpPr>
        <p:cNvPr id="1" name=""/>
        <p:cNvGrpSpPr/>
        <p:nvPr/>
      </p:nvGrpSpPr>
      <p:grpSpPr>
        <a:xfrm xmlns:a="http://schemas.openxmlformats.org/drawingml/2006/main"/>
      </p:grpSpPr>
      <p:sp>
        <p:nvSpPr>
          <p:cNvPr id="32" name="Oval 31">
            <a:extLst xmlns:a="http://schemas.openxmlformats.org/drawingml/2006/main">
              <a:ext uri="{FF2B5EF4-FFF2-40B4-BE49-F238E27FC236}">
                <a16:creationId xmlns:a16="http://schemas.microsoft.com/office/drawing/2014/main" id="{A1CC6518-64CA-4AA7-955D-33BB33948610}"/>
              </a:ext>
            </a:extLst>
          </p:cNvPr>
          <p:cNvSpPr>
            <a:spLocks xmlns:a="http://schemas.openxmlformats.org/drawingml/2006/main" noGrp="1"/>
          </p:cNvSpPr>
          <p:nvPr/>
        </p:nvSpPr>
        <p:spPr>
          <a:xfrm xmlns:a="http://schemas.openxmlformats.org/drawingml/2006/main">
            <a:off x="4876800" y="552450"/>
            <a:ext cx="38100" cy="38100"/>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 name="Oval 1">
            <a:extLst xmlns:a="http://schemas.openxmlformats.org/drawingml/2006/main">
              <a:ext uri="{FF2B5EF4-FFF2-40B4-BE49-F238E27FC236}">
                <a16:creationId xmlns:a16="http://schemas.microsoft.com/office/drawing/2014/main" id="{C4C29316-E1A7-44C2-B2EE-FDBD2776CB8E}"/>
              </a:ext>
            </a:extLst>
          </p:cNvPr>
          <p:cNvSpPr>
            <a:spLocks xmlns:a="http://schemas.openxmlformats.org/drawingml/2006/main" noGrp="1"/>
          </p:cNvSpPr>
          <p:nvPr/>
        </p:nvSpPr>
        <p:spPr>
          <a:xfrm xmlns:a="http://schemas.openxmlformats.org/drawingml/2006/main">
            <a:off x="5886450" y="628650"/>
            <a:ext cx="23813" cy="23813"/>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Oval 2">
            <a:extLst xmlns:a="http://schemas.openxmlformats.org/drawingml/2006/main">
              <a:ext uri="{FF2B5EF4-FFF2-40B4-BE49-F238E27FC236}">
                <a16:creationId xmlns:a16="http://schemas.microsoft.com/office/drawing/2014/main" id="{E427ECE8-C150-48E4-AADC-3627B9D4ACE7}"/>
              </a:ext>
            </a:extLst>
          </p:cNvPr>
          <p:cNvSpPr>
            <a:spLocks xmlns:a="http://schemas.openxmlformats.org/drawingml/2006/main" noGrp="1"/>
          </p:cNvSpPr>
          <p:nvPr/>
        </p:nvSpPr>
        <p:spPr>
          <a:xfrm xmlns:a="http://schemas.openxmlformats.org/drawingml/2006/main">
            <a:off x="6896100" y="400050"/>
            <a:ext cx="57150" cy="57150"/>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Oval 3">
            <a:extLst xmlns:a="http://schemas.openxmlformats.org/drawingml/2006/main">
              <a:ext uri="{FF2B5EF4-FFF2-40B4-BE49-F238E27FC236}">
                <a16:creationId xmlns:a16="http://schemas.microsoft.com/office/drawing/2014/main" id="{7A0E5362-D867-453B-ABAF-FE93262BE71C}"/>
              </a:ext>
            </a:extLst>
          </p:cNvPr>
          <p:cNvSpPr>
            <a:spLocks xmlns:a="http://schemas.openxmlformats.org/drawingml/2006/main" noGrp="1"/>
          </p:cNvSpPr>
          <p:nvPr/>
        </p:nvSpPr>
        <p:spPr>
          <a:xfrm xmlns:a="http://schemas.openxmlformats.org/drawingml/2006/main">
            <a:off x="8858250" y="838200"/>
            <a:ext cx="23813" cy="23813"/>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61158BC2-7531-40E2-9439-5BB061D20AA1}"/>
              </a:ext>
            </a:extLst>
          </p:cNvPr>
          <p:cNvSpPr>
            <a:spLocks xmlns:a="http://schemas.openxmlformats.org/drawingml/2006/main" noGrp="1"/>
          </p:cNvSpPr>
          <p:nvPr/>
        </p:nvSpPr>
        <p:spPr>
          <a:xfrm xmlns:a="http://schemas.openxmlformats.org/drawingml/2006/main">
            <a:off x="10515600" y="723900"/>
            <a:ext cx="28575" cy="28575"/>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Oval 5">
            <a:extLst xmlns:a="http://schemas.openxmlformats.org/drawingml/2006/main">
              <a:ext uri="{FF2B5EF4-FFF2-40B4-BE49-F238E27FC236}">
                <a16:creationId xmlns:a16="http://schemas.microsoft.com/office/drawing/2014/main" id="{884BF918-0C4D-43D2-9F46-3A56FB7E17E4}"/>
              </a:ext>
            </a:extLst>
          </p:cNvPr>
          <p:cNvSpPr>
            <a:spLocks xmlns:a="http://schemas.openxmlformats.org/drawingml/2006/main" noGrp="1"/>
          </p:cNvSpPr>
          <p:nvPr/>
        </p:nvSpPr>
        <p:spPr>
          <a:xfrm xmlns:a="http://schemas.openxmlformats.org/drawingml/2006/main">
            <a:off x="11163300" y="1181100"/>
            <a:ext cx="28575" cy="28575"/>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60D44F0D-4B06-47FA-974E-BDB124A8A156}"/>
              </a:ext>
            </a:extLst>
          </p:cNvPr>
          <p:cNvSpPr>
            <a:spLocks xmlns:a="http://schemas.openxmlformats.org/drawingml/2006/main" noGrp="1"/>
          </p:cNvSpPr>
          <p:nvPr/>
        </p:nvSpPr>
        <p:spPr>
          <a:xfrm xmlns:a="http://schemas.openxmlformats.org/drawingml/2006/main">
            <a:off x="4629150" y="2990850"/>
            <a:ext cx="28575" cy="28575"/>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Oval 7">
            <a:extLst xmlns:a="http://schemas.openxmlformats.org/drawingml/2006/main">
              <a:ext uri="{FF2B5EF4-FFF2-40B4-BE49-F238E27FC236}">
                <a16:creationId xmlns:a16="http://schemas.microsoft.com/office/drawing/2014/main" id="{0885E41D-DE5E-41E9-80BD-670E43A3EAA9}"/>
              </a:ext>
            </a:extLst>
          </p:cNvPr>
          <p:cNvSpPr>
            <a:spLocks xmlns:a="http://schemas.openxmlformats.org/drawingml/2006/main" noGrp="1"/>
          </p:cNvSpPr>
          <p:nvPr/>
        </p:nvSpPr>
        <p:spPr>
          <a:xfrm xmlns:a="http://schemas.openxmlformats.org/drawingml/2006/main">
            <a:off x="8496300" y="2943225"/>
            <a:ext cx="19050" cy="19050"/>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Oval 8">
            <a:extLst xmlns:a="http://schemas.openxmlformats.org/drawingml/2006/main">
              <a:ext uri="{FF2B5EF4-FFF2-40B4-BE49-F238E27FC236}">
                <a16:creationId xmlns:a16="http://schemas.microsoft.com/office/drawing/2014/main" id="{9083455D-2F79-4267-A7CC-6F82FDF831B0}"/>
              </a:ext>
            </a:extLst>
          </p:cNvPr>
          <p:cNvSpPr>
            <a:spLocks xmlns:a="http://schemas.openxmlformats.org/drawingml/2006/main" noGrp="1"/>
          </p:cNvSpPr>
          <p:nvPr/>
        </p:nvSpPr>
        <p:spPr>
          <a:xfrm xmlns:a="http://schemas.openxmlformats.org/drawingml/2006/main">
            <a:off x="9677400" y="3790950"/>
            <a:ext cx="38100" cy="38100"/>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Oval 9">
            <a:extLst xmlns:a="http://schemas.openxmlformats.org/drawingml/2006/main">
              <a:ext uri="{FF2B5EF4-FFF2-40B4-BE49-F238E27FC236}">
                <a16:creationId xmlns:a16="http://schemas.microsoft.com/office/drawing/2014/main" id="{2E27BC3E-52F0-4FE1-AEC2-887E82B05A50}"/>
              </a:ext>
            </a:extLst>
          </p:cNvPr>
          <p:cNvSpPr>
            <a:spLocks xmlns:a="http://schemas.openxmlformats.org/drawingml/2006/main" noGrp="1"/>
          </p:cNvSpPr>
          <p:nvPr/>
        </p:nvSpPr>
        <p:spPr>
          <a:xfrm xmlns:a="http://schemas.openxmlformats.org/drawingml/2006/main">
            <a:off x="11468100" y="5857875"/>
            <a:ext cx="28575" cy="28575"/>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Oval 10">
            <a:extLst xmlns:a="http://schemas.openxmlformats.org/drawingml/2006/main">
              <a:ext uri="{FF2B5EF4-FFF2-40B4-BE49-F238E27FC236}">
                <a16:creationId xmlns:a16="http://schemas.microsoft.com/office/drawing/2014/main" id="{95A97ED1-16B5-4376-BC35-FCD81B4F70AD}"/>
              </a:ext>
            </a:extLst>
          </p:cNvPr>
          <p:cNvSpPr>
            <a:spLocks xmlns:a="http://schemas.openxmlformats.org/drawingml/2006/main" noGrp="1"/>
          </p:cNvSpPr>
          <p:nvPr/>
        </p:nvSpPr>
        <p:spPr>
          <a:xfrm xmlns:a="http://schemas.openxmlformats.org/drawingml/2006/main">
            <a:off x="514350" y="2895600"/>
            <a:ext cx="38100" cy="38100"/>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2" name="Oval 11">
            <a:extLst xmlns:a="http://schemas.openxmlformats.org/drawingml/2006/main">
              <a:ext uri="{FF2B5EF4-FFF2-40B4-BE49-F238E27FC236}">
                <a16:creationId xmlns:a16="http://schemas.microsoft.com/office/drawing/2014/main" id="{E6AB839F-A877-4953-81EB-00AB5DFF2A03}"/>
              </a:ext>
            </a:extLst>
          </p:cNvPr>
          <p:cNvSpPr>
            <a:spLocks xmlns:a="http://schemas.openxmlformats.org/drawingml/2006/main" noGrp="1"/>
          </p:cNvSpPr>
          <p:nvPr/>
        </p:nvSpPr>
        <p:spPr>
          <a:xfrm xmlns:a="http://schemas.openxmlformats.org/drawingml/2006/main">
            <a:off x="304800" y="3409950"/>
            <a:ext cx="28575" cy="28575"/>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Oval 12">
            <a:extLst xmlns:a="http://schemas.openxmlformats.org/drawingml/2006/main">
              <a:ext uri="{FF2B5EF4-FFF2-40B4-BE49-F238E27FC236}">
                <a16:creationId xmlns:a16="http://schemas.microsoft.com/office/drawing/2014/main" id="{2233669D-4733-4D32-8C08-A3A7377FB7AC}"/>
              </a:ext>
            </a:extLst>
          </p:cNvPr>
          <p:cNvSpPr>
            <a:spLocks xmlns:a="http://schemas.openxmlformats.org/drawingml/2006/main" noGrp="1"/>
          </p:cNvSpPr>
          <p:nvPr/>
        </p:nvSpPr>
        <p:spPr>
          <a:xfrm xmlns:a="http://schemas.openxmlformats.org/drawingml/2006/main">
            <a:off x="0" y="3124200"/>
            <a:ext cx="1524000" cy="2381250"/>
          </a:xfrm>
          <a:prstGeom xmlns:a="http://schemas.openxmlformats.org/drawingml/2006/main" prst="ellipse">
            <a:avLst/>
          </a:prstGeom>
          <a:solidFill xmlns:a="http://schemas.openxmlformats.org/drawingml/2006/main">
            <a:srgbClr val="F5F7F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52" name="Picture 44"/>
          <p:cNvPicPr>
            <a:picLocks xmlns:a="http://schemas.openxmlformats.org/drawingml/2006/main" noChangeAspect="1"/>
          </p:cNvPicPr>
          <p:nvPr/>
        </p:nvPicPr>
        <p:blipFill>
          <a:blip xmlns:r="http://schemas.openxmlformats.org/officeDocument/2006/relationships" xmlns:a="http://schemas.openxmlformats.org/drawingml/2006/main" r:embed="R1eed4c738cc54fe0"/>
          <a:stretch xmlns:a="http://schemas.openxmlformats.org/drawingml/2006/main"/>
        </p:blipFill>
        <p:spPr>
          <a:xfrm xmlns:a="http://schemas.openxmlformats.org/drawingml/2006/main">
            <a:off x="374822" y="352425"/>
            <a:ext cx="1612557" cy="342900"/>
          </a:xfrm>
          <a:prstGeom xmlns:a="http://schemas.openxmlformats.org/drawingml/2006/main" prst="rect">
            <a:avLst/>
          </a:prstGeom>
        </p:spPr>
      </p:pic>
      <p:pic>
        <p:nvPicPr>
          <p:cNvPr id="53" name="Picture 45"/>
          <p:cNvPicPr>
            <a:picLocks xmlns:a="http://schemas.openxmlformats.org/drawingml/2006/main" noChangeAspect="1"/>
          </p:cNvPicPr>
          <p:nvPr/>
        </p:nvPicPr>
        <p:blipFill>
          <a:blip xmlns:r="http://schemas.openxmlformats.org/officeDocument/2006/relationships" xmlns:a="http://schemas.openxmlformats.org/drawingml/2006/main" r:embed="Rd29dd5e6c2674ab0"/>
          <a:stretch xmlns:a="http://schemas.openxmlformats.org/drawingml/2006/main"/>
        </p:blipFill>
        <p:spPr>
          <a:xfrm xmlns:a="http://schemas.openxmlformats.org/drawingml/2006/main">
            <a:off x="5819775" y="1095375"/>
            <a:ext cx="6124575" cy="5000625"/>
          </a:xfrm>
          <a:prstGeom xmlns:a="http://schemas.openxmlformats.org/drawingml/2006/main" prst="rect">
            <a:avLst/>
          </a:prstGeom>
        </p:spPr>
      </p:pic>
      <p:sp>
        <p:nvSpPr>
          <p:cNvPr id="16" name="Rectangle 15">
            <a:extLst xmlns:a="http://schemas.openxmlformats.org/drawingml/2006/main">
              <a:ext uri="{FF2B5EF4-FFF2-40B4-BE49-F238E27FC236}">
                <a16:creationId xmlns:a16="http://schemas.microsoft.com/office/drawing/2014/main" id="{001C5855-1F38-4164-87CB-881DEDEFBB07}"/>
              </a:ext>
            </a:extLst>
          </p:cNvPr>
          <p:cNvSpPr>
            <a:spLocks xmlns:a="http://schemas.openxmlformats.org/drawingml/2006/main" noGrp="1"/>
          </p:cNvSpPr>
          <p:nvPr/>
        </p:nvSpPr>
        <p:spPr>
          <a:xfrm xmlns:a="http://schemas.openxmlformats.org/drawingml/2006/main">
            <a:off x="476250" y="1695450"/>
            <a:ext cx="4333875"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96000"/>
              </a:lnSpc>
              <a:buNone/>
              <a:defRPr sz="3975" b="1" i="0">
                <a:solidFill>
                  <a:srgbClr val="00452C"/>
                </a:solidFill>
                <a:latin typeface="Arial"/>
                <a:ea typeface="Arial"/>
                <a:cs typeface="Arial"/>
              </a:defRPr>
            </a:pPr>
            <a:r>
              <a:rPr sz="3975" b="1" i="0">
                <a:solidFill>
                  <a:srgbClr val="00452C"/>
                </a:solidFill>
                <a:latin typeface="Arial"/>
                <a:ea typeface="Arial"/>
                <a:cs typeface="Arial"/>
              </a:rPr>
              <a:t>OCI Compute</a:t>
            </a:r>
          </a:p>
          <a:p xmlns:a="http://schemas.openxmlformats.org/drawingml/2006/main">
            <a:pPr algn="l">
              <a:lnSpc>
                <a:spcPct val="96000"/>
              </a:lnSpc>
              <a:buNone/>
              <a:defRPr sz="3975" b="1" i="0">
                <a:solidFill>
                  <a:srgbClr val="00452C"/>
                </a:solidFill>
                <a:latin typeface="Arial"/>
                <a:ea typeface="Arial"/>
                <a:cs typeface="Arial"/>
              </a:defRPr>
            </a:pPr>
            <a:r>
              <a:rPr sz="3975" b="1" i="0">
                <a:solidFill>
                  <a:srgbClr val="00452C"/>
                </a:solidFill>
                <a:latin typeface="Arial"/>
                <a:ea typeface="Arial"/>
                <a:cs typeface="Arial"/>
              </a:rPr>
              <a:t>Migration</a:t>
            </a:r>
          </a:p>
        </p:txBody>
      </p:sp>
      <p:sp>
        <p:nvSpPr>
          <p:cNvPr id="17" name="Rectangle 16">
            <a:extLst xmlns:a="http://schemas.openxmlformats.org/drawingml/2006/main">
              <a:ext uri="{FF2B5EF4-FFF2-40B4-BE49-F238E27FC236}">
                <a16:creationId xmlns:a16="http://schemas.microsoft.com/office/drawing/2014/main" id="{25E6AE56-2DC7-4182-842C-BC55A544F73E}"/>
              </a:ext>
            </a:extLst>
          </p:cNvPr>
          <p:cNvSpPr>
            <a:spLocks xmlns:a="http://schemas.openxmlformats.org/drawingml/2006/main" noGrp="1"/>
          </p:cNvSpPr>
          <p:nvPr/>
        </p:nvSpPr>
        <p:spPr>
          <a:xfrm xmlns:a="http://schemas.openxmlformats.org/drawingml/2006/main">
            <a:off x="495300" y="3333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2400" b="0" i="0">
                <a:solidFill>
                  <a:srgbClr val="111111"/>
                </a:solidFill>
                <a:latin typeface="Arial"/>
                <a:ea typeface="Arial"/>
                <a:cs typeface="Arial"/>
              </a:defRPr>
            </a:pPr>
            <a:r>
              <a:rPr sz="2400" b="0" i="0">
                <a:solidFill>
                  <a:srgbClr val="111111"/>
                </a:solidFill>
                <a:latin typeface="Arial"/>
                <a:ea typeface="Arial"/>
                <a:cs typeface="Arial"/>
              </a:rPr>
              <a:t>Proposed Sizing</a:t>
            </a:r>
          </a:p>
        </p:txBody>
      </p:sp>
      <p:sp>
        <p:nvSpPr>
          <p:cNvPr id="18" name="Rectangle 17">
            <a:extLst xmlns:a="http://schemas.openxmlformats.org/drawingml/2006/main">
              <a:ext uri="{FF2B5EF4-FFF2-40B4-BE49-F238E27FC236}">
                <a16:creationId xmlns:a16="http://schemas.microsoft.com/office/drawing/2014/main" id="{C5B1367C-E02C-4871-8DAA-3BB8A8E1FF62}"/>
              </a:ext>
            </a:extLst>
          </p:cNvPr>
          <p:cNvSpPr>
            <a:spLocks xmlns:a="http://schemas.openxmlformats.org/drawingml/2006/main" noGrp="1"/>
          </p:cNvSpPr>
          <p:nvPr/>
        </p:nvSpPr>
        <p:spPr>
          <a:xfrm xmlns:a="http://schemas.openxmlformats.org/drawingml/2006/main">
            <a:off x="514350" y="3781425"/>
            <a:ext cx="485775" cy="47625"/>
          </a:xfrm>
          <a:prstGeom xmlns:a="http://schemas.openxmlformats.org/drawingml/2006/main" prst="rect">
            <a:avLst/>
          </a:prstGeom>
          <a:solidFill xmlns:a="http://schemas.openxmlformats.org/drawingml/2006/main">
            <a:srgbClr val="E30613"/>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57" name="Picture 49"/>
          <p:cNvPicPr>
            <a:picLocks xmlns:a="http://schemas.openxmlformats.org/drawingml/2006/main" noChangeAspect="1"/>
          </p:cNvPicPr>
          <p:nvPr/>
        </p:nvPicPr>
        <p:blipFill>
          <a:blip xmlns:r="http://schemas.openxmlformats.org/officeDocument/2006/relationships" xmlns:a="http://schemas.openxmlformats.org/drawingml/2006/main" r:embed="R9cc5c7937e5f4fb5"/>
          <a:stretch xmlns:a="http://schemas.openxmlformats.org/drawingml/2006/main"/>
        </p:blipFill>
        <p:spPr>
          <a:xfrm xmlns:a="http://schemas.openxmlformats.org/drawingml/2006/main">
            <a:off x="504411" y="4362450"/>
            <a:ext cx="400878" cy="419100"/>
          </a:xfrm>
          <a:prstGeom xmlns:a="http://schemas.openxmlformats.org/drawingml/2006/main" prst="rect">
            <a:avLst/>
          </a:prstGeom>
        </p:spPr>
      </p:pic>
      <p:sp>
        <p:nvSpPr>
          <p:cNvPr id="20" name="Straight Connector 19">
            <a:extLst xmlns:a="http://schemas.openxmlformats.org/drawingml/2006/main">
              <a:ext uri="{FF2B5EF4-FFF2-40B4-BE49-F238E27FC236}">
                <a16:creationId xmlns:a16="http://schemas.microsoft.com/office/drawing/2014/main" id="{414B8E6D-449E-4A4F-874A-E18CB4088961}"/>
              </a:ext>
            </a:extLst>
          </p:cNvPr>
          <p:cNvSpPr>
            <a:spLocks xmlns:a="http://schemas.openxmlformats.org/drawingml/2006/main" noGrp="1"/>
          </p:cNvSpPr>
          <p:nvPr/>
        </p:nvSpPr>
        <p:spPr>
          <a:xfrm xmlns:a="http://schemas.openxmlformats.org/drawingml/2006/main">
            <a:off x="1066800" y="4381500"/>
            <a:ext cx="0" cy="400050"/>
          </a:xfrm>
          <a:prstGeom xmlns:a="http://schemas.openxmlformats.org/drawingml/2006/main" prst="line">
            <a:avLst/>
          </a:prstGeom>
          <a:noFill xmlns:a="http://schemas.openxmlformats.org/drawingml/2006/main"/>
          <a:ln xmlns:a="http://schemas.openxmlformats.org/drawingml/2006/main" w="9525">
            <a:solidFill>
              <a:srgbClr val="AEB7B1"/>
            </a:solidFill>
            <a:prstDash val="solid"/>
          </a:ln>
        </p:spPr>
        <p:txBody>
          <a:bodyPr xmlns:a="http://schemas.openxmlformats.org/drawingml/2006/main"/>
          <a:lstStyle xmlns:a="http://schemas.openxmlformats.org/drawingml/2006/main"/>
          <a:p xmlns:a="http://schemas.openxmlformats.org/drawingml/2006/main">
            <a:endParaRPr/>
          </a:p>
        </p:txBody>
      </p:sp>
      <p:sp>
        <p:nvSpPr>
          <p:cNvPr id="21" name="Rectangle 20">
            <a:extLst xmlns:a="http://schemas.openxmlformats.org/drawingml/2006/main">
              <a:ext uri="{FF2B5EF4-FFF2-40B4-BE49-F238E27FC236}">
                <a16:creationId xmlns:a16="http://schemas.microsoft.com/office/drawing/2014/main" id="{0898662F-CD05-4BD7-B41E-E32647674A2B}"/>
              </a:ext>
            </a:extLst>
          </p:cNvPr>
          <p:cNvSpPr>
            <a:spLocks xmlns:a="http://schemas.openxmlformats.org/drawingml/2006/main" noGrp="1"/>
          </p:cNvSpPr>
          <p:nvPr/>
        </p:nvSpPr>
        <p:spPr>
          <a:xfrm xmlns:a="http://schemas.openxmlformats.org/drawingml/2006/main">
            <a:off x="1219200" y="4400550"/>
            <a:ext cx="1238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452C"/>
                </a:solidFill>
                <a:latin typeface="Arial"/>
                <a:ea typeface="Arial"/>
                <a:cs typeface="Arial"/>
              </a:defRPr>
            </a:pPr>
            <a:r>
              <a:rPr sz="1125" b="1" i="0">
                <a:solidFill>
                  <a:srgbClr val="00452C"/>
                </a:solidFill>
                <a:latin typeface="Arial"/>
                <a:ea typeface="Arial"/>
                <a:cs typeface="Arial"/>
              </a:rPr>
              <a:t>Customer</a:t>
            </a:r>
          </a:p>
        </p:txBody>
      </p:sp>
      <p:sp>
        <p:nvSpPr>
          <p:cNvPr id="22" name="editable-customer-value">
            <a:extLst xmlns:a="http://schemas.openxmlformats.org/drawingml/2006/main">
              <a:ext uri="{FF2B5EF4-FFF2-40B4-BE49-F238E27FC236}">
                <a16:creationId xmlns:a16="http://schemas.microsoft.com/office/drawing/2014/main" id="{598A69E0-2C9D-4A04-895F-7E5E0976B2A9}"/>
              </a:ext>
            </a:extLst>
          </p:cNvPr>
          <p:cNvSpPr>
            <a:spLocks xmlns:a="http://schemas.openxmlformats.org/drawingml/2006/main" noGrp="1"/>
          </p:cNvSpPr>
          <p:nvPr/>
        </p:nvSpPr>
        <p:spPr>
          <a:xfrm xmlns:a="http://schemas.openxmlformats.org/drawingml/2006/main">
            <a:off x="1219200" y="46577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38" b="0" i="0">
                <a:solidFill>
                  <a:srgbClr val="111111"/>
                </a:solidFill>
                <a:latin typeface="Arial"/>
                <a:ea typeface="Arial"/>
                <a:cs typeface="Arial"/>
              </a:defRPr>
            </a:pPr>
            <a:r>
              <a:rPr sz="938" b="0" i="0">
                <a:solidFill>
                  <a:srgbClr val="111111"/>
                </a:solidFill>
                <a:latin typeface="Arial"/>
                <a:ea typeface="Arial"/>
                <a:cs typeface="Arial"/>
              </a:rPr>
              <a:t>TEST01/07</a:t>
            </a:r>
          </a:p>
        </p:txBody>
      </p:sp>
      <p:pic>
        <p:nvPicPr>
          <p:cNvPr id="61" name="Picture 53"/>
          <p:cNvPicPr>
            <a:picLocks xmlns:a="http://schemas.openxmlformats.org/drawingml/2006/main" noChangeAspect="1"/>
          </p:cNvPicPr>
          <p:nvPr/>
        </p:nvPicPr>
        <p:blipFill>
          <a:blip xmlns:r="http://schemas.openxmlformats.org/officeDocument/2006/relationships" xmlns:a="http://schemas.openxmlformats.org/drawingml/2006/main" r:embed="R054b58510ea741f8"/>
          <a:stretch xmlns:a="http://schemas.openxmlformats.org/drawingml/2006/main"/>
        </p:blipFill>
        <p:spPr>
          <a:xfrm xmlns:a="http://schemas.openxmlformats.org/drawingml/2006/main">
            <a:off x="504411" y="4972050"/>
            <a:ext cx="400878" cy="419100"/>
          </a:xfrm>
          <a:prstGeom xmlns:a="http://schemas.openxmlformats.org/drawingml/2006/main" prst="rect">
            <a:avLst/>
          </a:prstGeom>
        </p:spPr>
      </p:pic>
      <p:sp>
        <p:nvSpPr>
          <p:cNvPr id="24" name="Straight Connector 23">
            <a:extLst xmlns:a="http://schemas.openxmlformats.org/drawingml/2006/main">
              <a:ext uri="{FF2B5EF4-FFF2-40B4-BE49-F238E27FC236}">
                <a16:creationId xmlns:a16="http://schemas.microsoft.com/office/drawing/2014/main" id="{952B6C8C-40C4-4B8D-A0F8-CAB487557C11}"/>
              </a:ext>
            </a:extLst>
          </p:cNvPr>
          <p:cNvSpPr>
            <a:spLocks xmlns:a="http://schemas.openxmlformats.org/drawingml/2006/main" noGrp="1"/>
          </p:cNvSpPr>
          <p:nvPr/>
        </p:nvSpPr>
        <p:spPr>
          <a:xfrm xmlns:a="http://schemas.openxmlformats.org/drawingml/2006/main">
            <a:off x="1066800" y="4991100"/>
            <a:ext cx="0" cy="400050"/>
          </a:xfrm>
          <a:prstGeom xmlns:a="http://schemas.openxmlformats.org/drawingml/2006/main" prst="line">
            <a:avLst/>
          </a:prstGeom>
          <a:noFill xmlns:a="http://schemas.openxmlformats.org/drawingml/2006/main"/>
          <a:ln xmlns:a="http://schemas.openxmlformats.org/drawingml/2006/main" w="9525">
            <a:solidFill>
              <a:srgbClr val="AEB7B1"/>
            </a:solidFill>
            <a:prstDash val="solid"/>
          </a:ln>
        </p:spPr>
        <p:txBody>
          <a:bodyPr xmlns:a="http://schemas.openxmlformats.org/drawingml/2006/main"/>
          <a:lstStyle xmlns:a="http://schemas.openxmlformats.org/drawingml/2006/main"/>
          <a:p xmlns:a="http://schemas.openxmlformats.org/drawingml/2006/main">
            <a:endParaRPr/>
          </a:p>
        </p:txBody>
      </p:sp>
      <p:sp>
        <p:nvSpPr>
          <p:cNvPr id="25" name="Rectangle 24">
            <a:extLst xmlns:a="http://schemas.openxmlformats.org/drawingml/2006/main">
              <a:ext uri="{FF2B5EF4-FFF2-40B4-BE49-F238E27FC236}">
                <a16:creationId xmlns:a16="http://schemas.microsoft.com/office/drawing/2014/main" id="{B9BBBA1E-BBE7-4F48-8E2E-9ABA2B9DC58B}"/>
              </a:ext>
            </a:extLst>
          </p:cNvPr>
          <p:cNvSpPr>
            <a:spLocks xmlns:a="http://schemas.openxmlformats.org/drawingml/2006/main" noGrp="1"/>
          </p:cNvSpPr>
          <p:nvPr/>
        </p:nvSpPr>
        <p:spPr>
          <a:xfrm xmlns:a="http://schemas.openxmlformats.org/drawingml/2006/main">
            <a:off x="1219200" y="5010150"/>
            <a:ext cx="1238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452C"/>
                </a:solidFill>
                <a:latin typeface="Arial"/>
                <a:ea typeface="Arial"/>
                <a:cs typeface="Arial"/>
              </a:defRPr>
            </a:pPr>
            <a:r>
              <a:rPr sz="1125" b="1" i="0">
                <a:solidFill>
                  <a:srgbClr val="00452C"/>
                </a:solidFill>
                <a:latin typeface="Arial"/>
                <a:ea typeface="Arial"/>
                <a:cs typeface="Arial"/>
              </a:rPr>
              <a:t>Date</a:t>
            </a:r>
          </a:p>
        </p:txBody>
      </p:sp>
      <p:sp>
        <p:nvSpPr>
          <p:cNvPr id="26" name="editable-date-value">
            <a:extLst xmlns:a="http://schemas.openxmlformats.org/drawingml/2006/main">
              <a:ext uri="{FF2B5EF4-FFF2-40B4-BE49-F238E27FC236}">
                <a16:creationId xmlns:a16="http://schemas.microsoft.com/office/drawing/2014/main" id="{B40CB73A-06AC-4787-9146-C44115C2AB70}"/>
              </a:ext>
            </a:extLst>
          </p:cNvPr>
          <p:cNvSpPr>
            <a:spLocks xmlns:a="http://schemas.openxmlformats.org/drawingml/2006/main" noGrp="1"/>
          </p:cNvSpPr>
          <p:nvPr/>
        </p:nvSpPr>
        <p:spPr>
          <a:xfrm xmlns:a="http://schemas.openxmlformats.org/drawingml/2006/main">
            <a:off x="1219200" y="52673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38" b="0" i="0">
                <a:solidFill>
                  <a:srgbClr val="111111"/>
                </a:solidFill>
                <a:latin typeface="Arial"/>
                <a:ea typeface="Arial"/>
                <a:cs typeface="Arial"/>
              </a:defRPr>
            </a:pPr>
            <a:r>
              <a:rPr sz="938" b="0" i="0">
                <a:solidFill>
                  <a:srgbClr val="111111"/>
                </a:solidFill>
                <a:latin typeface="Arial"/>
                <a:ea typeface="Arial"/>
                <a:cs typeface="Arial"/>
              </a:rPr>
              <a:t>Jul 01, 2026</a:t>
            </a:r>
          </a:p>
        </p:txBody>
      </p:sp>
      <p:pic>
        <p:nvPicPr>
          <p:cNvPr id="65" name="Picture 57"/>
          <p:cNvPicPr>
            <a:picLocks xmlns:a="http://schemas.openxmlformats.org/drawingml/2006/main" noChangeAspect="1"/>
          </p:cNvPicPr>
          <p:nvPr/>
        </p:nvPicPr>
        <p:blipFill>
          <a:blip xmlns:r="http://schemas.openxmlformats.org/officeDocument/2006/relationships" xmlns:a="http://schemas.openxmlformats.org/drawingml/2006/main" r:embed="Rd6fb1be62b5a4492"/>
          <a:stretch xmlns:a="http://schemas.openxmlformats.org/drawingml/2006/main"/>
        </p:blipFill>
        <p:spPr>
          <a:xfrm xmlns:a="http://schemas.openxmlformats.org/drawingml/2006/main">
            <a:off x="504411" y="5572125"/>
            <a:ext cx="400878" cy="419100"/>
          </a:xfrm>
          <a:prstGeom xmlns:a="http://schemas.openxmlformats.org/drawingml/2006/main" prst="rect">
            <a:avLst/>
          </a:prstGeom>
        </p:spPr>
      </p:pic>
      <p:sp>
        <p:nvSpPr>
          <p:cNvPr id="28" name="Straight Connector 27">
            <a:extLst xmlns:a="http://schemas.openxmlformats.org/drawingml/2006/main">
              <a:ext uri="{FF2B5EF4-FFF2-40B4-BE49-F238E27FC236}">
                <a16:creationId xmlns:a16="http://schemas.microsoft.com/office/drawing/2014/main" id="{448A61C8-5D98-441C-A134-D7D078E0A189}"/>
              </a:ext>
            </a:extLst>
          </p:cNvPr>
          <p:cNvSpPr>
            <a:spLocks xmlns:a="http://schemas.openxmlformats.org/drawingml/2006/main" noGrp="1"/>
          </p:cNvSpPr>
          <p:nvPr/>
        </p:nvSpPr>
        <p:spPr>
          <a:xfrm xmlns:a="http://schemas.openxmlformats.org/drawingml/2006/main">
            <a:off x="1066800" y="5591175"/>
            <a:ext cx="0" cy="400050"/>
          </a:xfrm>
          <a:prstGeom xmlns:a="http://schemas.openxmlformats.org/drawingml/2006/main" prst="line">
            <a:avLst/>
          </a:prstGeom>
          <a:noFill xmlns:a="http://schemas.openxmlformats.org/drawingml/2006/main"/>
          <a:ln xmlns:a="http://schemas.openxmlformats.org/drawingml/2006/main" w="9525">
            <a:solidFill>
              <a:srgbClr val="AEB7B1"/>
            </a:solidFill>
            <a:prstDash val="solid"/>
          </a:ln>
        </p:spPr>
        <p:txBody>
          <a:bodyPr xmlns:a="http://schemas.openxmlformats.org/drawingml/2006/main"/>
          <a:lstStyle xmlns:a="http://schemas.openxmlformats.org/drawingml/2006/main"/>
          <a:p xmlns:a="http://schemas.openxmlformats.org/drawingml/2006/main">
            <a:endParaRPr/>
          </a:p>
        </p:txBody>
      </p:sp>
      <p:sp>
        <p:nvSpPr>
          <p:cNvPr id="29" name="Rectangle 28">
            <a:extLst xmlns:a="http://schemas.openxmlformats.org/drawingml/2006/main">
              <a:ext uri="{FF2B5EF4-FFF2-40B4-BE49-F238E27FC236}">
                <a16:creationId xmlns:a16="http://schemas.microsoft.com/office/drawing/2014/main" id="{1F74FE52-B7E3-464E-BD2D-CCCC853B0E64}"/>
              </a:ext>
            </a:extLst>
          </p:cNvPr>
          <p:cNvSpPr>
            <a:spLocks xmlns:a="http://schemas.openxmlformats.org/drawingml/2006/main" noGrp="1"/>
          </p:cNvSpPr>
          <p:nvPr/>
        </p:nvSpPr>
        <p:spPr>
          <a:xfrm xmlns:a="http://schemas.openxmlformats.org/drawingml/2006/main">
            <a:off x="1219200" y="5610225"/>
            <a:ext cx="1238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452C"/>
                </a:solidFill>
                <a:latin typeface="Arial"/>
                <a:ea typeface="Arial"/>
                <a:cs typeface="Arial"/>
              </a:defRPr>
            </a:pPr>
            <a:r>
              <a:rPr sz="1125" b="1" i="0">
                <a:solidFill>
                  <a:srgbClr val="00452C"/>
                </a:solidFill>
                <a:latin typeface="Arial"/>
                <a:ea typeface="Arial"/>
                <a:cs typeface="Arial"/>
              </a:rPr>
              <a:t>Prepared By</a:t>
            </a:r>
          </a:p>
        </p:txBody>
      </p:sp>
      <p:sp>
        <p:nvSpPr>
          <p:cNvPr id="30" name="Rectangle 29">
            <a:extLst xmlns:a="http://schemas.openxmlformats.org/drawingml/2006/main">
              <a:ext uri="{FF2B5EF4-FFF2-40B4-BE49-F238E27FC236}">
                <a16:creationId xmlns:a16="http://schemas.microsoft.com/office/drawing/2014/main" id="{CAF23993-C572-4488-866D-2C7A5482B8FF}"/>
              </a:ext>
            </a:extLst>
          </p:cNvPr>
          <p:cNvSpPr>
            <a:spLocks xmlns:a="http://schemas.openxmlformats.org/drawingml/2006/main" noGrp="1"/>
          </p:cNvSpPr>
          <p:nvPr/>
        </p:nvSpPr>
        <p:spPr>
          <a:xfrm xmlns:a="http://schemas.openxmlformats.org/drawingml/2006/main">
            <a:off x="1219200" y="58674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38" b="0" i="0">
                <a:solidFill>
                  <a:srgbClr val="111111"/>
                </a:solidFill>
                <a:latin typeface="Arial"/>
                <a:ea typeface="Arial"/>
                <a:cs typeface="Arial"/>
              </a:defRPr>
            </a:pPr>
            <a:r>
              <a:rPr sz="938" b="0" i="0">
                <a:solidFill>
                  <a:srgbClr val="111111"/>
                </a:solidFill>
                <a:latin typeface="Arial"/>
                <a:ea typeface="Arial"/>
                <a:cs typeface="Arial"/>
              </a:rPr>
              <a:t>Oracle Cloud VMware Specialist</a:t>
            </a:r>
          </a:p>
        </p:txBody>
      </p:sp>
      <p:pic>
        <p:nvPicPr>
          <p:cNvPr id="69" name="Picture 61"/>
          <p:cNvPicPr>
            <a:picLocks xmlns:a="http://schemas.openxmlformats.org/drawingml/2006/main" noChangeAspect="1"/>
          </p:cNvPicPr>
          <p:nvPr/>
        </p:nvPicPr>
        <p:blipFill>
          <a:blip xmlns:r="http://schemas.openxmlformats.org/officeDocument/2006/relationships" xmlns:a="http://schemas.openxmlformats.org/drawingml/2006/main" r:embed="R3f74e7a5a9aa4360"/>
          <a:stretch xmlns:a="http://schemas.openxmlformats.org/drawingml/2006/main"/>
        </p:blipFill>
        <p:spPr>
          <a:xfrm xmlns:a="http://schemas.openxmlformats.org/drawingml/2006/main">
            <a:off x="11458864" y="6486525"/>
            <a:ext cx="285173" cy="361950"/>
          </a:xfrm>
          <a:prstGeom xmlns:a="http://schemas.openxmlformats.org/drawingml/2006/main" prst="rect">
            <a:avLst/>
          </a:prstGeom>
        </p:spPr>
      </p:pic>
    </p:spTree>
    <p:extLst>
      <p:ext uri="{BB962C8B-B14F-4D97-AF65-F5344CB8AC3E}">
        <p14:creationId xmlns:p14="http://schemas.microsoft.com/office/powerpoint/2010/main" val="1424176089"/>
      </p:ext>
    </p:extLst>
  </p:cSld>
</p:sld>
</file>

<file path=ppt/slides/slide2.xml><?xml version="1.0" encoding="utf-8"?>
<p:sld xmlns:p="http://schemas.openxmlformats.org/presentationml/2006/main">
  <p:cSld>
    <p:bg>
      <p:bgPr>
        <a:solidFill xmlns:a="http://schemas.openxmlformats.org/drawingml/2006/main">
          <a:srgbClr val="FBFAF8"/>
        </a:solidFill>
      </p:bgPr>
    </p:bg>
    <p:spTree>
      <p:nvGrpSpPr>
        <p:cNvPr id="1" name=""/>
        <p:cNvGrpSpPr/>
        <p:nvPr/>
      </p:nvGrpSpPr>
      <p:grpSpPr>
        <a:xfrm xmlns:a="http://schemas.openxmlformats.org/drawingml/2006/main"/>
      </p:grpSpPr>
      <p:sp>
        <p:nvSpPr>
          <p:cNvPr id="123" name="Oval 122">
            <a:extLst xmlns:a="http://schemas.openxmlformats.org/drawingml/2006/main">
              <a:ext uri="{FF2B5EF4-FFF2-40B4-BE49-F238E27FC236}">
                <a16:creationId xmlns:a16="http://schemas.microsoft.com/office/drawing/2014/main" id="{568EAC45-913C-4BB6-A7C6-68D001E3312B}"/>
              </a:ext>
            </a:extLst>
          </p:cNvPr>
          <p:cNvSpPr>
            <a:spLocks xmlns:a="http://schemas.openxmlformats.org/drawingml/2006/main" noGrp="1"/>
          </p:cNvSpPr>
          <p:nvPr/>
        </p:nvSpPr>
        <p:spPr>
          <a:xfrm xmlns:a="http://schemas.openxmlformats.org/drawingml/2006/main">
            <a:off x="4876800" y="552450"/>
            <a:ext cx="38100" cy="38100"/>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 name="Oval 1">
            <a:extLst xmlns:a="http://schemas.openxmlformats.org/drawingml/2006/main">
              <a:ext uri="{FF2B5EF4-FFF2-40B4-BE49-F238E27FC236}">
                <a16:creationId xmlns:a16="http://schemas.microsoft.com/office/drawing/2014/main" id="{461F158E-2284-41F5-B1D5-DE53C2A7DA90}"/>
              </a:ext>
            </a:extLst>
          </p:cNvPr>
          <p:cNvSpPr>
            <a:spLocks xmlns:a="http://schemas.openxmlformats.org/drawingml/2006/main" noGrp="1"/>
          </p:cNvSpPr>
          <p:nvPr/>
        </p:nvSpPr>
        <p:spPr>
          <a:xfrm xmlns:a="http://schemas.openxmlformats.org/drawingml/2006/main">
            <a:off x="5886450" y="628650"/>
            <a:ext cx="23813" cy="23813"/>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Oval 2">
            <a:extLst xmlns:a="http://schemas.openxmlformats.org/drawingml/2006/main">
              <a:ext uri="{FF2B5EF4-FFF2-40B4-BE49-F238E27FC236}">
                <a16:creationId xmlns:a16="http://schemas.microsoft.com/office/drawing/2014/main" id="{ACC4F953-03EF-439E-AF8A-87A0C7FF36C8}"/>
              </a:ext>
            </a:extLst>
          </p:cNvPr>
          <p:cNvSpPr>
            <a:spLocks xmlns:a="http://schemas.openxmlformats.org/drawingml/2006/main" noGrp="1"/>
          </p:cNvSpPr>
          <p:nvPr/>
        </p:nvSpPr>
        <p:spPr>
          <a:xfrm xmlns:a="http://schemas.openxmlformats.org/drawingml/2006/main">
            <a:off x="6896100" y="400050"/>
            <a:ext cx="57150" cy="57150"/>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Oval 3">
            <a:extLst xmlns:a="http://schemas.openxmlformats.org/drawingml/2006/main">
              <a:ext uri="{FF2B5EF4-FFF2-40B4-BE49-F238E27FC236}">
                <a16:creationId xmlns:a16="http://schemas.microsoft.com/office/drawing/2014/main" id="{8D0B70C3-B9B6-4619-8F07-0E3DF2D52024}"/>
              </a:ext>
            </a:extLst>
          </p:cNvPr>
          <p:cNvSpPr>
            <a:spLocks xmlns:a="http://schemas.openxmlformats.org/drawingml/2006/main" noGrp="1"/>
          </p:cNvSpPr>
          <p:nvPr/>
        </p:nvSpPr>
        <p:spPr>
          <a:xfrm xmlns:a="http://schemas.openxmlformats.org/drawingml/2006/main">
            <a:off x="8858250" y="838200"/>
            <a:ext cx="23813" cy="23813"/>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B56F5A68-BB48-4329-8BA6-6DC95ABC282E}"/>
              </a:ext>
            </a:extLst>
          </p:cNvPr>
          <p:cNvSpPr>
            <a:spLocks xmlns:a="http://schemas.openxmlformats.org/drawingml/2006/main" noGrp="1"/>
          </p:cNvSpPr>
          <p:nvPr/>
        </p:nvSpPr>
        <p:spPr>
          <a:xfrm xmlns:a="http://schemas.openxmlformats.org/drawingml/2006/main">
            <a:off x="10515600" y="723900"/>
            <a:ext cx="28575" cy="28575"/>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Oval 5">
            <a:extLst xmlns:a="http://schemas.openxmlformats.org/drawingml/2006/main">
              <a:ext uri="{FF2B5EF4-FFF2-40B4-BE49-F238E27FC236}">
                <a16:creationId xmlns:a16="http://schemas.microsoft.com/office/drawing/2014/main" id="{2CE26BDD-0309-4DB1-B647-0632B928CFD6}"/>
              </a:ext>
            </a:extLst>
          </p:cNvPr>
          <p:cNvSpPr>
            <a:spLocks xmlns:a="http://schemas.openxmlformats.org/drawingml/2006/main" noGrp="1"/>
          </p:cNvSpPr>
          <p:nvPr/>
        </p:nvSpPr>
        <p:spPr>
          <a:xfrm xmlns:a="http://schemas.openxmlformats.org/drawingml/2006/main">
            <a:off x="11163300" y="1181100"/>
            <a:ext cx="28575" cy="28575"/>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FFCA6D0F-8947-4D62-B3AD-41C3B3BFEDAE}"/>
              </a:ext>
            </a:extLst>
          </p:cNvPr>
          <p:cNvSpPr>
            <a:spLocks xmlns:a="http://schemas.openxmlformats.org/drawingml/2006/main" noGrp="1"/>
          </p:cNvSpPr>
          <p:nvPr/>
        </p:nvSpPr>
        <p:spPr>
          <a:xfrm xmlns:a="http://schemas.openxmlformats.org/drawingml/2006/main">
            <a:off x="4629150" y="2990850"/>
            <a:ext cx="28575" cy="28575"/>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Oval 7">
            <a:extLst xmlns:a="http://schemas.openxmlformats.org/drawingml/2006/main">
              <a:ext uri="{FF2B5EF4-FFF2-40B4-BE49-F238E27FC236}">
                <a16:creationId xmlns:a16="http://schemas.microsoft.com/office/drawing/2014/main" id="{AFD9ACFD-1F7A-4CC5-9CDD-5C8C1E0FC7E8}"/>
              </a:ext>
            </a:extLst>
          </p:cNvPr>
          <p:cNvSpPr>
            <a:spLocks xmlns:a="http://schemas.openxmlformats.org/drawingml/2006/main" noGrp="1"/>
          </p:cNvSpPr>
          <p:nvPr/>
        </p:nvSpPr>
        <p:spPr>
          <a:xfrm xmlns:a="http://schemas.openxmlformats.org/drawingml/2006/main">
            <a:off x="8496300" y="2943225"/>
            <a:ext cx="19050" cy="19050"/>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Oval 8">
            <a:extLst xmlns:a="http://schemas.openxmlformats.org/drawingml/2006/main">
              <a:ext uri="{FF2B5EF4-FFF2-40B4-BE49-F238E27FC236}">
                <a16:creationId xmlns:a16="http://schemas.microsoft.com/office/drawing/2014/main" id="{64CD1E17-1765-4DEC-A05B-F4D788BB265C}"/>
              </a:ext>
            </a:extLst>
          </p:cNvPr>
          <p:cNvSpPr>
            <a:spLocks xmlns:a="http://schemas.openxmlformats.org/drawingml/2006/main" noGrp="1"/>
          </p:cNvSpPr>
          <p:nvPr/>
        </p:nvSpPr>
        <p:spPr>
          <a:xfrm xmlns:a="http://schemas.openxmlformats.org/drawingml/2006/main">
            <a:off x="9677400" y="3790950"/>
            <a:ext cx="38100" cy="38100"/>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Oval 9">
            <a:extLst xmlns:a="http://schemas.openxmlformats.org/drawingml/2006/main">
              <a:ext uri="{FF2B5EF4-FFF2-40B4-BE49-F238E27FC236}">
                <a16:creationId xmlns:a16="http://schemas.microsoft.com/office/drawing/2014/main" id="{4425D804-5184-4862-B323-B65A40BFD61D}"/>
              </a:ext>
            </a:extLst>
          </p:cNvPr>
          <p:cNvSpPr>
            <a:spLocks xmlns:a="http://schemas.openxmlformats.org/drawingml/2006/main" noGrp="1"/>
          </p:cNvSpPr>
          <p:nvPr/>
        </p:nvSpPr>
        <p:spPr>
          <a:xfrm xmlns:a="http://schemas.openxmlformats.org/drawingml/2006/main">
            <a:off x="11468100" y="5857875"/>
            <a:ext cx="28575" cy="28575"/>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Oval 10">
            <a:extLst xmlns:a="http://schemas.openxmlformats.org/drawingml/2006/main">
              <a:ext uri="{FF2B5EF4-FFF2-40B4-BE49-F238E27FC236}">
                <a16:creationId xmlns:a16="http://schemas.microsoft.com/office/drawing/2014/main" id="{537CDA20-3CDF-4FCD-8170-F70347EDF569}"/>
              </a:ext>
            </a:extLst>
          </p:cNvPr>
          <p:cNvSpPr>
            <a:spLocks xmlns:a="http://schemas.openxmlformats.org/drawingml/2006/main" noGrp="1"/>
          </p:cNvSpPr>
          <p:nvPr/>
        </p:nvSpPr>
        <p:spPr>
          <a:xfrm xmlns:a="http://schemas.openxmlformats.org/drawingml/2006/main">
            <a:off x="514350" y="2895600"/>
            <a:ext cx="38100" cy="38100"/>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2" name="Oval 11">
            <a:extLst xmlns:a="http://schemas.openxmlformats.org/drawingml/2006/main">
              <a:ext uri="{FF2B5EF4-FFF2-40B4-BE49-F238E27FC236}">
                <a16:creationId xmlns:a16="http://schemas.microsoft.com/office/drawing/2014/main" id="{FD576319-28A9-4191-9C20-15DA4ADEDD1B}"/>
              </a:ext>
            </a:extLst>
          </p:cNvPr>
          <p:cNvSpPr>
            <a:spLocks xmlns:a="http://schemas.openxmlformats.org/drawingml/2006/main" noGrp="1"/>
          </p:cNvSpPr>
          <p:nvPr/>
        </p:nvSpPr>
        <p:spPr>
          <a:xfrm xmlns:a="http://schemas.openxmlformats.org/drawingml/2006/main">
            <a:off x="304800" y="3409950"/>
            <a:ext cx="28575" cy="28575"/>
          </a:xfrm>
          <a:prstGeom xmlns:a="http://schemas.openxmlformats.org/drawingml/2006/main" prst="ellipse">
            <a:avLst/>
          </a:prstGeom>
          <a:solidFill xmlns:a="http://schemas.openxmlformats.org/drawingml/2006/main">
            <a:srgbClr val="E4E6E4"/>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Oval 12">
            <a:extLst xmlns:a="http://schemas.openxmlformats.org/drawingml/2006/main">
              <a:ext uri="{FF2B5EF4-FFF2-40B4-BE49-F238E27FC236}">
                <a16:creationId xmlns:a16="http://schemas.microsoft.com/office/drawing/2014/main" id="{1D372F61-8763-45C1-8436-3083F446D624}"/>
              </a:ext>
            </a:extLst>
          </p:cNvPr>
          <p:cNvSpPr>
            <a:spLocks xmlns:a="http://schemas.openxmlformats.org/drawingml/2006/main" noGrp="1"/>
          </p:cNvSpPr>
          <p:nvPr/>
        </p:nvSpPr>
        <p:spPr>
          <a:xfrm xmlns:a="http://schemas.openxmlformats.org/drawingml/2006/main">
            <a:off x="0" y="3124200"/>
            <a:ext cx="1524000" cy="2381250"/>
          </a:xfrm>
          <a:prstGeom xmlns:a="http://schemas.openxmlformats.org/drawingml/2006/main" prst="ellipse">
            <a:avLst/>
          </a:prstGeom>
          <a:solidFill xmlns:a="http://schemas.openxmlformats.org/drawingml/2006/main">
            <a:srgbClr val="F5F7F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163" name="Picture 135"/>
          <p:cNvPicPr>
            <a:picLocks xmlns:a="http://schemas.openxmlformats.org/drawingml/2006/main" noChangeAspect="1"/>
          </p:cNvPicPr>
          <p:nvPr/>
        </p:nvPicPr>
        <p:blipFill>
          <a:blip xmlns:r="http://schemas.openxmlformats.org/officeDocument/2006/relationships" xmlns:a="http://schemas.openxmlformats.org/drawingml/2006/main" r:embed="R62547c42b6054a6a"/>
          <a:stretch xmlns:a="http://schemas.openxmlformats.org/drawingml/2006/main"/>
        </p:blipFill>
        <p:spPr>
          <a:xfrm xmlns:a="http://schemas.openxmlformats.org/drawingml/2006/main">
            <a:off x="9391650" y="296466"/>
            <a:ext cx="2571750" cy="321469"/>
          </a:xfrm>
          <a:prstGeom xmlns:a="http://schemas.openxmlformats.org/drawingml/2006/main" prst="rect">
            <a:avLst/>
          </a:prstGeom>
        </p:spPr>
      </p:pic>
      <p:sp>
        <p:nvSpPr>
          <p:cNvPr id="15" name="Rectangle 14">
            <a:extLst xmlns:a="http://schemas.openxmlformats.org/drawingml/2006/main">
              <a:ext uri="{FF2B5EF4-FFF2-40B4-BE49-F238E27FC236}">
                <a16:creationId xmlns:a16="http://schemas.microsoft.com/office/drawing/2014/main" id="{0CAD96AD-3E9C-4D8B-ABAC-5E5A38C9DFA6}"/>
              </a:ext>
            </a:extLst>
          </p:cNvPr>
          <p:cNvSpPr>
            <a:spLocks xmlns:a="http://schemas.openxmlformats.org/drawingml/2006/main" noGrp="1"/>
          </p:cNvSpPr>
          <p:nvPr/>
        </p:nvSpPr>
        <p:spPr>
          <a:xfrm xmlns:a="http://schemas.openxmlformats.org/drawingml/2006/main">
            <a:off x="400050" y="257175"/>
            <a:ext cx="685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3075" b="1" i="0">
                <a:solidFill>
                  <a:srgbClr val="111111"/>
                </a:solidFill>
                <a:latin typeface="Arial"/>
                <a:ea typeface="Arial"/>
                <a:cs typeface="Arial"/>
              </a:defRPr>
            </a:pPr>
            <a:r>
              <a:rPr sz="3075" b="1" i="0">
                <a:solidFill>
                  <a:srgbClr val="111111"/>
                </a:solidFill>
                <a:latin typeface="Arial"/>
                <a:ea typeface="Arial"/>
                <a:cs typeface="Arial"/>
              </a:rPr>
              <a:t>VMware to OCI Compute Migration</a:t>
            </a:r>
          </a:p>
        </p:txBody>
      </p:sp>
      <p:sp>
        <p:nvSpPr>
          <p:cNvPr id="16" name="Rectangle 15">
            <a:extLst xmlns:a="http://schemas.openxmlformats.org/drawingml/2006/main">
              <a:ext uri="{FF2B5EF4-FFF2-40B4-BE49-F238E27FC236}">
                <a16:creationId xmlns:a16="http://schemas.microsoft.com/office/drawing/2014/main" id="{051BA438-4FF2-4BAE-B875-E64FACABCB53}"/>
              </a:ext>
            </a:extLst>
          </p:cNvPr>
          <p:cNvSpPr>
            <a:spLocks xmlns:a="http://schemas.openxmlformats.org/drawingml/2006/main" noGrp="1"/>
          </p:cNvSpPr>
          <p:nvPr/>
        </p:nvSpPr>
        <p:spPr>
          <a:xfrm xmlns:a="http://schemas.openxmlformats.org/drawingml/2006/main">
            <a:off x="409575" y="828675"/>
            <a:ext cx="323850" cy="38100"/>
          </a:xfrm>
          <a:prstGeom xmlns:a="http://schemas.openxmlformats.org/drawingml/2006/main" prst="rect">
            <a:avLst/>
          </a:prstGeom>
          <a:solidFill xmlns:a="http://schemas.openxmlformats.org/drawingml/2006/main">
            <a:srgbClr val="E30613"/>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3D82B44D-2490-4809-9295-089583953D65}"/>
              </a:ext>
            </a:extLst>
          </p:cNvPr>
          <p:cNvSpPr>
            <a:spLocks xmlns:a="http://schemas.openxmlformats.org/drawingml/2006/main" noGrp="1"/>
          </p:cNvSpPr>
          <p:nvPr/>
        </p:nvSpPr>
        <p:spPr>
          <a:xfrm xmlns:a="http://schemas.openxmlformats.org/drawingml/2006/main">
            <a:off x="400050" y="1028700"/>
            <a:ext cx="723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350" b="1" i="0">
                <a:solidFill>
                  <a:srgbClr val="5F6368"/>
                </a:solidFill>
                <a:latin typeface="Arial"/>
                <a:ea typeface="Arial"/>
                <a:cs typeface="Arial"/>
              </a:defRPr>
            </a:pPr>
            <a:r>
              <a:rPr sz="1350" b="1" i="0">
                <a:solidFill>
                  <a:srgbClr val="5F6368"/>
                </a:solidFill>
                <a:latin typeface="Arial"/>
                <a:ea typeface="Arial"/>
                <a:cs typeface="Arial"/>
              </a:rPr>
              <a:t>Migrate and modernize VMware workloads on Oracle Cloud Infrastructure (OCI).</a:t>
            </a:r>
          </a:p>
        </p:txBody>
      </p:sp>
      <p:sp>
        <p:nvSpPr>
          <p:cNvPr id="18" name="Rounded Rectangle 17">
            <a:extLst xmlns:a="http://schemas.openxmlformats.org/drawingml/2006/main">
              <a:ext uri="{FF2B5EF4-FFF2-40B4-BE49-F238E27FC236}">
                <a16:creationId xmlns:a16="http://schemas.microsoft.com/office/drawing/2014/main" id="{3609856C-5644-4F04-8E78-E3688F112FEB}"/>
              </a:ext>
            </a:extLst>
          </p:cNvPr>
          <p:cNvSpPr>
            <a:spLocks xmlns:a="http://schemas.openxmlformats.org/drawingml/2006/main" noGrp="1"/>
          </p:cNvSpPr>
          <p:nvPr/>
        </p:nvSpPr>
        <p:spPr>
          <a:xfrm xmlns:a="http://schemas.openxmlformats.org/drawingml/2006/main">
            <a:off x="400050" y="1409700"/>
            <a:ext cx="9353550" cy="85725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CCD4D0"/>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pic>
        <p:nvPicPr>
          <p:cNvPr id="168" name="Picture 140"/>
          <p:cNvPicPr>
            <a:picLocks xmlns:a="http://schemas.openxmlformats.org/drawingml/2006/main" noChangeAspect="1"/>
          </p:cNvPicPr>
          <p:nvPr/>
        </p:nvPicPr>
        <p:blipFill>
          <a:blip xmlns:r="http://schemas.openxmlformats.org/officeDocument/2006/relationships" xmlns:a="http://schemas.openxmlformats.org/drawingml/2006/main" r:embed="R6260195c96a74cc6"/>
          <a:stretch xmlns:a="http://schemas.openxmlformats.org/drawingml/2006/main"/>
        </p:blipFill>
        <p:spPr>
          <a:xfrm xmlns:a="http://schemas.openxmlformats.org/drawingml/2006/main">
            <a:off x="561975" y="1581150"/>
            <a:ext cx="523875" cy="523875"/>
          </a:xfrm>
          <a:prstGeom xmlns:a="http://schemas.openxmlformats.org/drawingml/2006/main" prst="rect">
            <a:avLst/>
          </a:prstGeom>
        </p:spPr>
      </p:pic>
      <p:sp>
        <p:nvSpPr>
          <p:cNvPr id="20" name="Rectangle 19">
            <a:extLst xmlns:a="http://schemas.openxmlformats.org/drawingml/2006/main">
              <a:ext uri="{FF2B5EF4-FFF2-40B4-BE49-F238E27FC236}">
                <a16:creationId xmlns:a16="http://schemas.microsoft.com/office/drawing/2014/main" id="{B98429F0-7AD4-4349-9737-C67012B1D5E0}"/>
              </a:ext>
            </a:extLst>
          </p:cNvPr>
          <p:cNvSpPr>
            <a:spLocks xmlns:a="http://schemas.openxmlformats.org/drawingml/2006/main" noGrp="1"/>
          </p:cNvSpPr>
          <p:nvPr/>
        </p:nvSpPr>
        <p:spPr>
          <a:xfrm xmlns:a="http://schemas.openxmlformats.org/drawingml/2006/main">
            <a:off x="1228725" y="1685925"/>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5000"/>
              </a:lnSpc>
              <a:buNone/>
              <a:defRPr sz="1013" b="1" i="0">
                <a:solidFill>
                  <a:srgbClr val="111111"/>
                </a:solidFill>
                <a:latin typeface="Arial"/>
                <a:ea typeface="Arial"/>
                <a:cs typeface="Arial"/>
              </a:defRPr>
            </a:pPr>
            <a:r>
              <a:rPr sz="1013" b="1" i="0">
                <a:solidFill>
                  <a:srgbClr val="111111"/>
                </a:solidFill>
                <a:latin typeface="Arial"/>
                <a:ea typeface="Arial"/>
                <a:cs typeface="Arial"/>
              </a:rPr>
              <a:t>Reduce VMware</a:t>
            </a:r>
          </a:p>
          <a:p xmlns:a="http://schemas.openxmlformats.org/drawingml/2006/main">
            <a:pPr algn="l">
              <a:lnSpc>
                <a:spcPct val="115000"/>
              </a:lnSpc>
              <a:buNone/>
              <a:defRPr sz="1013" b="1" i="0">
                <a:solidFill>
                  <a:srgbClr val="111111"/>
                </a:solidFill>
                <a:latin typeface="Arial"/>
                <a:ea typeface="Arial"/>
                <a:cs typeface="Arial"/>
              </a:defRPr>
            </a:pPr>
            <a:r>
              <a:rPr sz="1013" b="1" i="0">
                <a:solidFill>
                  <a:srgbClr val="111111"/>
                </a:solidFill>
                <a:latin typeface="Arial"/>
                <a:ea typeface="Arial"/>
                <a:cs typeface="Arial"/>
              </a:rPr>
              <a:t>licensing costs</a:t>
            </a:r>
          </a:p>
        </p:txBody>
      </p:sp>
      <p:sp>
        <p:nvSpPr>
          <p:cNvPr id="21" name="Straight Connector 20">
            <a:extLst xmlns:a="http://schemas.openxmlformats.org/drawingml/2006/main">
              <a:ext uri="{FF2B5EF4-FFF2-40B4-BE49-F238E27FC236}">
                <a16:creationId xmlns:a16="http://schemas.microsoft.com/office/drawing/2014/main" id="{CA47C666-626E-4039-B9AA-DB7D67C5D21D}"/>
              </a:ext>
            </a:extLst>
          </p:cNvPr>
          <p:cNvSpPr>
            <a:spLocks xmlns:a="http://schemas.openxmlformats.org/drawingml/2006/main" noGrp="1"/>
          </p:cNvSpPr>
          <p:nvPr/>
        </p:nvSpPr>
        <p:spPr>
          <a:xfrm xmlns:a="http://schemas.openxmlformats.org/drawingml/2006/main">
            <a:off x="2571750" y="1619250"/>
            <a:ext cx="0" cy="457200"/>
          </a:xfrm>
          <a:prstGeom xmlns:a="http://schemas.openxmlformats.org/drawingml/2006/main" prst="line">
            <a:avLst/>
          </a:prstGeom>
          <a:noFill xmlns:a="http://schemas.openxmlformats.org/drawingml/2006/main"/>
          <a:ln xmlns:a="http://schemas.openxmlformats.org/drawingml/2006/main" w="9525">
            <a:solidFill>
              <a:srgbClr val="D7DDDA"/>
            </a:solidFill>
            <a:prstDash val="solid"/>
          </a:ln>
        </p:spPr>
        <p:txBody>
          <a:bodyPr xmlns:a="http://schemas.openxmlformats.org/drawingml/2006/main"/>
          <a:lstStyle xmlns:a="http://schemas.openxmlformats.org/drawingml/2006/main"/>
          <a:p xmlns:a="http://schemas.openxmlformats.org/drawingml/2006/main">
            <a:endParaRPr/>
          </a:p>
        </p:txBody>
      </p:sp>
      <p:pic>
        <p:nvPicPr>
          <p:cNvPr id="171" name="Picture 143"/>
          <p:cNvPicPr>
            <a:picLocks xmlns:a="http://schemas.openxmlformats.org/drawingml/2006/main" noChangeAspect="1"/>
          </p:cNvPicPr>
          <p:nvPr/>
        </p:nvPicPr>
        <p:blipFill>
          <a:blip xmlns:r="http://schemas.openxmlformats.org/officeDocument/2006/relationships" xmlns:a="http://schemas.openxmlformats.org/drawingml/2006/main" r:embed="R570e129ae42247da"/>
          <a:stretch xmlns:a="http://schemas.openxmlformats.org/drawingml/2006/main"/>
        </p:blipFill>
        <p:spPr>
          <a:xfrm xmlns:a="http://schemas.openxmlformats.org/drawingml/2006/main">
            <a:off x="2819400" y="1581150"/>
            <a:ext cx="523875" cy="523875"/>
          </a:xfrm>
          <a:prstGeom xmlns:a="http://schemas.openxmlformats.org/drawingml/2006/main" prst="rect">
            <a:avLst/>
          </a:prstGeom>
        </p:spPr>
      </p:pic>
      <p:sp>
        <p:nvSpPr>
          <p:cNvPr id="23" name="Rectangle 22">
            <a:extLst xmlns:a="http://schemas.openxmlformats.org/drawingml/2006/main">
              <a:ext uri="{FF2B5EF4-FFF2-40B4-BE49-F238E27FC236}">
                <a16:creationId xmlns:a16="http://schemas.microsoft.com/office/drawing/2014/main" id="{D92CE694-70D8-4B55-B0D8-06B040178AF0}"/>
              </a:ext>
            </a:extLst>
          </p:cNvPr>
          <p:cNvSpPr>
            <a:spLocks xmlns:a="http://schemas.openxmlformats.org/drawingml/2006/main" noGrp="1"/>
          </p:cNvSpPr>
          <p:nvPr/>
        </p:nvSpPr>
        <p:spPr>
          <a:xfrm xmlns:a="http://schemas.openxmlformats.org/drawingml/2006/main">
            <a:off x="3486150" y="1685925"/>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5000"/>
              </a:lnSpc>
              <a:buNone/>
              <a:defRPr sz="1013" b="1" i="0">
                <a:solidFill>
                  <a:srgbClr val="111111"/>
                </a:solidFill>
                <a:latin typeface="Arial"/>
                <a:ea typeface="Arial"/>
                <a:cs typeface="Arial"/>
              </a:defRPr>
            </a:pPr>
            <a:r>
              <a:rPr sz="1013" b="1" i="0">
                <a:solidFill>
                  <a:srgbClr val="111111"/>
                </a:solidFill>
                <a:latin typeface="Arial"/>
                <a:ea typeface="Arial"/>
                <a:cs typeface="Arial"/>
              </a:rPr>
              <a:t>Improve performance</a:t>
            </a:r>
          </a:p>
          <a:p xmlns:a="http://schemas.openxmlformats.org/drawingml/2006/main">
            <a:pPr algn="l">
              <a:lnSpc>
                <a:spcPct val="115000"/>
              </a:lnSpc>
              <a:buNone/>
              <a:defRPr sz="1013" b="1" i="0">
                <a:solidFill>
                  <a:srgbClr val="111111"/>
                </a:solidFill>
                <a:latin typeface="Arial"/>
                <a:ea typeface="Arial"/>
                <a:cs typeface="Arial"/>
              </a:defRPr>
            </a:pPr>
            <a:r>
              <a:rPr sz="1013" b="1" i="0">
                <a:solidFill>
                  <a:srgbClr val="111111"/>
                </a:solidFill>
                <a:latin typeface="Arial"/>
                <a:ea typeface="Arial"/>
                <a:cs typeface="Arial"/>
              </a:rPr>
              <a:t>and scalability</a:t>
            </a:r>
          </a:p>
        </p:txBody>
      </p:sp>
      <p:sp>
        <p:nvSpPr>
          <p:cNvPr id="24" name="Straight Connector 23">
            <a:extLst xmlns:a="http://schemas.openxmlformats.org/drawingml/2006/main">
              <a:ext uri="{FF2B5EF4-FFF2-40B4-BE49-F238E27FC236}">
                <a16:creationId xmlns:a16="http://schemas.microsoft.com/office/drawing/2014/main" id="{0106E242-8CA1-4F41-AD65-611D2FD7A61B}"/>
              </a:ext>
            </a:extLst>
          </p:cNvPr>
          <p:cNvSpPr>
            <a:spLocks xmlns:a="http://schemas.openxmlformats.org/drawingml/2006/main" noGrp="1"/>
          </p:cNvSpPr>
          <p:nvPr/>
        </p:nvSpPr>
        <p:spPr>
          <a:xfrm xmlns:a="http://schemas.openxmlformats.org/drawingml/2006/main">
            <a:off x="5029200" y="1619250"/>
            <a:ext cx="0" cy="457200"/>
          </a:xfrm>
          <a:prstGeom xmlns:a="http://schemas.openxmlformats.org/drawingml/2006/main" prst="line">
            <a:avLst/>
          </a:prstGeom>
          <a:noFill xmlns:a="http://schemas.openxmlformats.org/drawingml/2006/main"/>
          <a:ln xmlns:a="http://schemas.openxmlformats.org/drawingml/2006/main" w="9525">
            <a:solidFill>
              <a:srgbClr val="D7DDDA"/>
            </a:solidFill>
            <a:prstDash val="solid"/>
          </a:ln>
        </p:spPr>
        <p:txBody>
          <a:bodyPr xmlns:a="http://schemas.openxmlformats.org/drawingml/2006/main"/>
          <a:lstStyle xmlns:a="http://schemas.openxmlformats.org/drawingml/2006/main"/>
          <a:p xmlns:a="http://schemas.openxmlformats.org/drawingml/2006/main">
            <a:endParaRPr/>
          </a:p>
        </p:txBody>
      </p:sp>
      <p:pic>
        <p:nvPicPr>
          <p:cNvPr id="174" name="Picture 146"/>
          <p:cNvPicPr>
            <a:picLocks xmlns:a="http://schemas.openxmlformats.org/drawingml/2006/main" noChangeAspect="1"/>
          </p:cNvPicPr>
          <p:nvPr/>
        </p:nvPicPr>
        <p:blipFill>
          <a:blip xmlns:r="http://schemas.openxmlformats.org/officeDocument/2006/relationships" xmlns:a="http://schemas.openxmlformats.org/drawingml/2006/main" r:embed="R15c15e7780f146b0"/>
          <a:stretch xmlns:a="http://schemas.openxmlformats.org/drawingml/2006/main"/>
        </p:blipFill>
        <p:spPr>
          <a:xfrm xmlns:a="http://schemas.openxmlformats.org/drawingml/2006/main">
            <a:off x="5276850" y="1581150"/>
            <a:ext cx="523875" cy="523875"/>
          </a:xfrm>
          <a:prstGeom xmlns:a="http://schemas.openxmlformats.org/drawingml/2006/main" prst="rect">
            <a:avLst/>
          </a:prstGeom>
        </p:spPr>
      </p:pic>
      <p:sp>
        <p:nvSpPr>
          <p:cNvPr id="26" name="Rectangle 25">
            <a:extLst xmlns:a="http://schemas.openxmlformats.org/drawingml/2006/main">
              <a:ext uri="{FF2B5EF4-FFF2-40B4-BE49-F238E27FC236}">
                <a16:creationId xmlns:a16="http://schemas.microsoft.com/office/drawing/2014/main" id="{BB755757-904B-45C4-A439-6C157913D4C7}"/>
              </a:ext>
            </a:extLst>
          </p:cNvPr>
          <p:cNvSpPr>
            <a:spLocks xmlns:a="http://schemas.openxmlformats.org/drawingml/2006/main" noGrp="1"/>
          </p:cNvSpPr>
          <p:nvPr/>
        </p:nvSpPr>
        <p:spPr>
          <a:xfrm xmlns:a="http://schemas.openxmlformats.org/drawingml/2006/main">
            <a:off x="5943600" y="1685925"/>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5000"/>
              </a:lnSpc>
              <a:buNone/>
              <a:defRPr sz="1013" b="1" i="0">
                <a:solidFill>
                  <a:srgbClr val="111111"/>
                </a:solidFill>
                <a:latin typeface="Arial"/>
                <a:ea typeface="Arial"/>
                <a:cs typeface="Arial"/>
              </a:defRPr>
            </a:pPr>
            <a:r>
              <a:rPr sz="1013" b="1" i="0">
                <a:solidFill>
                  <a:srgbClr val="111111"/>
                </a:solidFill>
                <a:latin typeface="Arial"/>
                <a:ea typeface="Arial"/>
                <a:cs typeface="Arial"/>
              </a:rPr>
              <a:t>Leverage OCI native</a:t>
            </a:r>
          </a:p>
          <a:p xmlns:a="http://schemas.openxmlformats.org/drawingml/2006/main">
            <a:pPr algn="l">
              <a:lnSpc>
                <a:spcPct val="115000"/>
              </a:lnSpc>
              <a:buNone/>
              <a:defRPr sz="1013" b="1" i="0">
                <a:solidFill>
                  <a:srgbClr val="111111"/>
                </a:solidFill>
                <a:latin typeface="Arial"/>
                <a:ea typeface="Arial"/>
                <a:cs typeface="Arial"/>
              </a:defRPr>
            </a:pPr>
            <a:r>
              <a:rPr sz="1013" b="1" i="0">
                <a:solidFill>
                  <a:srgbClr val="111111"/>
                </a:solidFill>
                <a:latin typeface="Arial"/>
                <a:ea typeface="Arial"/>
                <a:cs typeface="Arial"/>
              </a:rPr>
              <a:t>services and automation</a:t>
            </a:r>
          </a:p>
        </p:txBody>
      </p:sp>
      <p:sp>
        <p:nvSpPr>
          <p:cNvPr id="27" name="Straight Connector 26">
            <a:extLst xmlns:a="http://schemas.openxmlformats.org/drawingml/2006/main">
              <a:ext uri="{FF2B5EF4-FFF2-40B4-BE49-F238E27FC236}">
                <a16:creationId xmlns:a16="http://schemas.microsoft.com/office/drawing/2014/main" id="{AD47C822-5C97-4B42-901F-7E7C4226E48A}"/>
              </a:ext>
            </a:extLst>
          </p:cNvPr>
          <p:cNvSpPr>
            <a:spLocks xmlns:a="http://schemas.openxmlformats.org/drawingml/2006/main" noGrp="1"/>
          </p:cNvSpPr>
          <p:nvPr/>
        </p:nvSpPr>
        <p:spPr>
          <a:xfrm xmlns:a="http://schemas.openxmlformats.org/drawingml/2006/main">
            <a:off x="7572375" y="1619250"/>
            <a:ext cx="0" cy="457200"/>
          </a:xfrm>
          <a:prstGeom xmlns:a="http://schemas.openxmlformats.org/drawingml/2006/main" prst="line">
            <a:avLst/>
          </a:prstGeom>
          <a:noFill xmlns:a="http://schemas.openxmlformats.org/drawingml/2006/main"/>
          <a:ln xmlns:a="http://schemas.openxmlformats.org/drawingml/2006/main" w="9525">
            <a:solidFill>
              <a:srgbClr val="D7DDDA"/>
            </a:solidFill>
            <a:prstDash val="solid"/>
          </a:ln>
        </p:spPr>
        <p:txBody>
          <a:bodyPr xmlns:a="http://schemas.openxmlformats.org/drawingml/2006/main"/>
          <a:lstStyle xmlns:a="http://schemas.openxmlformats.org/drawingml/2006/main"/>
          <a:p xmlns:a="http://schemas.openxmlformats.org/drawingml/2006/main">
            <a:endParaRPr/>
          </a:p>
        </p:txBody>
      </p:sp>
      <p:pic>
        <p:nvPicPr>
          <p:cNvPr id="177" name="Picture 149"/>
          <p:cNvPicPr>
            <a:picLocks xmlns:a="http://schemas.openxmlformats.org/drawingml/2006/main" noChangeAspect="1"/>
          </p:cNvPicPr>
          <p:nvPr/>
        </p:nvPicPr>
        <p:blipFill>
          <a:blip xmlns:r="http://schemas.openxmlformats.org/officeDocument/2006/relationships" xmlns:a="http://schemas.openxmlformats.org/drawingml/2006/main" r:embed="R36c013020f8f4dc4"/>
          <a:stretch xmlns:a="http://schemas.openxmlformats.org/drawingml/2006/main"/>
        </p:blipFill>
        <p:spPr>
          <a:xfrm xmlns:a="http://schemas.openxmlformats.org/drawingml/2006/main">
            <a:off x="7800975" y="1581150"/>
            <a:ext cx="523875" cy="523875"/>
          </a:xfrm>
          <a:prstGeom xmlns:a="http://schemas.openxmlformats.org/drawingml/2006/main" prst="rect">
            <a:avLst/>
          </a:prstGeom>
        </p:spPr>
      </p:pic>
      <p:sp>
        <p:nvSpPr>
          <p:cNvPr id="29" name="Rectangle 28">
            <a:extLst xmlns:a="http://schemas.openxmlformats.org/drawingml/2006/main">
              <a:ext uri="{FF2B5EF4-FFF2-40B4-BE49-F238E27FC236}">
                <a16:creationId xmlns:a16="http://schemas.microsoft.com/office/drawing/2014/main" id="{8529FB3B-6F49-4247-B21C-0984C40E3842}"/>
              </a:ext>
            </a:extLst>
          </p:cNvPr>
          <p:cNvSpPr>
            <a:spLocks xmlns:a="http://schemas.openxmlformats.org/drawingml/2006/main" noGrp="1"/>
          </p:cNvSpPr>
          <p:nvPr/>
        </p:nvSpPr>
        <p:spPr>
          <a:xfrm xmlns:a="http://schemas.openxmlformats.org/drawingml/2006/main">
            <a:off x="8467725" y="1685925"/>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5000"/>
              </a:lnSpc>
              <a:buNone/>
              <a:defRPr sz="1013" b="1" i="0">
                <a:solidFill>
                  <a:srgbClr val="111111"/>
                </a:solidFill>
                <a:latin typeface="Arial"/>
                <a:ea typeface="Arial"/>
                <a:cs typeface="Arial"/>
              </a:defRPr>
            </a:pPr>
            <a:r>
              <a:rPr sz="1013" b="1" i="0">
                <a:solidFill>
                  <a:srgbClr val="111111"/>
                </a:solidFill>
                <a:latin typeface="Arial"/>
                <a:ea typeface="Arial"/>
                <a:cs typeface="Arial"/>
              </a:rPr>
              <a:t>Increase agility and</a:t>
            </a:r>
          </a:p>
          <a:p xmlns:a="http://schemas.openxmlformats.org/drawingml/2006/main">
            <a:pPr algn="l">
              <a:lnSpc>
                <a:spcPct val="115000"/>
              </a:lnSpc>
              <a:buNone/>
              <a:defRPr sz="1013" b="1" i="0">
                <a:solidFill>
                  <a:srgbClr val="111111"/>
                </a:solidFill>
                <a:latin typeface="Arial"/>
                <a:ea typeface="Arial"/>
                <a:cs typeface="Arial"/>
              </a:defRPr>
            </a:pPr>
            <a:r>
              <a:rPr sz="1013" b="1" i="0">
                <a:solidFill>
                  <a:srgbClr val="111111"/>
                </a:solidFill>
                <a:latin typeface="Arial"/>
                <a:ea typeface="Arial"/>
                <a:cs typeface="Arial"/>
              </a:rPr>
              <a:t>business innovation</a:t>
            </a:r>
          </a:p>
        </p:txBody>
      </p:sp>
      <p:sp>
        <p:nvSpPr>
          <p:cNvPr id="30" name="Rounded Rectangle 29">
            <a:extLst xmlns:a="http://schemas.openxmlformats.org/drawingml/2006/main">
              <a:ext uri="{FF2B5EF4-FFF2-40B4-BE49-F238E27FC236}">
                <a16:creationId xmlns:a16="http://schemas.microsoft.com/office/drawing/2014/main" id="{040D8ACE-6018-4569-A21D-EDAE51380C57}"/>
              </a:ext>
            </a:extLst>
          </p:cNvPr>
          <p:cNvSpPr>
            <a:spLocks xmlns:a="http://schemas.openxmlformats.org/drawingml/2006/main" noGrp="1"/>
          </p:cNvSpPr>
          <p:nvPr/>
        </p:nvSpPr>
        <p:spPr>
          <a:xfrm xmlns:a="http://schemas.openxmlformats.org/drawingml/2006/main">
            <a:off x="400050" y="2409825"/>
            <a:ext cx="2886075" cy="3524250"/>
          </a:xfrm>
          <a:prstGeom xmlns:a="http://schemas.openxmlformats.org/drawingml/2006/main" prst="roundRect">
            <a:avLst>
              <a:gd name="adj" fmla="val 2640"/>
            </a:avLst>
          </a:prstGeom>
          <a:solidFill xmlns:a="http://schemas.openxmlformats.org/drawingml/2006/main">
            <a:srgbClr val="FFFFFF"/>
          </a:solidFill>
          <a:ln xmlns:a="http://schemas.openxmlformats.org/drawingml/2006/main" w="9525">
            <a:solidFill>
              <a:srgbClr val="00452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31" name="Rounded Rectangle 30">
            <a:extLst xmlns:a="http://schemas.openxmlformats.org/drawingml/2006/main">
              <a:ext uri="{FF2B5EF4-FFF2-40B4-BE49-F238E27FC236}">
                <a16:creationId xmlns:a16="http://schemas.microsoft.com/office/drawing/2014/main" id="{79220464-5728-4977-B951-047E46D68890}"/>
              </a:ext>
            </a:extLst>
          </p:cNvPr>
          <p:cNvSpPr>
            <a:spLocks xmlns:a="http://schemas.openxmlformats.org/drawingml/2006/main" noGrp="1"/>
          </p:cNvSpPr>
          <p:nvPr/>
        </p:nvSpPr>
        <p:spPr>
          <a:xfrm xmlns:a="http://schemas.openxmlformats.org/drawingml/2006/main">
            <a:off x="400050" y="2409825"/>
            <a:ext cx="2886075" cy="304800"/>
          </a:xfrm>
          <a:prstGeom xmlns:a="http://schemas.openxmlformats.org/drawingml/2006/main" prst="roundRect">
            <a:avLst>
              <a:gd name="adj" fmla="val 25000"/>
            </a:avLst>
          </a:prstGeom>
          <a:gradFill xmlns:a="http://schemas.openxmlformats.org/drawingml/2006/main">
            <a:gsLst>
              <a:gs pos="0">
                <a:srgbClr val="00351F"/>
              </a:gs>
              <a:gs pos="100000">
                <a:srgbClr val="075A35"/>
              </a:gs>
            </a:gsLst>
            <a:lin ang="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2" name="Rectangle 31">
            <a:extLst xmlns:a="http://schemas.openxmlformats.org/drawingml/2006/main">
              <a:ext uri="{FF2B5EF4-FFF2-40B4-BE49-F238E27FC236}">
                <a16:creationId xmlns:a16="http://schemas.microsoft.com/office/drawing/2014/main" id="{C290988E-A418-4BC8-8905-6E87E5F2AD64}"/>
              </a:ext>
            </a:extLst>
          </p:cNvPr>
          <p:cNvSpPr>
            <a:spLocks xmlns:a="http://schemas.openxmlformats.org/drawingml/2006/main" noGrp="1"/>
          </p:cNvSpPr>
          <p:nvPr/>
        </p:nvSpPr>
        <p:spPr>
          <a:xfrm xmlns:a="http://schemas.openxmlformats.org/drawingml/2006/main">
            <a:off x="400050" y="2657475"/>
            <a:ext cx="2886075" cy="66675"/>
          </a:xfrm>
          <a:prstGeom xmlns:a="http://schemas.openxmlformats.org/drawingml/2006/main" prst="rect">
            <a:avLst/>
          </a:prstGeom>
          <a:gradFill xmlns:a="http://schemas.openxmlformats.org/drawingml/2006/main">
            <a:gsLst>
              <a:gs pos="0">
                <a:srgbClr val="00351F"/>
              </a:gs>
              <a:gs pos="100000">
                <a:srgbClr val="075A35"/>
              </a:gs>
            </a:gsLst>
            <a:lin ang="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3" name="Rectangle 32">
            <a:extLst xmlns:a="http://schemas.openxmlformats.org/drawingml/2006/main">
              <a:ext uri="{FF2B5EF4-FFF2-40B4-BE49-F238E27FC236}">
                <a16:creationId xmlns:a16="http://schemas.microsoft.com/office/drawing/2014/main" id="{236CE7A0-CC03-4D6B-8C8E-6FE68128614F}"/>
              </a:ext>
            </a:extLst>
          </p:cNvPr>
          <p:cNvSpPr>
            <a:spLocks xmlns:a="http://schemas.openxmlformats.org/drawingml/2006/main" noGrp="1"/>
          </p:cNvSpPr>
          <p:nvPr/>
        </p:nvSpPr>
        <p:spPr>
          <a:xfrm xmlns:a="http://schemas.openxmlformats.org/drawingml/2006/main">
            <a:off x="781050" y="2524125"/>
            <a:ext cx="22383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38" b="1" i="0">
                <a:solidFill>
                  <a:srgbClr val="FFFFFF"/>
                </a:solidFill>
                <a:latin typeface="Arial"/>
                <a:ea typeface="Arial"/>
                <a:cs typeface="Arial"/>
              </a:defRPr>
            </a:pPr>
            <a:r>
              <a:rPr sz="938" b="1" i="0">
                <a:solidFill>
                  <a:srgbClr val="FFFFFF"/>
                </a:solidFill>
                <a:latin typeface="Arial"/>
                <a:ea typeface="Arial"/>
                <a:cs typeface="Arial"/>
              </a:rPr>
              <a:t>ON-PREMISES VMWARE ENVIRONMENT</a:t>
            </a:r>
          </a:p>
        </p:txBody>
      </p:sp>
      <p:pic>
        <p:nvPicPr>
          <p:cNvPr id="183" name="Picture 155"/>
          <p:cNvPicPr>
            <a:picLocks xmlns:a="http://schemas.openxmlformats.org/drawingml/2006/main" noChangeAspect="1"/>
          </p:cNvPicPr>
          <p:nvPr/>
        </p:nvPicPr>
        <p:blipFill>
          <a:blip xmlns:r="http://schemas.openxmlformats.org/officeDocument/2006/relationships" xmlns:a="http://schemas.openxmlformats.org/drawingml/2006/main" r:embed="R9cce5d4685bf4eac"/>
          <a:stretch xmlns:a="http://schemas.openxmlformats.org/drawingml/2006/main"/>
        </p:blipFill>
        <p:spPr>
          <a:xfrm xmlns:a="http://schemas.openxmlformats.org/drawingml/2006/main">
            <a:off x="578379" y="2971800"/>
            <a:ext cx="357717" cy="495300"/>
          </a:xfrm>
          <a:prstGeom xmlns:a="http://schemas.openxmlformats.org/drawingml/2006/main" prst="rect">
            <a:avLst/>
          </a:prstGeom>
        </p:spPr>
      </p:pic>
      <p:sp>
        <p:nvSpPr>
          <p:cNvPr id="35" name="Rounded Rectangle 34">
            <a:extLst xmlns:a="http://schemas.openxmlformats.org/drawingml/2006/main">
              <a:ext uri="{FF2B5EF4-FFF2-40B4-BE49-F238E27FC236}">
                <a16:creationId xmlns:a16="http://schemas.microsoft.com/office/drawing/2014/main" id="{823E5509-0BBD-46EF-A5F9-FA1383CDF9E3}"/>
              </a:ext>
            </a:extLst>
          </p:cNvPr>
          <p:cNvSpPr>
            <a:spLocks xmlns:a="http://schemas.openxmlformats.org/drawingml/2006/main" noGrp="1"/>
          </p:cNvSpPr>
          <p:nvPr/>
        </p:nvSpPr>
        <p:spPr>
          <a:xfrm xmlns:a="http://schemas.openxmlformats.org/drawingml/2006/main">
            <a:off x="1019175" y="3048000"/>
            <a:ext cx="285750" cy="295275"/>
          </a:xfrm>
          <a:prstGeom xmlns:a="http://schemas.openxmlformats.org/drawingml/2006/main" prst="roundRect">
            <a:avLst>
              <a:gd name="adj" fmla="val 13333"/>
            </a:avLst>
          </a:prstGeom>
          <a:solidFill xmlns:a="http://schemas.openxmlformats.org/drawingml/2006/main">
            <a:srgbClr val="FAFAFA"/>
          </a:solidFill>
          <a:ln xmlns:a="http://schemas.openxmlformats.org/drawingml/2006/main" w="9525">
            <a:solidFill>
              <a:srgbClr val="BFC7C2"/>
            </a:solidFill>
            <a:prstDash val="solid"/>
          </a:ln>
        </p:spPr>
        <p:txBody>
          <a:bodyPr xmlns:a="http://schemas.openxmlformats.org/drawingml/2006/main"/>
          <a:lstStyle xmlns:a="http://schemas.openxmlformats.org/drawingml/2006/main"/>
          <a:p xmlns:a="http://schemas.openxmlformats.org/drawingml/2006/main">
            <a:endParaRPr/>
          </a:p>
        </p:txBody>
      </p:sp>
      <p:sp>
        <p:nvSpPr>
          <p:cNvPr id="36" name="Rectangle 35">
            <a:extLst xmlns:a="http://schemas.openxmlformats.org/drawingml/2006/main">
              <a:ext uri="{FF2B5EF4-FFF2-40B4-BE49-F238E27FC236}">
                <a16:creationId xmlns:a16="http://schemas.microsoft.com/office/drawing/2014/main" id="{D67A9F66-F483-4C16-A77E-0C571FAA1D4B}"/>
              </a:ext>
            </a:extLst>
          </p:cNvPr>
          <p:cNvSpPr>
            <a:spLocks xmlns:a="http://schemas.openxmlformats.org/drawingml/2006/main" noGrp="1"/>
          </p:cNvSpPr>
          <p:nvPr/>
        </p:nvSpPr>
        <p:spPr>
          <a:xfrm xmlns:a="http://schemas.openxmlformats.org/drawingml/2006/main">
            <a:off x="1066800" y="3114675"/>
            <a:ext cx="190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50" b="1" i="0">
                <a:solidFill>
                  <a:srgbClr val="111111"/>
                </a:solidFill>
                <a:latin typeface="Arial"/>
                <a:ea typeface="Arial"/>
                <a:cs typeface="Arial"/>
              </a:defRPr>
            </a:pPr>
            <a:r>
              <a:rPr sz="750" b="1" i="0">
                <a:solidFill>
                  <a:srgbClr val="111111"/>
                </a:solidFill>
                <a:latin typeface="Arial"/>
                <a:ea typeface="Arial"/>
                <a:cs typeface="Arial"/>
              </a:rPr>
              <a:t>VM</a:t>
            </a:r>
          </a:p>
        </p:txBody>
      </p:sp>
      <p:sp>
        <p:nvSpPr>
          <p:cNvPr id="37" name="Rounded Rectangle 36">
            <a:extLst xmlns:a="http://schemas.openxmlformats.org/drawingml/2006/main">
              <a:ext uri="{FF2B5EF4-FFF2-40B4-BE49-F238E27FC236}">
                <a16:creationId xmlns:a16="http://schemas.microsoft.com/office/drawing/2014/main" id="{20E6E788-6167-427C-AE8E-6B5608670978}"/>
              </a:ext>
            </a:extLst>
          </p:cNvPr>
          <p:cNvSpPr>
            <a:spLocks xmlns:a="http://schemas.openxmlformats.org/drawingml/2006/main" noGrp="1"/>
          </p:cNvSpPr>
          <p:nvPr/>
        </p:nvSpPr>
        <p:spPr>
          <a:xfrm xmlns:a="http://schemas.openxmlformats.org/drawingml/2006/main">
            <a:off x="1409700" y="3048000"/>
            <a:ext cx="285750" cy="295275"/>
          </a:xfrm>
          <a:prstGeom xmlns:a="http://schemas.openxmlformats.org/drawingml/2006/main" prst="roundRect">
            <a:avLst>
              <a:gd name="adj" fmla="val 13333"/>
            </a:avLst>
          </a:prstGeom>
          <a:solidFill xmlns:a="http://schemas.openxmlformats.org/drawingml/2006/main">
            <a:srgbClr val="FAFAFA"/>
          </a:solidFill>
          <a:ln xmlns:a="http://schemas.openxmlformats.org/drawingml/2006/main" w="9525">
            <a:solidFill>
              <a:srgbClr val="BFC7C2"/>
            </a:solidFill>
            <a:prstDash val="solid"/>
          </a:ln>
        </p:spPr>
        <p:txBody>
          <a:bodyPr xmlns:a="http://schemas.openxmlformats.org/drawingml/2006/main"/>
          <a:lstStyle xmlns:a="http://schemas.openxmlformats.org/drawingml/2006/main"/>
          <a:p xmlns:a="http://schemas.openxmlformats.org/drawingml/2006/main">
            <a:endParaRPr/>
          </a:p>
        </p:txBody>
      </p:sp>
      <p:sp>
        <p:nvSpPr>
          <p:cNvPr id="38" name="Rectangle 37">
            <a:extLst xmlns:a="http://schemas.openxmlformats.org/drawingml/2006/main">
              <a:ext uri="{FF2B5EF4-FFF2-40B4-BE49-F238E27FC236}">
                <a16:creationId xmlns:a16="http://schemas.microsoft.com/office/drawing/2014/main" id="{6852BE1D-27F2-4EA5-85A9-7588D671D097}"/>
              </a:ext>
            </a:extLst>
          </p:cNvPr>
          <p:cNvSpPr>
            <a:spLocks xmlns:a="http://schemas.openxmlformats.org/drawingml/2006/main" noGrp="1"/>
          </p:cNvSpPr>
          <p:nvPr/>
        </p:nvSpPr>
        <p:spPr>
          <a:xfrm xmlns:a="http://schemas.openxmlformats.org/drawingml/2006/main">
            <a:off x="1457325" y="3114675"/>
            <a:ext cx="190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50" b="1" i="0">
                <a:solidFill>
                  <a:srgbClr val="111111"/>
                </a:solidFill>
                <a:latin typeface="Arial"/>
                <a:ea typeface="Arial"/>
                <a:cs typeface="Arial"/>
              </a:defRPr>
            </a:pPr>
            <a:r>
              <a:rPr sz="750" b="1" i="0">
                <a:solidFill>
                  <a:srgbClr val="111111"/>
                </a:solidFill>
                <a:latin typeface="Arial"/>
                <a:ea typeface="Arial"/>
                <a:cs typeface="Arial"/>
              </a:rPr>
              <a:t>VM</a:t>
            </a:r>
          </a:p>
        </p:txBody>
      </p:sp>
      <p:sp>
        <p:nvSpPr>
          <p:cNvPr id="39" name="Rounded Rectangle 38">
            <a:extLst xmlns:a="http://schemas.openxmlformats.org/drawingml/2006/main">
              <a:ext uri="{FF2B5EF4-FFF2-40B4-BE49-F238E27FC236}">
                <a16:creationId xmlns:a16="http://schemas.microsoft.com/office/drawing/2014/main" id="{ABCEFC9C-E2E7-4577-A370-30B672DB80A7}"/>
              </a:ext>
            </a:extLst>
          </p:cNvPr>
          <p:cNvSpPr>
            <a:spLocks xmlns:a="http://schemas.openxmlformats.org/drawingml/2006/main" noGrp="1"/>
          </p:cNvSpPr>
          <p:nvPr/>
        </p:nvSpPr>
        <p:spPr>
          <a:xfrm xmlns:a="http://schemas.openxmlformats.org/drawingml/2006/main">
            <a:off x="1800225" y="3048000"/>
            <a:ext cx="285750" cy="295275"/>
          </a:xfrm>
          <a:prstGeom xmlns:a="http://schemas.openxmlformats.org/drawingml/2006/main" prst="roundRect">
            <a:avLst>
              <a:gd name="adj" fmla="val 13333"/>
            </a:avLst>
          </a:prstGeom>
          <a:solidFill xmlns:a="http://schemas.openxmlformats.org/drawingml/2006/main">
            <a:srgbClr val="FAFAFA"/>
          </a:solidFill>
          <a:ln xmlns:a="http://schemas.openxmlformats.org/drawingml/2006/main" w="9525">
            <a:solidFill>
              <a:srgbClr val="BFC7C2"/>
            </a:solidFill>
            <a:prstDash val="solid"/>
          </a:ln>
        </p:spPr>
        <p:txBody>
          <a:bodyPr xmlns:a="http://schemas.openxmlformats.org/drawingml/2006/main"/>
          <a:lstStyle xmlns:a="http://schemas.openxmlformats.org/drawingml/2006/main"/>
          <a:p xmlns:a="http://schemas.openxmlformats.org/drawingml/2006/main">
            <a:endParaRPr/>
          </a:p>
        </p:txBody>
      </p:sp>
      <p:sp>
        <p:nvSpPr>
          <p:cNvPr id="40" name="Rectangle 39">
            <a:extLst xmlns:a="http://schemas.openxmlformats.org/drawingml/2006/main">
              <a:ext uri="{FF2B5EF4-FFF2-40B4-BE49-F238E27FC236}">
                <a16:creationId xmlns:a16="http://schemas.microsoft.com/office/drawing/2014/main" id="{A65D27F8-D867-48C0-AE0D-BE89BBA7AECA}"/>
              </a:ext>
            </a:extLst>
          </p:cNvPr>
          <p:cNvSpPr>
            <a:spLocks xmlns:a="http://schemas.openxmlformats.org/drawingml/2006/main" noGrp="1"/>
          </p:cNvSpPr>
          <p:nvPr/>
        </p:nvSpPr>
        <p:spPr>
          <a:xfrm xmlns:a="http://schemas.openxmlformats.org/drawingml/2006/main">
            <a:off x="1847850" y="3114675"/>
            <a:ext cx="190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50" b="1" i="0">
                <a:solidFill>
                  <a:srgbClr val="111111"/>
                </a:solidFill>
                <a:latin typeface="Arial"/>
                <a:ea typeface="Arial"/>
                <a:cs typeface="Arial"/>
              </a:defRPr>
            </a:pPr>
            <a:r>
              <a:rPr sz="750" b="1" i="0">
                <a:solidFill>
                  <a:srgbClr val="111111"/>
                </a:solidFill>
                <a:latin typeface="Arial"/>
                <a:ea typeface="Arial"/>
                <a:cs typeface="Arial"/>
              </a:rPr>
              <a:t>VM</a:t>
            </a:r>
          </a:p>
        </p:txBody>
      </p:sp>
      <p:sp>
        <p:nvSpPr>
          <p:cNvPr id="41" name="Rectangle 40">
            <a:extLst xmlns:a="http://schemas.openxmlformats.org/drawingml/2006/main">
              <a:ext uri="{FF2B5EF4-FFF2-40B4-BE49-F238E27FC236}">
                <a16:creationId xmlns:a16="http://schemas.microsoft.com/office/drawing/2014/main" id="{658E5C71-9C9E-4061-915E-2728161543EF}"/>
              </a:ext>
            </a:extLst>
          </p:cNvPr>
          <p:cNvSpPr>
            <a:spLocks xmlns:a="http://schemas.openxmlformats.org/drawingml/2006/main" noGrp="1"/>
          </p:cNvSpPr>
          <p:nvPr/>
        </p:nvSpPr>
        <p:spPr>
          <a:xfrm xmlns:a="http://schemas.openxmlformats.org/drawingml/2006/main">
            <a:off x="2200275" y="3086100"/>
            <a:ext cx="228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75" b="1" i="0">
                <a:solidFill>
                  <a:srgbClr val="111111"/>
                </a:solidFill>
                <a:latin typeface="Arial"/>
                <a:ea typeface="Arial"/>
                <a:cs typeface="Arial"/>
              </a:defRPr>
            </a:pPr>
            <a:r>
              <a:rPr sz="975" b="1" i="0">
                <a:solidFill>
                  <a:srgbClr val="111111"/>
                </a:solidFill>
                <a:latin typeface="Arial"/>
                <a:ea typeface="Arial"/>
                <a:cs typeface="Arial"/>
              </a:rPr>
              <a:t>...</a:t>
            </a:r>
          </a:p>
        </p:txBody>
      </p:sp>
      <p:sp>
        <p:nvSpPr>
          <p:cNvPr id="42" name="Rounded Rectangle 41">
            <a:extLst xmlns:a="http://schemas.openxmlformats.org/drawingml/2006/main">
              <a:ext uri="{FF2B5EF4-FFF2-40B4-BE49-F238E27FC236}">
                <a16:creationId xmlns:a16="http://schemas.microsoft.com/office/drawing/2014/main" id="{9AF061C4-51C1-4B67-874B-9B8A7F95CA58}"/>
              </a:ext>
            </a:extLst>
          </p:cNvPr>
          <p:cNvSpPr>
            <a:spLocks xmlns:a="http://schemas.openxmlformats.org/drawingml/2006/main" noGrp="1"/>
          </p:cNvSpPr>
          <p:nvPr/>
        </p:nvSpPr>
        <p:spPr>
          <a:xfrm xmlns:a="http://schemas.openxmlformats.org/drawingml/2006/main">
            <a:off x="2543175" y="3048000"/>
            <a:ext cx="285750" cy="295275"/>
          </a:xfrm>
          <a:prstGeom xmlns:a="http://schemas.openxmlformats.org/drawingml/2006/main" prst="roundRect">
            <a:avLst>
              <a:gd name="adj" fmla="val 13333"/>
            </a:avLst>
          </a:prstGeom>
          <a:solidFill xmlns:a="http://schemas.openxmlformats.org/drawingml/2006/main">
            <a:srgbClr val="FAFAFA"/>
          </a:solidFill>
          <a:ln xmlns:a="http://schemas.openxmlformats.org/drawingml/2006/main" w="9525">
            <a:solidFill>
              <a:srgbClr val="BFC7C2"/>
            </a:solidFill>
            <a:prstDash val="solid"/>
          </a:ln>
        </p:spPr>
        <p:txBody>
          <a:bodyPr xmlns:a="http://schemas.openxmlformats.org/drawingml/2006/main"/>
          <a:lstStyle xmlns:a="http://schemas.openxmlformats.org/drawingml/2006/main"/>
          <a:p xmlns:a="http://schemas.openxmlformats.org/drawingml/2006/main">
            <a:endParaRPr/>
          </a:p>
        </p:txBody>
      </p:sp>
      <p:sp>
        <p:nvSpPr>
          <p:cNvPr id="43" name="Rectangle 42">
            <a:extLst xmlns:a="http://schemas.openxmlformats.org/drawingml/2006/main">
              <a:ext uri="{FF2B5EF4-FFF2-40B4-BE49-F238E27FC236}">
                <a16:creationId xmlns:a16="http://schemas.microsoft.com/office/drawing/2014/main" id="{28F8894D-32BD-4306-97D7-1B234700EA59}"/>
              </a:ext>
            </a:extLst>
          </p:cNvPr>
          <p:cNvSpPr>
            <a:spLocks xmlns:a="http://schemas.openxmlformats.org/drawingml/2006/main" noGrp="1"/>
          </p:cNvSpPr>
          <p:nvPr/>
        </p:nvSpPr>
        <p:spPr>
          <a:xfrm xmlns:a="http://schemas.openxmlformats.org/drawingml/2006/main">
            <a:off x="2590800" y="3114675"/>
            <a:ext cx="190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50" b="1" i="0">
                <a:solidFill>
                  <a:srgbClr val="111111"/>
                </a:solidFill>
                <a:latin typeface="Arial"/>
                <a:ea typeface="Arial"/>
                <a:cs typeface="Arial"/>
              </a:defRPr>
            </a:pPr>
            <a:r>
              <a:rPr sz="750" b="1" i="0">
                <a:solidFill>
                  <a:srgbClr val="111111"/>
                </a:solidFill>
                <a:latin typeface="Arial"/>
                <a:ea typeface="Arial"/>
                <a:cs typeface="Arial"/>
              </a:rPr>
              <a:t>VM</a:t>
            </a:r>
          </a:p>
        </p:txBody>
      </p:sp>
      <p:pic>
        <p:nvPicPr>
          <p:cNvPr id="193" name="Picture 165"/>
          <p:cNvPicPr>
            <a:picLocks xmlns:a="http://schemas.openxmlformats.org/drawingml/2006/main" noChangeAspect="1"/>
          </p:cNvPicPr>
          <p:nvPr/>
        </p:nvPicPr>
        <p:blipFill>
          <a:blip xmlns:r="http://schemas.openxmlformats.org/officeDocument/2006/relationships" xmlns:a="http://schemas.openxmlformats.org/drawingml/2006/main" r:embed="R2fc52062993444f9"/>
          <a:stretch xmlns:a="http://schemas.openxmlformats.org/drawingml/2006/main"/>
        </p:blipFill>
        <p:spPr>
          <a:xfrm xmlns:a="http://schemas.openxmlformats.org/drawingml/2006/main">
            <a:off x="2862263" y="3009900"/>
            <a:ext cx="304800" cy="390525"/>
          </a:xfrm>
          <a:prstGeom xmlns:a="http://schemas.openxmlformats.org/drawingml/2006/main" prst="rect">
            <a:avLst/>
          </a:prstGeom>
        </p:spPr>
      </p:pic>
      <p:sp>
        <p:nvSpPr>
          <p:cNvPr id="45" name="Rectangle 44">
            <a:extLst xmlns:a="http://schemas.openxmlformats.org/drawingml/2006/main">
              <a:ext uri="{FF2B5EF4-FFF2-40B4-BE49-F238E27FC236}">
                <a16:creationId xmlns:a16="http://schemas.microsoft.com/office/drawing/2014/main" id="{8E4079A0-78EA-4538-BFEC-8D88FFEE4C93}"/>
              </a:ext>
            </a:extLst>
          </p:cNvPr>
          <p:cNvSpPr>
            <a:spLocks xmlns:a="http://schemas.openxmlformats.org/drawingml/2006/main" noGrp="1"/>
          </p:cNvSpPr>
          <p:nvPr/>
        </p:nvSpPr>
        <p:spPr>
          <a:xfrm xmlns:a="http://schemas.openxmlformats.org/drawingml/2006/main">
            <a:off x="1228725" y="3676650"/>
            <a:ext cx="1285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15000"/>
              </a:lnSpc>
              <a:buNone/>
              <a:defRPr sz="938" b="1" i="0">
                <a:solidFill>
                  <a:srgbClr val="00452C"/>
                </a:solidFill>
                <a:latin typeface="Arial"/>
                <a:ea typeface="Arial"/>
                <a:cs typeface="Arial"/>
              </a:defRPr>
            </a:pPr>
            <a:r>
              <a:rPr sz="938" b="1" i="0">
                <a:solidFill>
                  <a:srgbClr val="00452C"/>
                </a:solidFill>
                <a:latin typeface="Arial"/>
                <a:ea typeface="Arial"/>
                <a:cs typeface="Arial"/>
              </a:rPr>
              <a:t>Your Existing</a:t>
            </a:r>
          </a:p>
          <a:p xmlns:a="http://schemas.openxmlformats.org/drawingml/2006/main">
            <a:pPr algn="ctr">
              <a:lnSpc>
                <a:spcPct val="115000"/>
              </a:lnSpc>
              <a:buNone/>
              <a:defRPr sz="938" b="1" i="0">
                <a:solidFill>
                  <a:srgbClr val="00452C"/>
                </a:solidFill>
                <a:latin typeface="Arial"/>
                <a:ea typeface="Arial"/>
                <a:cs typeface="Arial"/>
              </a:defRPr>
            </a:pPr>
            <a:r>
              <a:rPr sz="938" b="1" i="0">
                <a:solidFill>
                  <a:srgbClr val="00452C"/>
                </a:solidFill>
                <a:latin typeface="Arial"/>
                <a:ea typeface="Arial"/>
                <a:cs typeface="Arial"/>
              </a:rPr>
              <a:t>VMware Environment</a:t>
            </a:r>
          </a:p>
        </p:txBody>
      </p:sp>
      <p:sp>
        <p:nvSpPr>
          <p:cNvPr id="46" name="Straight Connector 45">
            <a:extLst xmlns:a="http://schemas.openxmlformats.org/drawingml/2006/main">
              <a:ext uri="{FF2B5EF4-FFF2-40B4-BE49-F238E27FC236}">
                <a16:creationId xmlns:a16="http://schemas.microsoft.com/office/drawing/2014/main" id="{04B568EA-4723-4FC1-83F1-79992AC6542E}"/>
              </a:ext>
            </a:extLst>
          </p:cNvPr>
          <p:cNvSpPr>
            <a:spLocks xmlns:a="http://schemas.openxmlformats.org/drawingml/2006/main" noGrp="1"/>
          </p:cNvSpPr>
          <p:nvPr/>
        </p:nvSpPr>
        <p:spPr>
          <a:xfrm xmlns:a="http://schemas.openxmlformats.org/drawingml/2006/main">
            <a:off x="571500" y="4143375"/>
            <a:ext cx="2524125" cy="0"/>
          </a:xfrm>
          <a:prstGeom xmlns:a="http://schemas.openxmlformats.org/drawingml/2006/main" prst="line">
            <a:avLst/>
          </a:prstGeom>
          <a:noFill xmlns:a="http://schemas.openxmlformats.org/drawingml/2006/main"/>
          <a:ln xmlns:a="http://schemas.openxmlformats.org/drawingml/2006/main" w="9525">
            <a:solidFill>
              <a:srgbClr val="D7DDDA"/>
            </a:solidFill>
            <a:prstDash val="solid"/>
          </a:ln>
        </p:spPr>
        <p:txBody>
          <a:bodyPr xmlns:a="http://schemas.openxmlformats.org/drawingml/2006/main"/>
          <a:lstStyle xmlns:a="http://schemas.openxmlformats.org/drawingml/2006/main"/>
          <a:p xmlns:a="http://schemas.openxmlformats.org/drawingml/2006/main">
            <a:endParaRPr/>
          </a:p>
        </p:txBody>
      </p:sp>
      <p:pic>
        <p:nvPicPr>
          <p:cNvPr id="196" name="Picture 168"/>
          <p:cNvPicPr>
            <a:picLocks xmlns:a="http://schemas.openxmlformats.org/drawingml/2006/main" noChangeAspect="1"/>
          </p:cNvPicPr>
          <p:nvPr/>
        </p:nvPicPr>
        <p:blipFill>
          <a:blip xmlns:r="http://schemas.openxmlformats.org/officeDocument/2006/relationships" xmlns:a="http://schemas.openxmlformats.org/drawingml/2006/main" r:embed="R649b789933ec489e"/>
          <a:stretch xmlns:a="http://schemas.openxmlformats.org/drawingml/2006/main"/>
        </p:blipFill>
        <p:spPr>
          <a:xfrm xmlns:a="http://schemas.openxmlformats.org/drawingml/2006/main">
            <a:off x="571500" y="4336396"/>
            <a:ext cx="238125" cy="252132"/>
          </a:xfrm>
          <a:prstGeom xmlns:a="http://schemas.openxmlformats.org/drawingml/2006/main" prst="rect">
            <a:avLst/>
          </a:prstGeom>
        </p:spPr>
      </p:pic>
      <p:sp>
        <p:nvSpPr>
          <p:cNvPr id="48" name="Rectangle 47">
            <a:extLst xmlns:a="http://schemas.openxmlformats.org/drawingml/2006/main">
              <a:ext uri="{FF2B5EF4-FFF2-40B4-BE49-F238E27FC236}">
                <a16:creationId xmlns:a16="http://schemas.microsoft.com/office/drawing/2014/main" id="{4F7BB026-11C3-4BAC-81B8-7AD64051D1E3}"/>
              </a:ext>
            </a:extLst>
          </p:cNvPr>
          <p:cNvSpPr>
            <a:spLocks xmlns:a="http://schemas.openxmlformats.org/drawingml/2006/main" noGrp="1"/>
          </p:cNvSpPr>
          <p:nvPr/>
        </p:nvSpPr>
        <p:spPr>
          <a:xfrm xmlns:a="http://schemas.openxmlformats.org/drawingml/2006/main">
            <a:off x="990600" y="4352925"/>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25000"/>
              </a:lnSpc>
              <a:buNone/>
              <a:defRPr sz="930" b="0" i="0">
                <a:solidFill>
                  <a:srgbClr val="111111"/>
                </a:solidFill>
                <a:latin typeface="Arial"/>
                <a:ea typeface="Arial"/>
                <a:cs typeface="Arial"/>
              </a:defRPr>
            </a:pPr>
            <a:r>
              <a:rPr sz="930" b="0" i="0">
                <a:solidFill>
                  <a:srgbClr val="111111"/>
                </a:solidFill>
                <a:latin typeface="Arial"/>
                <a:ea typeface="Arial"/>
                <a:cs typeface="Arial"/>
              </a:rPr>
              <a:t>Production workloads</a:t>
            </a:r>
          </a:p>
        </p:txBody>
      </p:sp>
      <p:pic>
        <p:nvPicPr>
          <p:cNvPr id="198" name="Picture 170"/>
          <p:cNvPicPr>
            <a:picLocks xmlns:a="http://schemas.openxmlformats.org/drawingml/2006/main" noChangeAspect="1"/>
          </p:cNvPicPr>
          <p:nvPr/>
        </p:nvPicPr>
        <p:blipFill>
          <a:blip xmlns:r="http://schemas.openxmlformats.org/officeDocument/2006/relationships" xmlns:a="http://schemas.openxmlformats.org/drawingml/2006/main" r:embed="Rfd248a93af4f44af"/>
          <a:stretch xmlns:a="http://schemas.openxmlformats.org/drawingml/2006/main"/>
        </p:blipFill>
        <p:spPr>
          <a:xfrm xmlns:a="http://schemas.openxmlformats.org/drawingml/2006/main">
            <a:off x="575511" y="4686300"/>
            <a:ext cx="230104" cy="257175"/>
          </a:xfrm>
          <a:prstGeom xmlns:a="http://schemas.openxmlformats.org/drawingml/2006/main" prst="rect">
            <a:avLst/>
          </a:prstGeom>
        </p:spPr>
      </p:pic>
      <p:sp>
        <p:nvSpPr>
          <p:cNvPr id="50" name="Rectangle 49">
            <a:extLst xmlns:a="http://schemas.openxmlformats.org/drawingml/2006/main">
              <a:ext uri="{FF2B5EF4-FFF2-40B4-BE49-F238E27FC236}">
                <a16:creationId xmlns:a16="http://schemas.microsoft.com/office/drawing/2014/main" id="{B118DDFD-CEBB-47E5-B28D-0C491C9C8859}"/>
              </a:ext>
            </a:extLst>
          </p:cNvPr>
          <p:cNvSpPr>
            <a:spLocks xmlns:a="http://schemas.openxmlformats.org/drawingml/2006/main" noGrp="1"/>
          </p:cNvSpPr>
          <p:nvPr/>
        </p:nvSpPr>
        <p:spPr>
          <a:xfrm xmlns:a="http://schemas.openxmlformats.org/drawingml/2006/main">
            <a:off x="990600" y="4705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25000"/>
              </a:lnSpc>
              <a:buNone/>
              <a:defRPr sz="930" b="0" i="0">
                <a:solidFill>
                  <a:srgbClr val="111111"/>
                </a:solidFill>
                <a:latin typeface="Arial"/>
                <a:ea typeface="Arial"/>
                <a:cs typeface="Arial"/>
              </a:defRPr>
            </a:pPr>
            <a:r>
              <a:rPr sz="930" b="0" i="0">
                <a:solidFill>
                  <a:srgbClr val="111111"/>
                </a:solidFill>
                <a:latin typeface="Arial"/>
                <a:ea typeface="Arial"/>
                <a:cs typeface="Arial"/>
              </a:rPr>
              <a:t>Business critical applications</a:t>
            </a:r>
          </a:p>
        </p:txBody>
      </p:sp>
      <p:pic>
        <p:nvPicPr>
          <p:cNvPr id="200" name="Picture 172"/>
          <p:cNvPicPr>
            <a:picLocks xmlns:a="http://schemas.openxmlformats.org/drawingml/2006/main" noChangeAspect="1"/>
          </p:cNvPicPr>
          <p:nvPr/>
        </p:nvPicPr>
        <p:blipFill>
          <a:blip xmlns:r="http://schemas.openxmlformats.org/officeDocument/2006/relationships" xmlns:a="http://schemas.openxmlformats.org/drawingml/2006/main" r:embed="R3cb1303115554396"/>
          <a:stretch xmlns:a="http://schemas.openxmlformats.org/drawingml/2006/main"/>
        </p:blipFill>
        <p:spPr>
          <a:xfrm xmlns:a="http://schemas.openxmlformats.org/drawingml/2006/main">
            <a:off x="571500" y="5055054"/>
            <a:ext cx="238125" cy="224518"/>
          </a:xfrm>
          <a:prstGeom xmlns:a="http://schemas.openxmlformats.org/drawingml/2006/main" prst="rect">
            <a:avLst/>
          </a:prstGeom>
        </p:spPr>
      </p:pic>
      <p:sp>
        <p:nvSpPr>
          <p:cNvPr id="52" name="Rectangle 51">
            <a:extLst xmlns:a="http://schemas.openxmlformats.org/drawingml/2006/main">
              <a:ext uri="{FF2B5EF4-FFF2-40B4-BE49-F238E27FC236}">
                <a16:creationId xmlns:a16="http://schemas.microsoft.com/office/drawing/2014/main" id="{779F4A81-C5DF-40AF-8221-94D3A421F20F}"/>
              </a:ext>
            </a:extLst>
          </p:cNvPr>
          <p:cNvSpPr>
            <a:spLocks xmlns:a="http://schemas.openxmlformats.org/drawingml/2006/main" noGrp="1"/>
          </p:cNvSpPr>
          <p:nvPr/>
        </p:nvSpPr>
        <p:spPr>
          <a:xfrm xmlns:a="http://schemas.openxmlformats.org/drawingml/2006/main">
            <a:off x="990600" y="5057775"/>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25000"/>
              </a:lnSpc>
              <a:buNone/>
              <a:defRPr sz="930" b="0" i="0">
                <a:solidFill>
                  <a:srgbClr val="111111"/>
                </a:solidFill>
                <a:latin typeface="Arial"/>
                <a:ea typeface="Arial"/>
                <a:cs typeface="Arial"/>
              </a:defRPr>
            </a:pPr>
            <a:r>
              <a:rPr sz="930" b="0" i="0">
                <a:solidFill>
                  <a:srgbClr val="111111"/>
                </a:solidFill>
                <a:latin typeface="Arial"/>
                <a:ea typeface="Arial"/>
                <a:cs typeface="Arial"/>
              </a:rPr>
              <a:t>Users &amp; business operations</a:t>
            </a:r>
          </a:p>
        </p:txBody>
      </p:sp>
      <p:pic>
        <p:nvPicPr>
          <p:cNvPr id="202" name="Picture 174"/>
          <p:cNvPicPr>
            <a:picLocks xmlns:a="http://schemas.openxmlformats.org/drawingml/2006/main" noChangeAspect="1"/>
          </p:cNvPicPr>
          <p:nvPr/>
        </p:nvPicPr>
        <p:blipFill>
          <a:blip xmlns:r="http://schemas.openxmlformats.org/officeDocument/2006/relationships" xmlns:a="http://schemas.openxmlformats.org/drawingml/2006/main" r:embed="R126eaaefffb84ca0"/>
          <a:stretch xmlns:a="http://schemas.openxmlformats.org/drawingml/2006/main"/>
        </p:blipFill>
        <p:spPr>
          <a:xfrm xmlns:a="http://schemas.openxmlformats.org/drawingml/2006/main">
            <a:off x="572691" y="5391150"/>
            <a:ext cx="235744" cy="257175"/>
          </a:xfrm>
          <a:prstGeom xmlns:a="http://schemas.openxmlformats.org/drawingml/2006/main" prst="rect">
            <a:avLst/>
          </a:prstGeom>
        </p:spPr>
      </p:pic>
      <p:sp>
        <p:nvSpPr>
          <p:cNvPr id="54" name="Rectangle 53">
            <a:extLst xmlns:a="http://schemas.openxmlformats.org/drawingml/2006/main">
              <a:ext uri="{FF2B5EF4-FFF2-40B4-BE49-F238E27FC236}">
                <a16:creationId xmlns:a16="http://schemas.microsoft.com/office/drawing/2014/main" id="{A362E71A-14E2-418E-9A94-37E8AA78F9C8}"/>
              </a:ext>
            </a:extLst>
          </p:cNvPr>
          <p:cNvSpPr>
            <a:spLocks xmlns:a="http://schemas.openxmlformats.org/drawingml/2006/main" noGrp="1"/>
          </p:cNvSpPr>
          <p:nvPr/>
        </p:nvSpPr>
        <p:spPr>
          <a:xfrm xmlns:a="http://schemas.openxmlformats.org/drawingml/2006/main">
            <a:off x="990600" y="541020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25000"/>
              </a:lnSpc>
              <a:buNone/>
              <a:defRPr sz="930" b="0" i="0">
                <a:solidFill>
                  <a:srgbClr val="111111"/>
                </a:solidFill>
                <a:latin typeface="Arial"/>
                <a:ea typeface="Arial"/>
                <a:cs typeface="Arial"/>
              </a:defRPr>
            </a:pPr>
            <a:r>
              <a:rPr sz="930" b="0" i="0">
                <a:solidFill>
                  <a:srgbClr val="111111"/>
                </a:solidFill>
                <a:latin typeface="Arial"/>
                <a:ea typeface="Arial"/>
                <a:cs typeface="Arial"/>
              </a:rPr>
              <a:t>At risk from cost, complexity</a:t>
            </a:r>
          </a:p>
          <a:p xmlns:a="http://schemas.openxmlformats.org/drawingml/2006/main">
            <a:pPr algn="l">
              <a:lnSpc>
                <a:spcPct val="125000"/>
              </a:lnSpc>
              <a:buNone/>
              <a:defRPr sz="930" b="0" i="0">
                <a:solidFill>
                  <a:srgbClr val="111111"/>
                </a:solidFill>
                <a:latin typeface="Arial"/>
                <a:ea typeface="Arial"/>
                <a:cs typeface="Arial"/>
              </a:defRPr>
            </a:pPr>
            <a:r>
              <a:rPr sz="930" b="0" i="0">
                <a:solidFill>
                  <a:srgbClr val="111111"/>
                </a:solidFill>
                <a:latin typeface="Arial"/>
                <a:ea typeface="Arial"/>
                <a:cs typeface="Arial"/>
              </a:rPr>
              <a:t>and technical debt</a:t>
            </a:r>
          </a:p>
        </p:txBody>
      </p:sp>
      <p:sp>
        <p:nvSpPr>
          <p:cNvPr id="55" name="Rounded Rectangle 54">
            <a:extLst xmlns:a="http://schemas.openxmlformats.org/drawingml/2006/main">
              <a:ext uri="{FF2B5EF4-FFF2-40B4-BE49-F238E27FC236}">
                <a16:creationId xmlns:a16="http://schemas.microsoft.com/office/drawing/2014/main" id="{99F13FFF-0483-43C0-ABE3-C06D52700AF7}"/>
              </a:ext>
            </a:extLst>
          </p:cNvPr>
          <p:cNvSpPr>
            <a:spLocks xmlns:a="http://schemas.openxmlformats.org/drawingml/2006/main" noGrp="1"/>
          </p:cNvSpPr>
          <p:nvPr/>
        </p:nvSpPr>
        <p:spPr>
          <a:xfrm xmlns:a="http://schemas.openxmlformats.org/drawingml/2006/main">
            <a:off x="3600450" y="2409825"/>
            <a:ext cx="2752725" cy="3524250"/>
          </a:xfrm>
          <a:prstGeom xmlns:a="http://schemas.openxmlformats.org/drawingml/2006/main" prst="roundRect">
            <a:avLst>
              <a:gd name="adj" fmla="val 2768"/>
            </a:avLst>
          </a:prstGeom>
          <a:solidFill xmlns:a="http://schemas.openxmlformats.org/drawingml/2006/main">
            <a:srgbClr val="FFFFFF"/>
          </a:solidFill>
          <a:ln xmlns:a="http://schemas.openxmlformats.org/drawingml/2006/main" w="9525">
            <a:solidFill>
              <a:srgbClr val="00452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56" name="Rectangle 55">
            <a:extLst xmlns:a="http://schemas.openxmlformats.org/drawingml/2006/main">
              <a:ext uri="{FF2B5EF4-FFF2-40B4-BE49-F238E27FC236}">
                <a16:creationId xmlns:a16="http://schemas.microsoft.com/office/drawing/2014/main" id="{62041801-683C-4959-B54F-08A6699B5EEF}"/>
              </a:ext>
            </a:extLst>
          </p:cNvPr>
          <p:cNvSpPr>
            <a:spLocks xmlns:a="http://schemas.openxmlformats.org/drawingml/2006/main" noGrp="1"/>
          </p:cNvSpPr>
          <p:nvPr/>
        </p:nvSpPr>
        <p:spPr>
          <a:xfrm xmlns:a="http://schemas.openxmlformats.org/drawingml/2006/main">
            <a:off x="4362450" y="2562225"/>
            <a:ext cx="1238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38" b="1" i="0">
                <a:solidFill>
                  <a:srgbClr val="00452C"/>
                </a:solidFill>
                <a:latin typeface="Arial"/>
                <a:ea typeface="Arial"/>
                <a:cs typeface="Arial"/>
              </a:defRPr>
            </a:pPr>
            <a:r>
              <a:rPr sz="938" b="1" i="0">
                <a:solidFill>
                  <a:srgbClr val="00452C"/>
                </a:solidFill>
                <a:latin typeface="Arial"/>
                <a:ea typeface="Arial"/>
                <a:cs typeface="Arial"/>
              </a:rPr>
              <a:t>MIGRATION OPTIONS</a:t>
            </a:r>
          </a:p>
        </p:txBody>
      </p:sp>
      <p:pic>
        <p:nvPicPr>
          <p:cNvPr id="206" name="Picture 178"/>
          <p:cNvPicPr>
            <a:picLocks xmlns:a="http://schemas.openxmlformats.org/drawingml/2006/main" noChangeAspect="1"/>
          </p:cNvPicPr>
          <p:nvPr/>
        </p:nvPicPr>
        <p:blipFill>
          <a:blip xmlns:r="http://schemas.openxmlformats.org/officeDocument/2006/relationships" xmlns:a="http://schemas.openxmlformats.org/drawingml/2006/main" r:embed="R78b71d0b8ec84f5a"/>
          <a:stretch xmlns:a="http://schemas.openxmlformats.org/drawingml/2006/main"/>
        </p:blipFill>
        <p:spPr>
          <a:xfrm xmlns:a="http://schemas.openxmlformats.org/drawingml/2006/main">
            <a:off x="3990975" y="2985067"/>
            <a:ext cx="476250" cy="459241"/>
          </a:xfrm>
          <a:prstGeom xmlns:a="http://schemas.openxmlformats.org/drawingml/2006/main" prst="rect">
            <a:avLst/>
          </a:prstGeom>
        </p:spPr>
      </p:pic>
      <p:pic>
        <p:nvPicPr>
          <p:cNvPr id="207" name="Picture 179"/>
          <p:cNvPicPr>
            <a:picLocks xmlns:a="http://schemas.openxmlformats.org/drawingml/2006/main" noChangeAspect="1"/>
          </p:cNvPicPr>
          <p:nvPr/>
        </p:nvPicPr>
        <p:blipFill>
          <a:blip xmlns:r="http://schemas.openxmlformats.org/officeDocument/2006/relationships" xmlns:a="http://schemas.openxmlformats.org/drawingml/2006/main" r:embed="Ra6ed862ea726440e"/>
          <a:stretch xmlns:a="http://schemas.openxmlformats.org/drawingml/2006/main"/>
        </p:blipFill>
        <p:spPr>
          <a:xfrm xmlns:a="http://schemas.openxmlformats.org/drawingml/2006/main">
            <a:off x="5529453" y="2943225"/>
            <a:ext cx="485394" cy="495300"/>
          </a:xfrm>
          <a:prstGeom xmlns:a="http://schemas.openxmlformats.org/drawingml/2006/main" prst="rect">
            <a:avLst/>
          </a:prstGeom>
        </p:spPr>
      </p:pic>
      <p:sp>
        <p:nvSpPr>
          <p:cNvPr id="59" name="Straight Connector 58">
            <a:extLst xmlns:a="http://schemas.openxmlformats.org/drawingml/2006/main">
              <a:ext uri="{FF2B5EF4-FFF2-40B4-BE49-F238E27FC236}">
                <a16:creationId xmlns:a16="http://schemas.microsoft.com/office/drawing/2014/main" id="{D60F1B7C-8223-47D7-B12D-E287D5518C37}"/>
              </a:ext>
            </a:extLst>
          </p:cNvPr>
          <p:cNvSpPr>
            <a:spLocks xmlns:a="http://schemas.openxmlformats.org/drawingml/2006/main" noGrp="1"/>
          </p:cNvSpPr>
          <p:nvPr/>
        </p:nvSpPr>
        <p:spPr>
          <a:xfrm xmlns:a="http://schemas.openxmlformats.org/drawingml/2006/main">
            <a:off x="4953000" y="2981325"/>
            <a:ext cx="0" cy="1333500"/>
          </a:xfrm>
          <a:prstGeom xmlns:a="http://schemas.openxmlformats.org/drawingml/2006/main" prst="line">
            <a:avLst/>
          </a:prstGeom>
          <a:noFill xmlns:a="http://schemas.openxmlformats.org/drawingml/2006/main"/>
          <a:ln xmlns:a="http://schemas.openxmlformats.org/drawingml/2006/main" w="9525">
            <a:solidFill>
              <a:srgbClr val="D7DDDA"/>
            </a:solidFill>
            <a:prstDash val="solid"/>
          </a:ln>
        </p:spPr>
        <p:txBody>
          <a:bodyPr xmlns:a="http://schemas.openxmlformats.org/drawingml/2006/main"/>
          <a:lstStyle xmlns:a="http://schemas.openxmlformats.org/drawingml/2006/main"/>
          <a:p xmlns:a="http://schemas.openxmlformats.org/drawingml/2006/main">
            <a:endParaRPr/>
          </a:p>
        </p:txBody>
      </p:sp>
      <p:sp>
        <p:nvSpPr>
          <p:cNvPr id="60" name="Oval 59">
            <a:extLst xmlns:a="http://schemas.openxmlformats.org/drawingml/2006/main">
              <a:ext uri="{FF2B5EF4-FFF2-40B4-BE49-F238E27FC236}">
                <a16:creationId xmlns:a16="http://schemas.microsoft.com/office/drawing/2014/main" id="{50CA0750-338A-44F1-B2FD-387311731D2E}"/>
              </a:ext>
            </a:extLst>
          </p:cNvPr>
          <p:cNvSpPr>
            <a:spLocks xmlns:a="http://schemas.openxmlformats.org/drawingml/2006/main" noGrp="1"/>
          </p:cNvSpPr>
          <p:nvPr/>
        </p:nvSpPr>
        <p:spPr>
          <a:xfrm xmlns:a="http://schemas.openxmlformats.org/drawingml/2006/main">
            <a:off x="4838700" y="3524250"/>
            <a:ext cx="323850" cy="323850"/>
          </a:xfrm>
          <a:prstGeom xmlns:a="http://schemas.openxmlformats.org/drawingml/2006/main" prst="ellipse">
            <a:avLst/>
          </a:prstGeom>
          <a:solidFill xmlns:a="http://schemas.openxmlformats.org/drawingml/2006/main">
            <a:srgbClr val="F8FAF8"/>
          </a:solidFill>
          <a:ln xmlns:a="http://schemas.openxmlformats.org/drawingml/2006/main" w="9525">
            <a:solidFill>
              <a:srgbClr val="00452C"/>
            </a:solidFill>
            <a:prstDash val="solid"/>
          </a:ln>
        </p:spPr>
        <p:txBody>
          <a:bodyPr xmlns:a="http://schemas.openxmlformats.org/drawingml/2006/main"/>
          <a:lstStyle xmlns:a="http://schemas.openxmlformats.org/drawingml/2006/main"/>
          <a:p xmlns:a="http://schemas.openxmlformats.org/drawingml/2006/main">
            <a:endParaRPr/>
          </a:p>
        </p:txBody>
      </p:sp>
      <p:sp>
        <p:nvSpPr>
          <p:cNvPr id="61" name="Rectangle 60">
            <a:extLst xmlns:a="http://schemas.openxmlformats.org/drawingml/2006/main">
              <a:ext uri="{FF2B5EF4-FFF2-40B4-BE49-F238E27FC236}">
                <a16:creationId xmlns:a16="http://schemas.microsoft.com/office/drawing/2014/main" id="{3964A9D2-C493-4599-9BE4-4AE288BF66FF}"/>
              </a:ext>
            </a:extLst>
          </p:cNvPr>
          <p:cNvSpPr>
            <a:spLocks xmlns:a="http://schemas.openxmlformats.org/drawingml/2006/main" noGrp="1"/>
          </p:cNvSpPr>
          <p:nvPr/>
        </p:nvSpPr>
        <p:spPr>
          <a:xfrm xmlns:a="http://schemas.openxmlformats.org/drawingml/2006/main">
            <a:off x="4905375" y="3629025"/>
            <a:ext cx="1905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13" b="1" i="0">
                <a:solidFill>
                  <a:srgbClr val="00452C"/>
                </a:solidFill>
                <a:latin typeface="Arial"/>
                <a:ea typeface="Arial"/>
                <a:cs typeface="Arial"/>
              </a:defRPr>
            </a:pPr>
            <a:r>
              <a:rPr sz="713" b="1" i="0">
                <a:solidFill>
                  <a:srgbClr val="00452C"/>
                </a:solidFill>
                <a:latin typeface="Arial"/>
                <a:ea typeface="Arial"/>
                <a:cs typeface="Arial"/>
              </a:rPr>
              <a:t>OR</a:t>
            </a:r>
          </a:p>
        </p:txBody>
      </p:sp>
      <p:sp>
        <p:nvSpPr>
          <p:cNvPr id="62" name="Rectangle 61">
            <a:extLst xmlns:a="http://schemas.openxmlformats.org/drawingml/2006/main">
              <a:ext uri="{FF2B5EF4-FFF2-40B4-BE49-F238E27FC236}">
                <a16:creationId xmlns:a16="http://schemas.microsoft.com/office/drawing/2014/main" id="{6DA05511-C2C6-4661-B64C-B1AAEB80747D}"/>
              </a:ext>
            </a:extLst>
          </p:cNvPr>
          <p:cNvSpPr>
            <a:spLocks xmlns:a="http://schemas.openxmlformats.org/drawingml/2006/main" noGrp="1"/>
          </p:cNvSpPr>
          <p:nvPr/>
        </p:nvSpPr>
        <p:spPr>
          <a:xfrm xmlns:a="http://schemas.openxmlformats.org/drawingml/2006/main">
            <a:off x="3943350" y="3524250"/>
            <a:ext cx="8286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15000"/>
              </a:lnSpc>
              <a:buNone/>
              <a:defRPr sz="900" b="1" i="0">
                <a:solidFill>
                  <a:srgbClr val="00452C"/>
                </a:solidFill>
                <a:latin typeface="Arial"/>
                <a:ea typeface="Arial"/>
                <a:cs typeface="Arial"/>
              </a:defRPr>
            </a:pPr>
            <a:r>
              <a:rPr sz="900" b="1" i="0">
                <a:solidFill>
                  <a:srgbClr val="00452C"/>
                </a:solidFill>
                <a:latin typeface="Arial"/>
                <a:ea typeface="Arial"/>
                <a:cs typeface="Arial"/>
              </a:rPr>
              <a:t>Oracle Cloud</a:t>
            </a:r>
          </a:p>
          <a:p xmlns:a="http://schemas.openxmlformats.org/drawingml/2006/main">
            <a:pPr algn="ctr">
              <a:lnSpc>
                <a:spcPct val="115000"/>
              </a:lnSpc>
              <a:buNone/>
              <a:defRPr sz="900" b="1" i="0">
                <a:solidFill>
                  <a:srgbClr val="00452C"/>
                </a:solidFill>
                <a:latin typeface="Arial"/>
                <a:ea typeface="Arial"/>
                <a:cs typeface="Arial"/>
              </a:defRPr>
            </a:pPr>
            <a:r>
              <a:rPr sz="900" b="1" i="0">
                <a:solidFill>
                  <a:srgbClr val="00452C"/>
                </a:solidFill>
                <a:latin typeface="Arial"/>
                <a:ea typeface="Arial"/>
                <a:cs typeface="Arial"/>
              </a:rPr>
              <a:t>Migrations (OCM)</a:t>
            </a:r>
          </a:p>
        </p:txBody>
      </p:sp>
      <p:sp>
        <p:nvSpPr>
          <p:cNvPr id="63" name="Rectangle 62">
            <a:extLst xmlns:a="http://schemas.openxmlformats.org/drawingml/2006/main">
              <a:ext uri="{FF2B5EF4-FFF2-40B4-BE49-F238E27FC236}">
                <a16:creationId xmlns:a16="http://schemas.microsoft.com/office/drawing/2014/main" id="{E89EF101-F91C-46F6-B3D2-057AD9CAEF50}"/>
              </a:ext>
            </a:extLst>
          </p:cNvPr>
          <p:cNvSpPr>
            <a:spLocks xmlns:a="http://schemas.openxmlformats.org/drawingml/2006/main" noGrp="1"/>
          </p:cNvSpPr>
          <p:nvPr/>
        </p:nvSpPr>
        <p:spPr>
          <a:xfrm xmlns:a="http://schemas.openxmlformats.org/drawingml/2006/main">
            <a:off x="3876675" y="3962400"/>
            <a:ext cx="952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25000"/>
              </a:lnSpc>
              <a:buNone/>
              <a:defRPr sz="757" b="0" i="0">
                <a:solidFill>
                  <a:srgbClr val="111111"/>
                </a:solidFill>
                <a:latin typeface="Arial"/>
                <a:ea typeface="Arial"/>
                <a:cs typeface="Arial"/>
              </a:defRPr>
            </a:pPr>
            <a:r>
              <a:rPr sz="757" b="0" i="0">
                <a:solidFill>
                  <a:srgbClr val="111111"/>
                </a:solidFill>
                <a:latin typeface="Arial"/>
                <a:ea typeface="Arial"/>
                <a:cs typeface="Arial"/>
              </a:rPr>
              <a:t>Oracle-managed</a:t>
            </a:r>
          </a:p>
          <a:p xmlns:a="http://schemas.openxmlformats.org/drawingml/2006/main">
            <a:pPr algn="ctr">
              <a:lnSpc>
                <a:spcPct val="125000"/>
              </a:lnSpc>
              <a:buNone/>
              <a:defRPr sz="757" b="0" i="0">
                <a:solidFill>
                  <a:srgbClr val="111111"/>
                </a:solidFill>
                <a:latin typeface="Arial"/>
                <a:ea typeface="Arial"/>
                <a:cs typeface="Arial"/>
              </a:defRPr>
            </a:pPr>
            <a:r>
              <a:rPr sz="757" b="0" i="0">
                <a:solidFill>
                  <a:srgbClr val="111111"/>
                </a:solidFill>
                <a:latin typeface="Arial"/>
                <a:ea typeface="Arial"/>
                <a:cs typeface="Arial"/>
              </a:rPr>
              <a:t>migration services</a:t>
            </a:r>
          </a:p>
          <a:p xmlns:a="http://schemas.openxmlformats.org/drawingml/2006/main">
            <a:pPr algn="ctr">
              <a:lnSpc>
                <a:spcPct val="125000"/>
              </a:lnSpc>
              <a:buNone/>
              <a:defRPr sz="757" b="0" i="0">
                <a:solidFill>
                  <a:srgbClr val="111111"/>
                </a:solidFill>
                <a:latin typeface="Arial"/>
                <a:ea typeface="Arial"/>
                <a:cs typeface="Arial"/>
              </a:defRPr>
            </a:pPr>
            <a:r>
              <a:rPr sz="757" b="0" i="0">
                <a:solidFill>
                  <a:srgbClr val="111111"/>
                </a:solidFill>
                <a:latin typeface="Arial"/>
                <a:ea typeface="Arial"/>
                <a:cs typeface="Arial"/>
              </a:rPr>
              <a:t>for VMware workloads.</a:t>
            </a:r>
          </a:p>
        </p:txBody>
      </p:sp>
      <p:sp>
        <p:nvSpPr>
          <p:cNvPr id="64" name="Rectangle 63">
            <a:extLst xmlns:a="http://schemas.openxmlformats.org/drawingml/2006/main">
              <a:ext uri="{FF2B5EF4-FFF2-40B4-BE49-F238E27FC236}">
                <a16:creationId xmlns:a16="http://schemas.microsoft.com/office/drawing/2014/main" id="{BC2A775D-A9FF-4F69-AD8E-524368D73579}"/>
              </a:ext>
            </a:extLst>
          </p:cNvPr>
          <p:cNvSpPr>
            <a:spLocks xmlns:a="http://schemas.openxmlformats.org/drawingml/2006/main" noGrp="1"/>
          </p:cNvSpPr>
          <p:nvPr/>
        </p:nvSpPr>
        <p:spPr>
          <a:xfrm xmlns:a="http://schemas.openxmlformats.org/drawingml/2006/main">
            <a:off x="5429250" y="3524250"/>
            <a:ext cx="9239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15000"/>
              </a:lnSpc>
              <a:buNone/>
              <a:defRPr sz="900" b="1" i="0">
                <a:solidFill>
                  <a:srgbClr val="00452C"/>
                </a:solidFill>
                <a:latin typeface="Arial"/>
                <a:ea typeface="Arial"/>
                <a:cs typeface="Arial"/>
              </a:defRPr>
            </a:pPr>
            <a:r>
              <a:rPr sz="900" b="1" i="0">
                <a:solidFill>
                  <a:srgbClr val="00452C"/>
                </a:solidFill>
                <a:latin typeface="Arial"/>
                <a:ea typeface="Arial"/>
                <a:cs typeface="Arial"/>
              </a:rPr>
              <a:t>Third-Party</a:t>
            </a:r>
          </a:p>
          <a:p xmlns:a="http://schemas.openxmlformats.org/drawingml/2006/main">
            <a:pPr algn="ctr">
              <a:lnSpc>
                <a:spcPct val="115000"/>
              </a:lnSpc>
              <a:buNone/>
              <a:defRPr sz="900" b="1" i="0">
                <a:solidFill>
                  <a:srgbClr val="00452C"/>
                </a:solidFill>
                <a:latin typeface="Arial"/>
                <a:ea typeface="Arial"/>
                <a:cs typeface="Arial"/>
              </a:defRPr>
            </a:pPr>
            <a:r>
              <a:rPr sz="900" b="1" i="0">
                <a:solidFill>
                  <a:srgbClr val="00452C"/>
                </a:solidFill>
                <a:latin typeface="Arial"/>
                <a:ea typeface="Arial"/>
                <a:cs typeface="Arial"/>
              </a:rPr>
              <a:t>Migration Tools</a:t>
            </a:r>
          </a:p>
        </p:txBody>
      </p:sp>
      <p:sp>
        <p:nvSpPr>
          <p:cNvPr id="65" name="Rectangle 64">
            <a:extLst xmlns:a="http://schemas.openxmlformats.org/drawingml/2006/main">
              <a:ext uri="{FF2B5EF4-FFF2-40B4-BE49-F238E27FC236}">
                <a16:creationId xmlns:a16="http://schemas.microsoft.com/office/drawing/2014/main" id="{4B9D8D2F-BE2F-4179-87CC-B2D8AAA3B56E}"/>
              </a:ext>
            </a:extLst>
          </p:cNvPr>
          <p:cNvSpPr>
            <a:spLocks xmlns:a="http://schemas.openxmlformats.org/drawingml/2006/main" noGrp="1"/>
          </p:cNvSpPr>
          <p:nvPr/>
        </p:nvSpPr>
        <p:spPr>
          <a:xfrm xmlns:a="http://schemas.openxmlformats.org/drawingml/2006/main">
            <a:off x="5257800" y="3962400"/>
            <a:ext cx="1066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25000"/>
              </a:lnSpc>
              <a:buNone/>
              <a:defRPr sz="757" b="0" i="0">
                <a:solidFill>
                  <a:srgbClr val="111111"/>
                </a:solidFill>
                <a:latin typeface="Arial"/>
                <a:ea typeface="Arial"/>
                <a:cs typeface="Arial"/>
              </a:defRPr>
            </a:pPr>
            <a:r>
              <a:rPr sz="757" b="0" i="0">
                <a:solidFill>
                  <a:srgbClr val="111111"/>
                </a:solidFill>
                <a:latin typeface="Arial"/>
                <a:ea typeface="Arial"/>
                <a:cs typeface="Arial"/>
              </a:rPr>
              <a:t>Partner and ecosystem</a:t>
            </a:r>
          </a:p>
          <a:p xmlns:a="http://schemas.openxmlformats.org/drawingml/2006/main">
            <a:pPr algn="ctr">
              <a:lnSpc>
                <a:spcPct val="125000"/>
              </a:lnSpc>
              <a:buNone/>
              <a:defRPr sz="757" b="0" i="0">
                <a:solidFill>
                  <a:srgbClr val="111111"/>
                </a:solidFill>
                <a:latin typeface="Arial"/>
                <a:ea typeface="Arial"/>
                <a:cs typeface="Arial"/>
              </a:defRPr>
            </a:pPr>
            <a:r>
              <a:rPr sz="757" b="0" i="0">
                <a:solidFill>
                  <a:srgbClr val="111111"/>
                </a:solidFill>
                <a:latin typeface="Arial"/>
                <a:ea typeface="Arial"/>
                <a:cs typeface="Arial"/>
              </a:rPr>
              <a:t>migration tools for</a:t>
            </a:r>
          </a:p>
          <a:p xmlns:a="http://schemas.openxmlformats.org/drawingml/2006/main">
            <a:pPr algn="ctr">
              <a:lnSpc>
                <a:spcPct val="125000"/>
              </a:lnSpc>
              <a:buNone/>
              <a:defRPr sz="757" b="0" i="0">
                <a:solidFill>
                  <a:srgbClr val="111111"/>
                </a:solidFill>
                <a:latin typeface="Arial"/>
                <a:ea typeface="Arial"/>
                <a:cs typeface="Arial"/>
              </a:defRPr>
            </a:pPr>
            <a:r>
              <a:rPr sz="757" b="0" i="0">
                <a:solidFill>
                  <a:srgbClr val="111111"/>
                </a:solidFill>
                <a:latin typeface="Arial"/>
                <a:ea typeface="Arial"/>
                <a:cs typeface="Arial"/>
              </a:rPr>
              <a:t>specialized workloads.</a:t>
            </a:r>
          </a:p>
        </p:txBody>
      </p:sp>
      <p:sp>
        <p:nvSpPr>
          <p:cNvPr id="66" name="Straight Connector 65">
            <a:extLst xmlns:a="http://schemas.openxmlformats.org/drawingml/2006/main">
              <a:ext uri="{FF2B5EF4-FFF2-40B4-BE49-F238E27FC236}">
                <a16:creationId xmlns:a16="http://schemas.microsoft.com/office/drawing/2014/main" id="{335EAA7E-20D5-40A2-8C61-B325331E81DA}"/>
              </a:ext>
            </a:extLst>
          </p:cNvPr>
          <p:cNvSpPr>
            <a:spLocks xmlns:a="http://schemas.openxmlformats.org/drawingml/2006/main" noGrp="1"/>
          </p:cNvSpPr>
          <p:nvPr/>
        </p:nvSpPr>
        <p:spPr>
          <a:xfrm xmlns:a="http://schemas.openxmlformats.org/drawingml/2006/main">
            <a:off x="3695700" y="4638675"/>
            <a:ext cx="2524125" cy="0"/>
          </a:xfrm>
          <a:prstGeom xmlns:a="http://schemas.openxmlformats.org/drawingml/2006/main" prst="line">
            <a:avLst/>
          </a:prstGeom>
          <a:noFill xmlns:a="http://schemas.openxmlformats.org/drawingml/2006/main"/>
          <a:ln xmlns:a="http://schemas.openxmlformats.org/drawingml/2006/main" w="9525">
            <a:solidFill>
              <a:srgbClr val="D7DDDA"/>
            </a:solidFill>
            <a:prstDash val="solid"/>
          </a:ln>
        </p:spPr>
        <p:txBody>
          <a:bodyPr xmlns:a="http://schemas.openxmlformats.org/drawingml/2006/main"/>
          <a:lstStyle xmlns:a="http://schemas.openxmlformats.org/drawingml/2006/main"/>
          <a:p xmlns:a="http://schemas.openxmlformats.org/drawingml/2006/main">
            <a:endParaRPr/>
          </a:p>
        </p:txBody>
      </p:sp>
      <p:sp>
        <p:nvSpPr>
          <p:cNvPr id="67" name="Rectangle 66">
            <a:extLst xmlns:a="http://schemas.openxmlformats.org/drawingml/2006/main">
              <a:ext uri="{FF2B5EF4-FFF2-40B4-BE49-F238E27FC236}">
                <a16:creationId xmlns:a16="http://schemas.microsoft.com/office/drawing/2014/main" id="{3635B714-0522-49BE-AE9B-63F537BB6105}"/>
              </a:ext>
            </a:extLst>
          </p:cNvPr>
          <p:cNvSpPr>
            <a:spLocks xmlns:a="http://schemas.openxmlformats.org/drawingml/2006/main" noGrp="1"/>
          </p:cNvSpPr>
          <p:nvPr/>
        </p:nvSpPr>
        <p:spPr>
          <a:xfrm xmlns:a="http://schemas.openxmlformats.org/drawingml/2006/main">
            <a:off x="4343400" y="4810125"/>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452C"/>
                </a:solidFill>
                <a:latin typeface="Arial"/>
                <a:ea typeface="Arial"/>
                <a:cs typeface="Arial"/>
              </a:defRPr>
            </a:pPr>
            <a:r>
              <a:rPr sz="900" b="1" i="0">
                <a:solidFill>
                  <a:srgbClr val="00452C"/>
                </a:solidFill>
                <a:latin typeface="Arial"/>
                <a:ea typeface="Arial"/>
                <a:cs typeface="Arial"/>
              </a:rPr>
              <a:t>CONNECTIVITY OPTIONS</a:t>
            </a:r>
          </a:p>
        </p:txBody>
      </p:sp>
      <p:pic>
        <p:nvPicPr>
          <p:cNvPr id="217" name="Picture 189"/>
          <p:cNvPicPr>
            <a:picLocks xmlns:a="http://schemas.openxmlformats.org/drawingml/2006/main" noChangeAspect="1"/>
          </p:cNvPicPr>
          <p:nvPr/>
        </p:nvPicPr>
        <p:blipFill>
          <a:blip xmlns:r="http://schemas.openxmlformats.org/officeDocument/2006/relationships" xmlns:a="http://schemas.openxmlformats.org/drawingml/2006/main" r:embed="R1f882357d4ec40bb"/>
          <a:stretch xmlns:a="http://schemas.openxmlformats.org/drawingml/2006/main"/>
        </p:blipFill>
        <p:spPr>
          <a:xfrm xmlns:a="http://schemas.openxmlformats.org/drawingml/2006/main">
            <a:off x="3947319" y="5057775"/>
            <a:ext cx="420688" cy="428625"/>
          </a:xfrm>
          <a:prstGeom xmlns:a="http://schemas.openxmlformats.org/drawingml/2006/main" prst="rect">
            <a:avLst/>
          </a:prstGeom>
        </p:spPr>
      </p:pic>
      <p:sp>
        <p:nvSpPr>
          <p:cNvPr id="69" name="Rectangle 68">
            <a:extLst xmlns:a="http://schemas.openxmlformats.org/drawingml/2006/main">
              <a:ext uri="{FF2B5EF4-FFF2-40B4-BE49-F238E27FC236}">
                <a16:creationId xmlns:a16="http://schemas.microsoft.com/office/drawing/2014/main" id="{FBCF0B19-F90A-407C-9640-9A549FA60728}"/>
              </a:ext>
            </a:extLst>
          </p:cNvPr>
          <p:cNvSpPr>
            <a:spLocks xmlns:a="http://schemas.openxmlformats.org/drawingml/2006/main" noGrp="1"/>
          </p:cNvSpPr>
          <p:nvPr/>
        </p:nvSpPr>
        <p:spPr>
          <a:xfrm xmlns:a="http://schemas.openxmlformats.org/drawingml/2006/main">
            <a:off x="3886200" y="5543550"/>
            <a:ext cx="571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88" b="1" i="0">
                <a:solidFill>
                  <a:srgbClr val="111111"/>
                </a:solidFill>
                <a:latin typeface="Arial"/>
                <a:ea typeface="Arial"/>
                <a:cs typeface="Arial"/>
              </a:defRPr>
            </a:pPr>
            <a:r>
              <a:rPr sz="788" b="1" i="0">
                <a:solidFill>
                  <a:srgbClr val="111111"/>
                </a:solidFill>
                <a:latin typeface="Arial"/>
                <a:ea typeface="Arial"/>
                <a:cs typeface="Arial"/>
              </a:rPr>
              <a:t>Internet</a:t>
            </a:r>
          </a:p>
        </p:txBody>
      </p:sp>
      <p:pic>
        <p:nvPicPr>
          <p:cNvPr id="219" name="Picture 191"/>
          <p:cNvPicPr>
            <a:picLocks xmlns:a="http://schemas.openxmlformats.org/drawingml/2006/main" noChangeAspect="1"/>
          </p:cNvPicPr>
          <p:nvPr/>
        </p:nvPicPr>
        <p:blipFill>
          <a:blip xmlns:r="http://schemas.openxmlformats.org/officeDocument/2006/relationships" xmlns:a="http://schemas.openxmlformats.org/drawingml/2006/main" r:embed="R7b2aebf87dcd4780"/>
          <a:stretch xmlns:a="http://schemas.openxmlformats.org/drawingml/2006/main"/>
        </p:blipFill>
        <p:spPr>
          <a:xfrm xmlns:a="http://schemas.openxmlformats.org/drawingml/2006/main">
            <a:off x="4875213" y="5057775"/>
            <a:ext cx="412750" cy="428625"/>
          </a:xfrm>
          <a:prstGeom xmlns:a="http://schemas.openxmlformats.org/drawingml/2006/main" prst="rect">
            <a:avLst/>
          </a:prstGeom>
        </p:spPr>
      </p:pic>
      <p:sp>
        <p:nvSpPr>
          <p:cNvPr id="71" name="Rectangle 70">
            <a:extLst xmlns:a="http://schemas.openxmlformats.org/drawingml/2006/main">
              <a:ext uri="{FF2B5EF4-FFF2-40B4-BE49-F238E27FC236}">
                <a16:creationId xmlns:a16="http://schemas.microsoft.com/office/drawing/2014/main" id="{D81E57CF-241D-48F1-A3ED-B3AD6891C4B5}"/>
              </a:ext>
            </a:extLst>
          </p:cNvPr>
          <p:cNvSpPr>
            <a:spLocks xmlns:a="http://schemas.openxmlformats.org/drawingml/2006/main" noGrp="1"/>
          </p:cNvSpPr>
          <p:nvPr/>
        </p:nvSpPr>
        <p:spPr>
          <a:xfrm xmlns:a="http://schemas.openxmlformats.org/drawingml/2006/main">
            <a:off x="4810125" y="5543550"/>
            <a:ext cx="571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88" b="1" i="0">
                <a:solidFill>
                  <a:srgbClr val="111111"/>
                </a:solidFill>
                <a:latin typeface="Arial"/>
                <a:ea typeface="Arial"/>
                <a:cs typeface="Arial"/>
              </a:defRPr>
            </a:pPr>
            <a:r>
              <a:rPr sz="788" b="1" i="0">
                <a:solidFill>
                  <a:srgbClr val="111111"/>
                </a:solidFill>
                <a:latin typeface="Arial"/>
                <a:ea typeface="Arial"/>
                <a:cs typeface="Arial"/>
              </a:rPr>
              <a:t>VPN</a:t>
            </a:r>
          </a:p>
        </p:txBody>
      </p:sp>
      <p:pic>
        <p:nvPicPr>
          <p:cNvPr id="221" name="Picture 193"/>
          <p:cNvPicPr>
            <a:picLocks xmlns:a="http://schemas.openxmlformats.org/drawingml/2006/main" noChangeAspect="1"/>
          </p:cNvPicPr>
          <p:nvPr/>
        </p:nvPicPr>
        <p:blipFill>
          <a:blip xmlns:r="http://schemas.openxmlformats.org/officeDocument/2006/relationships" xmlns:a="http://schemas.openxmlformats.org/drawingml/2006/main" r:embed="Re3774d944e054658"/>
          <a:stretch xmlns:a="http://schemas.openxmlformats.org/drawingml/2006/main"/>
        </p:blipFill>
        <p:spPr>
          <a:xfrm xmlns:a="http://schemas.openxmlformats.org/drawingml/2006/main">
            <a:off x="5791200" y="5057775"/>
            <a:ext cx="428625" cy="428625"/>
          </a:xfrm>
          <a:prstGeom xmlns:a="http://schemas.openxmlformats.org/drawingml/2006/main" prst="rect">
            <a:avLst/>
          </a:prstGeom>
        </p:spPr>
      </p:pic>
      <p:sp>
        <p:nvSpPr>
          <p:cNvPr id="73" name="Rectangle 72">
            <a:extLst xmlns:a="http://schemas.openxmlformats.org/drawingml/2006/main">
              <a:ext uri="{FF2B5EF4-FFF2-40B4-BE49-F238E27FC236}">
                <a16:creationId xmlns:a16="http://schemas.microsoft.com/office/drawing/2014/main" id="{88CC04C6-F0B7-4BBF-8827-23A35A675F8F}"/>
              </a:ext>
            </a:extLst>
          </p:cNvPr>
          <p:cNvSpPr>
            <a:spLocks xmlns:a="http://schemas.openxmlformats.org/drawingml/2006/main" noGrp="1"/>
          </p:cNvSpPr>
          <p:nvPr/>
        </p:nvSpPr>
        <p:spPr>
          <a:xfrm xmlns:a="http://schemas.openxmlformats.org/drawingml/2006/main">
            <a:off x="5734050" y="5543550"/>
            <a:ext cx="571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88" b="1" i="0">
                <a:solidFill>
                  <a:srgbClr val="111111"/>
                </a:solidFill>
                <a:latin typeface="Arial"/>
                <a:ea typeface="Arial"/>
                <a:cs typeface="Arial"/>
              </a:defRPr>
            </a:pPr>
            <a:r>
              <a:rPr sz="788" b="1" i="0">
                <a:solidFill>
                  <a:srgbClr val="111111"/>
                </a:solidFill>
                <a:latin typeface="Arial"/>
                <a:ea typeface="Arial"/>
                <a:cs typeface="Arial"/>
              </a:rPr>
              <a:t>FastConnect</a:t>
            </a:r>
          </a:p>
        </p:txBody>
      </p:sp>
      <p:sp>
        <p:nvSpPr>
          <p:cNvPr id="74" name="Right Arrow 73">
            <a:extLst xmlns:a="http://schemas.openxmlformats.org/drawingml/2006/main">
              <a:ext uri="{FF2B5EF4-FFF2-40B4-BE49-F238E27FC236}">
                <a16:creationId xmlns:a16="http://schemas.microsoft.com/office/drawing/2014/main" id="{2B54E790-7F12-4AFF-826A-06DCCFBE6738}"/>
              </a:ext>
            </a:extLst>
          </p:cNvPr>
          <p:cNvSpPr>
            <a:spLocks xmlns:a="http://schemas.openxmlformats.org/drawingml/2006/main" noGrp="1"/>
          </p:cNvSpPr>
          <p:nvPr/>
        </p:nvSpPr>
        <p:spPr>
          <a:xfrm xmlns:a="http://schemas.openxmlformats.org/drawingml/2006/main">
            <a:off x="3295650" y="3733800"/>
            <a:ext cx="285750" cy="342900"/>
          </a:xfrm>
          <a:prstGeom xmlns:a="http://schemas.openxmlformats.org/drawingml/2006/main" prst="rightArrow">
            <a:avLst/>
          </a:prstGeom>
          <a:solidFill xmlns:a="http://schemas.openxmlformats.org/drawingml/2006/main">
            <a:srgbClr val="00452C"/>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5" name="Right Arrow 74">
            <a:extLst xmlns:a="http://schemas.openxmlformats.org/drawingml/2006/main">
              <a:ext uri="{FF2B5EF4-FFF2-40B4-BE49-F238E27FC236}">
                <a16:creationId xmlns:a16="http://schemas.microsoft.com/office/drawing/2014/main" id="{FE1DB7C6-E23A-4593-9C06-40FE71DCBF53}"/>
              </a:ext>
            </a:extLst>
          </p:cNvPr>
          <p:cNvSpPr>
            <a:spLocks xmlns:a="http://schemas.openxmlformats.org/drawingml/2006/main" noGrp="1"/>
          </p:cNvSpPr>
          <p:nvPr/>
        </p:nvSpPr>
        <p:spPr>
          <a:xfrm xmlns:a="http://schemas.openxmlformats.org/drawingml/2006/main">
            <a:off x="6343650" y="3733800"/>
            <a:ext cx="285750" cy="342900"/>
          </a:xfrm>
          <a:prstGeom xmlns:a="http://schemas.openxmlformats.org/drawingml/2006/main" prst="rightArrow">
            <a:avLst/>
          </a:prstGeom>
          <a:solidFill xmlns:a="http://schemas.openxmlformats.org/drawingml/2006/main">
            <a:srgbClr val="00452C"/>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6" name="Rounded Rectangle 75">
            <a:extLst xmlns:a="http://schemas.openxmlformats.org/drawingml/2006/main">
              <a:ext uri="{FF2B5EF4-FFF2-40B4-BE49-F238E27FC236}">
                <a16:creationId xmlns:a16="http://schemas.microsoft.com/office/drawing/2014/main" id="{D8E971FD-5372-4D74-B9D1-83FFBE364E66}"/>
              </a:ext>
            </a:extLst>
          </p:cNvPr>
          <p:cNvSpPr>
            <a:spLocks xmlns:a="http://schemas.openxmlformats.org/drawingml/2006/main" noGrp="1"/>
          </p:cNvSpPr>
          <p:nvPr/>
        </p:nvSpPr>
        <p:spPr>
          <a:xfrm xmlns:a="http://schemas.openxmlformats.org/drawingml/2006/main">
            <a:off x="6572250" y="2409825"/>
            <a:ext cx="3171825" cy="3524250"/>
          </a:xfrm>
          <a:prstGeom xmlns:a="http://schemas.openxmlformats.org/drawingml/2006/main" prst="roundRect">
            <a:avLst>
              <a:gd name="adj" fmla="val 2402"/>
            </a:avLst>
          </a:prstGeom>
          <a:solidFill xmlns:a="http://schemas.openxmlformats.org/drawingml/2006/main">
            <a:srgbClr val="FFFFFF"/>
          </a:solidFill>
          <a:ln xmlns:a="http://schemas.openxmlformats.org/drawingml/2006/main" w="11430">
            <a:solidFill>
              <a:srgbClr val="E30613"/>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77" name="Rounded Rectangle 76">
            <a:extLst xmlns:a="http://schemas.openxmlformats.org/drawingml/2006/main">
              <a:ext uri="{FF2B5EF4-FFF2-40B4-BE49-F238E27FC236}">
                <a16:creationId xmlns:a16="http://schemas.microsoft.com/office/drawing/2014/main" id="{9B8881F4-85A9-4D42-8A77-28433C89F371}"/>
              </a:ext>
            </a:extLst>
          </p:cNvPr>
          <p:cNvSpPr>
            <a:spLocks xmlns:a="http://schemas.openxmlformats.org/drawingml/2006/main" noGrp="1"/>
          </p:cNvSpPr>
          <p:nvPr/>
        </p:nvSpPr>
        <p:spPr>
          <a:xfrm xmlns:a="http://schemas.openxmlformats.org/drawingml/2006/main">
            <a:off x="6572250" y="2409825"/>
            <a:ext cx="3171825" cy="304800"/>
          </a:xfrm>
          <a:prstGeom xmlns:a="http://schemas.openxmlformats.org/drawingml/2006/main" prst="roundRect">
            <a:avLst>
              <a:gd name="adj" fmla="val 25000"/>
            </a:avLst>
          </a:prstGeom>
          <a:gradFill xmlns:a="http://schemas.openxmlformats.org/drawingml/2006/main">
            <a:gsLst>
              <a:gs pos="0">
                <a:srgbClr val="C60000"/>
              </a:gs>
              <a:gs pos="100000">
                <a:srgbClr val="F00000"/>
              </a:gs>
            </a:gsLst>
            <a:lin ang="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8" name="Rectangle 77">
            <a:extLst xmlns:a="http://schemas.openxmlformats.org/drawingml/2006/main">
              <a:ext uri="{FF2B5EF4-FFF2-40B4-BE49-F238E27FC236}">
                <a16:creationId xmlns:a16="http://schemas.microsoft.com/office/drawing/2014/main" id="{D13034AC-2118-45A2-A947-88B49EFB984E}"/>
              </a:ext>
            </a:extLst>
          </p:cNvPr>
          <p:cNvSpPr>
            <a:spLocks xmlns:a="http://schemas.openxmlformats.org/drawingml/2006/main" noGrp="1"/>
          </p:cNvSpPr>
          <p:nvPr/>
        </p:nvSpPr>
        <p:spPr>
          <a:xfrm xmlns:a="http://schemas.openxmlformats.org/drawingml/2006/main">
            <a:off x="6572250" y="2657475"/>
            <a:ext cx="3171825" cy="66675"/>
          </a:xfrm>
          <a:prstGeom xmlns:a="http://schemas.openxmlformats.org/drawingml/2006/main" prst="rect">
            <a:avLst/>
          </a:prstGeom>
          <a:solidFill xmlns:a="http://schemas.openxmlformats.org/drawingml/2006/main">
            <a:srgbClr val="E50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9" name="Rectangle 78">
            <a:extLst xmlns:a="http://schemas.openxmlformats.org/drawingml/2006/main">
              <a:ext uri="{FF2B5EF4-FFF2-40B4-BE49-F238E27FC236}">
                <a16:creationId xmlns:a16="http://schemas.microsoft.com/office/drawing/2014/main" id="{85A1CB4C-32EE-4563-B980-28BD59EA63B9}"/>
              </a:ext>
            </a:extLst>
          </p:cNvPr>
          <p:cNvSpPr>
            <a:spLocks xmlns:a="http://schemas.openxmlformats.org/drawingml/2006/main" noGrp="1"/>
          </p:cNvSpPr>
          <p:nvPr/>
        </p:nvSpPr>
        <p:spPr>
          <a:xfrm xmlns:a="http://schemas.openxmlformats.org/drawingml/2006/main">
            <a:off x="7029450" y="2524125"/>
            <a:ext cx="2333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38" b="1" i="0">
                <a:solidFill>
                  <a:srgbClr val="FFFFFF"/>
                </a:solidFill>
                <a:latin typeface="Arial"/>
                <a:ea typeface="Arial"/>
                <a:cs typeface="Arial"/>
              </a:defRPr>
            </a:pPr>
            <a:r>
              <a:rPr sz="938" b="1" i="0">
                <a:solidFill>
                  <a:srgbClr val="FFFFFF"/>
                </a:solidFill>
                <a:latin typeface="Arial"/>
                <a:ea typeface="Arial"/>
                <a:cs typeface="Arial"/>
              </a:rPr>
              <a:t>OCI COMPUTE TARGET ENVIRONMENT</a:t>
            </a:r>
          </a:p>
        </p:txBody>
      </p:sp>
      <p:sp>
        <p:nvSpPr>
          <p:cNvPr id="80" name="Rectangle 79">
            <a:extLst xmlns:a="http://schemas.openxmlformats.org/drawingml/2006/main">
              <a:ext uri="{FF2B5EF4-FFF2-40B4-BE49-F238E27FC236}">
                <a16:creationId xmlns:a16="http://schemas.microsoft.com/office/drawing/2014/main" id="{F8A3ECB7-3EDB-4A5B-BAA1-24D0785CE88B}"/>
              </a:ext>
            </a:extLst>
          </p:cNvPr>
          <p:cNvSpPr>
            <a:spLocks xmlns:a="http://schemas.openxmlformats.org/drawingml/2006/main" noGrp="1"/>
          </p:cNvSpPr>
          <p:nvPr/>
        </p:nvSpPr>
        <p:spPr>
          <a:xfrm xmlns:a="http://schemas.openxmlformats.org/drawingml/2006/main">
            <a:off x="7791450" y="3067050"/>
            <a:ext cx="9048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38" b="1" i="0">
                <a:solidFill>
                  <a:srgbClr val="E30613"/>
                </a:solidFill>
                <a:latin typeface="Arial"/>
                <a:ea typeface="Arial"/>
                <a:cs typeface="Arial"/>
              </a:defRPr>
            </a:pPr>
            <a:r>
              <a:rPr sz="938" b="1" i="0">
                <a:solidFill>
                  <a:srgbClr val="E30613"/>
                </a:solidFill>
                <a:latin typeface="Arial"/>
                <a:ea typeface="Arial"/>
                <a:cs typeface="Arial"/>
              </a:rPr>
              <a:t>OCI REGION</a:t>
            </a:r>
          </a:p>
        </p:txBody>
      </p:sp>
      <p:sp>
        <p:nvSpPr>
          <p:cNvPr id="81" name="Rounded Rectangle 80">
            <a:extLst xmlns:a="http://schemas.openxmlformats.org/drawingml/2006/main">
              <a:ext uri="{FF2B5EF4-FFF2-40B4-BE49-F238E27FC236}">
                <a16:creationId xmlns:a16="http://schemas.microsoft.com/office/drawing/2014/main" id="{1D0A3214-2D6F-4A93-AD28-9616B4756A0F}"/>
              </a:ext>
            </a:extLst>
          </p:cNvPr>
          <p:cNvSpPr>
            <a:spLocks xmlns:a="http://schemas.openxmlformats.org/drawingml/2006/main" noGrp="1"/>
          </p:cNvSpPr>
          <p:nvPr/>
        </p:nvSpPr>
        <p:spPr>
          <a:xfrm xmlns:a="http://schemas.openxmlformats.org/drawingml/2006/main">
            <a:off x="6724650" y="3486150"/>
            <a:ext cx="2876550" cy="1343025"/>
          </a:xfrm>
          <a:prstGeom xmlns:a="http://schemas.openxmlformats.org/drawingml/2006/main" prst="roundRect">
            <a:avLst>
              <a:gd name="adj" fmla="val 5674"/>
            </a:avLst>
          </a:prstGeom>
          <a:solidFill xmlns:a="http://schemas.openxmlformats.org/drawingml/2006/main">
            <a:srgbClr val="FFFFFF"/>
          </a:solidFill>
          <a:ln xmlns:a="http://schemas.openxmlformats.org/drawingml/2006/main" w="9525">
            <a:solidFill>
              <a:srgbClr val="E30613"/>
            </a:solidFill>
            <a:prstDash val="solid"/>
          </a:ln>
        </p:spPr>
        <p:txBody>
          <a:bodyPr xmlns:a="http://schemas.openxmlformats.org/drawingml/2006/main"/>
          <a:lstStyle xmlns:a="http://schemas.openxmlformats.org/drawingml/2006/main"/>
          <a:p xmlns:a="http://schemas.openxmlformats.org/drawingml/2006/main">
            <a:endParaRPr/>
          </a:p>
        </p:txBody>
      </p:sp>
      <p:pic>
        <p:nvPicPr>
          <p:cNvPr id="231" name="Picture 203"/>
          <p:cNvPicPr>
            <a:picLocks xmlns:a="http://schemas.openxmlformats.org/drawingml/2006/main" noChangeAspect="1"/>
          </p:cNvPicPr>
          <p:nvPr/>
        </p:nvPicPr>
        <p:blipFill>
          <a:blip xmlns:r="http://schemas.openxmlformats.org/officeDocument/2006/relationships" xmlns:a="http://schemas.openxmlformats.org/drawingml/2006/main" r:embed="Rcf2a221f2d09479e"/>
          <a:stretch xmlns:a="http://schemas.openxmlformats.org/drawingml/2006/main"/>
        </p:blipFill>
        <p:spPr>
          <a:xfrm xmlns:a="http://schemas.openxmlformats.org/drawingml/2006/main">
            <a:off x="7000875" y="3762375"/>
            <a:ext cx="390525" cy="381000"/>
          </a:xfrm>
          <a:prstGeom xmlns:a="http://schemas.openxmlformats.org/drawingml/2006/main" prst="rect">
            <a:avLst/>
          </a:prstGeom>
        </p:spPr>
      </p:pic>
      <p:pic>
        <p:nvPicPr>
          <p:cNvPr id="232" name="Picture 204"/>
          <p:cNvPicPr>
            <a:picLocks xmlns:a="http://schemas.openxmlformats.org/drawingml/2006/main" noChangeAspect="1"/>
          </p:cNvPicPr>
          <p:nvPr/>
        </p:nvPicPr>
        <p:blipFill>
          <a:blip xmlns:r="http://schemas.openxmlformats.org/officeDocument/2006/relationships" xmlns:a="http://schemas.openxmlformats.org/drawingml/2006/main" r:embed="R67152b5db7744a37"/>
          <a:stretch xmlns:a="http://schemas.openxmlformats.org/drawingml/2006/main"/>
        </p:blipFill>
        <p:spPr>
          <a:xfrm xmlns:a="http://schemas.openxmlformats.org/drawingml/2006/main">
            <a:off x="8072438" y="3714750"/>
            <a:ext cx="419100" cy="428625"/>
          </a:xfrm>
          <a:prstGeom xmlns:a="http://schemas.openxmlformats.org/drawingml/2006/main" prst="rect">
            <a:avLst/>
          </a:prstGeom>
        </p:spPr>
      </p:pic>
      <p:pic>
        <p:nvPicPr>
          <p:cNvPr id="233" name="Picture 205"/>
          <p:cNvPicPr>
            <a:picLocks xmlns:a="http://schemas.openxmlformats.org/drawingml/2006/main" noChangeAspect="1"/>
          </p:cNvPicPr>
          <p:nvPr/>
        </p:nvPicPr>
        <p:blipFill>
          <a:blip xmlns:r="http://schemas.openxmlformats.org/officeDocument/2006/relationships" xmlns:a="http://schemas.openxmlformats.org/drawingml/2006/main" r:embed="R3c65559d758b4446"/>
          <a:stretch xmlns:a="http://schemas.openxmlformats.org/drawingml/2006/main"/>
        </p:blipFill>
        <p:spPr>
          <a:xfrm xmlns:a="http://schemas.openxmlformats.org/drawingml/2006/main">
            <a:off x="9072021" y="3724275"/>
            <a:ext cx="363032" cy="409575"/>
          </a:xfrm>
          <a:prstGeom xmlns:a="http://schemas.openxmlformats.org/drawingml/2006/main" prst="rect">
            <a:avLst/>
          </a:prstGeom>
        </p:spPr>
      </p:pic>
      <p:sp>
        <p:nvSpPr>
          <p:cNvPr id="85" name="Straight Connector 84">
            <a:extLst xmlns:a="http://schemas.openxmlformats.org/drawingml/2006/main">
              <a:ext uri="{FF2B5EF4-FFF2-40B4-BE49-F238E27FC236}">
                <a16:creationId xmlns:a16="http://schemas.microsoft.com/office/drawing/2014/main" id="{53782B8D-571D-4B07-9781-FCA77DE0FDB1}"/>
              </a:ext>
            </a:extLst>
          </p:cNvPr>
          <p:cNvSpPr>
            <a:spLocks xmlns:a="http://schemas.openxmlformats.org/drawingml/2006/main" noGrp="1"/>
          </p:cNvSpPr>
          <p:nvPr/>
        </p:nvSpPr>
        <p:spPr>
          <a:xfrm xmlns:a="http://schemas.openxmlformats.org/drawingml/2006/main">
            <a:off x="7648575" y="3762375"/>
            <a:ext cx="0" cy="790575"/>
          </a:xfrm>
          <a:prstGeom xmlns:a="http://schemas.openxmlformats.org/drawingml/2006/main" prst="line">
            <a:avLst/>
          </a:prstGeom>
          <a:noFill xmlns:a="http://schemas.openxmlformats.org/drawingml/2006/main"/>
          <a:ln xmlns:a="http://schemas.openxmlformats.org/drawingml/2006/main" w="9525">
            <a:solidFill>
              <a:srgbClr val="D7DDDA"/>
            </a:solidFill>
            <a:prstDash val="solid"/>
          </a:ln>
        </p:spPr>
        <p:txBody>
          <a:bodyPr xmlns:a="http://schemas.openxmlformats.org/drawingml/2006/main"/>
          <a:lstStyle xmlns:a="http://schemas.openxmlformats.org/drawingml/2006/main"/>
          <a:p xmlns:a="http://schemas.openxmlformats.org/drawingml/2006/main">
            <a:endParaRPr/>
          </a:p>
        </p:txBody>
      </p:sp>
      <p:sp>
        <p:nvSpPr>
          <p:cNvPr id="86" name="Straight Connector 85">
            <a:extLst xmlns:a="http://schemas.openxmlformats.org/drawingml/2006/main">
              <a:ext uri="{FF2B5EF4-FFF2-40B4-BE49-F238E27FC236}">
                <a16:creationId xmlns:a16="http://schemas.microsoft.com/office/drawing/2014/main" id="{6D5A3EE8-6AE5-4F43-8CCB-2FD6894A9C5F}"/>
              </a:ext>
            </a:extLst>
          </p:cNvPr>
          <p:cNvSpPr>
            <a:spLocks xmlns:a="http://schemas.openxmlformats.org/drawingml/2006/main" noGrp="1"/>
          </p:cNvSpPr>
          <p:nvPr/>
        </p:nvSpPr>
        <p:spPr>
          <a:xfrm xmlns:a="http://schemas.openxmlformats.org/drawingml/2006/main">
            <a:off x="8686800" y="3762375"/>
            <a:ext cx="0" cy="790575"/>
          </a:xfrm>
          <a:prstGeom xmlns:a="http://schemas.openxmlformats.org/drawingml/2006/main" prst="line">
            <a:avLst/>
          </a:prstGeom>
          <a:noFill xmlns:a="http://schemas.openxmlformats.org/drawingml/2006/main"/>
          <a:ln xmlns:a="http://schemas.openxmlformats.org/drawingml/2006/main" w="9525">
            <a:solidFill>
              <a:srgbClr val="D7DDDA"/>
            </a:solidFill>
            <a:prstDash val="solid"/>
          </a:ln>
        </p:spPr>
        <p:txBody>
          <a:bodyPr xmlns:a="http://schemas.openxmlformats.org/drawingml/2006/main"/>
          <a:lstStyle xmlns:a="http://schemas.openxmlformats.org/drawingml/2006/main"/>
          <a:p xmlns:a="http://schemas.openxmlformats.org/drawingml/2006/main">
            <a:endParaRPr/>
          </a:p>
        </p:txBody>
      </p:sp>
      <p:sp>
        <p:nvSpPr>
          <p:cNvPr id="87" name="Rectangle 86">
            <a:extLst xmlns:a="http://schemas.openxmlformats.org/drawingml/2006/main">
              <a:ext uri="{FF2B5EF4-FFF2-40B4-BE49-F238E27FC236}">
                <a16:creationId xmlns:a16="http://schemas.microsoft.com/office/drawing/2014/main" id="{AEBA9731-B300-47CD-995B-96D12CF67565}"/>
              </a:ext>
            </a:extLst>
          </p:cNvPr>
          <p:cNvSpPr>
            <a:spLocks xmlns:a="http://schemas.openxmlformats.org/drawingml/2006/main" noGrp="1"/>
          </p:cNvSpPr>
          <p:nvPr/>
        </p:nvSpPr>
        <p:spPr>
          <a:xfrm xmlns:a="http://schemas.openxmlformats.org/drawingml/2006/main">
            <a:off x="6867525" y="4276725"/>
            <a:ext cx="7429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15000"/>
              </a:lnSpc>
              <a:buNone/>
              <a:defRPr sz="757" b="0" i="0">
                <a:solidFill>
                  <a:srgbClr val="111111"/>
                </a:solidFill>
                <a:latin typeface="Arial"/>
                <a:ea typeface="Arial"/>
                <a:cs typeface="Arial"/>
              </a:defRPr>
            </a:pPr>
            <a:r>
              <a:rPr sz="757" b="0" i="0">
                <a:solidFill>
                  <a:srgbClr val="111111"/>
                </a:solidFill>
                <a:latin typeface="Arial"/>
                <a:ea typeface="Arial"/>
                <a:cs typeface="Arial"/>
              </a:rPr>
              <a:t>Virtual Cloud</a:t>
            </a:r>
          </a:p>
          <a:p xmlns:a="http://schemas.openxmlformats.org/drawingml/2006/main">
            <a:pPr algn="ctr">
              <a:lnSpc>
                <a:spcPct val="115000"/>
              </a:lnSpc>
              <a:buNone/>
              <a:defRPr sz="757" b="0" i="0">
                <a:solidFill>
                  <a:srgbClr val="111111"/>
                </a:solidFill>
                <a:latin typeface="Arial"/>
                <a:ea typeface="Arial"/>
                <a:cs typeface="Arial"/>
              </a:defRPr>
            </a:pPr>
            <a:r>
              <a:rPr sz="757" b="0" i="0">
                <a:solidFill>
                  <a:srgbClr val="111111"/>
                </a:solidFill>
                <a:latin typeface="Arial"/>
                <a:ea typeface="Arial"/>
                <a:cs typeface="Arial"/>
              </a:rPr>
              <a:t>Network (VCN)</a:t>
            </a:r>
          </a:p>
        </p:txBody>
      </p:sp>
      <p:sp>
        <p:nvSpPr>
          <p:cNvPr id="88" name="Rectangle 87">
            <a:extLst xmlns:a="http://schemas.openxmlformats.org/drawingml/2006/main">
              <a:ext uri="{FF2B5EF4-FFF2-40B4-BE49-F238E27FC236}">
                <a16:creationId xmlns:a16="http://schemas.microsoft.com/office/drawing/2014/main" id="{41FBB636-1B39-4C59-AD6F-2CD49D6838D0}"/>
              </a:ext>
            </a:extLst>
          </p:cNvPr>
          <p:cNvSpPr>
            <a:spLocks xmlns:a="http://schemas.openxmlformats.org/drawingml/2006/main" noGrp="1"/>
          </p:cNvSpPr>
          <p:nvPr/>
        </p:nvSpPr>
        <p:spPr>
          <a:xfrm xmlns:a="http://schemas.openxmlformats.org/drawingml/2006/main">
            <a:off x="7877175" y="4276725"/>
            <a:ext cx="819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15000"/>
              </a:lnSpc>
              <a:buNone/>
              <a:defRPr sz="757" b="0" i="0">
                <a:solidFill>
                  <a:srgbClr val="111111"/>
                </a:solidFill>
                <a:latin typeface="Arial"/>
                <a:ea typeface="Arial"/>
                <a:cs typeface="Arial"/>
              </a:defRPr>
            </a:pPr>
            <a:r>
              <a:rPr sz="757" b="0" i="0">
                <a:solidFill>
                  <a:srgbClr val="111111"/>
                </a:solidFill>
                <a:latin typeface="Arial"/>
                <a:ea typeface="Arial"/>
                <a:cs typeface="Arial"/>
              </a:rPr>
              <a:t>Compute Instances</a:t>
            </a:r>
          </a:p>
          <a:p xmlns:a="http://schemas.openxmlformats.org/drawingml/2006/main">
            <a:pPr algn="ctr">
              <a:lnSpc>
                <a:spcPct val="115000"/>
              </a:lnSpc>
              <a:buNone/>
              <a:defRPr sz="757" b="0" i="0">
                <a:solidFill>
                  <a:srgbClr val="111111"/>
                </a:solidFill>
                <a:latin typeface="Arial"/>
                <a:ea typeface="Arial"/>
                <a:cs typeface="Arial"/>
              </a:defRPr>
            </a:pPr>
            <a:r>
              <a:rPr sz="757" b="0" i="0">
                <a:solidFill>
                  <a:srgbClr val="111111"/>
                </a:solidFill>
                <a:latin typeface="Arial"/>
                <a:ea typeface="Arial"/>
                <a:cs typeface="Arial"/>
              </a:rPr>
              <a:t>(Flex Shapes)</a:t>
            </a:r>
          </a:p>
        </p:txBody>
      </p:sp>
      <p:sp>
        <p:nvSpPr>
          <p:cNvPr id="89" name="Rectangle 88">
            <a:extLst xmlns:a="http://schemas.openxmlformats.org/drawingml/2006/main">
              <a:ext uri="{FF2B5EF4-FFF2-40B4-BE49-F238E27FC236}">
                <a16:creationId xmlns:a16="http://schemas.microsoft.com/office/drawing/2014/main" id="{F79C58D5-44F2-446E-AE6E-5A56478D8D39}"/>
              </a:ext>
            </a:extLst>
          </p:cNvPr>
          <p:cNvSpPr>
            <a:spLocks xmlns:a="http://schemas.openxmlformats.org/drawingml/2006/main" noGrp="1"/>
          </p:cNvSpPr>
          <p:nvPr/>
        </p:nvSpPr>
        <p:spPr>
          <a:xfrm xmlns:a="http://schemas.openxmlformats.org/drawingml/2006/main">
            <a:off x="8905875" y="4276725"/>
            <a:ext cx="723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15000"/>
              </a:lnSpc>
              <a:buNone/>
              <a:defRPr sz="757" b="0" i="0">
                <a:solidFill>
                  <a:srgbClr val="111111"/>
                </a:solidFill>
                <a:latin typeface="Arial"/>
                <a:ea typeface="Arial"/>
                <a:cs typeface="Arial"/>
              </a:defRPr>
            </a:pPr>
            <a:r>
              <a:rPr sz="757" b="0" i="0">
                <a:solidFill>
                  <a:srgbClr val="111111"/>
                </a:solidFill>
                <a:latin typeface="Arial"/>
                <a:ea typeface="Arial"/>
                <a:cs typeface="Arial"/>
              </a:rPr>
              <a:t>OCI Block</a:t>
            </a:r>
          </a:p>
          <a:p xmlns:a="http://schemas.openxmlformats.org/drawingml/2006/main">
            <a:pPr algn="ctr">
              <a:lnSpc>
                <a:spcPct val="115000"/>
              </a:lnSpc>
              <a:buNone/>
              <a:defRPr sz="757" b="0" i="0">
                <a:solidFill>
                  <a:srgbClr val="111111"/>
                </a:solidFill>
                <a:latin typeface="Arial"/>
                <a:ea typeface="Arial"/>
                <a:cs typeface="Arial"/>
              </a:defRPr>
            </a:pPr>
            <a:r>
              <a:rPr sz="757" b="0" i="0">
                <a:solidFill>
                  <a:srgbClr val="111111"/>
                </a:solidFill>
                <a:latin typeface="Arial"/>
                <a:ea typeface="Arial"/>
                <a:cs typeface="Arial"/>
              </a:rPr>
              <a:t>Volumes</a:t>
            </a:r>
          </a:p>
        </p:txBody>
      </p:sp>
      <p:sp>
        <p:nvSpPr>
          <p:cNvPr id="90" name="Rounded Rectangle 89">
            <a:extLst xmlns:a="http://schemas.openxmlformats.org/drawingml/2006/main">
              <a:ext uri="{FF2B5EF4-FFF2-40B4-BE49-F238E27FC236}">
                <a16:creationId xmlns:a16="http://schemas.microsoft.com/office/drawing/2014/main" id="{BDACEB6B-C8A1-46D0-BD55-6E821AA637E9}"/>
              </a:ext>
            </a:extLst>
          </p:cNvPr>
          <p:cNvSpPr>
            <a:spLocks xmlns:a="http://schemas.openxmlformats.org/drawingml/2006/main" noGrp="1"/>
          </p:cNvSpPr>
          <p:nvPr/>
        </p:nvSpPr>
        <p:spPr>
          <a:xfrm xmlns:a="http://schemas.openxmlformats.org/drawingml/2006/main">
            <a:off x="6724650" y="5143500"/>
            <a:ext cx="2876550" cy="485775"/>
          </a:xfrm>
          <a:prstGeom xmlns:a="http://schemas.openxmlformats.org/drawingml/2006/main" prst="roundRect">
            <a:avLst>
              <a:gd name="adj" fmla="val 15686"/>
            </a:avLst>
          </a:prstGeom>
          <a:solidFill xmlns:a="http://schemas.openxmlformats.org/drawingml/2006/main">
            <a:srgbClr val="FDEEEE"/>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240" name="Picture 212"/>
          <p:cNvPicPr>
            <a:picLocks xmlns:a="http://schemas.openxmlformats.org/drawingml/2006/main" noChangeAspect="1"/>
          </p:cNvPicPr>
          <p:nvPr/>
        </p:nvPicPr>
        <p:blipFill>
          <a:blip xmlns:r="http://schemas.openxmlformats.org/officeDocument/2006/relationships" xmlns:a="http://schemas.openxmlformats.org/drawingml/2006/main" r:embed="R15c15e7780f146b0"/>
          <a:stretch xmlns:a="http://schemas.openxmlformats.org/drawingml/2006/main"/>
        </p:blipFill>
        <p:spPr>
          <a:xfrm xmlns:a="http://schemas.openxmlformats.org/drawingml/2006/main">
            <a:off x="6896100" y="5219700"/>
            <a:ext cx="323850" cy="323850"/>
          </a:xfrm>
          <a:prstGeom xmlns:a="http://schemas.openxmlformats.org/drawingml/2006/main" prst="rect">
            <a:avLst/>
          </a:prstGeom>
        </p:spPr>
      </p:pic>
      <p:sp>
        <p:nvSpPr>
          <p:cNvPr id="92" name="Rectangle 91">
            <a:extLst xmlns:a="http://schemas.openxmlformats.org/drawingml/2006/main">
              <a:ext uri="{FF2B5EF4-FFF2-40B4-BE49-F238E27FC236}">
                <a16:creationId xmlns:a16="http://schemas.microsoft.com/office/drawing/2014/main" id="{426A9FF3-0B4D-4A04-984A-68BE296DBD0F}"/>
              </a:ext>
            </a:extLst>
          </p:cNvPr>
          <p:cNvSpPr>
            <a:spLocks xmlns:a="http://schemas.openxmlformats.org/drawingml/2006/main" noGrp="1"/>
          </p:cNvSpPr>
          <p:nvPr/>
        </p:nvSpPr>
        <p:spPr>
          <a:xfrm xmlns:a="http://schemas.openxmlformats.org/drawingml/2006/main">
            <a:off x="7296150" y="5286375"/>
            <a:ext cx="20955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20000"/>
              </a:lnSpc>
              <a:buNone/>
              <a:defRPr sz="848" b="1" i="0">
                <a:solidFill>
                  <a:srgbClr val="111111"/>
                </a:solidFill>
                <a:latin typeface="Arial"/>
                <a:ea typeface="Arial"/>
                <a:cs typeface="Arial"/>
              </a:defRPr>
            </a:pPr>
            <a:r>
              <a:rPr sz="848" b="1" i="0">
                <a:solidFill>
                  <a:srgbClr val="111111"/>
                </a:solidFill>
                <a:latin typeface="Arial"/>
                <a:ea typeface="Arial"/>
                <a:cs typeface="Arial"/>
              </a:rPr>
              <a:t>Secure, scalable and highly available</a:t>
            </a:r>
          </a:p>
          <a:p xmlns:a="http://schemas.openxmlformats.org/drawingml/2006/main">
            <a:pPr algn="l">
              <a:lnSpc>
                <a:spcPct val="120000"/>
              </a:lnSpc>
              <a:buNone/>
              <a:defRPr sz="848" b="1" i="0">
                <a:solidFill>
                  <a:srgbClr val="111111"/>
                </a:solidFill>
                <a:latin typeface="Arial"/>
                <a:ea typeface="Arial"/>
                <a:cs typeface="Arial"/>
              </a:defRPr>
            </a:pPr>
            <a:r>
              <a:rPr sz="848" b="1" i="0">
                <a:solidFill>
                  <a:srgbClr val="111111"/>
                </a:solidFill>
                <a:latin typeface="Arial"/>
                <a:ea typeface="Arial"/>
                <a:cs typeface="Arial"/>
              </a:rPr>
              <a:t>cloud infrastructure on OCI.</a:t>
            </a:r>
          </a:p>
        </p:txBody>
      </p:sp>
      <p:sp>
        <p:nvSpPr>
          <p:cNvPr id="93" name="Straight Connector 92">
            <a:extLst xmlns:a="http://schemas.openxmlformats.org/drawingml/2006/main">
              <a:ext uri="{FF2B5EF4-FFF2-40B4-BE49-F238E27FC236}">
                <a16:creationId xmlns:a16="http://schemas.microsoft.com/office/drawing/2014/main" id="{8062D03E-2FCE-4404-8A29-08570A9063F5}"/>
              </a:ext>
            </a:extLst>
          </p:cNvPr>
          <p:cNvSpPr>
            <a:spLocks xmlns:a="http://schemas.openxmlformats.org/drawingml/2006/main" noGrp="1"/>
          </p:cNvSpPr>
          <p:nvPr/>
        </p:nvSpPr>
        <p:spPr>
          <a:xfrm xmlns:a="http://schemas.openxmlformats.org/drawingml/2006/main">
            <a:off x="9953625" y="1409700"/>
            <a:ext cx="0" cy="4619625"/>
          </a:xfrm>
          <a:prstGeom xmlns:a="http://schemas.openxmlformats.org/drawingml/2006/main" prst="line">
            <a:avLst/>
          </a:prstGeom>
          <a:noFill xmlns:a="http://schemas.openxmlformats.org/drawingml/2006/main"/>
          <a:ln xmlns:a="http://schemas.openxmlformats.org/drawingml/2006/main" w="9525">
            <a:solidFill>
              <a:srgbClr val="C5CBC8"/>
            </a:solidFill>
            <a:prstDash val="solid"/>
          </a:ln>
        </p:spPr>
        <p:txBody>
          <a:bodyPr xmlns:a="http://schemas.openxmlformats.org/drawingml/2006/main"/>
          <a:lstStyle xmlns:a="http://schemas.openxmlformats.org/drawingml/2006/main"/>
          <a:p xmlns:a="http://schemas.openxmlformats.org/drawingml/2006/main">
            <a:endParaRPr/>
          </a:p>
        </p:txBody>
      </p:sp>
      <p:sp>
        <p:nvSpPr>
          <p:cNvPr id="94" name="Rectangle 93">
            <a:extLst xmlns:a="http://schemas.openxmlformats.org/drawingml/2006/main">
              <a:ext uri="{FF2B5EF4-FFF2-40B4-BE49-F238E27FC236}">
                <a16:creationId xmlns:a16="http://schemas.microsoft.com/office/drawing/2014/main" id="{90DB68CE-EF25-4E6E-8FA3-88F0A208ABB0}"/>
              </a:ext>
            </a:extLst>
          </p:cNvPr>
          <p:cNvSpPr>
            <a:spLocks xmlns:a="http://schemas.openxmlformats.org/drawingml/2006/main" noGrp="1"/>
          </p:cNvSpPr>
          <p:nvPr/>
        </p:nvSpPr>
        <p:spPr>
          <a:xfrm xmlns:a="http://schemas.openxmlformats.org/drawingml/2006/main">
            <a:off x="10134600" y="14382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90" b="1" i="0">
                <a:solidFill>
                  <a:srgbClr val="00452C"/>
                </a:solidFill>
                <a:latin typeface="Arial"/>
                <a:ea typeface="Arial"/>
                <a:cs typeface="Arial"/>
              </a:defRPr>
            </a:pPr>
            <a:r>
              <a:rPr sz="990" b="1" i="0">
                <a:solidFill>
                  <a:srgbClr val="00452C"/>
                </a:solidFill>
                <a:latin typeface="Arial"/>
                <a:ea typeface="Arial"/>
                <a:cs typeface="Arial"/>
              </a:rPr>
              <a:t>BUSINESS OUTCOMES</a:t>
            </a:r>
          </a:p>
        </p:txBody>
      </p:sp>
      <p:sp>
        <p:nvSpPr>
          <p:cNvPr id="95" name="Straight Connector 94">
            <a:extLst xmlns:a="http://schemas.openxmlformats.org/drawingml/2006/main">
              <a:ext uri="{FF2B5EF4-FFF2-40B4-BE49-F238E27FC236}">
                <a16:creationId xmlns:a16="http://schemas.microsoft.com/office/drawing/2014/main" id="{36038A14-6200-4447-BB79-C099811EB70B}"/>
              </a:ext>
            </a:extLst>
          </p:cNvPr>
          <p:cNvSpPr>
            <a:spLocks xmlns:a="http://schemas.openxmlformats.org/drawingml/2006/main" noGrp="1"/>
          </p:cNvSpPr>
          <p:nvPr/>
        </p:nvSpPr>
        <p:spPr>
          <a:xfrm xmlns:a="http://schemas.openxmlformats.org/drawingml/2006/main">
            <a:off x="10134600" y="1695450"/>
            <a:ext cx="1752600" cy="0"/>
          </a:xfrm>
          <a:prstGeom xmlns:a="http://schemas.openxmlformats.org/drawingml/2006/main" prst="line">
            <a:avLst/>
          </a:prstGeom>
          <a:noFill xmlns:a="http://schemas.openxmlformats.org/drawingml/2006/main"/>
          <a:ln xmlns:a="http://schemas.openxmlformats.org/drawingml/2006/main" w="12383">
            <a:solidFill>
              <a:srgbClr val="00452C"/>
            </a:solidFill>
            <a:prstDash val="solid"/>
          </a:ln>
        </p:spPr>
        <p:txBody>
          <a:bodyPr xmlns:a="http://schemas.openxmlformats.org/drawingml/2006/main"/>
          <a:lstStyle xmlns:a="http://schemas.openxmlformats.org/drawingml/2006/main"/>
          <a:p xmlns:a="http://schemas.openxmlformats.org/drawingml/2006/main">
            <a:endParaRPr/>
          </a:p>
        </p:txBody>
      </p:sp>
      <p:pic>
        <p:nvPicPr>
          <p:cNvPr id="245" name="Picture 217"/>
          <p:cNvPicPr>
            <a:picLocks xmlns:a="http://schemas.openxmlformats.org/drawingml/2006/main" noChangeAspect="1"/>
          </p:cNvPicPr>
          <p:nvPr/>
        </p:nvPicPr>
        <p:blipFill>
          <a:blip xmlns:r="http://schemas.openxmlformats.org/officeDocument/2006/relationships" xmlns:a="http://schemas.openxmlformats.org/drawingml/2006/main" r:embed="Rf8b7c29a505f4e65"/>
          <a:stretch xmlns:a="http://schemas.openxmlformats.org/drawingml/2006/main"/>
        </p:blipFill>
        <p:spPr>
          <a:xfrm xmlns:a="http://schemas.openxmlformats.org/drawingml/2006/main">
            <a:off x="10106025" y="1857375"/>
            <a:ext cx="523875" cy="523875"/>
          </a:xfrm>
          <a:prstGeom xmlns:a="http://schemas.openxmlformats.org/drawingml/2006/main" prst="rect">
            <a:avLst/>
          </a:prstGeom>
        </p:spPr>
      </p:pic>
      <p:sp>
        <p:nvSpPr>
          <p:cNvPr id="97" name="Rectangle 96">
            <a:extLst xmlns:a="http://schemas.openxmlformats.org/drawingml/2006/main">
              <a:ext uri="{FF2B5EF4-FFF2-40B4-BE49-F238E27FC236}">
                <a16:creationId xmlns:a16="http://schemas.microsoft.com/office/drawing/2014/main" id="{6018DB0E-0132-4AB2-B4CF-194E4D364420}"/>
              </a:ext>
            </a:extLst>
          </p:cNvPr>
          <p:cNvSpPr>
            <a:spLocks xmlns:a="http://schemas.openxmlformats.org/drawingml/2006/main" noGrp="1"/>
          </p:cNvSpPr>
          <p:nvPr/>
        </p:nvSpPr>
        <p:spPr>
          <a:xfrm xmlns:a="http://schemas.openxmlformats.org/drawingml/2006/main">
            <a:off x="10668000" y="1905000"/>
            <a:ext cx="1381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863" b="1" i="0">
                <a:solidFill>
                  <a:srgbClr val="00452C"/>
                </a:solidFill>
                <a:latin typeface="Arial"/>
                <a:ea typeface="Arial"/>
                <a:cs typeface="Arial"/>
              </a:defRPr>
            </a:pPr>
            <a:r>
              <a:rPr sz="863" b="1" i="0">
                <a:solidFill>
                  <a:srgbClr val="00452C"/>
                </a:solidFill>
                <a:latin typeface="Arial"/>
                <a:ea typeface="Arial"/>
                <a:cs typeface="Arial"/>
              </a:rPr>
              <a:t>Lower Costs</a:t>
            </a:r>
          </a:p>
        </p:txBody>
      </p:sp>
      <p:sp>
        <p:nvSpPr>
          <p:cNvPr id="98" name="Rectangle 97">
            <a:extLst xmlns:a="http://schemas.openxmlformats.org/drawingml/2006/main">
              <a:ext uri="{FF2B5EF4-FFF2-40B4-BE49-F238E27FC236}">
                <a16:creationId xmlns:a16="http://schemas.microsoft.com/office/drawing/2014/main" id="{C27438A7-F5AC-492E-8AE2-686E5A686DA1}"/>
              </a:ext>
            </a:extLst>
          </p:cNvPr>
          <p:cNvSpPr>
            <a:spLocks xmlns:a="http://schemas.openxmlformats.org/drawingml/2006/main" noGrp="1"/>
          </p:cNvSpPr>
          <p:nvPr/>
        </p:nvSpPr>
        <p:spPr>
          <a:xfrm xmlns:a="http://schemas.openxmlformats.org/drawingml/2006/main">
            <a:off x="10668000" y="2114550"/>
            <a:ext cx="1352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20000"/>
              </a:lnSpc>
              <a:buNone/>
              <a:defRPr sz="765" b="0" i="0">
                <a:solidFill>
                  <a:srgbClr val="111111"/>
                </a:solidFill>
                <a:latin typeface="Arial"/>
                <a:ea typeface="Arial"/>
                <a:cs typeface="Arial"/>
              </a:defRPr>
            </a:pPr>
            <a:r>
              <a:rPr sz="765" b="0" i="0">
                <a:solidFill>
                  <a:srgbClr val="111111"/>
                </a:solidFill>
                <a:latin typeface="Arial"/>
                <a:ea typeface="Arial"/>
                <a:cs typeface="Arial"/>
              </a:rPr>
              <a:t>Reduce VMware licensing</a:t>
            </a:r>
          </a:p>
          <a:p xmlns:a="http://schemas.openxmlformats.org/drawingml/2006/main">
            <a:pPr algn="l">
              <a:lnSpc>
                <a:spcPct val="120000"/>
              </a:lnSpc>
              <a:buNone/>
              <a:defRPr sz="765" b="0" i="0">
                <a:solidFill>
                  <a:srgbClr val="111111"/>
                </a:solidFill>
                <a:latin typeface="Arial"/>
                <a:ea typeface="Arial"/>
                <a:cs typeface="Arial"/>
              </a:defRPr>
            </a:pPr>
            <a:r>
              <a:rPr sz="765" b="0" i="0">
                <a:solidFill>
                  <a:srgbClr val="111111"/>
                </a:solidFill>
                <a:latin typeface="Arial"/>
                <a:ea typeface="Arial"/>
                <a:cs typeface="Arial"/>
              </a:rPr>
              <a:t>and operational costs.</a:t>
            </a:r>
          </a:p>
        </p:txBody>
      </p:sp>
      <p:sp>
        <p:nvSpPr>
          <p:cNvPr id="99" name="Straight Connector 98">
            <a:extLst xmlns:a="http://schemas.openxmlformats.org/drawingml/2006/main">
              <a:ext uri="{FF2B5EF4-FFF2-40B4-BE49-F238E27FC236}">
                <a16:creationId xmlns:a16="http://schemas.microsoft.com/office/drawing/2014/main" id="{2FF284E2-9078-4CBE-A2E4-7F9DD4C18AF9}"/>
              </a:ext>
            </a:extLst>
          </p:cNvPr>
          <p:cNvSpPr>
            <a:spLocks xmlns:a="http://schemas.openxmlformats.org/drawingml/2006/main" noGrp="1"/>
          </p:cNvSpPr>
          <p:nvPr/>
        </p:nvSpPr>
        <p:spPr>
          <a:xfrm xmlns:a="http://schemas.openxmlformats.org/drawingml/2006/main">
            <a:off x="10134600" y="2590800"/>
            <a:ext cx="1866900" cy="0"/>
          </a:xfrm>
          <a:prstGeom xmlns:a="http://schemas.openxmlformats.org/drawingml/2006/main" prst="line">
            <a:avLst/>
          </a:prstGeom>
          <a:noFill xmlns:a="http://schemas.openxmlformats.org/drawingml/2006/main"/>
          <a:ln xmlns:a="http://schemas.openxmlformats.org/drawingml/2006/main" w="9525">
            <a:solidFill>
              <a:srgbClr val="D7DDDA"/>
            </a:solidFill>
            <a:prstDash val="solid"/>
          </a:ln>
        </p:spPr>
        <p:txBody>
          <a:bodyPr xmlns:a="http://schemas.openxmlformats.org/drawingml/2006/main"/>
          <a:lstStyle xmlns:a="http://schemas.openxmlformats.org/drawingml/2006/main"/>
          <a:p xmlns:a="http://schemas.openxmlformats.org/drawingml/2006/main">
            <a:endParaRPr/>
          </a:p>
        </p:txBody>
      </p:sp>
      <p:pic>
        <p:nvPicPr>
          <p:cNvPr id="249" name="Picture 221"/>
          <p:cNvPicPr>
            <a:picLocks xmlns:a="http://schemas.openxmlformats.org/drawingml/2006/main" noChangeAspect="1"/>
          </p:cNvPicPr>
          <p:nvPr/>
        </p:nvPicPr>
        <p:blipFill>
          <a:blip xmlns:r="http://schemas.openxmlformats.org/officeDocument/2006/relationships" xmlns:a="http://schemas.openxmlformats.org/drawingml/2006/main" r:embed="R7aac6ed38b834c64"/>
          <a:stretch xmlns:a="http://schemas.openxmlformats.org/drawingml/2006/main"/>
        </p:blipFill>
        <p:spPr>
          <a:xfrm xmlns:a="http://schemas.openxmlformats.org/drawingml/2006/main">
            <a:off x="10106025" y="2676525"/>
            <a:ext cx="523875" cy="523875"/>
          </a:xfrm>
          <a:prstGeom xmlns:a="http://schemas.openxmlformats.org/drawingml/2006/main" prst="rect">
            <a:avLst/>
          </a:prstGeom>
        </p:spPr>
      </p:pic>
      <p:sp>
        <p:nvSpPr>
          <p:cNvPr id="101" name="Rectangle 100">
            <a:extLst xmlns:a="http://schemas.openxmlformats.org/drawingml/2006/main">
              <a:ext uri="{FF2B5EF4-FFF2-40B4-BE49-F238E27FC236}">
                <a16:creationId xmlns:a16="http://schemas.microsoft.com/office/drawing/2014/main" id="{8AA1A5D9-87DC-4EB8-B5EF-FF7C7CE14109}"/>
              </a:ext>
            </a:extLst>
          </p:cNvPr>
          <p:cNvSpPr>
            <a:spLocks xmlns:a="http://schemas.openxmlformats.org/drawingml/2006/main" noGrp="1"/>
          </p:cNvSpPr>
          <p:nvPr/>
        </p:nvSpPr>
        <p:spPr>
          <a:xfrm xmlns:a="http://schemas.openxmlformats.org/drawingml/2006/main">
            <a:off x="10668000" y="2724150"/>
            <a:ext cx="1381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863" b="1" i="0">
                <a:solidFill>
                  <a:srgbClr val="00452C"/>
                </a:solidFill>
                <a:latin typeface="Arial"/>
                <a:ea typeface="Arial"/>
                <a:cs typeface="Arial"/>
              </a:defRPr>
            </a:pPr>
            <a:r>
              <a:rPr sz="863" b="1" i="0">
                <a:solidFill>
                  <a:srgbClr val="00452C"/>
                </a:solidFill>
                <a:latin typeface="Arial"/>
                <a:ea typeface="Arial"/>
                <a:cs typeface="Arial"/>
              </a:rPr>
              <a:t>Right-Size Infrastructure</a:t>
            </a:r>
          </a:p>
        </p:txBody>
      </p:sp>
      <p:sp>
        <p:nvSpPr>
          <p:cNvPr id="102" name="Rectangle 101">
            <a:extLst xmlns:a="http://schemas.openxmlformats.org/drawingml/2006/main">
              <a:ext uri="{FF2B5EF4-FFF2-40B4-BE49-F238E27FC236}">
                <a16:creationId xmlns:a16="http://schemas.microsoft.com/office/drawing/2014/main" id="{44861EC4-2E70-4B3B-A3F2-E22ADA54062C}"/>
              </a:ext>
            </a:extLst>
          </p:cNvPr>
          <p:cNvSpPr>
            <a:spLocks xmlns:a="http://schemas.openxmlformats.org/drawingml/2006/main" noGrp="1"/>
          </p:cNvSpPr>
          <p:nvPr/>
        </p:nvSpPr>
        <p:spPr>
          <a:xfrm xmlns:a="http://schemas.openxmlformats.org/drawingml/2006/main">
            <a:off x="10668000" y="2933700"/>
            <a:ext cx="1352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20000"/>
              </a:lnSpc>
              <a:buNone/>
              <a:defRPr sz="765" b="0" i="0">
                <a:solidFill>
                  <a:srgbClr val="111111"/>
                </a:solidFill>
                <a:latin typeface="Arial"/>
                <a:ea typeface="Arial"/>
                <a:cs typeface="Arial"/>
              </a:defRPr>
            </a:pPr>
            <a:r>
              <a:rPr sz="765" b="0" i="0">
                <a:solidFill>
                  <a:srgbClr val="111111"/>
                </a:solidFill>
                <a:latin typeface="Arial"/>
                <a:ea typeface="Arial"/>
                <a:cs typeface="Arial"/>
              </a:rPr>
              <a:t>Optimize compute resources</a:t>
            </a:r>
          </a:p>
          <a:p xmlns:a="http://schemas.openxmlformats.org/drawingml/2006/main">
            <a:pPr algn="l">
              <a:lnSpc>
                <a:spcPct val="120000"/>
              </a:lnSpc>
              <a:buNone/>
              <a:defRPr sz="765" b="0" i="0">
                <a:solidFill>
                  <a:srgbClr val="111111"/>
                </a:solidFill>
                <a:latin typeface="Arial"/>
                <a:ea typeface="Arial"/>
                <a:cs typeface="Arial"/>
              </a:defRPr>
            </a:pPr>
            <a:r>
              <a:rPr sz="765" b="0" i="0">
                <a:solidFill>
                  <a:srgbClr val="111111"/>
                </a:solidFill>
                <a:latin typeface="Arial"/>
                <a:ea typeface="Arial"/>
                <a:cs typeface="Arial"/>
              </a:rPr>
              <a:t>using OCI Flex Shapes.</a:t>
            </a:r>
          </a:p>
        </p:txBody>
      </p:sp>
      <p:sp>
        <p:nvSpPr>
          <p:cNvPr id="103" name="Straight Connector 102">
            <a:extLst xmlns:a="http://schemas.openxmlformats.org/drawingml/2006/main">
              <a:ext uri="{FF2B5EF4-FFF2-40B4-BE49-F238E27FC236}">
                <a16:creationId xmlns:a16="http://schemas.microsoft.com/office/drawing/2014/main" id="{64985FD5-6D0D-4AE2-A6A0-8BD0C2E3F591}"/>
              </a:ext>
            </a:extLst>
          </p:cNvPr>
          <p:cNvSpPr>
            <a:spLocks xmlns:a="http://schemas.openxmlformats.org/drawingml/2006/main" noGrp="1"/>
          </p:cNvSpPr>
          <p:nvPr/>
        </p:nvSpPr>
        <p:spPr>
          <a:xfrm xmlns:a="http://schemas.openxmlformats.org/drawingml/2006/main">
            <a:off x="10134600" y="3409950"/>
            <a:ext cx="1866900" cy="0"/>
          </a:xfrm>
          <a:prstGeom xmlns:a="http://schemas.openxmlformats.org/drawingml/2006/main" prst="line">
            <a:avLst/>
          </a:prstGeom>
          <a:noFill xmlns:a="http://schemas.openxmlformats.org/drawingml/2006/main"/>
          <a:ln xmlns:a="http://schemas.openxmlformats.org/drawingml/2006/main" w="9525">
            <a:solidFill>
              <a:srgbClr val="D7DDDA"/>
            </a:solidFill>
            <a:prstDash val="solid"/>
          </a:ln>
        </p:spPr>
        <p:txBody>
          <a:bodyPr xmlns:a="http://schemas.openxmlformats.org/drawingml/2006/main"/>
          <a:lstStyle xmlns:a="http://schemas.openxmlformats.org/drawingml/2006/main"/>
          <a:p xmlns:a="http://schemas.openxmlformats.org/drawingml/2006/main">
            <a:endParaRPr/>
          </a:p>
        </p:txBody>
      </p:sp>
      <p:pic>
        <p:nvPicPr>
          <p:cNvPr id="253" name="Picture 225"/>
          <p:cNvPicPr>
            <a:picLocks xmlns:a="http://schemas.openxmlformats.org/drawingml/2006/main" noChangeAspect="1"/>
          </p:cNvPicPr>
          <p:nvPr/>
        </p:nvPicPr>
        <p:blipFill>
          <a:blip xmlns:r="http://schemas.openxmlformats.org/officeDocument/2006/relationships" xmlns:a="http://schemas.openxmlformats.org/drawingml/2006/main" r:embed="R8322d55074614bc3"/>
          <a:stretch xmlns:a="http://schemas.openxmlformats.org/drawingml/2006/main"/>
        </p:blipFill>
        <p:spPr>
          <a:xfrm xmlns:a="http://schemas.openxmlformats.org/drawingml/2006/main">
            <a:off x="10106025" y="3486150"/>
            <a:ext cx="523875" cy="523875"/>
          </a:xfrm>
          <a:prstGeom xmlns:a="http://schemas.openxmlformats.org/drawingml/2006/main" prst="rect">
            <a:avLst/>
          </a:prstGeom>
        </p:spPr>
      </p:pic>
      <p:sp>
        <p:nvSpPr>
          <p:cNvPr id="105" name="Rectangle 104">
            <a:extLst xmlns:a="http://schemas.openxmlformats.org/drawingml/2006/main">
              <a:ext uri="{FF2B5EF4-FFF2-40B4-BE49-F238E27FC236}">
                <a16:creationId xmlns:a16="http://schemas.microsoft.com/office/drawing/2014/main" id="{0E5AE84E-8371-4CA2-B720-F2EF6EFB688E}"/>
              </a:ext>
            </a:extLst>
          </p:cNvPr>
          <p:cNvSpPr>
            <a:spLocks xmlns:a="http://schemas.openxmlformats.org/drawingml/2006/main" noGrp="1"/>
          </p:cNvSpPr>
          <p:nvPr/>
        </p:nvSpPr>
        <p:spPr>
          <a:xfrm xmlns:a="http://schemas.openxmlformats.org/drawingml/2006/main">
            <a:off x="10668000" y="3533775"/>
            <a:ext cx="1381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863" b="1" i="0">
                <a:solidFill>
                  <a:srgbClr val="00452C"/>
                </a:solidFill>
                <a:latin typeface="Arial"/>
                <a:ea typeface="Arial"/>
                <a:cs typeface="Arial"/>
              </a:defRPr>
            </a:pPr>
            <a:r>
              <a:rPr sz="863" b="1" i="0">
                <a:solidFill>
                  <a:srgbClr val="00452C"/>
                </a:solidFill>
                <a:latin typeface="Arial"/>
                <a:ea typeface="Arial"/>
                <a:cs typeface="Arial"/>
              </a:rPr>
              <a:t>Elastic &amp; Scalable</a:t>
            </a:r>
          </a:p>
        </p:txBody>
      </p:sp>
      <p:sp>
        <p:nvSpPr>
          <p:cNvPr id="106" name="Rectangle 105">
            <a:extLst xmlns:a="http://schemas.openxmlformats.org/drawingml/2006/main">
              <a:ext uri="{FF2B5EF4-FFF2-40B4-BE49-F238E27FC236}">
                <a16:creationId xmlns:a16="http://schemas.microsoft.com/office/drawing/2014/main" id="{157646D1-4382-4B10-88E4-31D2E0556FBB}"/>
              </a:ext>
            </a:extLst>
          </p:cNvPr>
          <p:cNvSpPr>
            <a:spLocks xmlns:a="http://schemas.openxmlformats.org/drawingml/2006/main" noGrp="1"/>
          </p:cNvSpPr>
          <p:nvPr/>
        </p:nvSpPr>
        <p:spPr>
          <a:xfrm xmlns:a="http://schemas.openxmlformats.org/drawingml/2006/main">
            <a:off x="10668000" y="3743325"/>
            <a:ext cx="1352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20000"/>
              </a:lnSpc>
              <a:buNone/>
              <a:defRPr sz="765" b="0" i="0">
                <a:solidFill>
                  <a:srgbClr val="111111"/>
                </a:solidFill>
                <a:latin typeface="Arial"/>
                <a:ea typeface="Arial"/>
                <a:cs typeface="Arial"/>
              </a:defRPr>
            </a:pPr>
            <a:r>
              <a:rPr sz="765" b="0" i="0">
                <a:solidFill>
                  <a:srgbClr val="111111"/>
                </a:solidFill>
                <a:latin typeface="Arial"/>
                <a:ea typeface="Arial"/>
                <a:cs typeface="Arial"/>
              </a:rPr>
              <a:t>Scale resources up or</a:t>
            </a:r>
          </a:p>
          <a:p xmlns:a="http://schemas.openxmlformats.org/drawingml/2006/main">
            <a:pPr algn="l">
              <a:lnSpc>
                <a:spcPct val="120000"/>
              </a:lnSpc>
              <a:buNone/>
              <a:defRPr sz="765" b="0" i="0">
                <a:solidFill>
                  <a:srgbClr val="111111"/>
                </a:solidFill>
                <a:latin typeface="Arial"/>
                <a:ea typeface="Arial"/>
                <a:cs typeface="Arial"/>
              </a:defRPr>
            </a:pPr>
            <a:r>
              <a:rPr sz="765" b="0" i="0">
                <a:solidFill>
                  <a:srgbClr val="111111"/>
                </a:solidFill>
                <a:latin typeface="Arial"/>
                <a:ea typeface="Arial"/>
                <a:cs typeface="Arial"/>
              </a:rPr>
              <a:t>down as needed.</a:t>
            </a:r>
          </a:p>
        </p:txBody>
      </p:sp>
      <p:sp>
        <p:nvSpPr>
          <p:cNvPr id="107" name="Straight Connector 106">
            <a:extLst xmlns:a="http://schemas.openxmlformats.org/drawingml/2006/main">
              <a:ext uri="{FF2B5EF4-FFF2-40B4-BE49-F238E27FC236}">
                <a16:creationId xmlns:a16="http://schemas.microsoft.com/office/drawing/2014/main" id="{5D728FFC-3C38-471E-B62B-8C701CB2C912}"/>
              </a:ext>
            </a:extLst>
          </p:cNvPr>
          <p:cNvSpPr>
            <a:spLocks xmlns:a="http://schemas.openxmlformats.org/drawingml/2006/main" noGrp="1"/>
          </p:cNvSpPr>
          <p:nvPr/>
        </p:nvSpPr>
        <p:spPr>
          <a:xfrm xmlns:a="http://schemas.openxmlformats.org/drawingml/2006/main">
            <a:off x="10134600" y="4219575"/>
            <a:ext cx="1866900" cy="0"/>
          </a:xfrm>
          <a:prstGeom xmlns:a="http://schemas.openxmlformats.org/drawingml/2006/main" prst="line">
            <a:avLst/>
          </a:prstGeom>
          <a:noFill xmlns:a="http://schemas.openxmlformats.org/drawingml/2006/main"/>
          <a:ln xmlns:a="http://schemas.openxmlformats.org/drawingml/2006/main" w="9525">
            <a:solidFill>
              <a:srgbClr val="D7DDDA"/>
            </a:solidFill>
            <a:prstDash val="solid"/>
          </a:ln>
        </p:spPr>
        <p:txBody>
          <a:bodyPr xmlns:a="http://schemas.openxmlformats.org/drawingml/2006/main"/>
          <a:lstStyle xmlns:a="http://schemas.openxmlformats.org/drawingml/2006/main"/>
          <a:p xmlns:a="http://schemas.openxmlformats.org/drawingml/2006/main">
            <a:endParaRPr/>
          </a:p>
        </p:txBody>
      </p:sp>
      <p:pic>
        <p:nvPicPr>
          <p:cNvPr id="257" name="Picture 229"/>
          <p:cNvPicPr>
            <a:picLocks xmlns:a="http://schemas.openxmlformats.org/drawingml/2006/main" noChangeAspect="1"/>
          </p:cNvPicPr>
          <p:nvPr/>
        </p:nvPicPr>
        <p:blipFill>
          <a:blip xmlns:r="http://schemas.openxmlformats.org/officeDocument/2006/relationships" xmlns:a="http://schemas.openxmlformats.org/drawingml/2006/main" r:embed="Rbaaf2aa210d449a6"/>
          <a:stretch xmlns:a="http://schemas.openxmlformats.org/drawingml/2006/main"/>
        </p:blipFill>
        <p:spPr>
          <a:xfrm xmlns:a="http://schemas.openxmlformats.org/drawingml/2006/main">
            <a:off x="10106025" y="4295775"/>
            <a:ext cx="523875" cy="523875"/>
          </a:xfrm>
          <a:prstGeom xmlns:a="http://schemas.openxmlformats.org/drawingml/2006/main" prst="rect">
            <a:avLst/>
          </a:prstGeom>
        </p:spPr>
      </p:pic>
      <p:sp>
        <p:nvSpPr>
          <p:cNvPr id="109" name="Rectangle 108">
            <a:extLst xmlns:a="http://schemas.openxmlformats.org/drawingml/2006/main">
              <a:ext uri="{FF2B5EF4-FFF2-40B4-BE49-F238E27FC236}">
                <a16:creationId xmlns:a16="http://schemas.microsoft.com/office/drawing/2014/main" id="{9B6371C7-BABB-4EC6-BA25-B3573919A0E6}"/>
              </a:ext>
            </a:extLst>
          </p:cNvPr>
          <p:cNvSpPr>
            <a:spLocks xmlns:a="http://schemas.openxmlformats.org/drawingml/2006/main" noGrp="1"/>
          </p:cNvSpPr>
          <p:nvPr/>
        </p:nvSpPr>
        <p:spPr>
          <a:xfrm xmlns:a="http://schemas.openxmlformats.org/drawingml/2006/main">
            <a:off x="10668000" y="4343400"/>
            <a:ext cx="1381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863" b="1" i="0">
                <a:solidFill>
                  <a:srgbClr val="00452C"/>
                </a:solidFill>
                <a:latin typeface="Arial"/>
                <a:ea typeface="Arial"/>
                <a:cs typeface="Arial"/>
              </a:defRPr>
            </a:pPr>
            <a:r>
              <a:rPr sz="863" b="1" i="0">
                <a:solidFill>
                  <a:srgbClr val="00452C"/>
                </a:solidFill>
                <a:latin typeface="Arial"/>
                <a:ea typeface="Arial"/>
                <a:cs typeface="Arial"/>
              </a:rPr>
              <a:t>Cloud Native Modernization</a:t>
            </a:r>
          </a:p>
        </p:txBody>
      </p:sp>
      <p:sp>
        <p:nvSpPr>
          <p:cNvPr id="110" name="Rectangle 109">
            <a:extLst xmlns:a="http://schemas.openxmlformats.org/drawingml/2006/main">
              <a:ext uri="{FF2B5EF4-FFF2-40B4-BE49-F238E27FC236}">
                <a16:creationId xmlns:a16="http://schemas.microsoft.com/office/drawing/2014/main" id="{BC6B722B-ED6F-444A-82BA-5244DE4AEAD5}"/>
              </a:ext>
            </a:extLst>
          </p:cNvPr>
          <p:cNvSpPr>
            <a:spLocks xmlns:a="http://schemas.openxmlformats.org/drawingml/2006/main" noGrp="1"/>
          </p:cNvSpPr>
          <p:nvPr/>
        </p:nvSpPr>
        <p:spPr>
          <a:xfrm xmlns:a="http://schemas.openxmlformats.org/drawingml/2006/main">
            <a:off x="10668000" y="4552950"/>
            <a:ext cx="1352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20000"/>
              </a:lnSpc>
              <a:buNone/>
              <a:defRPr sz="765" b="0" i="0">
                <a:solidFill>
                  <a:srgbClr val="111111"/>
                </a:solidFill>
                <a:latin typeface="Arial"/>
                <a:ea typeface="Arial"/>
                <a:cs typeface="Arial"/>
              </a:defRPr>
            </a:pPr>
            <a:r>
              <a:rPr sz="765" b="0" i="0">
                <a:solidFill>
                  <a:srgbClr val="111111"/>
                </a:solidFill>
                <a:latin typeface="Arial"/>
                <a:ea typeface="Arial"/>
                <a:cs typeface="Arial"/>
              </a:rPr>
              <a:t>Adopt OCI native services</a:t>
            </a:r>
          </a:p>
          <a:p xmlns:a="http://schemas.openxmlformats.org/drawingml/2006/main">
            <a:pPr algn="l">
              <a:lnSpc>
                <a:spcPct val="120000"/>
              </a:lnSpc>
              <a:buNone/>
              <a:defRPr sz="765" b="0" i="0">
                <a:solidFill>
                  <a:srgbClr val="111111"/>
                </a:solidFill>
                <a:latin typeface="Arial"/>
                <a:ea typeface="Arial"/>
                <a:cs typeface="Arial"/>
              </a:defRPr>
            </a:pPr>
            <a:r>
              <a:rPr sz="765" b="0" i="0">
                <a:solidFill>
                  <a:srgbClr val="111111"/>
                </a:solidFill>
                <a:latin typeface="Arial"/>
                <a:ea typeface="Arial"/>
                <a:cs typeface="Arial"/>
              </a:rPr>
              <a:t>over time.</a:t>
            </a:r>
          </a:p>
        </p:txBody>
      </p:sp>
      <p:sp>
        <p:nvSpPr>
          <p:cNvPr id="111" name="Straight Connector 110">
            <a:extLst xmlns:a="http://schemas.openxmlformats.org/drawingml/2006/main">
              <a:ext uri="{FF2B5EF4-FFF2-40B4-BE49-F238E27FC236}">
                <a16:creationId xmlns:a16="http://schemas.microsoft.com/office/drawing/2014/main" id="{56D9EC54-3505-4553-8D9B-28CE78AAEEF4}"/>
              </a:ext>
            </a:extLst>
          </p:cNvPr>
          <p:cNvSpPr>
            <a:spLocks xmlns:a="http://schemas.openxmlformats.org/drawingml/2006/main" noGrp="1"/>
          </p:cNvSpPr>
          <p:nvPr/>
        </p:nvSpPr>
        <p:spPr>
          <a:xfrm xmlns:a="http://schemas.openxmlformats.org/drawingml/2006/main">
            <a:off x="10134600" y="5029200"/>
            <a:ext cx="1866900" cy="0"/>
          </a:xfrm>
          <a:prstGeom xmlns:a="http://schemas.openxmlformats.org/drawingml/2006/main" prst="line">
            <a:avLst/>
          </a:prstGeom>
          <a:noFill xmlns:a="http://schemas.openxmlformats.org/drawingml/2006/main"/>
          <a:ln xmlns:a="http://schemas.openxmlformats.org/drawingml/2006/main" w="9525">
            <a:solidFill>
              <a:srgbClr val="D7DDDA"/>
            </a:solidFill>
            <a:prstDash val="solid"/>
          </a:ln>
        </p:spPr>
        <p:txBody>
          <a:bodyPr xmlns:a="http://schemas.openxmlformats.org/drawingml/2006/main"/>
          <a:lstStyle xmlns:a="http://schemas.openxmlformats.org/drawingml/2006/main"/>
          <a:p xmlns:a="http://schemas.openxmlformats.org/drawingml/2006/main">
            <a:endParaRPr/>
          </a:p>
        </p:txBody>
      </p:sp>
      <p:pic>
        <p:nvPicPr>
          <p:cNvPr id="261" name="Picture 233"/>
          <p:cNvPicPr>
            <a:picLocks xmlns:a="http://schemas.openxmlformats.org/drawingml/2006/main" noChangeAspect="1"/>
          </p:cNvPicPr>
          <p:nvPr/>
        </p:nvPicPr>
        <p:blipFill>
          <a:blip xmlns:r="http://schemas.openxmlformats.org/officeDocument/2006/relationships" xmlns:a="http://schemas.openxmlformats.org/drawingml/2006/main" r:embed="R73b0f90f1f6e4a6a"/>
          <a:stretch xmlns:a="http://schemas.openxmlformats.org/drawingml/2006/main"/>
        </p:blipFill>
        <p:spPr>
          <a:xfrm xmlns:a="http://schemas.openxmlformats.org/drawingml/2006/main">
            <a:off x="10106025" y="5105400"/>
            <a:ext cx="523875" cy="523875"/>
          </a:xfrm>
          <a:prstGeom xmlns:a="http://schemas.openxmlformats.org/drawingml/2006/main" prst="rect">
            <a:avLst/>
          </a:prstGeom>
        </p:spPr>
      </p:pic>
      <p:sp>
        <p:nvSpPr>
          <p:cNvPr id="113" name="Rectangle 112">
            <a:extLst xmlns:a="http://schemas.openxmlformats.org/drawingml/2006/main">
              <a:ext uri="{FF2B5EF4-FFF2-40B4-BE49-F238E27FC236}">
                <a16:creationId xmlns:a16="http://schemas.microsoft.com/office/drawing/2014/main" id="{B9EF9EB7-8094-4E2E-B689-B02467BE4BED}"/>
              </a:ext>
            </a:extLst>
          </p:cNvPr>
          <p:cNvSpPr>
            <a:spLocks xmlns:a="http://schemas.openxmlformats.org/drawingml/2006/main" noGrp="1"/>
          </p:cNvSpPr>
          <p:nvPr/>
        </p:nvSpPr>
        <p:spPr>
          <a:xfrm xmlns:a="http://schemas.openxmlformats.org/drawingml/2006/main">
            <a:off x="10668000" y="5153025"/>
            <a:ext cx="1381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863" b="1" i="0">
                <a:solidFill>
                  <a:srgbClr val="00452C"/>
                </a:solidFill>
                <a:latin typeface="Arial"/>
                <a:ea typeface="Arial"/>
                <a:cs typeface="Arial"/>
              </a:defRPr>
            </a:pPr>
            <a:r>
              <a:rPr sz="863" b="1" i="0">
                <a:solidFill>
                  <a:srgbClr val="00452C"/>
                </a:solidFill>
                <a:latin typeface="Arial"/>
                <a:ea typeface="Arial"/>
                <a:cs typeface="Arial"/>
              </a:rPr>
              <a:t>Secure &amp; Resilient</a:t>
            </a:r>
          </a:p>
        </p:txBody>
      </p:sp>
      <p:sp>
        <p:nvSpPr>
          <p:cNvPr id="114" name="Rectangle 113">
            <a:extLst xmlns:a="http://schemas.openxmlformats.org/drawingml/2006/main">
              <a:ext uri="{FF2B5EF4-FFF2-40B4-BE49-F238E27FC236}">
                <a16:creationId xmlns:a16="http://schemas.microsoft.com/office/drawing/2014/main" id="{A6917848-6D0C-4CF1-A766-F0464BE53CA1}"/>
              </a:ext>
            </a:extLst>
          </p:cNvPr>
          <p:cNvSpPr>
            <a:spLocks xmlns:a="http://schemas.openxmlformats.org/drawingml/2006/main" noGrp="1"/>
          </p:cNvSpPr>
          <p:nvPr/>
        </p:nvSpPr>
        <p:spPr>
          <a:xfrm xmlns:a="http://schemas.openxmlformats.org/drawingml/2006/main">
            <a:off x="10668000" y="5362575"/>
            <a:ext cx="1352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20000"/>
              </a:lnSpc>
              <a:buNone/>
              <a:defRPr sz="765" b="0" i="0">
                <a:solidFill>
                  <a:srgbClr val="111111"/>
                </a:solidFill>
                <a:latin typeface="Arial"/>
                <a:ea typeface="Arial"/>
                <a:cs typeface="Arial"/>
              </a:defRPr>
            </a:pPr>
            <a:r>
              <a:rPr sz="765" b="0" i="0">
                <a:solidFill>
                  <a:srgbClr val="111111"/>
                </a:solidFill>
                <a:latin typeface="Arial"/>
                <a:ea typeface="Arial"/>
                <a:cs typeface="Arial"/>
              </a:rPr>
              <a:t>Built-in security and</a:t>
            </a:r>
          </a:p>
          <a:p xmlns:a="http://schemas.openxmlformats.org/drawingml/2006/main">
            <a:pPr algn="l">
              <a:lnSpc>
                <a:spcPct val="120000"/>
              </a:lnSpc>
              <a:buNone/>
              <a:defRPr sz="765" b="0" i="0">
                <a:solidFill>
                  <a:srgbClr val="111111"/>
                </a:solidFill>
                <a:latin typeface="Arial"/>
                <a:ea typeface="Arial"/>
                <a:cs typeface="Arial"/>
              </a:defRPr>
            </a:pPr>
            <a:r>
              <a:rPr sz="765" b="0" i="0">
                <a:solidFill>
                  <a:srgbClr val="111111"/>
                </a:solidFill>
                <a:latin typeface="Arial"/>
                <a:ea typeface="Arial"/>
                <a:cs typeface="Arial"/>
              </a:rPr>
              <a:t>high availability.</a:t>
            </a:r>
          </a:p>
        </p:txBody>
      </p:sp>
      <p:sp>
        <p:nvSpPr>
          <p:cNvPr id="115" name="Straight Connector 114">
            <a:extLst xmlns:a="http://schemas.openxmlformats.org/drawingml/2006/main">
              <a:ext uri="{FF2B5EF4-FFF2-40B4-BE49-F238E27FC236}">
                <a16:creationId xmlns:a16="http://schemas.microsoft.com/office/drawing/2014/main" id="{46E191F9-703A-467D-98F6-B28E987C4E8C}"/>
              </a:ext>
            </a:extLst>
          </p:cNvPr>
          <p:cNvSpPr>
            <a:spLocks xmlns:a="http://schemas.openxmlformats.org/drawingml/2006/main" noGrp="1"/>
          </p:cNvSpPr>
          <p:nvPr/>
        </p:nvSpPr>
        <p:spPr>
          <a:xfrm xmlns:a="http://schemas.openxmlformats.org/drawingml/2006/main">
            <a:off x="10134600" y="5838825"/>
            <a:ext cx="1866900" cy="0"/>
          </a:xfrm>
          <a:prstGeom xmlns:a="http://schemas.openxmlformats.org/drawingml/2006/main" prst="line">
            <a:avLst/>
          </a:prstGeom>
          <a:noFill xmlns:a="http://schemas.openxmlformats.org/drawingml/2006/main"/>
          <a:ln xmlns:a="http://schemas.openxmlformats.org/drawingml/2006/main" w="9525">
            <a:solidFill>
              <a:srgbClr val="D7DDDA"/>
            </a:solidFill>
            <a:prstDash val="solid"/>
          </a:ln>
        </p:spPr>
        <p:txBody>
          <a:bodyPr xmlns:a="http://schemas.openxmlformats.org/drawingml/2006/main"/>
          <a:lstStyle xmlns:a="http://schemas.openxmlformats.org/drawingml/2006/main"/>
          <a:p xmlns:a="http://schemas.openxmlformats.org/drawingml/2006/main">
            <a:endParaRPr/>
          </a:p>
        </p:txBody>
      </p:sp>
      <p:sp>
        <p:nvSpPr>
          <p:cNvPr id="116" name="Rounded Rectangle 115">
            <a:extLst xmlns:a="http://schemas.openxmlformats.org/drawingml/2006/main">
              <a:ext uri="{FF2B5EF4-FFF2-40B4-BE49-F238E27FC236}">
                <a16:creationId xmlns:a16="http://schemas.microsoft.com/office/drawing/2014/main" id="{2506CCB9-9BC8-4D8A-A0BC-78F2270D3F40}"/>
              </a:ext>
            </a:extLst>
          </p:cNvPr>
          <p:cNvSpPr>
            <a:spLocks xmlns:a="http://schemas.openxmlformats.org/drawingml/2006/main" noGrp="1"/>
          </p:cNvSpPr>
          <p:nvPr/>
        </p:nvSpPr>
        <p:spPr>
          <a:xfrm xmlns:a="http://schemas.openxmlformats.org/drawingml/2006/main">
            <a:off x="400050" y="5962650"/>
            <a:ext cx="9353550" cy="628650"/>
          </a:xfrm>
          <a:prstGeom xmlns:a="http://schemas.openxmlformats.org/drawingml/2006/main" prst="roundRect">
            <a:avLst>
              <a:gd name="adj" fmla="val 12121"/>
            </a:avLst>
          </a:prstGeom>
          <a:gradFill xmlns:a="http://schemas.openxmlformats.org/drawingml/2006/main">
            <a:gsLst>
              <a:gs pos="0">
                <a:srgbClr val="00351F"/>
              </a:gs>
              <a:gs pos="100000">
                <a:srgbClr val="075A35"/>
              </a:gs>
            </a:gsLst>
            <a:lin ang="0"/>
          </a:gra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pic>
        <p:nvPicPr>
          <p:cNvPr id="266" name="Picture 238"/>
          <p:cNvPicPr>
            <a:picLocks xmlns:a="http://schemas.openxmlformats.org/drawingml/2006/main" noChangeAspect="1"/>
          </p:cNvPicPr>
          <p:nvPr/>
        </p:nvPicPr>
        <p:blipFill>
          <a:blip xmlns:r="http://schemas.openxmlformats.org/officeDocument/2006/relationships" xmlns:a="http://schemas.openxmlformats.org/drawingml/2006/main" r:embed="R78a4e116b5d84e57"/>
          <a:stretch xmlns:a="http://schemas.openxmlformats.org/drawingml/2006/main"/>
        </p:blipFill>
        <p:spPr>
          <a:xfrm xmlns:a="http://schemas.openxmlformats.org/drawingml/2006/main">
            <a:off x="571293" y="6076950"/>
            <a:ext cx="409989" cy="428625"/>
          </a:xfrm>
          <a:prstGeom xmlns:a="http://schemas.openxmlformats.org/drawingml/2006/main" prst="rect">
            <a:avLst/>
          </a:prstGeom>
        </p:spPr>
      </p:pic>
      <p:sp>
        <p:nvSpPr>
          <p:cNvPr id="118" name="Rectangle 117">
            <a:extLst xmlns:a="http://schemas.openxmlformats.org/drawingml/2006/main">
              <a:ext uri="{FF2B5EF4-FFF2-40B4-BE49-F238E27FC236}">
                <a16:creationId xmlns:a16="http://schemas.microsoft.com/office/drawing/2014/main" id="{741917FB-2F4E-4E85-917F-6405F39CAE3A}"/>
              </a:ext>
            </a:extLst>
          </p:cNvPr>
          <p:cNvSpPr>
            <a:spLocks xmlns:a="http://schemas.openxmlformats.org/drawingml/2006/main" noGrp="1"/>
          </p:cNvSpPr>
          <p:nvPr/>
        </p:nvSpPr>
        <p:spPr>
          <a:xfrm xmlns:a="http://schemas.openxmlformats.org/drawingml/2006/main">
            <a:off x="1200150" y="6067425"/>
            <a:ext cx="8096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85" b="1" i="0">
                <a:solidFill>
                  <a:srgbClr val="FFFFFF"/>
                </a:solidFill>
                <a:latin typeface="Arial"/>
                <a:ea typeface="Arial"/>
                <a:cs typeface="Arial"/>
              </a:defRPr>
            </a:pPr>
            <a:r>
              <a:rPr sz="1185" b="1" i="0">
                <a:solidFill>
                  <a:srgbClr val="FFFFFF"/>
                </a:solidFill>
                <a:latin typeface="Arial"/>
                <a:ea typeface="Arial"/>
                <a:cs typeface="Arial"/>
              </a:rPr>
              <a:t>Modernize VMware workloads on OCI with flexible compute, managed storage and cloud-native services.</a:t>
            </a:r>
          </a:p>
        </p:txBody>
      </p:sp>
      <p:sp>
        <p:nvSpPr>
          <p:cNvPr id="119" name="Rectangle 118">
            <a:extLst xmlns:a="http://schemas.openxmlformats.org/drawingml/2006/main">
              <a:ext uri="{FF2B5EF4-FFF2-40B4-BE49-F238E27FC236}">
                <a16:creationId xmlns:a16="http://schemas.microsoft.com/office/drawing/2014/main" id="{CA710CD1-804A-407C-9DAD-7BB1F02E2B2F}"/>
              </a:ext>
            </a:extLst>
          </p:cNvPr>
          <p:cNvSpPr>
            <a:spLocks xmlns:a="http://schemas.openxmlformats.org/drawingml/2006/main" noGrp="1"/>
          </p:cNvSpPr>
          <p:nvPr/>
        </p:nvSpPr>
        <p:spPr>
          <a:xfrm xmlns:a="http://schemas.openxmlformats.org/drawingml/2006/main">
            <a:off x="1200150" y="6219825"/>
            <a:ext cx="7858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25000"/>
              </a:lnSpc>
              <a:buNone/>
              <a:defRPr sz="930" b="0" i="0">
                <a:solidFill>
                  <a:srgbClr val="FFFFFF"/>
                </a:solidFill>
                <a:latin typeface="Arial"/>
                <a:ea typeface="Arial"/>
                <a:cs typeface="Arial"/>
              </a:defRPr>
            </a:pPr>
            <a:r>
              <a:rPr sz="930" b="0" i="0">
                <a:solidFill>
                  <a:srgbClr val="FFFFFF"/>
                </a:solidFill>
                <a:latin typeface="Arial"/>
                <a:ea typeface="Arial"/>
                <a:cs typeface="Arial"/>
              </a:rPr>
              <a:t>Reduce costs, simplify operations and accelerate innovation.</a:t>
            </a:r>
          </a:p>
          <a:p xmlns:a="http://schemas.openxmlformats.org/drawingml/2006/main">
            <a:pPr algn="l">
              <a:lnSpc>
                <a:spcPct val="125000"/>
              </a:lnSpc>
              <a:buNone/>
              <a:defRPr sz="930" b="0" i="0">
                <a:solidFill>
                  <a:srgbClr val="FFFFFF"/>
                </a:solidFill>
                <a:latin typeface="Arial"/>
                <a:ea typeface="Arial"/>
                <a:cs typeface="Arial"/>
              </a:defRPr>
            </a:pPr>
            <a:r>
              <a:rPr sz="930" b="0" i="0">
                <a:solidFill>
                  <a:srgbClr val="FFFFFF"/>
                </a:solidFill>
                <a:latin typeface="Arial"/>
                <a:ea typeface="Arial"/>
                <a:cs typeface="Arial"/>
              </a:rPr>
              <a:t>Reduce VMware dependency while accelerating cloud adoption.</a:t>
            </a:r>
          </a:p>
        </p:txBody>
      </p:sp>
      <p:sp>
        <p:nvSpPr>
          <p:cNvPr id="120" name="Rectangle 119">
            <a:extLst xmlns:a="http://schemas.openxmlformats.org/drawingml/2006/main">
              <a:ext uri="{FF2B5EF4-FFF2-40B4-BE49-F238E27FC236}">
                <a16:creationId xmlns:a16="http://schemas.microsoft.com/office/drawing/2014/main" id="{B07D6D35-4848-4C5A-A5CC-A315549C1905}"/>
              </a:ext>
            </a:extLst>
          </p:cNvPr>
          <p:cNvSpPr>
            <a:spLocks xmlns:a="http://schemas.openxmlformats.org/drawingml/2006/main" noGrp="1"/>
          </p:cNvSpPr>
          <p:nvPr/>
        </p:nvSpPr>
        <p:spPr>
          <a:xfrm xmlns:a="http://schemas.openxmlformats.org/drawingml/2006/main">
            <a:off x="342900" y="66770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13" b="0" i="0">
                <a:solidFill>
                  <a:srgbClr val="555555"/>
                </a:solidFill>
                <a:latin typeface="Arial"/>
                <a:ea typeface="Arial"/>
                <a:cs typeface="Arial"/>
              </a:defRPr>
            </a:pPr>
            <a:r>
              <a:rPr sz="713" b="0" i="0">
                <a:solidFill>
                  <a:srgbClr val="555555"/>
                </a:solidFill>
                <a:latin typeface="Arial"/>
                <a:ea typeface="Arial"/>
                <a:cs typeface="Arial"/>
              </a:rPr>
              <a:t>Copyright © 2026, Oracle and/or its affiliates</a:t>
            </a:r>
          </a:p>
        </p:txBody>
      </p:sp>
      <p:sp>
        <p:nvSpPr>
          <p:cNvPr id="121" name="Rectangle 120">
            <a:extLst xmlns:a="http://schemas.openxmlformats.org/drawingml/2006/main">
              <a:ext uri="{FF2B5EF4-FFF2-40B4-BE49-F238E27FC236}">
                <a16:creationId xmlns:a16="http://schemas.microsoft.com/office/drawing/2014/main" id="{41B98EDE-E064-4E06-A83D-0FAE69F642FC}"/>
              </a:ext>
            </a:extLst>
          </p:cNvPr>
          <p:cNvSpPr>
            <a:spLocks xmlns:a="http://schemas.openxmlformats.org/drawingml/2006/main" noGrp="1"/>
          </p:cNvSpPr>
          <p:nvPr/>
        </p:nvSpPr>
        <p:spPr>
          <a:xfrm xmlns:a="http://schemas.openxmlformats.org/drawingml/2006/main">
            <a:off x="2647950" y="6677025"/>
            <a:ext cx="114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13" b="0" i="0">
                <a:solidFill>
                  <a:srgbClr val="555555"/>
                </a:solidFill>
                <a:latin typeface="Arial"/>
                <a:ea typeface="Arial"/>
                <a:cs typeface="Arial"/>
              </a:defRPr>
            </a:pPr>
            <a:r>
              <a:rPr sz="713" b="0" i="0">
                <a:solidFill>
                  <a:srgbClr val="555555"/>
                </a:solidFill>
                <a:latin typeface="Arial"/>
                <a:ea typeface="Arial"/>
                <a:cs typeface="Arial"/>
              </a:rPr>
              <a:t>|</a:t>
            </a:r>
          </a:p>
        </p:txBody>
      </p:sp>
      <p:sp>
        <p:nvSpPr>
          <p:cNvPr id="122" name="Rectangle 121">
            <a:extLst xmlns:a="http://schemas.openxmlformats.org/drawingml/2006/main">
              <a:ext uri="{FF2B5EF4-FFF2-40B4-BE49-F238E27FC236}">
                <a16:creationId xmlns:a16="http://schemas.microsoft.com/office/drawing/2014/main" id="{BE42D4B6-72DF-483D-B805-D2F82CFE7DA8}"/>
              </a:ext>
            </a:extLst>
          </p:cNvPr>
          <p:cNvSpPr>
            <a:spLocks xmlns:a="http://schemas.openxmlformats.org/drawingml/2006/main" noGrp="1"/>
          </p:cNvSpPr>
          <p:nvPr/>
        </p:nvSpPr>
        <p:spPr>
          <a:xfrm xmlns:a="http://schemas.openxmlformats.org/drawingml/2006/main">
            <a:off x="2819400" y="6677025"/>
            <a:ext cx="3143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13" b="0" i="0">
                <a:solidFill>
                  <a:srgbClr val="E30613"/>
                </a:solidFill>
                <a:latin typeface="Arial"/>
                <a:ea typeface="Arial"/>
                <a:cs typeface="Arial"/>
              </a:defRPr>
            </a:pPr>
            <a:r>
              <a:rPr sz="713" b="0" i="0">
                <a:solidFill>
                  <a:srgbClr val="E30613"/>
                </a:solidFill>
                <a:latin typeface="Arial"/>
                <a:ea typeface="Arial"/>
                <a:cs typeface="Arial"/>
              </a:rPr>
              <a:t>Confidential: Internal/Restricted/Highly Restricted</a:t>
            </a:r>
          </a:p>
        </p:txBody>
      </p:sp>
    </p:spTree>
    <p:extLst>
      <p:ext uri="{BB962C8B-B14F-4D97-AF65-F5344CB8AC3E}">
        <p14:creationId xmlns:p14="http://schemas.microsoft.com/office/powerpoint/2010/main" val="720350978"/>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75" name="Oval 74">
            <a:extLst xmlns:a="http://schemas.openxmlformats.org/drawingml/2006/main">
              <a:ext uri="{FF2B5EF4-FFF2-40B4-BE49-F238E27FC236}">
                <a16:creationId xmlns:a16="http://schemas.microsoft.com/office/drawing/2014/main" id="{21F0DC85-8080-41CB-9F08-90BF24F47782}"/>
              </a:ext>
            </a:extLst>
          </p:cNvPr>
          <p:cNvSpPr>
            <a:spLocks xmlns:a="http://schemas.openxmlformats.org/drawingml/2006/main" noGrp="1"/>
          </p:cNvSpPr>
          <p:nvPr/>
        </p:nvSpPr>
        <p:spPr>
          <a:xfrm xmlns:a="http://schemas.openxmlformats.org/drawingml/2006/main">
            <a:off x="219075" y="2838450"/>
            <a:ext cx="47625" cy="4762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 name="Oval 1">
            <a:extLst xmlns:a="http://schemas.openxmlformats.org/drawingml/2006/main">
              <a:ext uri="{FF2B5EF4-FFF2-40B4-BE49-F238E27FC236}">
                <a16:creationId xmlns:a16="http://schemas.microsoft.com/office/drawing/2014/main" id="{2F83E7F2-4739-496D-AEA1-9C7E9AF7442A}"/>
              </a:ext>
            </a:extLst>
          </p:cNvPr>
          <p:cNvSpPr>
            <a:spLocks xmlns:a="http://schemas.openxmlformats.org/drawingml/2006/main" noGrp="1"/>
          </p:cNvSpPr>
          <p:nvPr/>
        </p:nvSpPr>
        <p:spPr>
          <a:xfrm xmlns:a="http://schemas.openxmlformats.org/drawingml/2006/main">
            <a:off x="5133975" y="55245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Oval 2">
            <a:extLst xmlns:a="http://schemas.openxmlformats.org/drawingml/2006/main">
              <a:ext uri="{FF2B5EF4-FFF2-40B4-BE49-F238E27FC236}">
                <a16:creationId xmlns:a16="http://schemas.microsoft.com/office/drawing/2014/main" id="{50365660-F790-4395-BCCA-A1B5A74443CB}"/>
              </a:ext>
            </a:extLst>
          </p:cNvPr>
          <p:cNvSpPr>
            <a:spLocks xmlns:a="http://schemas.openxmlformats.org/drawingml/2006/main" noGrp="1"/>
          </p:cNvSpPr>
          <p:nvPr/>
        </p:nvSpPr>
        <p:spPr>
          <a:xfrm xmlns:a="http://schemas.openxmlformats.org/drawingml/2006/main">
            <a:off x="5638800" y="93345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Oval 3">
            <a:extLst xmlns:a="http://schemas.openxmlformats.org/drawingml/2006/main">
              <a:ext uri="{FF2B5EF4-FFF2-40B4-BE49-F238E27FC236}">
                <a16:creationId xmlns:a16="http://schemas.microsoft.com/office/drawing/2014/main" id="{9375D8DC-CA5F-40B0-B7BF-056CF93CA4C9}"/>
              </a:ext>
            </a:extLst>
          </p:cNvPr>
          <p:cNvSpPr>
            <a:spLocks xmlns:a="http://schemas.openxmlformats.org/drawingml/2006/main" noGrp="1"/>
          </p:cNvSpPr>
          <p:nvPr/>
        </p:nvSpPr>
        <p:spPr>
          <a:xfrm xmlns:a="http://schemas.openxmlformats.org/drawingml/2006/main">
            <a:off x="5810250" y="552450"/>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9B4636DC-97BE-46CA-BEB6-6BF5B65A7B74}"/>
              </a:ext>
            </a:extLst>
          </p:cNvPr>
          <p:cNvSpPr>
            <a:spLocks xmlns:a="http://schemas.openxmlformats.org/drawingml/2006/main" noGrp="1"/>
          </p:cNvSpPr>
          <p:nvPr/>
        </p:nvSpPr>
        <p:spPr>
          <a:xfrm xmlns:a="http://schemas.openxmlformats.org/drawingml/2006/main">
            <a:off x="4505325" y="981075"/>
            <a:ext cx="57150" cy="5715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Oval 5">
            <a:extLst xmlns:a="http://schemas.openxmlformats.org/drawingml/2006/main">
              <a:ext uri="{FF2B5EF4-FFF2-40B4-BE49-F238E27FC236}">
                <a16:creationId xmlns:a16="http://schemas.microsoft.com/office/drawing/2014/main" id="{567805AE-F6C9-426B-897E-D76835211245}"/>
              </a:ext>
            </a:extLst>
          </p:cNvPr>
          <p:cNvSpPr>
            <a:spLocks xmlns:a="http://schemas.openxmlformats.org/drawingml/2006/main" noGrp="1"/>
          </p:cNvSpPr>
          <p:nvPr/>
        </p:nvSpPr>
        <p:spPr>
          <a:xfrm xmlns:a="http://schemas.openxmlformats.org/drawingml/2006/main">
            <a:off x="5705475" y="99060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B71CAA8A-0646-4E30-A41C-31D47C1744F5}"/>
              </a:ext>
            </a:extLst>
          </p:cNvPr>
          <p:cNvSpPr>
            <a:spLocks xmlns:a="http://schemas.openxmlformats.org/drawingml/2006/main" noGrp="1"/>
          </p:cNvSpPr>
          <p:nvPr/>
        </p:nvSpPr>
        <p:spPr>
          <a:xfrm xmlns:a="http://schemas.openxmlformats.org/drawingml/2006/main">
            <a:off x="6096000" y="116205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Oval 7">
            <a:extLst xmlns:a="http://schemas.openxmlformats.org/drawingml/2006/main">
              <a:ext uri="{FF2B5EF4-FFF2-40B4-BE49-F238E27FC236}">
                <a16:creationId xmlns:a16="http://schemas.microsoft.com/office/drawing/2014/main" id="{8004BEBF-6AFB-4C2C-929C-BF89C0BEE4CC}"/>
              </a:ext>
            </a:extLst>
          </p:cNvPr>
          <p:cNvSpPr>
            <a:spLocks xmlns:a="http://schemas.openxmlformats.org/drawingml/2006/main" noGrp="1"/>
          </p:cNvSpPr>
          <p:nvPr/>
        </p:nvSpPr>
        <p:spPr>
          <a:xfrm xmlns:a="http://schemas.openxmlformats.org/drawingml/2006/main">
            <a:off x="6753225" y="1304925"/>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Oval 8">
            <a:extLst xmlns:a="http://schemas.openxmlformats.org/drawingml/2006/main">
              <a:ext uri="{FF2B5EF4-FFF2-40B4-BE49-F238E27FC236}">
                <a16:creationId xmlns:a16="http://schemas.microsoft.com/office/drawing/2014/main" id="{971687F6-47A9-4150-89D4-7D270B8B3DC6}"/>
              </a:ext>
            </a:extLst>
          </p:cNvPr>
          <p:cNvSpPr>
            <a:spLocks xmlns:a="http://schemas.openxmlformats.org/drawingml/2006/main" noGrp="1"/>
          </p:cNvSpPr>
          <p:nvPr/>
        </p:nvSpPr>
        <p:spPr>
          <a:xfrm xmlns:a="http://schemas.openxmlformats.org/drawingml/2006/main">
            <a:off x="7239000" y="381000"/>
            <a:ext cx="66675" cy="666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Oval 9">
            <a:extLst xmlns:a="http://schemas.openxmlformats.org/drawingml/2006/main">
              <a:ext uri="{FF2B5EF4-FFF2-40B4-BE49-F238E27FC236}">
                <a16:creationId xmlns:a16="http://schemas.microsoft.com/office/drawing/2014/main" id="{22DB11DC-8AE3-4708-B895-9DCF02DCCDCD}"/>
              </a:ext>
            </a:extLst>
          </p:cNvPr>
          <p:cNvSpPr>
            <a:spLocks xmlns:a="http://schemas.openxmlformats.org/drawingml/2006/main" noGrp="1"/>
          </p:cNvSpPr>
          <p:nvPr/>
        </p:nvSpPr>
        <p:spPr>
          <a:xfrm xmlns:a="http://schemas.openxmlformats.org/drawingml/2006/main">
            <a:off x="8839200" y="790575"/>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Oval 10">
            <a:extLst xmlns:a="http://schemas.openxmlformats.org/drawingml/2006/main">
              <a:ext uri="{FF2B5EF4-FFF2-40B4-BE49-F238E27FC236}">
                <a16:creationId xmlns:a16="http://schemas.microsoft.com/office/drawing/2014/main" id="{4170C531-2321-40E2-8044-BC5E8CA5BB58}"/>
              </a:ext>
            </a:extLst>
          </p:cNvPr>
          <p:cNvSpPr>
            <a:spLocks xmlns:a="http://schemas.openxmlformats.org/drawingml/2006/main" noGrp="1"/>
          </p:cNvSpPr>
          <p:nvPr/>
        </p:nvSpPr>
        <p:spPr>
          <a:xfrm xmlns:a="http://schemas.openxmlformats.org/drawingml/2006/main">
            <a:off x="9048750" y="1495425"/>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2" name="Oval 11">
            <a:extLst xmlns:a="http://schemas.openxmlformats.org/drawingml/2006/main">
              <a:ext uri="{FF2B5EF4-FFF2-40B4-BE49-F238E27FC236}">
                <a16:creationId xmlns:a16="http://schemas.microsoft.com/office/drawing/2014/main" id="{7A4DA6F0-0E7F-4975-91FC-B8833E1EF25E}"/>
              </a:ext>
            </a:extLst>
          </p:cNvPr>
          <p:cNvSpPr>
            <a:spLocks xmlns:a="http://schemas.openxmlformats.org/drawingml/2006/main" noGrp="1"/>
          </p:cNvSpPr>
          <p:nvPr/>
        </p:nvSpPr>
        <p:spPr>
          <a:xfrm xmlns:a="http://schemas.openxmlformats.org/drawingml/2006/main">
            <a:off x="9239250" y="1647825"/>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Oval 12">
            <a:extLst xmlns:a="http://schemas.openxmlformats.org/drawingml/2006/main">
              <a:ext uri="{FF2B5EF4-FFF2-40B4-BE49-F238E27FC236}">
                <a16:creationId xmlns:a16="http://schemas.microsoft.com/office/drawing/2014/main" id="{30D3E989-E565-43CA-B47B-51F6E2E6D5A5}"/>
              </a:ext>
            </a:extLst>
          </p:cNvPr>
          <p:cNvSpPr>
            <a:spLocks xmlns:a="http://schemas.openxmlformats.org/drawingml/2006/main" noGrp="1"/>
          </p:cNvSpPr>
          <p:nvPr/>
        </p:nvSpPr>
        <p:spPr>
          <a:xfrm xmlns:a="http://schemas.openxmlformats.org/drawingml/2006/main">
            <a:off x="9944100" y="2076450"/>
            <a:ext cx="47625" cy="4762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Oval 13">
            <a:extLst xmlns:a="http://schemas.openxmlformats.org/drawingml/2006/main">
              <a:ext uri="{FF2B5EF4-FFF2-40B4-BE49-F238E27FC236}">
                <a16:creationId xmlns:a16="http://schemas.microsoft.com/office/drawing/2014/main" id="{E90AC5F6-AD11-4372-9904-82389EC0DDD8}"/>
              </a:ext>
            </a:extLst>
          </p:cNvPr>
          <p:cNvSpPr>
            <a:spLocks xmlns:a="http://schemas.openxmlformats.org/drawingml/2006/main" noGrp="1"/>
          </p:cNvSpPr>
          <p:nvPr/>
        </p:nvSpPr>
        <p:spPr>
          <a:xfrm xmlns:a="http://schemas.openxmlformats.org/drawingml/2006/main">
            <a:off x="11258550" y="228600"/>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5" name="Oval 14">
            <a:extLst xmlns:a="http://schemas.openxmlformats.org/drawingml/2006/main">
              <a:ext uri="{FF2B5EF4-FFF2-40B4-BE49-F238E27FC236}">
                <a16:creationId xmlns:a16="http://schemas.microsoft.com/office/drawing/2014/main" id="{7B52B2D8-D6B9-4D4D-B2A5-2C8D8AA80805}"/>
              </a:ext>
            </a:extLst>
          </p:cNvPr>
          <p:cNvSpPr>
            <a:spLocks xmlns:a="http://schemas.openxmlformats.org/drawingml/2006/main" noGrp="1"/>
          </p:cNvSpPr>
          <p:nvPr/>
        </p:nvSpPr>
        <p:spPr>
          <a:xfrm xmlns:a="http://schemas.openxmlformats.org/drawingml/2006/main">
            <a:off x="11306175" y="466725"/>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Oval 15">
            <a:extLst xmlns:a="http://schemas.openxmlformats.org/drawingml/2006/main">
              <a:ext uri="{FF2B5EF4-FFF2-40B4-BE49-F238E27FC236}">
                <a16:creationId xmlns:a16="http://schemas.microsoft.com/office/drawing/2014/main" id="{69CE3ABD-20CA-492A-A395-49E29EFAB399}"/>
              </a:ext>
            </a:extLst>
          </p:cNvPr>
          <p:cNvSpPr>
            <a:spLocks xmlns:a="http://schemas.openxmlformats.org/drawingml/2006/main" noGrp="1"/>
          </p:cNvSpPr>
          <p:nvPr/>
        </p:nvSpPr>
        <p:spPr>
          <a:xfrm xmlns:a="http://schemas.openxmlformats.org/drawingml/2006/main">
            <a:off x="11811000" y="72390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Oval 16">
            <a:extLst xmlns:a="http://schemas.openxmlformats.org/drawingml/2006/main">
              <a:ext uri="{FF2B5EF4-FFF2-40B4-BE49-F238E27FC236}">
                <a16:creationId xmlns:a16="http://schemas.microsoft.com/office/drawing/2014/main" id="{B88F33C5-401C-4533-ABE2-633CA7C878A6}"/>
              </a:ext>
            </a:extLst>
          </p:cNvPr>
          <p:cNvSpPr>
            <a:spLocks xmlns:a="http://schemas.openxmlformats.org/drawingml/2006/main" noGrp="1"/>
          </p:cNvSpPr>
          <p:nvPr/>
        </p:nvSpPr>
        <p:spPr>
          <a:xfrm xmlns:a="http://schemas.openxmlformats.org/drawingml/2006/main">
            <a:off x="11991975" y="1181100"/>
            <a:ext cx="47625" cy="4762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8" name="Oval 17">
            <a:extLst xmlns:a="http://schemas.openxmlformats.org/drawingml/2006/main">
              <a:ext uri="{FF2B5EF4-FFF2-40B4-BE49-F238E27FC236}">
                <a16:creationId xmlns:a16="http://schemas.microsoft.com/office/drawing/2014/main" id="{81912CAD-A491-40CB-BE59-97E8CE401F65}"/>
              </a:ext>
            </a:extLst>
          </p:cNvPr>
          <p:cNvSpPr>
            <a:spLocks xmlns:a="http://schemas.openxmlformats.org/drawingml/2006/main" noGrp="1"/>
          </p:cNvSpPr>
          <p:nvPr/>
        </p:nvSpPr>
        <p:spPr>
          <a:xfrm xmlns:a="http://schemas.openxmlformats.org/drawingml/2006/main">
            <a:off x="0" y="3028950"/>
            <a:ext cx="1381125" cy="1219200"/>
          </a:xfrm>
          <a:prstGeom xmlns:a="http://schemas.openxmlformats.org/drawingml/2006/main" prst="ellipse">
            <a:avLst/>
          </a:prstGeom>
          <a:solidFill xmlns:a="http://schemas.openxmlformats.org/drawingml/2006/main">
            <a:srgbClr val="F5F8F6"/>
          </a:solidFill>
          <a:ln xmlns:a="http://schemas.openxmlformats.org/drawingml/2006/main" w="9525">
            <a:solidFill>
              <a:srgbClr val="E3E8E5"/>
            </a:solidFill>
            <a:prstDash val="dot"/>
          </a:ln>
        </p:spPr>
        <p:txBody>
          <a:bodyPr xmlns:a="http://schemas.openxmlformats.org/drawingml/2006/main"/>
          <a:lstStyle xmlns:a="http://schemas.openxmlformats.org/drawingml/2006/main"/>
          <a:p xmlns:a="http://schemas.openxmlformats.org/drawingml/2006/main">
            <a:endParaRPr/>
          </a:p>
        </p:txBody>
      </p:sp>
      <p:pic>
        <p:nvPicPr>
          <p:cNvPr id="107" name="Picture 93"/>
          <p:cNvPicPr>
            <a:picLocks xmlns:a="http://schemas.openxmlformats.org/drawingml/2006/main" noChangeAspect="1"/>
          </p:cNvPicPr>
          <p:nvPr/>
        </p:nvPicPr>
        <p:blipFill>
          <a:blip xmlns:r="http://schemas.openxmlformats.org/officeDocument/2006/relationships" xmlns:a="http://schemas.openxmlformats.org/drawingml/2006/main" r:embed="R474bb0d0adc34774"/>
          <a:stretch xmlns:a="http://schemas.openxmlformats.org/drawingml/2006/main"/>
        </p:blipFill>
        <p:spPr>
          <a:xfrm xmlns:a="http://schemas.openxmlformats.org/drawingml/2006/main">
            <a:off x="426149" y="276225"/>
            <a:ext cx="1824228" cy="542925"/>
          </a:xfrm>
          <a:prstGeom xmlns:a="http://schemas.openxmlformats.org/drawingml/2006/main" prst="rect">
            <a:avLst/>
          </a:prstGeom>
        </p:spPr>
      </p:pic>
      <p:sp>
        <p:nvSpPr>
          <p:cNvPr id="21" name="Rectangle 20">
            <a:extLst xmlns:a="http://schemas.openxmlformats.org/drawingml/2006/main">
              <a:ext uri="{FF2B5EF4-FFF2-40B4-BE49-F238E27FC236}">
                <a16:creationId xmlns:a16="http://schemas.microsoft.com/office/drawing/2014/main" id="{C287F6CF-5BDC-4BBA-BB60-B25AA48793ED}"/>
              </a:ext>
            </a:extLst>
          </p:cNvPr>
          <p:cNvSpPr>
            <a:spLocks xmlns:a="http://schemas.openxmlformats.org/drawingml/2006/main" noGrp="1"/>
          </p:cNvSpPr>
          <p:nvPr/>
        </p:nvSpPr>
        <p:spPr>
          <a:xfrm xmlns:a="http://schemas.openxmlformats.org/drawingml/2006/main">
            <a:off x="400050" y="1118185"/>
            <a:ext cx="4953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3150" b="1" i="0">
                <a:solidFill>
                  <a:srgbClr val="003B25"/>
                </a:solidFill>
                <a:latin typeface="Arial"/>
                <a:ea typeface="Arial"/>
                <a:cs typeface="Arial"/>
              </a:defRPr>
            </a:pPr>
            <a:r>
              <a:rPr sz="3150" b="1" i="0">
                <a:solidFill>
                  <a:srgbClr val="003B25"/>
                </a:solidFill>
                <a:latin typeface="Arial"/>
                <a:ea typeface="Arial"/>
                <a:cs typeface="Arial"/>
              </a:rPr>
              <a:t>Current Environment</a:t>
            </a:r>
          </a:p>
        </p:txBody>
      </p:sp>
      <p:sp>
        <p:nvSpPr>
          <p:cNvPr id="22" name="Rectangle 21">
            <a:extLst xmlns:a="http://schemas.openxmlformats.org/drawingml/2006/main">
              <a:ext uri="{FF2B5EF4-FFF2-40B4-BE49-F238E27FC236}">
                <a16:creationId xmlns:a16="http://schemas.microsoft.com/office/drawing/2014/main" id="{7181C17D-13DF-4692-BC64-FC2AD05459C9}"/>
              </a:ext>
            </a:extLst>
          </p:cNvPr>
          <p:cNvSpPr>
            <a:spLocks xmlns:a="http://schemas.openxmlformats.org/drawingml/2006/main" noGrp="1"/>
          </p:cNvSpPr>
          <p:nvPr/>
        </p:nvSpPr>
        <p:spPr>
          <a:xfrm xmlns:a="http://schemas.openxmlformats.org/drawingml/2006/main">
            <a:off x="400050" y="1704975"/>
            <a:ext cx="371475" cy="38100"/>
          </a:xfrm>
          <a:prstGeom xmlns:a="http://schemas.openxmlformats.org/drawingml/2006/main" prst="rect">
            <a:avLst/>
          </a:prstGeom>
          <a:solidFill xmlns:a="http://schemas.openxmlformats.org/drawingml/2006/main">
            <a:srgbClr val="F00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22">
            <a:extLst xmlns:a="http://schemas.openxmlformats.org/drawingml/2006/main">
              <a:ext uri="{FF2B5EF4-FFF2-40B4-BE49-F238E27FC236}">
                <a16:creationId xmlns:a16="http://schemas.microsoft.com/office/drawing/2014/main" id="{CF1157D8-7FA6-44EE-9ABA-8C1B2D76EB92}"/>
              </a:ext>
            </a:extLst>
          </p:cNvPr>
          <p:cNvSpPr>
            <a:spLocks xmlns:a="http://schemas.openxmlformats.org/drawingml/2006/main" noGrp="1"/>
          </p:cNvSpPr>
          <p:nvPr/>
        </p:nvSpPr>
        <p:spPr>
          <a:xfrm xmlns:a="http://schemas.openxmlformats.org/drawingml/2006/main">
            <a:off x="400050" y="188595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200" b="0" i="0">
                <a:solidFill>
                  <a:srgbClr val="111111"/>
                </a:solidFill>
                <a:latin typeface="Arial"/>
                <a:ea typeface="Arial"/>
                <a:cs typeface="Arial"/>
              </a:defRPr>
            </a:pPr>
            <a:r>
              <a:rPr sz="1200" b="0" i="0">
                <a:solidFill>
                  <a:srgbClr val="111111"/>
                </a:solidFill>
                <a:latin typeface="Arial"/>
                <a:ea typeface="Arial"/>
                <a:cs typeface="Arial"/>
              </a:rPr>
              <a:t>Analysis based on RVTools data shared by the customer.</a:t>
            </a:r>
          </a:p>
        </p:txBody>
      </p:sp>
      <p:sp>
        <p:nvSpPr>
          <p:cNvPr id="24" name="Rounded Rectangle 23">
            <a:extLst xmlns:a="http://schemas.openxmlformats.org/drawingml/2006/main">
              <a:ext uri="{FF2B5EF4-FFF2-40B4-BE49-F238E27FC236}">
                <a16:creationId xmlns:a16="http://schemas.microsoft.com/office/drawing/2014/main" id="{7742F759-7FA3-4F04-BD5F-BC22AB94CD82}"/>
              </a:ext>
            </a:extLst>
          </p:cNvPr>
          <p:cNvSpPr>
            <a:spLocks xmlns:a="http://schemas.openxmlformats.org/drawingml/2006/main" noGrp="1"/>
          </p:cNvSpPr>
          <p:nvPr/>
        </p:nvSpPr>
        <p:spPr>
          <a:xfrm xmlns:a="http://schemas.openxmlformats.org/drawingml/2006/main">
            <a:off x="400050" y="2181225"/>
            <a:ext cx="11334750" cy="2152650"/>
          </a:xfrm>
          <a:prstGeom xmlns:a="http://schemas.openxmlformats.org/drawingml/2006/main" prst="roundRect">
            <a:avLst>
              <a:gd name="adj" fmla="val 3097"/>
            </a:avLst>
          </a:prstGeom>
          <a:solidFill xmlns:a="http://schemas.openxmlformats.org/drawingml/2006/main">
            <a:srgbClr val="FFFFFF"/>
          </a:solidFill>
          <a:ln xmlns:a="http://schemas.openxmlformats.org/drawingml/2006/main" w="9525">
            <a:solidFill>
              <a:srgbClr val="D9DED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25" name="Rounded Rectangle 24">
            <a:extLst xmlns:a="http://schemas.openxmlformats.org/drawingml/2006/main">
              <a:ext uri="{FF2B5EF4-FFF2-40B4-BE49-F238E27FC236}">
                <a16:creationId xmlns:a16="http://schemas.microsoft.com/office/drawing/2014/main" id="{B404DBE3-517A-4268-99D5-24CDE97D5A55}"/>
              </a:ext>
            </a:extLst>
          </p:cNvPr>
          <p:cNvSpPr>
            <a:spLocks xmlns:a="http://schemas.openxmlformats.org/drawingml/2006/main" noGrp="1"/>
          </p:cNvSpPr>
          <p:nvPr/>
        </p:nvSpPr>
        <p:spPr>
          <a:xfrm xmlns:a="http://schemas.openxmlformats.org/drawingml/2006/main">
            <a:off x="400050" y="2181225"/>
            <a:ext cx="11334750" cy="419100"/>
          </a:xfrm>
          <a:prstGeom xmlns:a="http://schemas.openxmlformats.org/drawingml/2006/main" prst="roundRect">
            <a:avLst>
              <a:gd name="adj" fmla="val 15909"/>
            </a:avLst>
          </a:prstGeom>
          <a:gradFill xmlns:a="http://schemas.openxmlformats.org/drawingml/2006/main">
            <a:gsLst>
              <a:gs pos="0">
                <a:srgbClr val="003B25"/>
              </a:gs>
              <a:gs pos="100000">
                <a:srgbClr val="0A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F149E187-8D0C-45BD-B937-45018F857AE1}"/>
              </a:ext>
            </a:extLst>
          </p:cNvPr>
          <p:cNvSpPr>
            <a:spLocks xmlns:a="http://schemas.openxmlformats.org/drawingml/2006/main" noGrp="1"/>
          </p:cNvSpPr>
          <p:nvPr/>
        </p:nvSpPr>
        <p:spPr>
          <a:xfrm xmlns:a="http://schemas.openxmlformats.org/drawingml/2006/main">
            <a:off x="400050" y="2514600"/>
            <a:ext cx="11334750" cy="85725"/>
          </a:xfrm>
          <a:prstGeom xmlns:a="http://schemas.openxmlformats.org/drawingml/2006/main" prst="rect">
            <a:avLst/>
          </a:prstGeom>
          <a:gradFill xmlns:a="http://schemas.openxmlformats.org/drawingml/2006/main">
            <a:gsLst>
              <a:gs pos="0">
                <a:srgbClr val="003B25"/>
              </a:gs>
              <a:gs pos="100000">
                <a:srgbClr val="0A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114" name="Picture 100"/>
          <p:cNvPicPr>
            <a:picLocks xmlns:a="http://schemas.openxmlformats.org/drawingml/2006/main" noChangeAspect="1"/>
          </p:cNvPicPr>
          <p:nvPr/>
        </p:nvPicPr>
        <p:blipFill>
          <a:blip xmlns:r="http://schemas.openxmlformats.org/officeDocument/2006/relationships" xmlns:a="http://schemas.openxmlformats.org/drawingml/2006/main" r:embed="R1607bb207e2843fb"/>
          <a:stretch xmlns:a="http://schemas.openxmlformats.org/drawingml/2006/main"/>
        </p:blipFill>
        <p:spPr>
          <a:xfrm xmlns:a="http://schemas.openxmlformats.org/drawingml/2006/main">
            <a:off x="600075" y="2261185"/>
            <a:ext cx="285750" cy="278230"/>
          </a:xfrm>
          <a:prstGeom xmlns:a="http://schemas.openxmlformats.org/drawingml/2006/main" prst="rect">
            <a:avLst/>
          </a:prstGeom>
        </p:spPr>
      </p:pic>
      <p:sp>
        <p:nvSpPr>
          <p:cNvPr id="28" name="editable-current-datacenter">
            <a:extLst xmlns:a="http://schemas.openxmlformats.org/drawingml/2006/main">
              <a:ext uri="{FF2B5EF4-FFF2-40B4-BE49-F238E27FC236}">
                <a16:creationId xmlns:a16="http://schemas.microsoft.com/office/drawing/2014/main" id="{1FCDE930-188D-4EA2-8394-918FC60EA432}"/>
              </a:ext>
            </a:extLst>
          </p:cNvPr>
          <p:cNvSpPr>
            <a:spLocks xmlns:a="http://schemas.openxmlformats.org/drawingml/2006/main" noGrp="1"/>
          </p:cNvSpPr>
          <p:nvPr/>
        </p:nvSpPr>
        <p:spPr>
          <a:xfrm xmlns:a="http://schemas.openxmlformats.org/drawingml/2006/main">
            <a:off x="981075" y="2333625"/>
            <a:ext cx="238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350" b="1" i="0">
                <a:solidFill>
                  <a:srgbClr val="FFFFFF"/>
                </a:solidFill>
                <a:latin typeface="Arial"/>
                <a:ea typeface="Arial"/>
                <a:cs typeface="Arial"/>
              </a:defRPr>
            </a:pPr>
            <a:r>
              <a:rPr sz="1350" b="1" i="0">
                <a:solidFill>
                  <a:srgbClr val="FFFFFF"/>
                </a:solidFill>
                <a:latin typeface="Arial"/>
                <a:ea typeface="Arial"/>
                <a:cs typeface="Arial"/>
              </a:rPr>
              <a:t>Datacenter 1 – CLIENT</a:t>
            </a:r>
          </a:p>
        </p:txBody>
      </p:sp>
      <p:sp>
        <p:nvSpPr>
          <p:cNvPr id="29" name="Straight Connector 28">
            <a:extLst xmlns:a="http://schemas.openxmlformats.org/drawingml/2006/main">
              <a:ext uri="{FF2B5EF4-FFF2-40B4-BE49-F238E27FC236}">
                <a16:creationId xmlns:a16="http://schemas.microsoft.com/office/drawing/2014/main" id="{073F4B3D-A689-436F-BCE6-8235406074F8}"/>
              </a:ext>
            </a:extLst>
          </p:cNvPr>
          <p:cNvSpPr>
            <a:spLocks xmlns:a="http://schemas.openxmlformats.org/drawingml/2006/main" noGrp="1"/>
          </p:cNvSpPr>
          <p:nvPr/>
        </p:nvSpPr>
        <p:spPr>
          <a:xfrm xmlns:a="http://schemas.openxmlformats.org/drawingml/2006/main">
            <a:off x="3200400" y="2857500"/>
            <a:ext cx="0" cy="102870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30" name="Straight Connector 29">
            <a:extLst xmlns:a="http://schemas.openxmlformats.org/drawingml/2006/main">
              <a:ext uri="{FF2B5EF4-FFF2-40B4-BE49-F238E27FC236}">
                <a16:creationId xmlns:a16="http://schemas.microsoft.com/office/drawing/2014/main" id="{FB60119E-4550-4C62-A1C7-2490DD52390F}"/>
              </a:ext>
            </a:extLst>
          </p:cNvPr>
          <p:cNvSpPr>
            <a:spLocks xmlns:a="http://schemas.openxmlformats.org/drawingml/2006/main" noGrp="1"/>
          </p:cNvSpPr>
          <p:nvPr/>
        </p:nvSpPr>
        <p:spPr>
          <a:xfrm xmlns:a="http://schemas.openxmlformats.org/drawingml/2006/main">
            <a:off x="5981700" y="2857500"/>
            <a:ext cx="0" cy="102870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31" name="Straight Connector 30">
            <a:extLst xmlns:a="http://schemas.openxmlformats.org/drawingml/2006/main">
              <a:ext uri="{FF2B5EF4-FFF2-40B4-BE49-F238E27FC236}">
                <a16:creationId xmlns:a16="http://schemas.microsoft.com/office/drawing/2014/main" id="{635B3C01-9C5E-4AA0-AC7B-F394D0687E36}"/>
              </a:ext>
            </a:extLst>
          </p:cNvPr>
          <p:cNvSpPr>
            <a:spLocks xmlns:a="http://schemas.openxmlformats.org/drawingml/2006/main" noGrp="1"/>
          </p:cNvSpPr>
          <p:nvPr/>
        </p:nvSpPr>
        <p:spPr>
          <a:xfrm xmlns:a="http://schemas.openxmlformats.org/drawingml/2006/main">
            <a:off x="8724900" y="2857500"/>
            <a:ext cx="0" cy="102870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32" name="Rectangle 31">
            <a:extLst xmlns:a="http://schemas.openxmlformats.org/drawingml/2006/main">
              <a:ext uri="{FF2B5EF4-FFF2-40B4-BE49-F238E27FC236}">
                <a16:creationId xmlns:a16="http://schemas.microsoft.com/office/drawing/2014/main" id="{B59BC397-1AED-455B-BFE0-6D1460C9CD8C}"/>
              </a:ext>
            </a:extLst>
          </p:cNvPr>
          <p:cNvSpPr>
            <a:spLocks xmlns:a="http://schemas.openxmlformats.org/drawingml/2006/main" noGrp="1"/>
          </p:cNvSpPr>
          <p:nvPr/>
        </p:nvSpPr>
        <p:spPr>
          <a:xfrm xmlns:a="http://schemas.openxmlformats.org/drawingml/2006/main">
            <a:off x="1171575" y="33623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VMs</a:t>
            </a:r>
          </a:p>
        </p:txBody>
      </p:sp>
      <p:sp>
        <p:nvSpPr>
          <p:cNvPr id="33" name="editable-current-vms">
            <a:extLst xmlns:a="http://schemas.openxmlformats.org/drawingml/2006/main">
              <a:ext uri="{FF2B5EF4-FFF2-40B4-BE49-F238E27FC236}">
                <a16:creationId xmlns:a16="http://schemas.microsoft.com/office/drawing/2014/main" id="{127C50D5-D813-45E0-8A65-C431BD0456FE}"/>
              </a:ext>
            </a:extLst>
          </p:cNvPr>
          <p:cNvSpPr>
            <a:spLocks xmlns:a="http://schemas.openxmlformats.org/drawingml/2006/main" noGrp="1"/>
          </p:cNvSpPr>
          <p:nvPr/>
        </p:nvSpPr>
        <p:spPr>
          <a:xfrm xmlns:a="http://schemas.openxmlformats.org/drawingml/2006/main">
            <a:off x="1171575" y="3609975"/>
            <a:ext cx="133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20,100</a:t>
            </a:r>
          </a:p>
        </p:txBody>
      </p:sp>
      <p:pic>
        <p:nvPicPr>
          <p:cNvPr id="121" name="Picture 107"/>
          <p:cNvPicPr>
            <a:picLocks xmlns:a="http://schemas.openxmlformats.org/drawingml/2006/main" noChangeAspect="1"/>
          </p:cNvPicPr>
          <p:nvPr/>
        </p:nvPicPr>
        <p:blipFill>
          <a:blip xmlns:r="http://schemas.openxmlformats.org/officeDocument/2006/relationships" xmlns:a="http://schemas.openxmlformats.org/drawingml/2006/main" r:embed="Rdddbc61065284a88"/>
          <a:stretch xmlns:a="http://schemas.openxmlformats.org/drawingml/2006/main"/>
        </p:blipFill>
        <p:spPr>
          <a:xfrm xmlns:a="http://schemas.openxmlformats.org/drawingml/2006/main">
            <a:off x="1590675" y="2781300"/>
            <a:ext cx="495300" cy="495300"/>
          </a:xfrm>
          <a:prstGeom xmlns:a="http://schemas.openxmlformats.org/drawingml/2006/main" prst="rect">
            <a:avLst/>
          </a:prstGeom>
        </p:spPr>
      </p:pic>
      <p:sp>
        <p:nvSpPr>
          <p:cNvPr id="35" name="Rectangle 34">
            <a:extLst xmlns:a="http://schemas.openxmlformats.org/drawingml/2006/main">
              <a:ext uri="{FF2B5EF4-FFF2-40B4-BE49-F238E27FC236}">
                <a16:creationId xmlns:a16="http://schemas.microsoft.com/office/drawing/2014/main" id="{CCA77633-015F-457C-984D-6673C096DB92}"/>
              </a:ext>
            </a:extLst>
          </p:cNvPr>
          <p:cNvSpPr>
            <a:spLocks xmlns:a="http://schemas.openxmlformats.org/drawingml/2006/main" noGrp="1"/>
          </p:cNvSpPr>
          <p:nvPr/>
        </p:nvSpPr>
        <p:spPr>
          <a:xfrm xmlns:a="http://schemas.openxmlformats.org/drawingml/2006/main">
            <a:off x="3952875" y="33623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vCPUs</a:t>
            </a:r>
          </a:p>
        </p:txBody>
      </p:sp>
      <p:sp>
        <p:nvSpPr>
          <p:cNvPr id="36" name="editable-current-vcpus">
            <a:extLst xmlns:a="http://schemas.openxmlformats.org/drawingml/2006/main">
              <a:ext uri="{FF2B5EF4-FFF2-40B4-BE49-F238E27FC236}">
                <a16:creationId xmlns:a16="http://schemas.microsoft.com/office/drawing/2014/main" id="{D3349B43-D610-4795-98E9-37BED54D9ECE}"/>
              </a:ext>
            </a:extLst>
          </p:cNvPr>
          <p:cNvSpPr>
            <a:spLocks xmlns:a="http://schemas.openxmlformats.org/drawingml/2006/main" noGrp="1"/>
          </p:cNvSpPr>
          <p:nvPr/>
        </p:nvSpPr>
        <p:spPr>
          <a:xfrm xmlns:a="http://schemas.openxmlformats.org/drawingml/2006/main">
            <a:off x="3952875" y="3609975"/>
            <a:ext cx="133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3,000</a:t>
            </a:r>
          </a:p>
        </p:txBody>
      </p:sp>
      <p:pic>
        <p:nvPicPr>
          <p:cNvPr id="124" name="Picture 110"/>
          <p:cNvPicPr>
            <a:picLocks xmlns:a="http://schemas.openxmlformats.org/drawingml/2006/main" noChangeAspect="1"/>
          </p:cNvPicPr>
          <p:nvPr/>
        </p:nvPicPr>
        <p:blipFill>
          <a:blip xmlns:r="http://schemas.openxmlformats.org/officeDocument/2006/relationships" xmlns:a="http://schemas.openxmlformats.org/drawingml/2006/main" r:embed="Rbb764125a799488e"/>
          <a:stretch xmlns:a="http://schemas.openxmlformats.org/drawingml/2006/main"/>
        </p:blipFill>
        <p:spPr>
          <a:xfrm xmlns:a="http://schemas.openxmlformats.org/drawingml/2006/main">
            <a:off x="4371975" y="2781300"/>
            <a:ext cx="495300" cy="495300"/>
          </a:xfrm>
          <a:prstGeom xmlns:a="http://schemas.openxmlformats.org/drawingml/2006/main" prst="rect">
            <a:avLst/>
          </a:prstGeom>
        </p:spPr>
      </p:pic>
      <p:sp>
        <p:nvSpPr>
          <p:cNvPr id="38" name="Rectangle 37">
            <a:extLst xmlns:a="http://schemas.openxmlformats.org/drawingml/2006/main">
              <a:ext uri="{FF2B5EF4-FFF2-40B4-BE49-F238E27FC236}">
                <a16:creationId xmlns:a16="http://schemas.microsoft.com/office/drawing/2014/main" id="{52A61E4A-8FF4-4FA2-BD1B-74AD7A47DE93}"/>
              </a:ext>
            </a:extLst>
          </p:cNvPr>
          <p:cNvSpPr>
            <a:spLocks xmlns:a="http://schemas.openxmlformats.org/drawingml/2006/main" noGrp="1"/>
          </p:cNvSpPr>
          <p:nvPr/>
        </p:nvSpPr>
        <p:spPr>
          <a:xfrm xmlns:a="http://schemas.openxmlformats.org/drawingml/2006/main">
            <a:off x="6696075" y="33623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vRAM (GB)</a:t>
            </a:r>
          </a:p>
        </p:txBody>
      </p:sp>
      <p:sp>
        <p:nvSpPr>
          <p:cNvPr id="39" name="editable-current-vram">
            <a:extLst xmlns:a="http://schemas.openxmlformats.org/drawingml/2006/main">
              <a:ext uri="{FF2B5EF4-FFF2-40B4-BE49-F238E27FC236}">
                <a16:creationId xmlns:a16="http://schemas.microsoft.com/office/drawing/2014/main" id="{90A624D4-C31B-42AE-A588-376259BB8A49}"/>
              </a:ext>
            </a:extLst>
          </p:cNvPr>
          <p:cNvSpPr>
            <a:spLocks xmlns:a="http://schemas.openxmlformats.org/drawingml/2006/main" noGrp="1"/>
          </p:cNvSpPr>
          <p:nvPr/>
        </p:nvSpPr>
        <p:spPr>
          <a:xfrm xmlns:a="http://schemas.openxmlformats.org/drawingml/2006/main">
            <a:off x="6696075" y="3609975"/>
            <a:ext cx="133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30,000</a:t>
            </a:r>
          </a:p>
        </p:txBody>
      </p:sp>
      <p:pic>
        <p:nvPicPr>
          <p:cNvPr id="127" name="Picture 113"/>
          <p:cNvPicPr>
            <a:picLocks xmlns:a="http://schemas.openxmlformats.org/drawingml/2006/main" noChangeAspect="1"/>
          </p:cNvPicPr>
          <p:nvPr/>
        </p:nvPicPr>
        <p:blipFill>
          <a:blip xmlns:r="http://schemas.openxmlformats.org/officeDocument/2006/relationships" xmlns:a="http://schemas.openxmlformats.org/drawingml/2006/main" r:embed="R79560ff65246451b"/>
          <a:stretch xmlns:a="http://schemas.openxmlformats.org/drawingml/2006/main"/>
        </p:blipFill>
        <p:spPr>
          <a:xfrm xmlns:a="http://schemas.openxmlformats.org/drawingml/2006/main">
            <a:off x="7115175" y="2781300"/>
            <a:ext cx="495300" cy="495300"/>
          </a:xfrm>
          <a:prstGeom xmlns:a="http://schemas.openxmlformats.org/drawingml/2006/main" prst="rect">
            <a:avLst/>
          </a:prstGeom>
        </p:spPr>
      </p:pic>
      <p:sp>
        <p:nvSpPr>
          <p:cNvPr id="41" name="Rectangle 40">
            <a:extLst xmlns:a="http://schemas.openxmlformats.org/drawingml/2006/main">
              <a:ext uri="{FF2B5EF4-FFF2-40B4-BE49-F238E27FC236}">
                <a16:creationId xmlns:a16="http://schemas.microsoft.com/office/drawing/2014/main" id="{8F1EB62F-0498-4D60-9534-8F4AE5E5A7C5}"/>
              </a:ext>
            </a:extLst>
          </p:cNvPr>
          <p:cNvSpPr>
            <a:spLocks xmlns:a="http://schemas.openxmlformats.org/drawingml/2006/main" noGrp="1"/>
          </p:cNvSpPr>
          <p:nvPr/>
        </p:nvSpPr>
        <p:spPr>
          <a:xfrm xmlns:a="http://schemas.openxmlformats.org/drawingml/2006/main">
            <a:off x="9448800" y="33623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Storage (TB)</a:t>
            </a:r>
          </a:p>
        </p:txBody>
      </p:sp>
      <p:sp>
        <p:nvSpPr>
          <p:cNvPr id="42" name="editable-current-storage">
            <a:extLst xmlns:a="http://schemas.openxmlformats.org/drawingml/2006/main">
              <a:ext uri="{FF2B5EF4-FFF2-40B4-BE49-F238E27FC236}">
                <a16:creationId xmlns:a16="http://schemas.microsoft.com/office/drawing/2014/main" id="{84830E81-2535-4FE2-8239-D8779C43C1A8}"/>
              </a:ext>
            </a:extLst>
          </p:cNvPr>
          <p:cNvSpPr>
            <a:spLocks xmlns:a="http://schemas.openxmlformats.org/drawingml/2006/main" noGrp="1"/>
          </p:cNvSpPr>
          <p:nvPr/>
        </p:nvSpPr>
        <p:spPr>
          <a:xfrm xmlns:a="http://schemas.openxmlformats.org/drawingml/2006/main">
            <a:off x="9448800" y="3609975"/>
            <a:ext cx="133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210</a:t>
            </a:r>
          </a:p>
        </p:txBody>
      </p:sp>
      <p:pic>
        <p:nvPicPr>
          <p:cNvPr id="130" name="Picture 116"/>
          <p:cNvPicPr>
            <a:picLocks xmlns:a="http://schemas.openxmlformats.org/drawingml/2006/main" noChangeAspect="1"/>
          </p:cNvPicPr>
          <p:nvPr/>
        </p:nvPicPr>
        <p:blipFill>
          <a:blip xmlns:r="http://schemas.openxmlformats.org/officeDocument/2006/relationships" xmlns:a="http://schemas.openxmlformats.org/drawingml/2006/main" r:embed="Rb427c01fcdd6411e"/>
          <a:stretch xmlns:a="http://schemas.openxmlformats.org/drawingml/2006/main"/>
        </p:blipFill>
        <p:spPr>
          <a:xfrm xmlns:a="http://schemas.openxmlformats.org/drawingml/2006/main">
            <a:off x="9867900" y="2781300"/>
            <a:ext cx="495300" cy="495300"/>
          </a:xfrm>
          <a:prstGeom xmlns:a="http://schemas.openxmlformats.org/drawingml/2006/main" prst="rect">
            <a:avLst/>
          </a:prstGeom>
        </p:spPr>
      </p:pic>
      <p:sp>
        <p:nvSpPr>
          <p:cNvPr id="44" name="editable-current-powered-on">
            <a:extLst xmlns:a="http://schemas.openxmlformats.org/drawingml/2006/main">
              <a:ext uri="{FF2B5EF4-FFF2-40B4-BE49-F238E27FC236}">
                <a16:creationId xmlns:a16="http://schemas.microsoft.com/office/drawing/2014/main" id="{40B2A91E-AAE2-4FEB-AD52-D18E23D0EC0B}"/>
              </a:ext>
            </a:extLst>
          </p:cNvPr>
          <p:cNvSpPr>
            <a:spLocks xmlns:a="http://schemas.openxmlformats.org/drawingml/2006/main" noGrp="1"/>
          </p:cNvSpPr>
          <p:nvPr/>
        </p:nvSpPr>
        <p:spPr>
          <a:xfrm xmlns:a="http://schemas.openxmlformats.org/drawingml/2006/main">
            <a:off x="1323975" y="3876675"/>
            <a:ext cx="428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r">
              <a:lnSpc>
                <a:spcPct val="100000"/>
              </a:lnSpc>
              <a:buNone/>
              <a:defRPr sz="825" b="0" i="0">
                <a:solidFill>
                  <a:srgbClr val="111111"/>
                </a:solidFill>
                <a:latin typeface="Arial"/>
                <a:ea typeface="Arial"/>
                <a:cs typeface="Arial"/>
              </a:defRPr>
            </a:pPr>
            <a:r>
              <a:rPr sz="825" b="0" i="0">
                <a:solidFill>
                  <a:srgbClr val="111111"/>
                </a:solidFill>
                <a:latin typeface="Arial"/>
                <a:ea typeface="Arial"/>
                <a:cs typeface="Arial"/>
              </a:rPr>
              <a:t>18,400</a:t>
            </a:r>
          </a:p>
        </p:txBody>
      </p:sp>
      <p:sp>
        <p:nvSpPr>
          <p:cNvPr id="45" name="Rectangle 44">
            <a:extLst xmlns:a="http://schemas.openxmlformats.org/drawingml/2006/main">
              <a:ext uri="{FF2B5EF4-FFF2-40B4-BE49-F238E27FC236}">
                <a16:creationId xmlns:a16="http://schemas.microsoft.com/office/drawing/2014/main" id="{277AB89B-0977-4880-A97D-D7648C371A3B}"/>
              </a:ext>
            </a:extLst>
          </p:cNvPr>
          <p:cNvSpPr>
            <a:spLocks xmlns:a="http://schemas.openxmlformats.org/drawingml/2006/main" noGrp="1"/>
          </p:cNvSpPr>
          <p:nvPr/>
        </p:nvSpPr>
        <p:spPr>
          <a:xfrm xmlns:a="http://schemas.openxmlformats.org/drawingml/2006/main">
            <a:off x="1800225" y="3876675"/>
            <a:ext cx="809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Powered On</a:t>
            </a:r>
          </a:p>
        </p:txBody>
      </p:sp>
      <p:sp>
        <p:nvSpPr>
          <p:cNvPr id="46" name="editable-current-powered-off">
            <a:extLst xmlns:a="http://schemas.openxmlformats.org/drawingml/2006/main">
              <a:ext uri="{FF2B5EF4-FFF2-40B4-BE49-F238E27FC236}">
                <a16:creationId xmlns:a16="http://schemas.microsoft.com/office/drawing/2014/main" id="{F7F48385-3BC4-475A-A935-67C101D814FB}"/>
              </a:ext>
            </a:extLst>
          </p:cNvPr>
          <p:cNvSpPr>
            <a:spLocks xmlns:a="http://schemas.openxmlformats.org/drawingml/2006/main" noGrp="1"/>
          </p:cNvSpPr>
          <p:nvPr/>
        </p:nvSpPr>
        <p:spPr>
          <a:xfrm xmlns:a="http://schemas.openxmlformats.org/drawingml/2006/main">
            <a:off x="1323975" y="4067175"/>
            <a:ext cx="428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r">
              <a:lnSpc>
                <a:spcPct val="100000"/>
              </a:lnSpc>
              <a:buNone/>
              <a:defRPr sz="825" b="0" i="0">
                <a:solidFill>
                  <a:srgbClr val="111111"/>
                </a:solidFill>
                <a:latin typeface="Arial"/>
                <a:ea typeface="Arial"/>
                <a:cs typeface="Arial"/>
              </a:defRPr>
            </a:pPr>
            <a:r>
              <a:rPr sz="825" b="0" i="0">
                <a:solidFill>
                  <a:srgbClr val="111111"/>
                </a:solidFill>
                <a:latin typeface="Arial"/>
                <a:ea typeface="Arial"/>
                <a:cs typeface="Arial"/>
              </a:rPr>
              <a:t>1,700</a:t>
            </a:r>
          </a:p>
        </p:txBody>
      </p:sp>
      <p:sp>
        <p:nvSpPr>
          <p:cNvPr id="47" name="Rectangle 46">
            <a:extLst xmlns:a="http://schemas.openxmlformats.org/drawingml/2006/main">
              <a:ext uri="{FF2B5EF4-FFF2-40B4-BE49-F238E27FC236}">
                <a16:creationId xmlns:a16="http://schemas.microsoft.com/office/drawing/2014/main" id="{4F72CCE0-CF33-447A-9A99-12F0DB96E23B}"/>
              </a:ext>
            </a:extLst>
          </p:cNvPr>
          <p:cNvSpPr>
            <a:spLocks xmlns:a="http://schemas.openxmlformats.org/drawingml/2006/main" noGrp="1"/>
          </p:cNvSpPr>
          <p:nvPr/>
        </p:nvSpPr>
        <p:spPr>
          <a:xfrm xmlns:a="http://schemas.openxmlformats.org/drawingml/2006/main">
            <a:off x="1800225" y="4067175"/>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Powered Off</a:t>
            </a:r>
          </a:p>
        </p:txBody>
      </p:sp>
      <p:sp>
        <p:nvSpPr>
          <p:cNvPr id="48" name="Rounded Rectangle 47">
            <a:extLst xmlns:a="http://schemas.openxmlformats.org/drawingml/2006/main">
              <a:ext uri="{FF2B5EF4-FFF2-40B4-BE49-F238E27FC236}">
                <a16:creationId xmlns:a16="http://schemas.microsoft.com/office/drawing/2014/main" id="{298F7E7A-D055-437F-B62D-B044692E6F88}"/>
              </a:ext>
            </a:extLst>
          </p:cNvPr>
          <p:cNvSpPr>
            <a:spLocks xmlns:a="http://schemas.openxmlformats.org/drawingml/2006/main" noGrp="1"/>
          </p:cNvSpPr>
          <p:nvPr/>
        </p:nvSpPr>
        <p:spPr>
          <a:xfrm xmlns:a="http://schemas.openxmlformats.org/drawingml/2006/main">
            <a:off x="400050" y="4486275"/>
            <a:ext cx="11334750" cy="1009650"/>
          </a:xfrm>
          <a:prstGeom xmlns:a="http://schemas.openxmlformats.org/drawingml/2006/main" prst="roundRect">
            <a:avLst>
              <a:gd name="adj" fmla="val 6604"/>
            </a:avLst>
          </a:prstGeom>
          <a:solidFill xmlns:a="http://schemas.openxmlformats.org/drawingml/2006/main">
            <a:srgbClr val="F3F7F5"/>
          </a:solidFill>
          <a:ln xmlns:a="http://schemas.openxmlformats.org/drawingml/2006/main" w="9525">
            <a:solidFill>
              <a:srgbClr val="D9DED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49" name="Rounded Rectangle 48">
            <a:extLst xmlns:a="http://schemas.openxmlformats.org/drawingml/2006/main">
              <a:ext uri="{FF2B5EF4-FFF2-40B4-BE49-F238E27FC236}">
                <a16:creationId xmlns:a16="http://schemas.microsoft.com/office/drawing/2014/main" id="{F92C2AB9-B877-4DDB-BCDD-C92BBFD94A50}"/>
              </a:ext>
            </a:extLst>
          </p:cNvPr>
          <p:cNvSpPr>
            <a:spLocks xmlns:a="http://schemas.openxmlformats.org/drawingml/2006/main" noGrp="1"/>
          </p:cNvSpPr>
          <p:nvPr/>
        </p:nvSpPr>
        <p:spPr>
          <a:xfrm xmlns:a="http://schemas.openxmlformats.org/drawingml/2006/main">
            <a:off x="400050" y="4486275"/>
            <a:ext cx="1819275" cy="1009650"/>
          </a:xfrm>
          <a:prstGeom xmlns:a="http://schemas.openxmlformats.org/drawingml/2006/main" prst="roundRect">
            <a:avLst>
              <a:gd name="adj" fmla="val 6604"/>
            </a:avLst>
          </a:prstGeom>
          <a:gradFill xmlns:a="http://schemas.openxmlformats.org/drawingml/2006/main">
            <a:gsLst>
              <a:gs pos="0">
                <a:srgbClr val="003B25"/>
              </a:gs>
              <a:gs pos="100000">
                <a:srgbClr val="0A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0" name="Rectangle 49">
            <a:extLst xmlns:a="http://schemas.openxmlformats.org/drawingml/2006/main">
              <a:ext uri="{FF2B5EF4-FFF2-40B4-BE49-F238E27FC236}">
                <a16:creationId xmlns:a16="http://schemas.microsoft.com/office/drawing/2014/main" id="{47D07B68-7D3B-4636-AEC8-6CB4A4FC4595}"/>
              </a:ext>
            </a:extLst>
          </p:cNvPr>
          <p:cNvSpPr>
            <a:spLocks xmlns:a="http://schemas.openxmlformats.org/drawingml/2006/main" noGrp="1"/>
          </p:cNvSpPr>
          <p:nvPr/>
        </p:nvSpPr>
        <p:spPr>
          <a:xfrm xmlns:a="http://schemas.openxmlformats.org/drawingml/2006/main">
            <a:off x="1447800" y="4486275"/>
            <a:ext cx="771525" cy="1009650"/>
          </a:xfrm>
          <a:prstGeom xmlns:a="http://schemas.openxmlformats.org/drawingml/2006/main" prst="rect">
            <a:avLst/>
          </a:prstGeom>
          <a:gradFill xmlns:a="http://schemas.openxmlformats.org/drawingml/2006/main">
            <a:gsLst>
              <a:gs pos="0">
                <a:srgbClr val="003B25"/>
              </a:gs>
              <a:gs pos="100000">
                <a:srgbClr val="0A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138" name="Picture 124"/>
          <p:cNvPicPr>
            <a:picLocks xmlns:a="http://schemas.openxmlformats.org/drawingml/2006/main" noChangeAspect="1"/>
          </p:cNvPicPr>
          <p:nvPr/>
        </p:nvPicPr>
        <p:blipFill>
          <a:blip xmlns:r="http://schemas.openxmlformats.org/officeDocument/2006/relationships" xmlns:a="http://schemas.openxmlformats.org/drawingml/2006/main" r:embed="R5f8e0989f94940fe"/>
          <a:stretch xmlns:a="http://schemas.openxmlformats.org/drawingml/2006/main"/>
        </p:blipFill>
        <p:spPr>
          <a:xfrm xmlns:a="http://schemas.openxmlformats.org/drawingml/2006/main">
            <a:off x="1076325" y="4671030"/>
            <a:ext cx="476250" cy="468690"/>
          </a:xfrm>
          <a:prstGeom xmlns:a="http://schemas.openxmlformats.org/drawingml/2006/main" prst="rect">
            <a:avLst/>
          </a:prstGeom>
        </p:spPr>
      </p:pic>
      <p:sp>
        <p:nvSpPr>
          <p:cNvPr id="52" name="Rectangle 51">
            <a:extLst xmlns:a="http://schemas.openxmlformats.org/drawingml/2006/main">
              <a:ext uri="{FF2B5EF4-FFF2-40B4-BE49-F238E27FC236}">
                <a16:creationId xmlns:a16="http://schemas.microsoft.com/office/drawing/2014/main" id="{7135EB0C-DEDC-471B-8F07-A8F41F1E2D6A}"/>
              </a:ext>
            </a:extLst>
          </p:cNvPr>
          <p:cNvSpPr>
            <a:spLocks xmlns:a="http://schemas.openxmlformats.org/drawingml/2006/main" noGrp="1"/>
          </p:cNvSpPr>
          <p:nvPr/>
        </p:nvSpPr>
        <p:spPr>
          <a:xfrm xmlns:a="http://schemas.openxmlformats.org/drawingml/2006/main">
            <a:off x="666750" y="5162550"/>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200" b="1" i="0">
                <a:solidFill>
                  <a:srgbClr val="FFFFFF"/>
                </a:solidFill>
                <a:latin typeface="Arial"/>
                <a:ea typeface="Arial"/>
                <a:cs typeface="Arial"/>
              </a:defRPr>
            </a:pPr>
            <a:r>
              <a:rPr sz="1200" b="1" i="0">
                <a:solidFill>
                  <a:srgbClr val="FFFFFF"/>
                </a:solidFill>
                <a:latin typeface="Arial"/>
                <a:ea typeface="Arial"/>
                <a:cs typeface="Arial"/>
              </a:rPr>
              <a:t>Total Environment</a:t>
            </a:r>
          </a:p>
        </p:txBody>
      </p:sp>
      <p:sp>
        <p:nvSpPr>
          <p:cNvPr id="53" name="Straight Connector 52">
            <a:extLst xmlns:a="http://schemas.openxmlformats.org/drawingml/2006/main">
              <a:ext uri="{FF2B5EF4-FFF2-40B4-BE49-F238E27FC236}">
                <a16:creationId xmlns:a16="http://schemas.microsoft.com/office/drawing/2014/main" id="{6A04919F-C898-4046-9165-502C7FD7BAF0}"/>
              </a:ext>
            </a:extLst>
          </p:cNvPr>
          <p:cNvSpPr>
            <a:spLocks xmlns:a="http://schemas.openxmlformats.org/drawingml/2006/main" noGrp="1"/>
          </p:cNvSpPr>
          <p:nvPr/>
        </p:nvSpPr>
        <p:spPr>
          <a:xfrm xmlns:a="http://schemas.openxmlformats.org/drawingml/2006/main">
            <a:off x="4686300" y="4714875"/>
            <a:ext cx="0" cy="59055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54" name="Straight Connector 53">
            <a:extLst xmlns:a="http://schemas.openxmlformats.org/drawingml/2006/main">
              <a:ext uri="{FF2B5EF4-FFF2-40B4-BE49-F238E27FC236}">
                <a16:creationId xmlns:a16="http://schemas.microsoft.com/office/drawing/2014/main" id="{279DB36C-681C-4FD2-A588-9A4BF85211F2}"/>
              </a:ext>
            </a:extLst>
          </p:cNvPr>
          <p:cNvSpPr>
            <a:spLocks xmlns:a="http://schemas.openxmlformats.org/drawingml/2006/main" noGrp="1"/>
          </p:cNvSpPr>
          <p:nvPr/>
        </p:nvSpPr>
        <p:spPr>
          <a:xfrm xmlns:a="http://schemas.openxmlformats.org/drawingml/2006/main">
            <a:off x="7029450" y="4714875"/>
            <a:ext cx="0" cy="59055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55" name="Straight Connector 54">
            <a:extLst xmlns:a="http://schemas.openxmlformats.org/drawingml/2006/main">
              <a:ext uri="{FF2B5EF4-FFF2-40B4-BE49-F238E27FC236}">
                <a16:creationId xmlns:a16="http://schemas.microsoft.com/office/drawing/2014/main" id="{C8F92710-B721-4F19-B1ED-A9D5B1B54C85}"/>
              </a:ext>
            </a:extLst>
          </p:cNvPr>
          <p:cNvSpPr>
            <a:spLocks xmlns:a="http://schemas.openxmlformats.org/drawingml/2006/main" noGrp="1"/>
          </p:cNvSpPr>
          <p:nvPr/>
        </p:nvSpPr>
        <p:spPr>
          <a:xfrm xmlns:a="http://schemas.openxmlformats.org/drawingml/2006/main">
            <a:off x="9486900" y="4714875"/>
            <a:ext cx="0" cy="59055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56" name="Rectangle 55">
            <a:extLst xmlns:a="http://schemas.openxmlformats.org/drawingml/2006/main">
              <a:ext uri="{FF2B5EF4-FFF2-40B4-BE49-F238E27FC236}">
                <a16:creationId xmlns:a16="http://schemas.microsoft.com/office/drawing/2014/main" id="{347AE0DB-5FC1-4C08-A3B9-5D2E17AF0014}"/>
              </a:ext>
            </a:extLst>
          </p:cNvPr>
          <p:cNvSpPr>
            <a:spLocks xmlns:a="http://schemas.openxmlformats.org/drawingml/2006/main" noGrp="1"/>
          </p:cNvSpPr>
          <p:nvPr/>
        </p:nvSpPr>
        <p:spPr>
          <a:xfrm xmlns:a="http://schemas.openxmlformats.org/drawingml/2006/main">
            <a:off x="3343275" y="4714875"/>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VMs</a:t>
            </a:r>
          </a:p>
        </p:txBody>
      </p:sp>
      <p:sp>
        <p:nvSpPr>
          <p:cNvPr id="57" name="editable-total-vms">
            <a:extLst xmlns:a="http://schemas.openxmlformats.org/drawingml/2006/main">
              <a:ext uri="{FF2B5EF4-FFF2-40B4-BE49-F238E27FC236}">
                <a16:creationId xmlns:a16="http://schemas.microsoft.com/office/drawing/2014/main" id="{51D8B33B-988C-462B-91B7-386F22B8BCA6}"/>
              </a:ext>
            </a:extLst>
          </p:cNvPr>
          <p:cNvSpPr>
            <a:spLocks xmlns:a="http://schemas.openxmlformats.org/drawingml/2006/main" noGrp="1"/>
          </p:cNvSpPr>
          <p:nvPr/>
        </p:nvSpPr>
        <p:spPr>
          <a:xfrm xmlns:a="http://schemas.openxmlformats.org/drawingml/2006/main">
            <a:off x="3343275" y="4972050"/>
            <a:ext cx="11430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20,100</a:t>
            </a:r>
          </a:p>
        </p:txBody>
      </p:sp>
      <p:pic>
        <p:nvPicPr>
          <p:cNvPr id="145" name="Picture 131"/>
          <p:cNvPicPr>
            <a:picLocks xmlns:a="http://schemas.openxmlformats.org/drawingml/2006/main" noChangeAspect="1"/>
          </p:cNvPicPr>
          <p:nvPr/>
        </p:nvPicPr>
        <p:blipFill>
          <a:blip xmlns:r="http://schemas.openxmlformats.org/officeDocument/2006/relationships" xmlns:a="http://schemas.openxmlformats.org/drawingml/2006/main" r:embed="Rbac8ab8481964f71"/>
          <a:stretch xmlns:a="http://schemas.openxmlformats.org/drawingml/2006/main"/>
        </p:blipFill>
        <p:spPr>
          <a:xfrm xmlns:a="http://schemas.openxmlformats.org/drawingml/2006/main">
            <a:off x="2887742" y="4905375"/>
            <a:ext cx="396716" cy="323850"/>
          </a:xfrm>
          <a:prstGeom xmlns:a="http://schemas.openxmlformats.org/drawingml/2006/main" prst="rect">
            <a:avLst/>
          </a:prstGeom>
        </p:spPr>
      </p:pic>
      <p:sp>
        <p:nvSpPr>
          <p:cNvPr id="59" name="editable-total-powered-on">
            <a:extLst xmlns:a="http://schemas.openxmlformats.org/drawingml/2006/main">
              <a:ext uri="{FF2B5EF4-FFF2-40B4-BE49-F238E27FC236}">
                <a16:creationId xmlns:a16="http://schemas.microsoft.com/office/drawing/2014/main" id="{8DF81488-E310-4D2F-9D0F-A65D6E2C5976}"/>
              </a:ext>
            </a:extLst>
          </p:cNvPr>
          <p:cNvSpPr>
            <a:spLocks xmlns:a="http://schemas.openxmlformats.org/drawingml/2006/main" noGrp="1"/>
          </p:cNvSpPr>
          <p:nvPr/>
        </p:nvSpPr>
        <p:spPr>
          <a:xfrm xmlns:a="http://schemas.openxmlformats.org/drawingml/2006/main">
            <a:off x="3286125" y="5229225"/>
            <a:ext cx="12858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825" b="1" i="0">
                <a:solidFill>
                  <a:srgbClr val="111111"/>
                </a:solidFill>
                <a:latin typeface="Arial"/>
                <a:ea typeface="Arial"/>
                <a:cs typeface="Arial"/>
              </a:defRPr>
            </a:pPr>
            <a:r>
              <a:rPr sz="825" b="1" i="0">
                <a:solidFill>
                  <a:srgbClr val="111111"/>
                </a:solidFill>
                <a:latin typeface="Arial"/>
                <a:ea typeface="Arial"/>
                <a:cs typeface="Arial"/>
              </a:rPr>
              <a:t>18,400 Powered On</a:t>
            </a:r>
          </a:p>
        </p:txBody>
      </p:sp>
      <p:sp>
        <p:nvSpPr>
          <p:cNvPr id="60" name="editable-total-powered-off">
            <a:extLst xmlns:a="http://schemas.openxmlformats.org/drawingml/2006/main">
              <a:ext uri="{FF2B5EF4-FFF2-40B4-BE49-F238E27FC236}">
                <a16:creationId xmlns:a16="http://schemas.microsoft.com/office/drawing/2014/main" id="{51FD95D0-64F2-4723-B4EF-3731265C852D}"/>
              </a:ext>
            </a:extLst>
          </p:cNvPr>
          <p:cNvSpPr>
            <a:spLocks xmlns:a="http://schemas.openxmlformats.org/drawingml/2006/main" noGrp="1"/>
          </p:cNvSpPr>
          <p:nvPr/>
        </p:nvSpPr>
        <p:spPr>
          <a:xfrm xmlns:a="http://schemas.openxmlformats.org/drawingml/2006/main">
            <a:off x="3286125" y="5391150"/>
            <a:ext cx="12858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825" b="1" i="0">
                <a:solidFill>
                  <a:srgbClr val="111111"/>
                </a:solidFill>
                <a:latin typeface="Arial"/>
                <a:ea typeface="Arial"/>
                <a:cs typeface="Arial"/>
              </a:defRPr>
            </a:pPr>
            <a:r>
              <a:rPr sz="825" b="1" i="0">
                <a:solidFill>
                  <a:srgbClr val="111111"/>
                </a:solidFill>
                <a:latin typeface="Arial"/>
                <a:ea typeface="Arial"/>
                <a:cs typeface="Arial"/>
              </a:rPr>
              <a:t>1,700 Powered Off</a:t>
            </a:r>
          </a:p>
        </p:txBody>
      </p:sp>
      <p:sp>
        <p:nvSpPr>
          <p:cNvPr id="61" name="Rectangle 60">
            <a:extLst xmlns:a="http://schemas.openxmlformats.org/drawingml/2006/main">
              <a:ext uri="{FF2B5EF4-FFF2-40B4-BE49-F238E27FC236}">
                <a16:creationId xmlns:a16="http://schemas.microsoft.com/office/drawing/2014/main" id="{9F4CC3CC-C30D-4DD3-B648-2B2F6B76145C}"/>
              </a:ext>
            </a:extLst>
          </p:cNvPr>
          <p:cNvSpPr>
            <a:spLocks xmlns:a="http://schemas.openxmlformats.org/drawingml/2006/main" noGrp="1"/>
          </p:cNvSpPr>
          <p:nvPr/>
        </p:nvSpPr>
        <p:spPr>
          <a:xfrm xmlns:a="http://schemas.openxmlformats.org/drawingml/2006/main">
            <a:off x="5743575" y="4714875"/>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vCPUs</a:t>
            </a:r>
          </a:p>
        </p:txBody>
      </p:sp>
      <p:sp>
        <p:nvSpPr>
          <p:cNvPr id="62" name="editable-total-vcpus">
            <a:extLst xmlns:a="http://schemas.openxmlformats.org/drawingml/2006/main">
              <a:ext uri="{FF2B5EF4-FFF2-40B4-BE49-F238E27FC236}">
                <a16:creationId xmlns:a16="http://schemas.microsoft.com/office/drawing/2014/main" id="{E325BBAA-CE89-47A2-A7F4-5A715EE06FCB}"/>
              </a:ext>
            </a:extLst>
          </p:cNvPr>
          <p:cNvSpPr>
            <a:spLocks xmlns:a="http://schemas.openxmlformats.org/drawingml/2006/main" noGrp="1"/>
          </p:cNvSpPr>
          <p:nvPr/>
        </p:nvSpPr>
        <p:spPr>
          <a:xfrm xmlns:a="http://schemas.openxmlformats.org/drawingml/2006/main">
            <a:off x="5743575" y="4972050"/>
            <a:ext cx="11430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3,000</a:t>
            </a:r>
          </a:p>
        </p:txBody>
      </p:sp>
      <p:pic>
        <p:nvPicPr>
          <p:cNvPr id="150" name="Picture 136"/>
          <p:cNvPicPr>
            <a:picLocks xmlns:a="http://schemas.openxmlformats.org/drawingml/2006/main" noChangeAspect="1"/>
          </p:cNvPicPr>
          <p:nvPr/>
        </p:nvPicPr>
        <p:blipFill>
          <a:blip xmlns:r="http://schemas.openxmlformats.org/officeDocument/2006/relationships" xmlns:a="http://schemas.openxmlformats.org/drawingml/2006/main" r:embed="R2ef9a590187f4fe6"/>
          <a:stretch xmlns:a="http://schemas.openxmlformats.org/drawingml/2006/main"/>
        </p:blipFill>
        <p:spPr>
          <a:xfrm xmlns:a="http://schemas.openxmlformats.org/drawingml/2006/main">
            <a:off x="5190898" y="4905375"/>
            <a:ext cx="362404" cy="323850"/>
          </a:xfrm>
          <a:prstGeom xmlns:a="http://schemas.openxmlformats.org/drawingml/2006/main" prst="rect">
            <a:avLst/>
          </a:prstGeom>
        </p:spPr>
      </p:pic>
      <p:sp>
        <p:nvSpPr>
          <p:cNvPr id="64" name="Rectangle 63">
            <a:extLst xmlns:a="http://schemas.openxmlformats.org/drawingml/2006/main">
              <a:ext uri="{FF2B5EF4-FFF2-40B4-BE49-F238E27FC236}">
                <a16:creationId xmlns:a16="http://schemas.microsoft.com/office/drawing/2014/main" id="{E2B940B4-7B6B-4837-992C-0BD50611487D}"/>
              </a:ext>
            </a:extLst>
          </p:cNvPr>
          <p:cNvSpPr>
            <a:spLocks xmlns:a="http://schemas.openxmlformats.org/drawingml/2006/main" noGrp="1"/>
          </p:cNvSpPr>
          <p:nvPr/>
        </p:nvSpPr>
        <p:spPr>
          <a:xfrm xmlns:a="http://schemas.openxmlformats.org/drawingml/2006/main">
            <a:off x="8048625" y="471487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vRAM (GB)</a:t>
            </a:r>
          </a:p>
        </p:txBody>
      </p:sp>
      <p:sp>
        <p:nvSpPr>
          <p:cNvPr id="65" name="editable-total-vram">
            <a:extLst xmlns:a="http://schemas.openxmlformats.org/drawingml/2006/main">
              <a:ext uri="{FF2B5EF4-FFF2-40B4-BE49-F238E27FC236}">
                <a16:creationId xmlns:a16="http://schemas.microsoft.com/office/drawing/2014/main" id="{56B58190-EEA5-42BC-BCEE-C9F09864DABB}"/>
              </a:ext>
            </a:extLst>
          </p:cNvPr>
          <p:cNvSpPr>
            <a:spLocks xmlns:a="http://schemas.openxmlformats.org/drawingml/2006/main" noGrp="1"/>
          </p:cNvSpPr>
          <p:nvPr/>
        </p:nvSpPr>
        <p:spPr>
          <a:xfrm xmlns:a="http://schemas.openxmlformats.org/drawingml/2006/main">
            <a:off x="8048625" y="4972050"/>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30,000</a:t>
            </a:r>
          </a:p>
        </p:txBody>
      </p:sp>
      <p:pic>
        <p:nvPicPr>
          <p:cNvPr id="153" name="Picture 139"/>
          <p:cNvPicPr>
            <a:picLocks xmlns:a="http://schemas.openxmlformats.org/drawingml/2006/main" noChangeAspect="1"/>
          </p:cNvPicPr>
          <p:nvPr/>
        </p:nvPicPr>
        <p:blipFill>
          <a:blip xmlns:r="http://schemas.openxmlformats.org/officeDocument/2006/relationships" xmlns:a="http://schemas.openxmlformats.org/drawingml/2006/main" r:embed="Rf75f40e91899469e"/>
          <a:stretch xmlns:a="http://schemas.openxmlformats.org/drawingml/2006/main"/>
        </p:blipFill>
        <p:spPr>
          <a:xfrm xmlns:a="http://schemas.openxmlformats.org/drawingml/2006/main">
            <a:off x="7477125" y="4907280"/>
            <a:ext cx="400050" cy="320040"/>
          </a:xfrm>
          <a:prstGeom xmlns:a="http://schemas.openxmlformats.org/drawingml/2006/main" prst="rect">
            <a:avLst/>
          </a:prstGeom>
        </p:spPr>
      </p:pic>
      <p:sp>
        <p:nvSpPr>
          <p:cNvPr id="67" name="Rectangle 66">
            <a:extLst xmlns:a="http://schemas.openxmlformats.org/drawingml/2006/main">
              <a:ext uri="{FF2B5EF4-FFF2-40B4-BE49-F238E27FC236}">
                <a16:creationId xmlns:a16="http://schemas.microsoft.com/office/drawing/2014/main" id="{BA2E8F4D-19EC-4045-BD00-D33C490582FA}"/>
              </a:ext>
            </a:extLst>
          </p:cNvPr>
          <p:cNvSpPr>
            <a:spLocks xmlns:a="http://schemas.openxmlformats.org/drawingml/2006/main" noGrp="1"/>
          </p:cNvSpPr>
          <p:nvPr/>
        </p:nvSpPr>
        <p:spPr>
          <a:xfrm xmlns:a="http://schemas.openxmlformats.org/drawingml/2006/main">
            <a:off x="10306050" y="4714875"/>
            <a:ext cx="1504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Storage (TB)</a:t>
            </a:r>
          </a:p>
        </p:txBody>
      </p:sp>
      <p:sp>
        <p:nvSpPr>
          <p:cNvPr id="68" name="editable-total-storage">
            <a:extLst xmlns:a="http://schemas.openxmlformats.org/drawingml/2006/main">
              <a:ext uri="{FF2B5EF4-FFF2-40B4-BE49-F238E27FC236}">
                <a16:creationId xmlns:a16="http://schemas.microsoft.com/office/drawing/2014/main" id="{53CE7ECC-6CED-4750-B06E-332986EBDB45}"/>
              </a:ext>
            </a:extLst>
          </p:cNvPr>
          <p:cNvSpPr>
            <a:spLocks xmlns:a="http://schemas.openxmlformats.org/drawingml/2006/main" noGrp="1"/>
          </p:cNvSpPr>
          <p:nvPr/>
        </p:nvSpPr>
        <p:spPr>
          <a:xfrm xmlns:a="http://schemas.openxmlformats.org/drawingml/2006/main">
            <a:off x="10306050" y="4972050"/>
            <a:ext cx="15049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210</a:t>
            </a:r>
          </a:p>
        </p:txBody>
      </p:sp>
      <p:pic>
        <p:nvPicPr>
          <p:cNvPr id="156" name="Picture 142"/>
          <p:cNvPicPr>
            <a:picLocks xmlns:a="http://schemas.openxmlformats.org/drawingml/2006/main" noChangeAspect="1"/>
          </p:cNvPicPr>
          <p:nvPr/>
        </p:nvPicPr>
        <p:blipFill>
          <a:blip xmlns:r="http://schemas.openxmlformats.org/officeDocument/2006/relationships" xmlns:a="http://schemas.openxmlformats.org/drawingml/2006/main" r:embed="R364bfb5575464c8c"/>
          <a:stretch xmlns:a="http://schemas.openxmlformats.org/drawingml/2006/main"/>
        </p:blipFill>
        <p:spPr>
          <a:xfrm xmlns:a="http://schemas.openxmlformats.org/drawingml/2006/main">
            <a:off x="9960531" y="4905375"/>
            <a:ext cx="348139" cy="323850"/>
          </a:xfrm>
          <a:prstGeom xmlns:a="http://schemas.openxmlformats.org/drawingml/2006/main" prst="rect">
            <a:avLst/>
          </a:prstGeom>
        </p:spPr>
      </p:pic>
      <p:sp>
        <p:nvSpPr>
          <p:cNvPr id="70" name="Rounded Rectangle 69">
            <a:extLst xmlns:a="http://schemas.openxmlformats.org/drawingml/2006/main">
              <a:ext uri="{FF2B5EF4-FFF2-40B4-BE49-F238E27FC236}">
                <a16:creationId xmlns:a16="http://schemas.microsoft.com/office/drawing/2014/main" id="{B6E9607F-C2EC-477A-BAF6-C5E067CAF87D}"/>
              </a:ext>
            </a:extLst>
          </p:cNvPr>
          <p:cNvSpPr>
            <a:spLocks xmlns:a="http://schemas.openxmlformats.org/drawingml/2006/main" noGrp="1"/>
          </p:cNvSpPr>
          <p:nvPr/>
        </p:nvSpPr>
        <p:spPr>
          <a:xfrm xmlns:a="http://schemas.openxmlformats.org/drawingml/2006/main">
            <a:off x="400050" y="5734050"/>
            <a:ext cx="11334750" cy="476250"/>
          </a:xfrm>
          <a:prstGeom xmlns:a="http://schemas.openxmlformats.org/drawingml/2006/main" prst="roundRect">
            <a:avLst>
              <a:gd name="adj" fmla="val 12000"/>
            </a:avLst>
          </a:prstGeom>
          <a:solidFill xmlns:a="http://schemas.openxmlformats.org/drawingml/2006/main">
            <a:srgbClr val="FFFFFF"/>
          </a:solidFill>
          <a:ln xmlns:a="http://schemas.openxmlformats.org/drawingml/2006/main" w="9525">
            <a:solidFill>
              <a:srgbClr val="D9DEDA"/>
            </a:solidFill>
            <a:prstDash val="solid"/>
          </a:ln>
        </p:spPr>
        <p:txBody>
          <a:bodyPr xmlns:a="http://schemas.openxmlformats.org/drawingml/2006/main"/>
          <a:lstStyle xmlns:a="http://schemas.openxmlformats.org/drawingml/2006/main"/>
          <a:p xmlns:a="http://schemas.openxmlformats.org/drawingml/2006/main">
            <a:endParaRPr/>
          </a:p>
        </p:txBody>
      </p:sp>
      <p:pic>
        <p:nvPicPr>
          <p:cNvPr id="158" name="Picture 144"/>
          <p:cNvPicPr>
            <a:picLocks xmlns:a="http://schemas.openxmlformats.org/drawingml/2006/main" noChangeAspect="1"/>
          </p:cNvPicPr>
          <p:nvPr/>
        </p:nvPicPr>
        <p:blipFill>
          <a:blip xmlns:r="http://schemas.openxmlformats.org/officeDocument/2006/relationships" xmlns:a="http://schemas.openxmlformats.org/drawingml/2006/main" r:embed="R41e20a1f82974890"/>
          <a:stretch xmlns:a="http://schemas.openxmlformats.org/drawingml/2006/main"/>
        </p:blipFill>
        <p:spPr>
          <a:xfrm xmlns:a="http://schemas.openxmlformats.org/drawingml/2006/main">
            <a:off x="632416" y="5838825"/>
            <a:ext cx="316319" cy="323850"/>
          </a:xfrm>
          <a:prstGeom xmlns:a="http://schemas.openxmlformats.org/drawingml/2006/main" prst="rect">
            <a:avLst/>
          </a:prstGeom>
        </p:spPr>
      </p:pic>
      <p:sp>
        <p:nvSpPr>
          <p:cNvPr id="72" name="Rectangle 71">
            <a:extLst xmlns:a="http://schemas.openxmlformats.org/drawingml/2006/main">
              <a:ext uri="{FF2B5EF4-FFF2-40B4-BE49-F238E27FC236}">
                <a16:creationId xmlns:a16="http://schemas.microsoft.com/office/drawing/2014/main" id="{C928459C-9AA2-4970-83C9-66B7F0DEE5BA}"/>
              </a:ext>
            </a:extLst>
          </p:cNvPr>
          <p:cNvSpPr>
            <a:spLocks xmlns:a="http://schemas.openxmlformats.org/drawingml/2006/main" noGrp="1"/>
          </p:cNvSpPr>
          <p:nvPr/>
        </p:nvSpPr>
        <p:spPr>
          <a:xfrm xmlns:a="http://schemas.openxmlformats.org/drawingml/2006/main">
            <a:off x="1085850" y="5934075"/>
            <a:ext cx="933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50" b="0" i="0">
                <a:solidFill>
                  <a:srgbClr val="111111"/>
                </a:solidFill>
                <a:latin typeface="Arial"/>
                <a:ea typeface="Arial"/>
                <a:cs typeface="Arial"/>
              </a:defRPr>
            </a:pPr>
            <a:r>
              <a:rPr sz="1050" b="0" i="0">
                <a:solidFill>
                  <a:srgbClr val="111111"/>
                </a:solidFill>
                <a:latin typeface="Arial"/>
                <a:ea typeface="Arial"/>
                <a:cs typeface="Arial"/>
              </a:rPr>
              <a:t>This sizing is based on the information available at the time of analysis and should be validated during the detailed design phase.</a:t>
            </a:r>
          </a:p>
        </p:txBody>
      </p:sp>
      <p:sp>
        <p:nvSpPr>
          <p:cNvPr id="73" name="Rectangle 72">
            <a:extLst xmlns:a="http://schemas.openxmlformats.org/drawingml/2006/main">
              <a:ext uri="{FF2B5EF4-FFF2-40B4-BE49-F238E27FC236}">
                <a16:creationId xmlns:a16="http://schemas.microsoft.com/office/drawing/2014/main" id="{B0FDF0E8-75F0-4E20-AB65-98949A664606}"/>
              </a:ext>
            </a:extLst>
          </p:cNvPr>
          <p:cNvSpPr>
            <a:spLocks xmlns:a="http://schemas.openxmlformats.org/drawingml/2006/main" noGrp="1"/>
          </p:cNvSpPr>
          <p:nvPr/>
        </p:nvSpPr>
        <p:spPr>
          <a:xfrm xmlns:a="http://schemas.openxmlformats.org/drawingml/2006/main">
            <a:off x="1133475" y="6553200"/>
            <a:ext cx="53340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675" b="0" i="0">
                <a:solidFill>
                  <a:srgbClr val="5E5E5E"/>
                </a:solidFill>
                <a:latin typeface="Arial"/>
                <a:ea typeface="Arial"/>
                <a:cs typeface="Arial"/>
              </a:defRPr>
            </a:pPr>
            <a:r>
              <a:rPr sz="675" b="0" i="0">
                <a:solidFill>
                  <a:srgbClr val="5E5E5E"/>
                </a:solidFill>
                <a:latin typeface="Arial"/>
                <a:ea typeface="Arial"/>
                <a:cs typeface="Arial"/>
              </a:rPr>
              <a:t>Copyright © 2026, Oracle and/or its affiliates | Confidential: Internal/Restricted/Highly Restricted</a:t>
            </a:r>
          </a:p>
        </p:txBody>
      </p:sp>
      <p:pic>
        <p:nvPicPr>
          <p:cNvPr id="161" name="Picture 147"/>
          <p:cNvPicPr>
            <a:picLocks xmlns:a="http://schemas.openxmlformats.org/drawingml/2006/main" noChangeAspect="1"/>
          </p:cNvPicPr>
          <p:nvPr/>
        </p:nvPicPr>
        <p:blipFill>
          <a:blip xmlns:r="http://schemas.openxmlformats.org/officeDocument/2006/relationships" xmlns:a="http://schemas.openxmlformats.org/drawingml/2006/main" r:embed="Rcbaae0a294184dd8"/>
          <a:stretch xmlns:a="http://schemas.openxmlformats.org/drawingml/2006/main"/>
        </p:blipFill>
        <p:spPr>
          <a:xfrm xmlns:a="http://schemas.openxmlformats.org/drawingml/2006/main">
            <a:off x="11382375" y="6459855"/>
            <a:ext cx="419100" cy="396240"/>
          </a:xfrm>
          <a:prstGeom xmlns:a="http://schemas.openxmlformats.org/drawingml/2006/main" prst="rect">
            <a:avLst/>
          </a:prstGeom>
        </p:spPr>
      </p:pic>
    </p:spTree>
    <p:extLst>
      <p:ext uri="{BB962C8B-B14F-4D97-AF65-F5344CB8AC3E}">
        <p14:creationId xmlns:p14="http://schemas.microsoft.com/office/powerpoint/2010/main" val="162122243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73" name="native-assumptions-dot-1125-48">
            <a:extLst xmlns:a="http://schemas.openxmlformats.org/drawingml/2006/main">
              <a:ext uri="{FF2B5EF4-FFF2-40B4-BE49-F238E27FC236}">
                <a16:creationId xmlns:a16="http://schemas.microsoft.com/office/drawing/2014/main" id="{BF26DD19-22B6-43EE-AE20-48F5F84B3B8A}"/>
              </a:ext>
            </a:extLst>
          </p:cNvPr>
          <p:cNvSpPr>
            <a:spLocks xmlns:a="http://schemas.openxmlformats.org/drawingml/2006/main" noGrp="1"/>
          </p:cNvSpPr>
          <p:nvPr/>
        </p:nvSpPr>
        <p:spPr>
          <a:xfrm xmlns:a="http://schemas.openxmlformats.org/drawingml/2006/main">
            <a:off x="10715625" y="457200"/>
            <a:ext cx="38100" cy="38100"/>
          </a:xfrm>
          <a:prstGeom xmlns:a="http://schemas.openxmlformats.org/drawingml/2006/main" prst="roundRect">
            <a:avLst>
              <a:gd name="adj" fmla="val 50000"/>
            </a:avLst>
          </a:prstGeom>
          <a:solidFill xmlns:a="http://schemas.openxmlformats.org/drawingml/2006/main">
            <a:srgbClr val="E7EAE7"/>
          </a:solidFill>
          <a:ln xmlns:a="http://schemas.openxmlformats.org/drawingml/2006/main" w="0">
            <a:noFill/>
          </a:ln>
        </p:spPr>
      </p:sp>
      <p:sp>
        <p:nvSpPr>
          <p:cNvPr id="2" name="native-assumptions-dot-1172-76">
            <a:extLst xmlns:a="http://schemas.openxmlformats.org/drawingml/2006/main">
              <a:ext uri="{FF2B5EF4-FFF2-40B4-BE49-F238E27FC236}">
                <a16:creationId xmlns:a16="http://schemas.microsoft.com/office/drawing/2014/main" id="{1E877DF1-ADA1-422F-8659-CB716B31DBBB}"/>
              </a:ext>
            </a:extLst>
          </p:cNvPr>
          <p:cNvSpPr>
            <a:spLocks xmlns:a="http://schemas.openxmlformats.org/drawingml/2006/main" noGrp="1"/>
          </p:cNvSpPr>
          <p:nvPr/>
        </p:nvSpPr>
        <p:spPr>
          <a:xfrm xmlns:a="http://schemas.openxmlformats.org/drawingml/2006/main">
            <a:off x="11163300" y="723900"/>
            <a:ext cx="38100" cy="38100"/>
          </a:xfrm>
          <a:prstGeom xmlns:a="http://schemas.openxmlformats.org/drawingml/2006/main" prst="roundRect">
            <a:avLst>
              <a:gd name="adj" fmla="val 50000"/>
            </a:avLst>
          </a:prstGeom>
          <a:solidFill xmlns:a="http://schemas.openxmlformats.org/drawingml/2006/main">
            <a:srgbClr val="E7EAE7"/>
          </a:solidFill>
          <a:ln xmlns:a="http://schemas.openxmlformats.org/drawingml/2006/main" w="0">
            <a:noFill/>
          </a:ln>
        </p:spPr>
      </p:sp>
      <p:sp>
        <p:nvSpPr>
          <p:cNvPr id="3" name="native-assumptions-dot-1215-34">
            <a:extLst xmlns:a="http://schemas.openxmlformats.org/drawingml/2006/main">
              <a:ext uri="{FF2B5EF4-FFF2-40B4-BE49-F238E27FC236}">
                <a16:creationId xmlns:a16="http://schemas.microsoft.com/office/drawing/2014/main" id="{C92E28B3-6F98-45D1-A40B-9146F492FB69}"/>
              </a:ext>
            </a:extLst>
          </p:cNvPr>
          <p:cNvSpPr>
            <a:spLocks xmlns:a="http://schemas.openxmlformats.org/drawingml/2006/main" noGrp="1"/>
          </p:cNvSpPr>
          <p:nvPr/>
        </p:nvSpPr>
        <p:spPr>
          <a:xfrm xmlns:a="http://schemas.openxmlformats.org/drawingml/2006/main">
            <a:off x="11572875" y="323850"/>
            <a:ext cx="28575" cy="28575"/>
          </a:xfrm>
          <a:prstGeom xmlns:a="http://schemas.openxmlformats.org/drawingml/2006/main" prst="roundRect">
            <a:avLst>
              <a:gd name="adj" fmla="val 50000"/>
            </a:avLst>
          </a:prstGeom>
          <a:solidFill xmlns:a="http://schemas.openxmlformats.org/drawingml/2006/main">
            <a:srgbClr val="E7EAE7"/>
          </a:solidFill>
          <a:ln xmlns:a="http://schemas.openxmlformats.org/drawingml/2006/main" w="0">
            <a:noFill/>
          </a:ln>
        </p:spPr>
      </p:sp>
      <p:sp>
        <p:nvSpPr>
          <p:cNvPr id="4" name="native-assumptions-dot-1234-108">
            <a:extLst xmlns:a="http://schemas.openxmlformats.org/drawingml/2006/main">
              <a:ext uri="{FF2B5EF4-FFF2-40B4-BE49-F238E27FC236}">
                <a16:creationId xmlns:a16="http://schemas.microsoft.com/office/drawing/2014/main" id="{B1ED03CE-1DC4-4130-8A16-5A3E0EF49C4F}"/>
              </a:ext>
            </a:extLst>
          </p:cNvPr>
          <p:cNvSpPr>
            <a:spLocks xmlns:a="http://schemas.openxmlformats.org/drawingml/2006/main" noGrp="1"/>
          </p:cNvSpPr>
          <p:nvPr/>
        </p:nvSpPr>
        <p:spPr>
          <a:xfrm xmlns:a="http://schemas.openxmlformats.org/drawingml/2006/main">
            <a:off x="11753850" y="1028700"/>
            <a:ext cx="47625" cy="47625"/>
          </a:xfrm>
          <a:prstGeom xmlns:a="http://schemas.openxmlformats.org/drawingml/2006/main" prst="roundRect">
            <a:avLst>
              <a:gd name="adj" fmla="val 50000"/>
            </a:avLst>
          </a:prstGeom>
          <a:solidFill xmlns:a="http://schemas.openxmlformats.org/drawingml/2006/main">
            <a:srgbClr val="E7EAE7"/>
          </a:solidFill>
          <a:ln xmlns:a="http://schemas.openxmlformats.org/drawingml/2006/main" w="0">
            <a:noFill/>
          </a:ln>
        </p:spPr>
      </p:sp>
      <p:sp>
        <p:nvSpPr>
          <p:cNvPr id="5" name="native-assumptions-dot-1195-145">
            <a:extLst xmlns:a="http://schemas.openxmlformats.org/drawingml/2006/main">
              <a:ext uri="{FF2B5EF4-FFF2-40B4-BE49-F238E27FC236}">
                <a16:creationId xmlns:a16="http://schemas.microsoft.com/office/drawing/2014/main" id="{9DF0E52F-300F-4A02-8CB5-5D46E54FA62B}"/>
              </a:ext>
            </a:extLst>
          </p:cNvPr>
          <p:cNvSpPr>
            <a:spLocks xmlns:a="http://schemas.openxmlformats.org/drawingml/2006/main" noGrp="1"/>
          </p:cNvSpPr>
          <p:nvPr/>
        </p:nvSpPr>
        <p:spPr>
          <a:xfrm xmlns:a="http://schemas.openxmlformats.org/drawingml/2006/main">
            <a:off x="11382375" y="1381125"/>
            <a:ext cx="28575" cy="28575"/>
          </a:xfrm>
          <a:prstGeom xmlns:a="http://schemas.openxmlformats.org/drawingml/2006/main" prst="roundRect">
            <a:avLst>
              <a:gd name="adj" fmla="val 50000"/>
            </a:avLst>
          </a:prstGeom>
          <a:solidFill xmlns:a="http://schemas.openxmlformats.org/drawingml/2006/main">
            <a:srgbClr val="E7EAE7"/>
          </a:solidFill>
          <a:ln xmlns:a="http://schemas.openxmlformats.org/drawingml/2006/main" w="0">
            <a:noFill/>
          </a:ln>
        </p:spPr>
      </p:sp>
      <p:sp>
        <p:nvSpPr>
          <p:cNvPr id="6" name="native-assumptions-dot-1250-168">
            <a:extLst xmlns:a="http://schemas.openxmlformats.org/drawingml/2006/main">
              <a:ext uri="{FF2B5EF4-FFF2-40B4-BE49-F238E27FC236}">
                <a16:creationId xmlns:a16="http://schemas.microsoft.com/office/drawing/2014/main" id="{DBB53B7A-807E-439B-8F1E-C7F92C2E36CC}"/>
              </a:ext>
            </a:extLst>
          </p:cNvPr>
          <p:cNvSpPr>
            <a:spLocks xmlns:a="http://schemas.openxmlformats.org/drawingml/2006/main" noGrp="1"/>
          </p:cNvSpPr>
          <p:nvPr/>
        </p:nvSpPr>
        <p:spPr>
          <a:xfrm xmlns:a="http://schemas.openxmlformats.org/drawingml/2006/main">
            <a:off x="11906250" y="1600200"/>
            <a:ext cx="28575" cy="28575"/>
          </a:xfrm>
          <a:prstGeom xmlns:a="http://schemas.openxmlformats.org/drawingml/2006/main" prst="roundRect">
            <a:avLst>
              <a:gd name="adj" fmla="val 50000"/>
            </a:avLst>
          </a:prstGeom>
          <a:solidFill xmlns:a="http://schemas.openxmlformats.org/drawingml/2006/main">
            <a:srgbClr val="E7EAE7"/>
          </a:solidFill>
          <a:ln xmlns:a="http://schemas.openxmlformats.org/drawingml/2006/main" w="0">
            <a:noFill/>
          </a:ln>
        </p:spPr>
      </p:sp>
      <p:sp>
        <p:nvSpPr>
          <p:cNvPr id="7" name="native-assumptions-dot-1070-108">
            <a:extLst xmlns:a="http://schemas.openxmlformats.org/drawingml/2006/main">
              <a:ext uri="{FF2B5EF4-FFF2-40B4-BE49-F238E27FC236}">
                <a16:creationId xmlns:a16="http://schemas.microsoft.com/office/drawing/2014/main" id="{AD604BD1-F7E5-45E1-AC5A-AFE56D9D6E13}"/>
              </a:ext>
            </a:extLst>
          </p:cNvPr>
          <p:cNvSpPr>
            <a:spLocks xmlns:a="http://schemas.openxmlformats.org/drawingml/2006/main" noGrp="1"/>
          </p:cNvSpPr>
          <p:nvPr/>
        </p:nvSpPr>
        <p:spPr>
          <a:xfrm xmlns:a="http://schemas.openxmlformats.org/drawingml/2006/main">
            <a:off x="10191750" y="1028700"/>
            <a:ext cx="19050" cy="19050"/>
          </a:xfrm>
          <a:prstGeom xmlns:a="http://schemas.openxmlformats.org/drawingml/2006/main" prst="roundRect">
            <a:avLst>
              <a:gd name="adj" fmla="val 50000"/>
            </a:avLst>
          </a:prstGeom>
          <a:solidFill xmlns:a="http://schemas.openxmlformats.org/drawingml/2006/main">
            <a:srgbClr val="E7EAE7"/>
          </a:solidFill>
          <a:ln xmlns:a="http://schemas.openxmlformats.org/drawingml/2006/main" w="0">
            <a:noFill/>
          </a:ln>
        </p:spPr>
      </p:sp>
      <p:sp>
        <p:nvSpPr>
          <p:cNvPr id="8" name="native-assumptions-master-top-mask">
            <a:extLst xmlns:a="http://schemas.openxmlformats.org/drawingml/2006/main">
              <a:ext uri="{FF2B5EF4-FFF2-40B4-BE49-F238E27FC236}">
                <a16:creationId xmlns:a16="http://schemas.microsoft.com/office/drawing/2014/main" id="{72D67BA5-35F2-4D0E-8FEB-C5EC0CB63A7C}"/>
              </a:ext>
            </a:extLst>
          </p:cNvPr>
          <p:cNvSpPr>
            <a:spLocks xmlns:a="http://schemas.openxmlformats.org/drawingml/2006/main" noGrp="1"/>
          </p:cNvSpPr>
          <p:nvPr/>
        </p:nvSpPr>
        <p:spPr>
          <a:xfrm xmlns:a="http://schemas.openxmlformats.org/drawingml/2006/main">
            <a:off x="0" y="0"/>
            <a:ext cx="3905250" cy="495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9" name="native-assumptions-master-footer-mask">
            <a:extLst xmlns:a="http://schemas.openxmlformats.org/drawingml/2006/main">
              <a:ext uri="{FF2B5EF4-FFF2-40B4-BE49-F238E27FC236}">
                <a16:creationId xmlns:a16="http://schemas.microsoft.com/office/drawing/2014/main" id="{8302BF01-FAF4-441F-8644-1AC2BC4DBD4E}"/>
              </a:ext>
            </a:extLst>
          </p:cNvPr>
          <p:cNvSpPr>
            <a:spLocks xmlns:a="http://schemas.openxmlformats.org/drawingml/2006/main" noGrp="1"/>
          </p:cNvSpPr>
          <p:nvPr/>
        </p:nvSpPr>
        <p:spPr>
          <a:xfrm xmlns:a="http://schemas.openxmlformats.org/drawingml/2006/main">
            <a:off x="0" y="6334125"/>
            <a:ext cx="8572500" cy="523875"/>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93" name=""/>
          <p:cNvPicPr>
            <a:picLocks xmlns:a="http://schemas.openxmlformats.org/drawingml/2006/main" noChangeAspect="1"/>
          </p:cNvPicPr>
          <p:nvPr/>
        </p:nvPicPr>
        <p:blipFill>
          <a:blip xmlns:r="http://schemas.openxmlformats.org/officeDocument/2006/relationships" xmlns:a="http://schemas.openxmlformats.org/drawingml/2006/main" r:embed="Rca884f5766464157"/>
          <a:stretch xmlns:a="http://schemas.openxmlformats.org/drawingml/2006/main"/>
        </p:blipFill>
        <p:spPr>
          <a:xfrm xmlns:a="http://schemas.openxmlformats.org/drawingml/2006/main">
            <a:off x="361950" y="266700"/>
            <a:ext cx="1924050" cy="600075"/>
          </a:xfrm>
          <a:prstGeom xmlns:a="http://schemas.openxmlformats.org/drawingml/2006/main" prst="rect">
            <a:avLst/>
          </a:prstGeom>
        </p:spPr>
      </p:pic>
      <p:sp>
        <p:nvSpPr>
          <p:cNvPr id="11" name="native-assumptions-title">
            <a:extLst xmlns:a="http://schemas.openxmlformats.org/drawingml/2006/main">
              <a:ext uri="{FF2B5EF4-FFF2-40B4-BE49-F238E27FC236}">
                <a16:creationId xmlns:a16="http://schemas.microsoft.com/office/drawing/2014/main" id="{7C4E8F84-C2B4-4115-BCEC-FDE910EA2DF1}"/>
              </a:ext>
            </a:extLst>
          </p:cNvPr>
          <p:cNvSpPr>
            <a:spLocks xmlns:a="http://schemas.openxmlformats.org/drawingml/2006/main" noGrp="1"/>
          </p:cNvSpPr>
          <p:nvPr/>
        </p:nvSpPr>
        <p:spPr>
          <a:xfrm xmlns:a="http://schemas.openxmlformats.org/drawingml/2006/main">
            <a:off x="381000" y="1095375"/>
            <a:ext cx="685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3000" b="1">
                <a:solidFill>
                  <a:srgbClr val="00573F"/>
                </a:solidFill>
                <a:latin typeface="Arial"/>
                <a:ea typeface="Arial"/>
                <a:cs typeface="Arial"/>
              </a:defRPr>
            </a:pPr>
            <a:r>
              <a:rPr sz="3000" b="1">
                <a:solidFill>
                  <a:srgbClr val="00573F"/>
                </a:solidFill>
                <a:latin typeface="Arial"/>
                <a:ea typeface="Arial"/>
                <a:cs typeface="Arial"/>
              </a:rPr>
              <a:t>Assumptions &amp; Methodology</a:t>
            </a:r>
          </a:p>
        </p:txBody>
      </p:sp>
      <p:sp>
        <p:nvSpPr>
          <p:cNvPr id="12" name="native-assumptions-title-rule">
            <a:extLst xmlns:a="http://schemas.openxmlformats.org/drawingml/2006/main">
              <a:ext uri="{FF2B5EF4-FFF2-40B4-BE49-F238E27FC236}">
                <a16:creationId xmlns:a16="http://schemas.microsoft.com/office/drawing/2014/main" id="{DD0D33A7-DB41-440C-89BB-E07A192BA3AB}"/>
              </a:ext>
            </a:extLst>
          </p:cNvPr>
          <p:cNvSpPr>
            <a:spLocks xmlns:a="http://schemas.openxmlformats.org/drawingml/2006/main" noGrp="1"/>
          </p:cNvSpPr>
          <p:nvPr/>
        </p:nvSpPr>
        <p:spPr>
          <a:xfrm xmlns:a="http://schemas.openxmlformats.org/drawingml/2006/main">
            <a:off x="381000" y="1724025"/>
            <a:ext cx="381000" cy="38100"/>
          </a:xfrm>
          <a:prstGeom xmlns:a="http://schemas.openxmlformats.org/drawingml/2006/main" prst="rect">
            <a:avLst/>
          </a:prstGeom>
          <a:solidFill xmlns:a="http://schemas.openxmlformats.org/drawingml/2006/main">
            <a:srgbClr val="E53935"/>
          </a:solidFill>
          <a:ln xmlns:a="http://schemas.openxmlformats.org/drawingml/2006/main" w="0">
            <a:noFill/>
          </a:ln>
        </p:spPr>
      </p:sp>
      <p:sp>
        <p:nvSpPr>
          <p:cNvPr id="13" name="native-assumptions-subtitle">
            <a:extLst xmlns:a="http://schemas.openxmlformats.org/drawingml/2006/main">
              <a:ext uri="{FF2B5EF4-FFF2-40B4-BE49-F238E27FC236}">
                <a16:creationId xmlns:a16="http://schemas.microsoft.com/office/drawing/2014/main" id="{6E78942D-9E8A-403B-8F75-811FB6C71874}"/>
              </a:ext>
            </a:extLst>
          </p:cNvPr>
          <p:cNvSpPr>
            <a:spLocks xmlns:a="http://schemas.openxmlformats.org/drawingml/2006/main" noGrp="1"/>
          </p:cNvSpPr>
          <p:nvPr/>
        </p:nvSpPr>
        <p:spPr>
          <a:xfrm xmlns:a="http://schemas.openxmlformats.org/drawingml/2006/main">
            <a:off x="381000" y="188595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417"/>
          </a:bodyPr>
          <a:lstStyle xmlns:a="http://schemas.openxmlformats.org/drawingml/2006/main"/>
          <a:p xmlns:a="http://schemas.openxmlformats.org/drawingml/2006/main">
            <a:pPr algn="l">
              <a:buNone/>
              <a:defRPr sz="1200" b="0">
                <a:solidFill>
                  <a:srgbClr val="17212B"/>
                </a:solidFill>
                <a:latin typeface="Arial"/>
                <a:ea typeface="Arial"/>
                <a:cs typeface="Arial"/>
              </a:defRPr>
            </a:pPr>
            <a:r>
              <a:rPr sz="1200" b="0">
                <a:solidFill>
                  <a:srgbClr val="17212B"/>
                </a:solidFill>
                <a:latin typeface="Arial"/>
                <a:ea typeface="Arial"/>
                <a:cs typeface="Arial"/>
              </a:rPr>
              <a:t>The proposed sizing is based on the customer-provided RVTools inventory and OCI Native configuration.</a:t>
            </a:r>
          </a:p>
        </p:txBody>
      </p:sp>
      <p:sp>
        <p:nvSpPr>
          <p:cNvPr id="14" name="native-assumptions-methodology">
            <a:extLst xmlns:a="http://schemas.openxmlformats.org/drawingml/2006/main">
              <a:ext uri="{FF2B5EF4-FFF2-40B4-BE49-F238E27FC236}">
                <a16:creationId xmlns:a16="http://schemas.microsoft.com/office/drawing/2014/main" id="{215BFE11-0CB9-4C98-9473-C214ADD9F007}"/>
              </a:ext>
            </a:extLst>
          </p:cNvPr>
          <p:cNvSpPr>
            <a:spLocks xmlns:a="http://schemas.openxmlformats.org/drawingml/2006/main" noGrp="1"/>
          </p:cNvSpPr>
          <p:nvPr/>
        </p:nvSpPr>
        <p:spPr>
          <a:xfrm xmlns:a="http://schemas.openxmlformats.org/drawingml/2006/main">
            <a:off x="400050" y="2143125"/>
            <a:ext cx="11382375" cy="285750"/>
          </a:xfrm>
          <a:prstGeom xmlns:a="http://schemas.openxmlformats.org/drawingml/2006/main" prst="roundRect">
            <a:avLst>
              <a:gd name="adj" fmla="val 26667"/>
            </a:avLst>
          </a:prstGeom>
          <a:solidFill xmlns:a="http://schemas.openxmlformats.org/drawingml/2006/main">
            <a:srgbClr val="00573F"/>
          </a:solidFill>
          <a:ln xmlns:a="http://schemas.openxmlformats.org/drawingml/2006/main" w="0">
            <a:noFill/>
          </a:ln>
        </p:spPr>
      </p:sp>
      <p:sp>
        <p:nvSpPr>
          <p:cNvPr id="15" name="native-assumptions-methodology-label">
            <a:extLst xmlns:a="http://schemas.openxmlformats.org/drawingml/2006/main">
              <a:ext uri="{FF2B5EF4-FFF2-40B4-BE49-F238E27FC236}">
                <a16:creationId xmlns:a16="http://schemas.microsoft.com/office/drawing/2014/main" id="{289508C9-C702-4E14-B6FD-D38B7417A5B3}"/>
              </a:ext>
            </a:extLst>
          </p:cNvPr>
          <p:cNvSpPr>
            <a:spLocks xmlns:a="http://schemas.openxmlformats.org/drawingml/2006/main" noGrp="1"/>
          </p:cNvSpPr>
          <p:nvPr/>
        </p:nvSpPr>
        <p:spPr>
          <a:xfrm xmlns:a="http://schemas.openxmlformats.org/drawingml/2006/main">
            <a:off x="609600" y="2171700"/>
            <a:ext cx="109632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8889"/>
          </a:bodyPr>
          <a:lstStyle xmlns:a="http://schemas.openxmlformats.org/drawingml/2006/main"/>
          <a:p xmlns:a="http://schemas.openxmlformats.org/drawingml/2006/main">
            <a:pPr algn="ctr">
              <a:buNone/>
              <a:defRPr sz="1125" b="1">
                <a:solidFill>
                  <a:srgbClr val="FFFFFF"/>
                </a:solidFill>
                <a:latin typeface="Arial"/>
                <a:ea typeface="Arial"/>
                <a:cs typeface="Arial"/>
              </a:defRPr>
            </a:pPr>
            <a:r>
              <a:rPr sz="1125" b="1">
                <a:solidFill>
                  <a:srgbClr val="FFFFFF"/>
                </a:solidFill>
                <a:latin typeface="Arial"/>
                <a:ea typeface="Arial"/>
                <a:cs typeface="Arial"/>
              </a:rPr>
              <a:t>Sizing Methodology</a:t>
            </a:r>
          </a:p>
        </p:txBody>
      </p:sp>
      <p:sp>
        <p:nvSpPr>
          <p:cNvPr id="16" name="editable-native-assumptions-data-source-background">
            <a:extLst xmlns:a="http://schemas.openxmlformats.org/drawingml/2006/main">
              <a:ext uri="{FF2B5EF4-FFF2-40B4-BE49-F238E27FC236}">
                <a16:creationId xmlns:a16="http://schemas.microsoft.com/office/drawing/2014/main" id="{04C3ED01-FBDB-45CF-8C45-32094990C6BF}"/>
              </a:ext>
            </a:extLst>
          </p:cNvPr>
          <p:cNvSpPr>
            <a:spLocks xmlns:a="http://schemas.openxmlformats.org/drawingml/2006/main" noGrp="1"/>
          </p:cNvSpPr>
          <p:nvPr/>
        </p:nvSpPr>
        <p:spPr>
          <a:xfrm xmlns:a="http://schemas.openxmlformats.org/drawingml/2006/main">
            <a:off x="400050" y="2428875"/>
            <a:ext cx="11382375" cy="476250"/>
          </a:xfrm>
          <a:prstGeom xmlns:a="http://schemas.openxmlformats.org/drawingml/2006/main" prst="rect">
            <a:avLst/>
          </a:prstGeom>
          <a:solidFill xmlns:a="http://schemas.openxmlformats.org/drawingml/2006/main">
            <a:srgbClr val="FFFFFF"/>
          </a:solidFill>
          <a:ln xmlns:a="http://schemas.openxmlformats.org/drawingml/2006/main" w="9525">
            <a:solidFill>
              <a:srgbClr val="D6DBD7"/>
            </a:solidFill>
          </a:ln>
        </p:spPr>
      </p:sp>
      <p:sp>
        <p:nvSpPr>
          <p:cNvPr id="17" name="editable-native-assumptions-data-source-icon-divider">
            <a:extLst xmlns:a="http://schemas.openxmlformats.org/drawingml/2006/main">
              <a:ext uri="{FF2B5EF4-FFF2-40B4-BE49-F238E27FC236}">
                <a16:creationId xmlns:a16="http://schemas.microsoft.com/office/drawing/2014/main" id="{8C606C21-789D-47B9-857F-682191070205}"/>
              </a:ext>
            </a:extLst>
          </p:cNvPr>
          <p:cNvSpPr>
            <a:spLocks xmlns:a="http://schemas.openxmlformats.org/drawingml/2006/main" noGrp="1"/>
          </p:cNvSpPr>
          <p:nvPr/>
        </p:nvSpPr>
        <p:spPr>
          <a:xfrm xmlns:a="http://schemas.openxmlformats.org/drawingml/2006/main">
            <a:off x="1590675" y="2428875"/>
            <a:ext cx="9525" cy="47625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18" name="editable-native-assumptions-data-source-label-divider">
            <a:extLst xmlns:a="http://schemas.openxmlformats.org/drawingml/2006/main">
              <a:ext uri="{FF2B5EF4-FFF2-40B4-BE49-F238E27FC236}">
                <a16:creationId xmlns:a16="http://schemas.microsoft.com/office/drawing/2014/main" id="{ADB89D84-592C-46F8-839F-0FF96C35ED8A}"/>
              </a:ext>
            </a:extLst>
          </p:cNvPr>
          <p:cNvSpPr>
            <a:spLocks xmlns:a="http://schemas.openxmlformats.org/drawingml/2006/main" noGrp="1"/>
          </p:cNvSpPr>
          <p:nvPr/>
        </p:nvSpPr>
        <p:spPr>
          <a:xfrm xmlns:a="http://schemas.openxmlformats.org/drawingml/2006/main">
            <a:off x="4638675" y="2428875"/>
            <a:ext cx="9525" cy="47625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19" name="editable-native-assumptions-data-source-label">
            <a:extLst xmlns:a="http://schemas.openxmlformats.org/drawingml/2006/main">
              <a:ext uri="{FF2B5EF4-FFF2-40B4-BE49-F238E27FC236}">
                <a16:creationId xmlns:a16="http://schemas.microsoft.com/office/drawing/2014/main" id="{A03CDC1B-885A-4981-9BED-0F80EC46920A}"/>
              </a:ext>
            </a:extLst>
          </p:cNvPr>
          <p:cNvSpPr>
            <a:spLocks xmlns:a="http://schemas.openxmlformats.org/drawingml/2006/main" noGrp="1"/>
          </p:cNvSpPr>
          <p:nvPr/>
        </p:nvSpPr>
        <p:spPr>
          <a:xfrm xmlns:a="http://schemas.openxmlformats.org/drawingml/2006/main">
            <a:off x="1781175" y="24669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200" b="1">
                <a:solidFill>
                  <a:srgbClr val="17212B"/>
                </a:solidFill>
                <a:latin typeface="Arial"/>
                <a:ea typeface="Arial"/>
                <a:cs typeface="Arial"/>
              </a:defRPr>
            </a:pPr>
            <a:r>
              <a:rPr sz="1200" b="1">
                <a:solidFill>
                  <a:srgbClr val="17212B"/>
                </a:solidFill>
                <a:latin typeface="Arial"/>
                <a:ea typeface="Arial"/>
                <a:cs typeface="Arial"/>
              </a:rPr>
              <a:t>Data Source</a:t>
            </a:r>
          </a:p>
        </p:txBody>
      </p:sp>
      <p:sp>
        <p:nvSpPr>
          <p:cNvPr id="20" name="editable-native-assumptions-data-source">
            <a:extLst xmlns:a="http://schemas.openxmlformats.org/drawingml/2006/main">
              <a:ext uri="{FF2B5EF4-FFF2-40B4-BE49-F238E27FC236}">
                <a16:creationId xmlns:a16="http://schemas.microsoft.com/office/drawing/2014/main" id="{0446D32B-3E6B-4E81-AF7B-17EB7C7E02A4}"/>
              </a:ext>
            </a:extLst>
          </p:cNvPr>
          <p:cNvSpPr>
            <a:spLocks xmlns:a="http://schemas.openxmlformats.org/drawingml/2006/main" noGrp="1"/>
          </p:cNvSpPr>
          <p:nvPr/>
        </p:nvSpPr>
        <p:spPr>
          <a:xfrm xmlns:a="http://schemas.openxmlformats.org/drawingml/2006/main">
            <a:off x="4848225" y="2466975"/>
            <a:ext cx="6800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000"/>
          </a:bodyPr>
          <a:lstStyle xmlns:a="http://schemas.openxmlformats.org/drawingml/2006/main"/>
          <a:p xmlns:a="http://schemas.openxmlformats.org/drawingml/2006/main">
            <a:pPr algn="l">
              <a:buNone/>
              <a:defRPr sz="1125" b="0">
                <a:solidFill>
                  <a:srgbClr val="17212B"/>
                </a:solidFill>
                <a:latin typeface="Arial"/>
                <a:ea typeface="Arial"/>
                <a:cs typeface="Arial"/>
              </a:defRPr>
            </a:pPr>
            <a:r>
              <a:rPr sz="1125" b="0">
                <a:solidFill>
                  <a:srgbClr val="17212B"/>
                </a:solidFill>
                <a:latin typeface="Arial"/>
                <a:ea typeface="Arial"/>
                <a:cs typeface="Arial"/>
              </a:rPr>
              <a:t>RVTools export provided by the customer</a:t>
            </a:r>
          </a:p>
          <a:p xmlns:a="http://schemas.openxmlformats.org/drawingml/2006/main">
            <a:pPr algn="l">
              <a:buNone/>
              <a:defRPr sz="1125" b="0">
                <a:solidFill>
                  <a:srgbClr val="17212B"/>
                </a:solidFill>
                <a:latin typeface="Arial"/>
                <a:ea typeface="Arial"/>
                <a:cs typeface="Arial"/>
              </a:defRPr>
            </a:pPr>
            <a:r>
              <a:rPr sz="1125" b="0">
                <a:solidFill>
                  <a:srgbClr val="17212B"/>
                </a:solidFill>
                <a:latin typeface="Arial"/>
                <a:ea typeface="Arial"/>
                <a:cs typeface="Arial"/>
              </a:rPr>
              <a:t>(Analysis Date: Sep 04, 2026)</a:t>
            </a:r>
          </a:p>
        </p:txBody>
      </p:sp>
      <p:pic>
        <p:nvPicPr>
          <p:cNvPr id="104" name=""/>
          <p:cNvPicPr>
            <a:picLocks xmlns:a="http://schemas.openxmlformats.org/drawingml/2006/main" noChangeAspect="1"/>
          </p:cNvPicPr>
          <p:nvPr/>
        </p:nvPicPr>
        <p:blipFill>
          <a:blip xmlns:r="http://schemas.openxmlformats.org/officeDocument/2006/relationships" xmlns:a="http://schemas.openxmlformats.org/drawingml/2006/main" r:embed="R15474550d3de431b"/>
          <a:stretch xmlns:a="http://schemas.openxmlformats.org/drawingml/2006/main"/>
        </p:blipFill>
        <p:spPr>
          <a:xfrm xmlns:a="http://schemas.openxmlformats.org/drawingml/2006/main">
            <a:off x="723900" y="2505075"/>
            <a:ext cx="323850" cy="323850"/>
          </a:xfrm>
          <a:prstGeom xmlns:a="http://schemas.openxmlformats.org/drawingml/2006/main" prst="rect">
            <a:avLst/>
          </a:prstGeom>
        </p:spPr>
      </p:pic>
      <p:sp>
        <p:nvSpPr>
          <p:cNvPr id="22" name="editable-native-assumptions-sizing-approach-background">
            <a:extLst xmlns:a="http://schemas.openxmlformats.org/drawingml/2006/main">
              <a:ext uri="{FF2B5EF4-FFF2-40B4-BE49-F238E27FC236}">
                <a16:creationId xmlns:a16="http://schemas.microsoft.com/office/drawing/2014/main" id="{E5F02327-B9E3-4D17-A7DA-2FA089F50481}"/>
              </a:ext>
            </a:extLst>
          </p:cNvPr>
          <p:cNvSpPr>
            <a:spLocks xmlns:a="http://schemas.openxmlformats.org/drawingml/2006/main" noGrp="1"/>
          </p:cNvSpPr>
          <p:nvPr/>
        </p:nvSpPr>
        <p:spPr>
          <a:xfrm xmlns:a="http://schemas.openxmlformats.org/drawingml/2006/main">
            <a:off x="400050" y="2905125"/>
            <a:ext cx="11382375"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D6DBD7"/>
            </a:solidFill>
          </a:ln>
        </p:spPr>
      </p:sp>
      <p:sp>
        <p:nvSpPr>
          <p:cNvPr id="23" name="editable-native-assumptions-sizing-approach-icon-divider">
            <a:extLst xmlns:a="http://schemas.openxmlformats.org/drawingml/2006/main">
              <a:ext uri="{FF2B5EF4-FFF2-40B4-BE49-F238E27FC236}">
                <a16:creationId xmlns:a16="http://schemas.microsoft.com/office/drawing/2014/main" id="{E3616F9F-08FA-4FF0-AFE3-E01338C03545}"/>
              </a:ext>
            </a:extLst>
          </p:cNvPr>
          <p:cNvSpPr>
            <a:spLocks xmlns:a="http://schemas.openxmlformats.org/drawingml/2006/main" noGrp="1"/>
          </p:cNvSpPr>
          <p:nvPr/>
        </p:nvSpPr>
        <p:spPr>
          <a:xfrm xmlns:a="http://schemas.openxmlformats.org/drawingml/2006/main">
            <a:off x="1590675" y="2905125"/>
            <a:ext cx="9525" cy="38100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24" name="editable-native-assumptions-sizing-approach-label-divider">
            <a:extLst xmlns:a="http://schemas.openxmlformats.org/drawingml/2006/main">
              <a:ext uri="{FF2B5EF4-FFF2-40B4-BE49-F238E27FC236}">
                <a16:creationId xmlns:a16="http://schemas.microsoft.com/office/drawing/2014/main" id="{BD277335-EAE8-41E6-9F50-CF8B2915FAD4}"/>
              </a:ext>
            </a:extLst>
          </p:cNvPr>
          <p:cNvSpPr>
            <a:spLocks xmlns:a="http://schemas.openxmlformats.org/drawingml/2006/main" noGrp="1"/>
          </p:cNvSpPr>
          <p:nvPr/>
        </p:nvSpPr>
        <p:spPr>
          <a:xfrm xmlns:a="http://schemas.openxmlformats.org/drawingml/2006/main">
            <a:off x="4638675" y="2905125"/>
            <a:ext cx="9525" cy="38100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25" name="editable-native-assumptions-sizing-approach-label">
            <a:extLst xmlns:a="http://schemas.openxmlformats.org/drawingml/2006/main">
              <a:ext uri="{FF2B5EF4-FFF2-40B4-BE49-F238E27FC236}">
                <a16:creationId xmlns:a16="http://schemas.microsoft.com/office/drawing/2014/main" id="{DF83A918-ADD6-4712-A133-54E429032401}"/>
              </a:ext>
            </a:extLst>
          </p:cNvPr>
          <p:cNvSpPr>
            <a:spLocks xmlns:a="http://schemas.openxmlformats.org/drawingml/2006/main" noGrp="1"/>
          </p:cNvSpPr>
          <p:nvPr/>
        </p:nvSpPr>
        <p:spPr>
          <a:xfrm xmlns:a="http://schemas.openxmlformats.org/drawingml/2006/main">
            <a:off x="1781175" y="2943225"/>
            <a:ext cx="2724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200" b="1">
                <a:solidFill>
                  <a:srgbClr val="17212B"/>
                </a:solidFill>
                <a:latin typeface="Arial"/>
                <a:ea typeface="Arial"/>
                <a:cs typeface="Arial"/>
              </a:defRPr>
            </a:pPr>
            <a:r>
              <a:rPr sz="1200" b="1">
                <a:solidFill>
                  <a:srgbClr val="17212B"/>
                </a:solidFill>
                <a:latin typeface="Arial"/>
                <a:ea typeface="Arial"/>
                <a:cs typeface="Arial"/>
              </a:rPr>
              <a:t>Sizing Approach</a:t>
            </a:r>
          </a:p>
        </p:txBody>
      </p:sp>
      <p:sp>
        <p:nvSpPr>
          <p:cNvPr id="26" name="editable-native-assumptions-sizing-approach">
            <a:extLst xmlns:a="http://schemas.openxmlformats.org/drawingml/2006/main">
              <a:ext uri="{FF2B5EF4-FFF2-40B4-BE49-F238E27FC236}">
                <a16:creationId xmlns:a16="http://schemas.microsoft.com/office/drawing/2014/main" id="{7A4E30BE-C335-4E89-B88A-0C849FA2DFBE}"/>
              </a:ext>
            </a:extLst>
          </p:cNvPr>
          <p:cNvSpPr>
            <a:spLocks xmlns:a="http://schemas.openxmlformats.org/drawingml/2006/main" noGrp="1"/>
          </p:cNvSpPr>
          <p:nvPr/>
        </p:nvSpPr>
        <p:spPr>
          <a:xfrm xmlns:a="http://schemas.openxmlformats.org/drawingml/2006/main">
            <a:off x="4848225" y="2943225"/>
            <a:ext cx="6800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125" b="0">
                <a:solidFill>
                  <a:srgbClr val="17212B"/>
                </a:solidFill>
                <a:latin typeface="Arial"/>
                <a:ea typeface="Arial"/>
                <a:cs typeface="Arial"/>
              </a:defRPr>
            </a:pPr>
            <a:r>
              <a:rPr sz="1125" b="0">
                <a:solidFill>
                  <a:srgbClr val="17212B"/>
                </a:solidFill>
                <a:latin typeface="Arial"/>
                <a:ea typeface="Arial"/>
                <a:cs typeface="Arial"/>
              </a:rPr>
              <a:t>Selected VM scope with OCI Native settings configured per VM</a:t>
            </a:r>
          </a:p>
        </p:txBody>
      </p:sp>
      <p:pic>
        <p:nvPicPr>
          <p:cNvPr id="110" name=""/>
          <p:cNvPicPr>
            <a:picLocks xmlns:a="http://schemas.openxmlformats.org/drawingml/2006/main" noChangeAspect="1"/>
          </p:cNvPicPr>
          <p:nvPr/>
        </p:nvPicPr>
        <p:blipFill>
          <a:blip xmlns:r="http://schemas.openxmlformats.org/officeDocument/2006/relationships" xmlns:a="http://schemas.openxmlformats.org/drawingml/2006/main" r:embed="R47f703d25a284190"/>
          <a:stretch xmlns:a="http://schemas.openxmlformats.org/drawingml/2006/main"/>
        </p:blipFill>
        <p:spPr>
          <a:xfrm xmlns:a="http://schemas.openxmlformats.org/drawingml/2006/main">
            <a:off x="723900" y="2952750"/>
            <a:ext cx="323850" cy="323850"/>
          </a:xfrm>
          <a:prstGeom xmlns:a="http://schemas.openxmlformats.org/drawingml/2006/main" prst="rect">
            <a:avLst/>
          </a:prstGeom>
        </p:spPr>
      </p:pic>
      <p:sp>
        <p:nvSpPr>
          <p:cNvPr id="28" name="native-assumptions-compute">
            <a:extLst xmlns:a="http://schemas.openxmlformats.org/drawingml/2006/main">
              <a:ext uri="{FF2B5EF4-FFF2-40B4-BE49-F238E27FC236}">
                <a16:creationId xmlns:a16="http://schemas.microsoft.com/office/drawing/2014/main" id="{68D36E84-24A5-4197-B142-BDD89DF66501}"/>
              </a:ext>
            </a:extLst>
          </p:cNvPr>
          <p:cNvSpPr>
            <a:spLocks xmlns:a="http://schemas.openxmlformats.org/drawingml/2006/main" noGrp="1"/>
          </p:cNvSpPr>
          <p:nvPr/>
        </p:nvSpPr>
        <p:spPr>
          <a:xfrm xmlns:a="http://schemas.openxmlformats.org/drawingml/2006/main">
            <a:off x="400050" y="3286125"/>
            <a:ext cx="11382375" cy="285750"/>
          </a:xfrm>
          <a:prstGeom xmlns:a="http://schemas.openxmlformats.org/drawingml/2006/main" prst="roundRect">
            <a:avLst>
              <a:gd name="adj" fmla="val 26667"/>
            </a:avLst>
          </a:prstGeom>
          <a:solidFill xmlns:a="http://schemas.openxmlformats.org/drawingml/2006/main">
            <a:srgbClr val="00573F"/>
          </a:solidFill>
          <a:ln xmlns:a="http://schemas.openxmlformats.org/drawingml/2006/main" w="0">
            <a:noFill/>
          </a:ln>
        </p:spPr>
      </p:sp>
      <p:sp>
        <p:nvSpPr>
          <p:cNvPr id="29" name="native-assumptions-compute-label">
            <a:extLst xmlns:a="http://schemas.openxmlformats.org/drawingml/2006/main">
              <a:ext uri="{FF2B5EF4-FFF2-40B4-BE49-F238E27FC236}">
                <a16:creationId xmlns:a16="http://schemas.microsoft.com/office/drawing/2014/main" id="{947B560B-CBE6-4654-ABBB-0F8E364A190C}"/>
              </a:ext>
            </a:extLst>
          </p:cNvPr>
          <p:cNvSpPr>
            <a:spLocks xmlns:a="http://schemas.openxmlformats.org/drawingml/2006/main" noGrp="1"/>
          </p:cNvSpPr>
          <p:nvPr/>
        </p:nvSpPr>
        <p:spPr>
          <a:xfrm xmlns:a="http://schemas.openxmlformats.org/drawingml/2006/main">
            <a:off x="609600" y="3314700"/>
            <a:ext cx="109632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8889"/>
          </a:bodyPr>
          <a:lstStyle xmlns:a="http://schemas.openxmlformats.org/drawingml/2006/main"/>
          <a:p xmlns:a="http://schemas.openxmlformats.org/drawingml/2006/main">
            <a:pPr algn="ctr">
              <a:buNone/>
              <a:defRPr sz="1125" b="1">
                <a:solidFill>
                  <a:srgbClr val="FFFFFF"/>
                </a:solidFill>
                <a:latin typeface="Arial"/>
                <a:ea typeface="Arial"/>
                <a:cs typeface="Arial"/>
              </a:defRPr>
            </a:pPr>
            <a:r>
              <a:rPr sz="1125" b="1">
                <a:solidFill>
                  <a:srgbClr val="FFFFFF"/>
                </a:solidFill>
                <a:latin typeface="Arial"/>
                <a:ea typeface="Arial"/>
                <a:cs typeface="Arial"/>
              </a:rPr>
              <a:t>OCI Native Compute Configuration</a:t>
            </a:r>
          </a:p>
        </p:txBody>
      </p:sp>
      <p:sp>
        <p:nvSpPr>
          <p:cNvPr id="30" name="editable-native-assumptions-ratio-background">
            <a:extLst xmlns:a="http://schemas.openxmlformats.org/drawingml/2006/main">
              <a:ext uri="{FF2B5EF4-FFF2-40B4-BE49-F238E27FC236}">
                <a16:creationId xmlns:a16="http://schemas.microsoft.com/office/drawing/2014/main" id="{79AAEB4B-7C5E-4F23-85A4-B09A219051EC}"/>
              </a:ext>
            </a:extLst>
          </p:cNvPr>
          <p:cNvSpPr>
            <a:spLocks xmlns:a="http://schemas.openxmlformats.org/drawingml/2006/main" noGrp="1"/>
          </p:cNvSpPr>
          <p:nvPr/>
        </p:nvSpPr>
        <p:spPr>
          <a:xfrm xmlns:a="http://schemas.openxmlformats.org/drawingml/2006/main">
            <a:off x="400050" y="3571875"/>
            <a:ext cx="11382375" cy="476250"/>
          </a:xfrm>
          <a:prstGeom xmlns:a="http://schemas.openxmlformats.org/drawingml/2006/main" prst="rect">
            <a:avLst/>
          </a:prstGeom>
          <a:solidFill xmlns:a="http://schemas.openxmlformats.org/drawingml/2006/main">
            <a:srgbClr val="FFFFFF"/>
          </a:solidFill>
          <a:ln xmlns:a="http://schemas.openxmlformats.org/drawingml/2006/main" w="9525">
            <a:solidFill>
              <a:srgbClr val="D6DBD7"/>
            </a:solidFill>
          </a:ln>
        </p:spPr>
      </p:sp>
      <p:sp>
        <p:nvSpPr>
          <p:cNvPr id="31" name="editable-native-assumptions-ratio-icon-divider">
            <a:extLst xmlns:a="http://schemas.openxmlformats.org/drawingml/2006/main">
              <a:ext uri="{FF2B5EF4-FFF2-40B4-BE49-F238E27FC236}">
                <a16:creationId xmlns:a16="http://schemas.microsoft.com/office/drawing/2014/main" id="{42452718-D042-48AE-9730-3C3B418C55BC}"/>
              </a:ext>
            </a:extLst>
          </p:cNvPr>
          <p:cNvSpPr>
            <a:spLocks xmlns:a="http://schemas.openxmlformats.org/drawingml/2006/main" noGrp="1"/>
          </p:cNvSpPr>
          <p:nvPr/>
        </p:nvSpPr>
        <p:spPr>
          <a:xfrm xmlns:a="http://schemas.openxmlformats.org/drawingml/2006/main">
            <a:off x="1590675" y="3571875"/>
            <a:ext cx="9525" cy="47625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32" name="editable-native-assumptions-ratio-label-divider">
            <a:extLst xmlns:a="http://schemas.openxmlformats.org/drawingml/2006/main">
              <a:ext uri="{FF2B5EF4-FFF2-40B4-BE49-F238E27FC236}">
                <a16:creationId xmlns:a16="http://schemas.microsoft.com/office/drawing/2014/main" id="{A9D8AF14-974E-4EFB-858D-1653295A8288}"/>
              </a:ext>
            </a:extLst>
          </p:cNvPr>
          <p:cNvSpPr>
            <a:spLocks xmlns:a="http://schemas.openxmlformats.org/drawingml/2006/main" noGrp="1"/>
          </p:cNvSpPr>
          <p:nvPr/>
        </p:nvSpPr>
        <p:spPr>
          <a:xfrm xmlns:a="http://schemas.openxmlformats.org/drawingml/2006/main">
            <a:off x="4638675" y="3571875"/>
            <a:ext cx="9525" cy="47625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33" name="editable-native-assumptions-ratio-label">
            <a:extLst xmlns:a="http://schemas.openxmlformats.org/drawingml/2006/main">
              <a:ext uri="{FF2B5EF4-FFF2-40B4-BE49-F238E27FC236}">
                <a16:creationId xmlns:a16="http://schemas.microsoft.com/office/drawing/2014/main" id="{C590F99D-A6B9-4B63-837D-632CBCDDED00}"/>
              </a:ext>
            </a:extLst>
          </p:cNvPr>
          <p:cNvSpPr>
            <a:spLocks xmlns:a="http://schemas.openxmlformats.org/drawingml/2006/main" noGrp="1"/>
          </p:cNvSpPr>
          <p:nvPr/>
        </p:nvSpPr>
        <p:spPr>
          <a:xfrm xmlns:a="http://schemas.openxmlformats.org/drawingml/2006/main">
            <a:off x="1781175" y="36099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200" b="1">
                <a:solidFill>
                  <a:srgbClr val="17212B"/>
                </a:solidFill>
                <a:latin typeface="Arial"/>
                <a:ea typeface="Arial"/>
                <a:cs typeface="Arial"/>
              </a:defRPr>
            </a:pPr>
            <a:r>
              <a:rPr sz="1200" b="1">
                <a:solidFill>
                  <a:srgbClr val="17212B"/>
                </a:solidFill>
                <a:latin typeface="Arial"/>
                <a:ea typeface="Arial"/>
                <a:cs typeface="Arial"/>
              </a:rPr>
              <a:t>Configured OCPU-to-vCPU ratio</a:t>
            </a:r>
          </a:p>
        </p:txBody>
      </p:sp>
      <p:sp>
        <p:nvSpPr>
          <p:cNvPr id="34" name="editable-native-assumptions-ratio">
            <a:extLst xmlns:a="http://schemas.openxmlformats.org/drawingml/2006/main">
              <a:ext uri="{FF2B5EF4-FFF2-40B4-BE49-F238E27FC236}">
                <a16:creationId xmlns:a16="http://schemas.microsoft.com/office/drawing/2014/main" id="{074108A3-AB54-4886-9506-6607C30FE4B1}"/>
              </a:ext>
            </a:extLst>
          </p:cNvPr>
          <p:cNvSpPr>
            <a:spLocks xmlns:a="http://schemas.openxmlformats.org/drawingml/2006/main" noGrp="1"/>
          </p:cNvSpPr>
          <p:nvPr/>
        </p:nvSpPr>
        <p:spPr>
          <a:xfrm xmlns:a="http://schemas.openxmlformats.org/drawingml/2006/main">
            <a:off x="4848225" y="3609975"/>
            <a:ext cx="6800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000"/>
          </a:bodyPr>
          <a:lstStyle xmlns:a="http://schemas.openxmlformats.org/drawingml/2006/main"/>
          <a:p xmlns:a="http://schemas.openxmlformats.org/drawingml/2006/main">
            <a:pPr algn="l">
              <a:buNone/>
              <a:defRPr sz="1125" b="0">
                <a:solidFill>
                  <a:srgbClr val="17212B"/>
                </a:solidFill>
                <a:latin typeface="Arial"/>
                <a:ea typeface="Arial"/>
                <a:cs typeface="Arial"/>
              </a:defRPr>
            </a:pPr>
            <a:r>
              <a:rPr sz="1125" b="0">
                <a:solidFill>
                  <a:srgbClr val="17212B"/>
                </a:solidFill>
                <a:latin typeface="Arial"/>
                <a:ea typeface="Arial"/>
                <a:cs typeface="Arial"/>
              </a:rPr>
              <a:t>1 OCPU : 2 vCPUs</a:t>
            </a:r>
          </a:p>
          <a:p xmlns:a="http://schemas.openxmlformats.org/drawingml/2006/main">
            <a:pPr algn="l">
              <a:buNone/>
              <a:defRPr sz="1125" b="0">
                <a:solidFill>
                  <a:srgbClr val="17212B"/>
                </a:solidFill>
                <a:latin typeface="Arial"/>
                <a:ea typeface="Arial"/>
                <a:cs typeface="Arial"/>
              </a:defRPr>
            </a:pPr>
            <a:r>
              <a:rPr sz="1125" b="0">
                <a:solidFill>
                  <a:srgbClr val="17212B"/>
                </a:solidFill>
                <a:latin typeface="Arial"/>
                <a:ea typeface="Arial"/>
                <a:cs typeface="Arial"/>
              </a:rPr>
              <a:t>(Derived from current OCI Native sizing)</a:t>
            </a:r>
          </a:p>
        </p:txBody>
      </p:sp>
      <p:pic>
        <p:nvPicPr>
          <p:cNvPr id="118" name=""/>
          <p:cNvPicPr>
            <a:picLocks xmlns:a="http://schemas.openxmlformats.org/drawingml/2006/main" noChangeAspect="1"/>
          </p:cNvPicPr>
          <p:nvPr/>
        </p:nvPicPr>
        <p:blipFill>
          <a:blip xmlns:r="http://schemas.openxmlformats.org/officeDocument/2006/relationships" xmlns:a="http://schemas.openxmlformats.org/drawingml/2006/main" r:embed="Re334293b2d824656"/>
          <a:stretch xmlns:a="http://schemas.openxmlformats.org/drawingml/2006/main"/>
        </p:blipFill>
        <p:spPr>
          <a:xfrm xmlns:a="http://schemas.openxmlformats.org/drawingml/2006/main">
            <a:off x="723900" y="3648075"/>
            <a:ext cx="323850" cy="323850"/>
          </a:xfrm>
          <a:prstGeom xmlns:a="http://schemas.openxmlformats.org/drawingml/2006/main" prst="rect">
            <a:avLst/>
          </a:prstGeom>
        </p:spPr>
      </p:pic>
      <p:sp>
        <p:nvSpPr>
          <p:cNvPr id="36" name="editable-native-assumptions-shapes-background">
            <a:extLst xmlns:a="http://schemas.openxmlformats.org/drawingml/2006/main">
              <a:ext uri="{FF2B5EF4-FFF2-40B4-BE49-F238E27FC236}">
                <a16:creationId xmlns:a16="http://schemas.microsoft.com/office/drawing/2014/main" id="{F0C8CF99-DE20-4865-8660-F40087DEABEB}"/>
              </a:ext>
            </a:extLst>
          </p:cNvPr>
          <p:cNvSpPr>
            <a:spLocks xmlns:a="http://schemas.openxmlformats.org/drawingml/2006/main" noGrp="1"/>
          </p:cNvSpPr>
          <p:nvPr/>
        </p:nvSpPr>
        <p:spPr>
          <a:xfrm xmlns:a="http://schemas.openxmlformats.org/drawingml/2006/main">
            <a:off x="400050" y="4048125"/>
            <a:ext cx="11382375"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D6DBD7"/>
            </a:solidFill>
          </a:ln>
        </p:spPr>
      </p:sp>
      <p:sp>
        <p:nvSpPr>
          <p:cNvPr id="37" name="editable-native-assumptions-shapes-icon-divider">
            <a:extLst xmlns:a="http://schemas.openxmlformats.org/drawingml/2006/main">
              <a:ext uri="{FF2B5EF4-FFF2-40B4-BE49-F238E27FC236}">
                <a16:creationId xmlns:a16="http://schemas.microsoft.com/office/drawing/2014/main" id="{31B4AA80-F211-47A2-A056-F8238996FBE2}"/>
              </a:ext>
            </a:extLst>
          </p:cNvPr>
          <p:cNvSpPr>
            <a:spLocks xmlns:a="http://schemas.openxmlformats.org/drawingml/2006/main" noGrp="1"/>
          </p:cNvSpPr>
          <p:nvPr/>
        </p:nvSpPr>
        <p:spPr>
          <a:xfrm xmlns:a="http://schemas.openxmlformats.org/drawingml/2006/main">
            <a:off x="1590675" y="4048125"/>
            <a:ext cx="9525" cy="38100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38" name="editable-native-assumptions-shapes-label-divider">
            <a:extLst xmlns:a="http://schemas.openxmlformats.org/drawingml/2006/main">
              <a:ext uri="{FF2B5EF4-FFF2-40B4-BE49-F238E27FC236}">
                <a16:creationId xmlns:a16="http://schemas.microsoft.com/office/drawing/2014/main" id="{B1374690-1085-4901-8C08-B6B68E2E62E3}"/>
              </a:ext>
            </a:extLst>
          </p:cNvPr>
          <p:cNvSpPr>
            <a:spLocks xmlns:a="http://schemas.openxmlformats.org/drawingml/2006/main" noGrp="1"/>
          </p:cNvSpPr>
          <p:nvPr/>
        </p:nvSpPr>
        <p:spPr>
          <a:xfrm xmlns:a="http://schemas.openxmlformats.org/drawingml/2006/main">
            <a:off x="4638675" y="4048125"/>
            <a:ext cx="9525" cy="38100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39" name="editable-native-assumptions-shapes-label">
            <a:extLst xmlns:a="http://schemas.openxmlformats.org/drawingml/2006/main">
              <a:ext uri="{FF2B5EF4-FFF2-40B4-BE49-F238E27FC236}">
                <a16:creationId xmlns:a16="http://schemas.microsoft.com/office/drawing/2014/main" id="{A8AACA22-90DA-4A27-9EBC-A52392F255A4}"/>
              </a:ext>
            </a:extLst>
          </p:cNvPr>
          <p:cNvSpPr>
            <a:spLocks xmlns:a="http://schemas.openxmlformats.org/drawingml/2006/main" noGrp="1"/>
          </p:cNvSpPr>
          <p:nvPr/>
        </p:nvSpPr>
        <p:spPr>
          <a:xfrm xmlns:a="http://schemas.openxmlformats.org/drawingml/2006/main">
            <a:off x="1781175" y="4086225"/>
            <a:ext cx="2724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200" b="1">
                <a:solidFill>
                  <a:srgbClr val="17212B"/>
                </a:solidFill>
                <a:latin typeface="Arial"/>
                <a:ea typeface="Arial"/>
                <a:cs typeface="Arial"/>
              </a:defRPr>
            </a:pPr>
            <a:r>
              <a:rPr sz="1200" b="1">
                <a:solidFill>
                  <a:srgbClr val="17212B"/>
                </a:solidFill>
                <a:latin typeface="Arial"/>
                <a:ea typeface="Arial"/>
                <a:cs typeface="Arial"/>
              </a:rPr>
              <a:t>OCI target shapes</a:t>
            </a:r>
          </a:p>
        </p:txBody>
      </p:sp>
      <p:sp>
        <p:nvSpPr>
          <p:cNvPr id="40" name="editable-native-assumptions-shapes">
            <a:extLst xmlns:a="http://schemas.openxmlformats.org/drawingml/2006/main">
              <a:ext uri="{FF2B5EF4-FFF2-40B4-BE49-F238E27FC236}">
                <a16:creationId xmlns:a16="http://schemas.microsoft.com/office/drawing/2014/main" id="{0B0690C3-52F1-4D28-A4A6-A09D3481584C}"/>
              </a:ext>
            </a:extLst>
          </p:cNvPr>
          <p:cNvSpPr>
            <a:spLocks xmlns:a="http://schemas.openxmlformats.org/drawingml/2006/main" noGrp="1"/>
          </p:cNvSpPr>
          <p:nvPr/>
        </p:nvSpPr>
        <p:spPr>
          <a:xfrm xmlns:a="http://schemas.openxmlformats.org/drawingml/2006/main">
            <a:off x="4848225" y="4086225"/>
            <a:ext cx="6800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125" b="0">
                <a:solidFill>
                  <a:srgbClr val="17212B"/>
                </a:solidFill>
                <a:latin typeface="Arial"/>
                <a:ea typeface="Arial"/>
                <a:cs typeface="Arial"/>
              </a:defRPr>
            </a:pPr>
            <a:r>
              <a:rPr sz="1125" b="0">
                <a:solidFill>
                  <a:srgbClr val="17212B"/>
                </a:solidFill>
                <a:latin typeface="Arial"/>
                <a:ea typeface="Arial"/>
                <a:cs typeface="Arial"/>
              </a:rPr>
              <a:t>Configured per VM in Native Sizing Inputs</a:t>
            </a:r>
          </a:p>
        </p:txBody>
      </p:sp>
      <p:pic>
        <p:nvPicPr>
          <p:cNvPr id="124" name=""/>
          <p:cNvPicPr>
            <a:picLocks xmlns:a="http://schemas.openxmlformats.org/drawingml/2006/main" noChangeAspect="1"/>
          </p:cNvPicPr>
          <p:nvPr/>
        </p:nvPicPr>
        <p:blipFill>
          <a:blip xmlns:r="http://schemas.openxmlformats.org/officeDocument/2006/relationships" xmlns:a="http://schemas.openxmlformats.org/drawingml/2006/main" r:embed="Rbd8e4503d75d4ca6"/>
          <a:stretch xmlns:a="http://schemas.openxmlformats.org/drawingml/2006/main"/>
        </p:blipFill>
        <p:spPr>
          <a:xfrm xmlns:a="http://schemas.openxmlformats.org/drawingml/2006/main">
            <a:off x="723900" y="4095750"/>
            <a:ext cx="323850" cy="323850"/>
          </a:xfrm>
          <a:prstGeom xmlns:a="http://schemas.openxmlformats.org/drawingml/2006/main" prst="rect">
            <a:avLst/>
          </a:prstGeom>
        </p:spPr>
      </p:pic>
      <p:sp>
        <p:nvSpPr>
          <p:cNvPr id="42" name="editable-native-assumptions-ocpu-background">
            <a:extLst xmlns:a="http://schemas.openxmlformats.org/drawingml/2006/main">
              <a:ext uri="{FF2B5EF4-FFF2-40B4-BE49-F238E27FC236}">
                <a16:creationId xmlns:a16="http://schemas.microsoft.com/office/drawing/2014/main" id="{0217A2A8-CD87-429C-86C9-01EE1C04B470}"/>
              </a:ext>
            </a:extLst>
          </p:cNvPr>
          <p:cNvSpPr>
            <a:spLocks xmlns:a="http://schemas.openxmlformats.org/drawingml/2006/main" noGrp="1"/>
          </p:cNvSpPr>
          <p:nvPr/>
        </p:nvSpPr>
        <p:spPr>
          <a:xfrm xmlns:a="http://schemas.openxmlformats.org/drawingml/2006/main">
            <a:off x="400050" y="4429125"/>
            <a:ext cx="11382375"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D6DBD7"/>
            </a:solidFill>
          </a:ln>
        </p:spPr>
      </p:sp>
      <p:sp>
        <p:nvSpPr>
          <p:cNvPr id="43" name="editable-native-assumptions-ocpu-icon-divider">
            <a:extLst xmlns:a="http://schemas.openxmlformats.org/drawingml/2006/main">
              <a:ext uri="{FF2B5EF4-FFF2-40B4-BE49-F238E27FC236}">
                <a16:creationId xmlns:a16="http://schemas.microsoft.com/office/drawing/2014/main" id="{102FBA82-B48E-4818-8780-ACCF0B7A5564}"/>
              </a:ext>
            </a:extLst>
          </p:cNvPr>
          <p:cNvSpPr>
            <a:spLocks xmlns:a="http://schemas.openxmlformats.org/drawingml/2006/main" noGrp="1"/>
          </p:cNvSpPr>
          <p:nvPr/>
        </p:nvSpPr>
        <p:spPr>
          <a:xfrm xmlns:a="http://schemas.openxmlformats.org/drawingml/2006/main">
            <a:off x="1590675" y="4429125"/>
            <a:ext cx="9525" cy="38100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44" name="editable-native-assumptions-ocpu-label-divider">
            <a:extLst xmlns:a="http://schemas.openxmlformats.org/drawingml/2006/main">
              <a:ext uri="{FF2B5EF4-FFF2-40B4-BE49-F238E27FC236}">
                <a16:creationId xmlns:a16="http://schemas.microsoft.com/office/drawing/2014/main" id="{A6D2C2F5-0B00-4C16-99EE-398179EBA02C}"/>
              </a:ext>
            </a:extLst>
          </p:cNvPr>
          <p:cNvSpPr>
            <a:spLocks xmlns:a="http://schemas.openxmlformats.org/drawingml/2006/main" noGrp="1"/>
          </p:cNvSpPr>
          <p:nvPr/>
        </p:nvSpPr>
        <p:spPr>
          <a:xfrm xmlns:a="http://schemas.openxmlformats.org/drawingml/2006/main">
            <a:off x="4638675" y="4429125"/>
            <a:ext cx="9525" cy="38100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45" name="editable-native-assumptions-ocpu-label">
            <a:extLst xmlns:a="http://schemas.openxmlformats.org/drawingml/2006/main">
              <a:ext uri="{FF2B5EF4-FFF2-40B4-BE49-F238E27FC236}">
                <a16:creationId xmlns:a16="http://schemas.microsoft.com/office/drawing/2014/main" id="{D915AD43-F2C5-44BF-B9D1-3623E3490AF0}"/>
              </a:ext>
            </a:extLst>
          </p:cNvPr>
          <p:cNvSpPr>
            <a:spLocks xmlns:a="http://schemas.openxmlformats.org/drawingml/2006/main" noGrp="1"/>
          </p:cNvSpPr>
          <p:nvPr/>
        </p:nvSpPr>
        <p:spPr>
          <a:xfrm xmlns:a="http://schemas.openxmlformats.org/drawingml/2006/main">
            <a:off x="1781175" y="4467225"/>
            <a:ext cx="2724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200" b="1">
                <a:solidFill>
                  <a:srgbClr val="17212B"/>
                </a:solidFill>
                <a:latin typeface="Arial"/>
                <a:ea typeface="Arial"/>
                <a:cs typeface="Arial"/>
              </a:defRPr>
            </a:pPr>
            <a:r>
              <a:rPr sz="1200" b="1">
                <a:solidFill>
                  <a:srgbClr val="17212B"/>
                </a:solidFill>
                <a:latin typeface="Arial"/>
                <a:ea typeface="Arial"/>
                <a:cs typeface="Arial"/>
              </a:rPr>
              <a:t>OCPU allocation</a:t>
            </a:r>
          </a:p>
        </p:txBody>
      </p:sp>
      <p:sp>
        <p:nvSpPr>
          <p:cNvPr id="46" name="editable-native-assumptions-ocpu">
            <a:extLst xmlns:a="http://schemas.openxmlformats.org/drawingml/2006/main">
              <a:ext uri="{FF2B5EF4-FFF2-40B4-BE49-F238E27FC236}">
                <a16:creationId xmlns:a16="http://schemas.microsoft.com/office/drawing/2014/main" id="{224C8F15-D2DC-4F14-973F-99CB885ABB75}"/>
              </a:ext>
            </a:extLst>
          </p:cNvPr>
          <p:cNvSpPr>
            <a:spLocks xmlns:a="http://schemas.openxmlformats.org/drawingml/2006/main" noGrp="1"/>
          </p:cNvSpPr>
          <p:nvPr/>
        </p:nvSpPr>
        <p:spPr>
          <a:xfrm xmlns:a="http://schemas.openxmlformats.org/drawingml/2006/main">
            <a:off x="4848225" y="4467225"/>
            <a:ext cx="6800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125" b="0">
                <a:solidFill>
                  <a:srgbClr val="17212B"/>
                </a:solidFill>
                <a:latin typeface="Arial"/>
                <a:ea typeface="Arial"/>
                <a:cs typeface="Arial"/>
              </a:defRPr>
            </a:pPr>
            <a:r>
              <a:rPr sz="1125" b="0">
                <a:solidFill>
                  <a:srgbClr val="17212B"/>
                </a:solidFill>
                <a:latin typeface="Arial"/>
                <a:ea typeface="Arial"/>
                <a:cs typeface="Arial"/>
              </a:rPr>
              <a:t>Configured per VM</a:t>
            </a:r>
          </a:p>
        </p:txBody>
      </p:sp>
      <p:pic>
        <p:nvPicPr>
          <p:cNvPr id="130" name=""/>
          <p:cNvPicPr>
            <a:picLocks xmlns:a="http://schemas.openxmlformats.org/drawingml/2006/main" noChangeAspect="1"/>
          </p:cNvPicPr>
          <p:nvPr/>
        </p:nvPicPr>
        <p:blipFill>
          <a:blip xmlns:r="http://schemas.openxmlformats.org/officeDocument/2006/relationships" xmlns:a="http://schemas.openxmlformats.org/drawingml/2006/main" r:embed="R858885d355124eef"/>
          <a:stretch xmlns:a="http://schemas.openxmlformats.org/drawingml/2006/main"/>
        </p:blipFill>
        <p:spPr>
          <a:xfrm xmlns:a="http://schemas.openxmlformats.org/drawingml/2006/main">
            <a:off x="723900" y="4476750"/>
            <a:ext cx="323850" cy="323850"/>
          </a:xfrm>
          <a:prstGeom xmlns:a="http://schemas.openxmlformats.org/drawingml/2006/main" prst="rect">
            <a:avLst/>
          </a:prstGeom>
        </p:spPr>
      </p:pic>
      <p:sp>
        <p:nvSpPr>
          <p:cNvPr id="48" name="editable-native-assumptions-burst-background">
            <a:extLst xmlns:a="http://schemas.openxmlformats.org/drawingml/2006/main">
              <a:ext uri="{FF2B5EF4-FFF2-40B4-BE49-F238E27FC236}">
                <a16:creationId xmlns:a16="http://schemas.microsoft.com/office/drawing/2014/main" id="{02F84B46-6620-460B-9710-01A0DA1B0EDA}"/>
              </a:ext>
            </a:extLst>
          </p:cNvPr>
          <p:cNvSpPr>
            <a:spLocks xmlns:a="http://schemas.openxmlformats.org/drawingml/2006/main" noGrp="1"/>
          </p:cNvSpPr>
          <p:nvPr/>
        </p:nvSpPr>
        <p:spPr>
          <a:xfrm xmlns:a="http://schemas.openxmlformats.org/drawingml/2006/main">
            <a:off x="400050" y="4810125"/>
            <a:ext cx="11382375"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D6DBD7"/>
            </a:solidFill>
          </a:ln>
        </p:spPr>
      </p:sp>
      <p:sp>
        <p:nvSpPr>
          <p:cNvPr id="49" name="editable-native-assumptions-burst-icon-divider">
            <a:extLst xmlns:a="http://schemas.openxmlformats.org/drawingml/2006/main">
              <a:ext uri="{FF2B5EF4-FFF2-40B4-BE49-F238E27FC236}">
                <a16:creationId xmlns:a16="http://schemas.microsoft.com/office/drawing/2014/main" id="{DA625918-C999-4A67-8C16-C5ABAB109B94}"/>
              </a:ext>
            </a:extLst>
          </p:cNvPr>
          <p:cNvSpPr>
            <a:spLocks xmlns:a="http://schemas.openxmlformats.org/drawingml/2006/main" noGrp="1"/>
          </p:cNvSpPr>
          <p:nvPr/>
        </p:nvSpPr>
        <p:spPr>
          <a:xfrm xmlns:a="http://schemas.openxmlformats.org/drawingml/2006/main">
            <a:off x="1590675" y="4810125"/>
            <a:ext cx="9525" cy="38100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50" name="editable-native-assumptions-burst-label-divider">
            <a:extLst xmlns:a="http://schemas.openxmlformats.org/drawingml/2006/main">
              <a:ext uri="{FF2B5EF4-FFF2-40B4-BE49-F238E27FC236}">
                <a16:creationId xmlns:a16="http://schemas.microsoft.com/office/drawing/2014/main" id="{AC769EC5-7935-4C1B-8D24-93394DDE60E8}"/>
              </a:ext>
            </a:extLst>
          </p:cNvPr>
          <p:cNvSpPr>
            <a:spLocks xmlns:a="http://schemas.openxmlformats.org/drawingml/2006/main" noGrp="1"/>
          </p:cNvSpPr>
          <p:nvPr/>
        </p:nvSpPr>
        <p:spPr>
          <a:xfrm xmlns:a="http://schemas.openxmlformats.org/drawingml/2006/main">
            <a:off x="4638675" y="4810125"/>
            <a:ext cx="9525" cy="38100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51" name="editable-native-assumptions-burst-label">
            <a:extLst xmlns:a="http://schemas.openxmlformats.org/drawingml/2006/main">
              <a:ext uri="{FF2B5EF4-FFF2-40B4-BE49-F238E27FC236}">
                <a16:creationId xmlns:a16="http://schemas.microsoft.com/office/drawing/2014/main" id="{5AC67800-A3BC-43D3-9498-80170471ADA2}"/>
              </a:ext>
            </a:extLst>
          </p:cNvPr>
          <p:cNvSpPr>
            <a:spLocks xmlns:a="http://schemas.openxmlformats.org/drawingml/2006/main" noGrp="1"/>
          </p:cNvSpPr>
          <p:nvPr/>
        </p:nvSpPr>
        <p:spPr>
          <a:xfrm xmlns:a="http://schemas.openxmlformats.org/drawingml/2006/main">
            <a:off x="1781175" y="4848225"/>
            <a:ext cx="2724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200" b="1">
                <a:solidFill>
                  <a:srgbClr val="17212B"/>
                </a:solidFill>
                <a:latin typeface="Arial"/>
                <a:ea typeface="Arial"/>
                <a:cs typeface="Arial"/>
              </a:defRPr>
            </a:pPr>
            <a:r>
              <a:rPr sz="1200" b="1">
                <a:solidFill>
                  <a:srgbClr val="17212B"/>
                </a:solidFill>
                <a:latin typeface="Arial"/>
                <a:ea typeface="Arial"/>
                <a:cs typeface="Arial"/>
              </a:rPr>
              <a:t>Burst setting</a:t>
            </a:r>
          </a:p>
        </p:txBody>
      </p:sp>
      <p:sp>
        <p:nvSpPr>
          <p:cNvPr id="52" name="editable-native-assumptions-burst">
            <a:extLst xmlns:a="http://schemas.openxmlformats.org/drawingml/2006/main">
              <a:ext uri="{FF2B5EF4-FFF2-40B4-BE49-F238E27FC236}">
                <a16:creationId xmlns:a16="http://schemas.microsoft.com/office/drawing/2014/main" id="{CB299415-1AB8-4157-A478-010DF8A0923C}"/>
              </a:ext>
            </a:extLst>
          </p:cNvPr>
          <p:cNvSpPr>
            <a:spLocks xmlns:a="http://schemas.openxmlformats.org/drawingml/2006/main" noGrp="1"/>
          </p:cNvSpPr>
          <p:nvPr/>
        </p:nvSpPr>
        <p:spPr>
          <a:xfrm xmlns:a="http://schemas.openxmlformats.org/drawingml/2006/main">
            <a:off x="4848225" y="4848225"/>
            <a:ext cx="6800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125" b="0">
                <a:solidFill>
                  <a:srgbClr val="17212B"/>
                </a:solidFill>
                <a:latin typeface="Arial"/>
                <a:ea typeface="Arial"/>
                <a:cs typeface="Arial"/>
              </a:defRPr>
            </a:pPr>
            <a:r>
              <a:rPr sz="1125" b="0">
                <a:solidFill>
                  <a:srgbClr val="17212B"/>
                </a:solidFill>
                <a:latin typeface="Arial"/>
                <a:ea typeface="Arial"/>
                <a:cs typeface="Arial"/>
              </a:rPr>
              <a:t>Configured per VM</a:t>
            </a:r>
          </a:p>
        </p:txBody>
      </p:sp>
      <p:pic>
        <p:nvPicPr>
          <p:cNvPr id="136" name=""/>
          <p:cNvPicPr>
            <a:picLocks xmlns:a="http://schemas.openxmlformats.org/drawingml/2006/main" noChangeAspect="1"/>
          </p:cNvPicPr>
          <p:nvPr/>
        </p:nvPicPr>
        <p:blipFill>
          <a:blip xmlns:r="http://schemas.openxmlformats.org/officeDocument/2006/relationships" xmlns:a="http://schemas.openxmlformats.org/drawingml/2006/main" r:embed="R54bac7ebc6644b1a"/>
          <a:stretch xmlns:a="http://schemas.openxmlformats.org/drawingml/2006/main"/>
        </p:blipFill>
        <p:spPr>
          <a:xfrm xmlns:a="http://schemas.openxmlformats.org/drawingml/2006/main">
            <a:off x="723900" y="4857750"/>
            <a:ext cx="323850" cy="323850"/>
          </a:xfrm>
          <a:prstGeom xmlns:a="http://schemas.openxmlformats.org/drawingml/2006/main" prst="rect">
            <a:avLst/>
          </a:prstGeom>
        </p:spPr>
      </p:pic>
      <p:sp>
        <p:nvSpPr>
          <p:cNvPr id="54" name="editable-native-assumptions-license-background">
            <a:extLst xmlns:a="http://schemas.openxmlformats.org/drawingml/2006/main">
              <a:ext uri="{FF2B5EF4-FFF2-40B4-BE49-F238E27FC236}">
                <a16:creationId xmlns:a16="http://schemas.microsoft.com/office/drawing/2014/main" id="{913E915A-18CF-41DA-B526-C920718DF0FE}"/>
              </a:ext>
            </a:extLst>
          </p:cNvPr>
          <p:cNvSpPr>
            <a:spLocks xmlns:a="http://schemas.openxmlformats.org/drawingml/2006/main" noGrp="1"/>
          </p:cNvSpPr>
          <p:nvPr/>
        </p:nvSpPr>
        <p:spPr>
          <a:xfrm xmlns:a="http://schemas.openxmlformats.org/drawingml/2006/main">
            <a:off x="400050" y="5191125"/>
            <a:ext cx="11382375"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D6DBD7"/>
            </a:solidFill>
          </a:ln>
        </p:spPr>
      </p:sp>
      <p:sp>
        <p:nvSpPr>
          <p:cNvPr id="55" name="editable-native-assumptions-license-icon-divider">
            <a:extLst xmlns:a="http://schemas.openxmlformats.org/drawingml/2006/main">
              <a:ext uri="{FF2B5EF4-FFF2-40B4-BE49-F238E27FC236}">
                <a16:creationId xmlns:a16="http://schemas.microsoft.com/office/drawing/2014/main" id="{BD30CE61-0BD7-4FDE-AA22-11B48A03B007}"/>
              </a:ext>
            </a:extLst>
          </p:cNvPr>
          <p:cNvSpPr>
            <a:spLocks xmlns:a="http://schemas.openxmlformats.org/drawingml/2006/main" noGrp="1"/>
          </p:cNvSpPr>
          <p:nvPr/>
        </p:nvSpPr>
        <p:spPr>
          <a:xfrm xmlns:a="http://schemas.openxmlformats.org/drawingml/2006/main">
            <a:off x="1590675" y="5191125"/>
            <a:ext cx="9525" cy="38100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56" name="editable-native-assumptions-license-label-divider">
            <a:extLst xmlns:a="http://schemas.openxmlformats.org/drawingml/2006/main">
              <a:ext uri="{FF2B5EF4-FFF2-40B4-BE49-F238E27FC236}">
                <a16:creationId xmlns:a16="http://schemas.microsoft.com/office/drawing/2014/main" id="{C5C438A8-F652-4713-8113-70EED7852903}"/>
              </a:ext>
            </a:extLst>
          </p:cNvPr>
          <p:cNvSpPr>
            <a:spLocks xmlns:a="http://schemas.openxmlformats.org/drawingml/2006/main" noGrp="1"/>
          </p:cNvSpPr>
          <p:nvPr/>
        </p:nvSpPr>
        <p:spPr>
          <a:xfrm xmlns:a="http://schemas.openxmlformats.org/drawingml/2006/main">
            <a:off x="4638675" y="5191125"/>
            <a:ext cx="9525" cy="38100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57" name="editable-native-assumptions-license-label">
            <a:extLst xmlns:a="http://schemas.openxmlformats.org/drawingml/2006/main">
              <a:ext uri="{FF2B5EF4-FFF2-40B4-BE49-F238E27FC236}">
                <a16:creationId xmlns:a16="http://schemas.microsoft.com/office/drawing/2014/main" id="{869D0715-B372-47E3-97C7-6F153EA74BB4}"/>
              </a:ext>
            </a:extLst>
          </p:cNvPr>
          <p:cNvSpPr>
            <a:spLocks xmlns:a="http://schemas.openxmlformats.org/drawingml/2006/main" noGrp="1"/>
          </p:cNvSpPr>
          <p:nvPr/>
        </p:nvSpPr>
        <p:spPr>
          <a:xfrm xmlns:a="http://schemas.openxmlformats.org/drawingml/2006/main">
            <a:off x="1781175" y="5229225"/>
            <a:ext cx="2724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200" b="1">
                <a:solidFill>
                  <a:srgbClr val="17212B"/>
                </a:solidFill>
                <a:latin typeface="Arial"/>
                <a:ea typeface="Arial"/>
                <a:cs typeface="Arial"/>
              </a:defRPr>
            </a:pPr>
            <a:r>
              <a:rPr sz="1200" b="1">
                <a:solidFill>
                  <a:srgbClr val="17212B"/>
                </a:solidFill>
                <a:latin typeface="Arial"/>
                <a:ea typeface="Arial"/>
                <a:cs typeface="Arial"/>
              </a:rPr>
              <a:t>OS licensing</a:t>
            </a:r>
          </a:p>
        </p:txBody>
      </p:sp>
      <p:sp>
        <p:nvSpPr>
          <p:cNvPr id="58" name="editable-native-assumptions-license">
            <a:extLst xmlns:a="http://schemas.openxmlformats.org/drawingml/2006/main">
              <a:ext uri="{FF2B5EF4-FFF2-40B4-BE49-F238E27FC236}">
                <a16:creationId xmlns:a16="http://schemas.microsoft.com/office/drawing/2014/main" id="{7A8DD20E-A33A-4A16-BE4A-200E5911793B}"/>
              </a:ext>
            </a:extLst>
          </p:cNvPr>
          <p:cNvSpPr>
            <a:spLocks xmlns:a="http://schemas.openxmlformats.org/drawingml/2006/main" noGrp="1"/>
          </p:cNvSpPr>
          <p:nvPr/>
        </p:nvSpPr>
        <p:spPr>
          <a:xfrm xmlns:a="http://schemas.openxmlformats.org/drawingml/2006/main">
            <a:off x="4848225" y="5229225"/>
            <a:ext cx="6800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125" b="0">
                <a:solidFill>
                  <a:srgbClr val="17212B"/>
                </a:solidFill>
                <a:latin typeface="Arial"/>
                <a:ea typeface="Arial"/>
                <a:cs typeface="Arial"/>
              </a:defRPr>
            </a:pPr>
            <a:r>
              <a:rPr sz="1125" b="0">
                <a:solidFill>
                  <a:srgbClr val="17212B"/>
                </a:solidFill>
                <a:latin typeface="Arial"/>
                <a:ea typeface="Arial"/>
                <a:cs typeface="Arial"/>
              </a:rPr>
              <a:t>Configured per VM</a:t>
            </a:r>
          </a:p>
        </p:txBody>
      </p:sp>
      <p:pic>
        <p:nvPicPr>
          <p:cNvPr id="142" name=""/>
          <p:cNvPicPr>
            <a:picLocks xmlns:a="http://schemas.openxmlformats.org/drawingml/2006/main" noChangeAspect="1"/>
          </p:cNvPicPr>
          <p:nvPr/>
        </p:nvPicPr>
        <p:blipFill>
          <a:blip xmlns:r="http://schemas.openxmlformats.org/officeDocument/2006/relationships" xmlns:a="http://schemas.openxmlformats.org/drawingml/2006/main" r:embed="Reb31d60d3b714f8f"/>
          <a:stretch xmlns:a="http://schemas.openxmlformats.org/drawingml/2006/main"/>
        </p:blipFill>
        <p:spPr>
          <a:xfrm xmlns:a="http://schemas.openxmlformats.org/drawingml/2006/main">
            <a:off x="723900" y="5238750"/>
            <a:ext cx="323850" cy="323850"/>
          </a:xfrm>
          <a:prstGeom xmlns:a="http://schemas.openxmlformats.org/drawingml/2006/main" prst="rect">
            <a:avLst/>
          </a:prstGeom>
        </p:spPr>
      </p:pic>
      <p:sp>
        <p:nvSpPr>
          <p:cNvPr id="60" name="native-assumptions-block-volume">
            <a:extLst xmlns:a="http://schemas.openxmlformats.org/drawingml/2006/main">
              <a:ext uri="{FF2B5EF4-FFF2-40B4-BE49-F238E27FC236}">
                <a16:creationId xmlns:a16="http://schemas.microsoft.com/office/drawing/2014/main" id="{2D51AAA1-895A-413F-AE3F-291A0A41705F}"/>
              </a:ext>
            </a:extLst>
          </p:cNvPr>
          <p:cNvSpPr>
            <a:spLocks xmlns:a="http://schemas.openxmlformats.org/drawingml/2006/main" noGrp="1"/>
          </p:cNvSpPr>
          <p:nvPr/>
        </p:nvSpPr>
        <p:spPr>
          <a:xfrm xmlns:a="http://schemas.openxmlformats.org/drawingml/2006/main">
            <a:off x="400050" y="5572125"/>
            <a:ext cx="11382375" cy="285750"/>
          </a:xfrm>
          <a:prstGeom xmlns:a="http://schemas.openxmlformats.org/drawingml/2006/main" prst="roundRect">
            <a:avLst>
              <a:gd name="adj" fmla="val 26667"/>
            </a:avLst>
          </a:prstGeom>
          <a:solidFill xmlns:a="http://schemas.openxmlformats.org/drawingml/2006/main">
            <a:srgbClr val="00573F"/>
          </a:solidFill>
          <a:ln xmlns:a="http://schemas.openxmlformats.org/drawingml/2006/main" w="0">
            <a:noFill/>
          </a:ln>
        </p:spPr>
      </p:sp>
      <p:sp>
        <p:nvSpPr>
          <p:cNvPr id="61" name="native-assumptions-block-volume-label">
            <a:extLst xmlns:a="http://schemas.openxmlformats.org/drawingml/2006/main">
              <a:ext uri="{FF2B5EF4-FFF2-40B4-BE49-F238E27FC236}">
                <a16:creationId xmlns:a16="http://schemas.microsoft.com/office/drawing/2014/main" id="{A0018DA5-BA28-4788-B701-915DB4334533}"/>
              </a:ext>
            </a:extLst>
          </p:cNvPr>
          <p:cNvSpPr>
            <a:spLocks xmlns:a="http://schemas.openxmlformats.org/drawingml/2006/main" noGrp="1"/>
          </p:cNvSpPr>
          <p:nvPr/>
        </p:nvSpPr>
        <p:spPr>
          <a:xfrm xmlns:a="http://schemas.openxmlformats.org/drawingml/2006/main">
            <a:off x="609600" y="5600700"/>
            <a:ext cx="109632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8889"/>
          </a:bodyPr>
          <a:lstStyle xmlns:a="http://schemas.openxmlformats.org/drawingml/2006/main"/>
          <a:p xmlns:a="http://schemas.openxmlformats.org/drawingml/2006/main">
            <a:pPr algn="ctr">
              <a:buNone/>
              <a:defRPr sz="1125" b="1">
                <a:solidFill>
                  <a:srgbClr val="FFFFFF"/>
                </a:solidFill>
                <a:latin typeface="Arial"/>
                <a:ea typeface="Arial"/>
                <a:cs typeface="Arial"/>
              </a:defRPr>
            </a:pPr>
            <a:r>
              <a:rPr sz="1125" b="1">
                <a:solidFill>
                  <a:srgbClr val="FFFFFF"/>
                </a:solidFill>
                <a:latin typeface="Arial"/>
                <a:ea typeface="Arial"/>
                <a:cs typeface="Arial"/>
              </a:rPr>
              <a:t>Block Volume Policy</a:t>
            </a:r>
          </a:p>
        </p:txBody>
      </p:sp>
      <p:sp>
        <p:nvSpPr>
          <p:cNvPr id="62" name="editable-native-assumptions-vpu-background">
            <a:extLst xmlns:a="http://schemas.openxmlformats.org/drawingml/2006/main">
              <a:ext uri="{FF2B5EF4-FFF2-40B4-BE49-F238E27FC236}">
                <a16:creationId xmlns:a16="http://schemas.microsoft.com/office/drawing/2014/main" id="{4449722B-0030-4A87-8A21-2240901A883A}"/>
              </a:ext>
            </a:extLst>
          </p:cNvPr>
          <p:cNvSpPr>
            <a:spLocks xmlns:a="http://schemas.openxmlformats.org/drawingml/2006/main" noGrp="1"/>
          </p:cNvSpPr>
          <p:nvPr/>
        </p:nvSpPr>
        <p:spPr>
          <a:xfrm xmlns:a="http://schemas.openxmlformats.org/drawingml/2006/main">
            <a:off x="400050" y="5857875"/>
            <a:ext cx="11382375"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D6DBD7"/>
            </a:solidFill>
          </a:ln>
        </p:spPr>
      </p:sp>
      <p:sp>
        <p:nvSpPr>
          <p:cNvPr id="63" name="editable-native-assumptions-vpu-icon-divider">
            <a:extLst xmlns:a="http://schemas.openxmlformats.org/drawingml/2006/main">
              <a:ext uri="{FF2B5EF4-FFF2-40B4-BE49-F238E27FC236}">
                <a16:creationId xmlns:a16="http://schemas.microsoft.com/office/drawing/2014/main" id="{99BB68B0-C6AD-4494-A8D1-F4CA20322588}"/>
              </a:ext>
            </a:extLst>
          </p:cNvPr>
          <p:cNvSpPr>
            <a:spLocks xmlns:a="http://schemas.openxmlformats.org/drawingml/2006/main" noGrp="1"/>
          </p:cNvSpPr>
          <p:nvPr/>
        </p:nvSpPr>
        <p:spPr>
          <a:xfrm xmlns:a="http://schemas.openxmlformats.org/drawingml/2006/main">
            <a:off x="1590675" y="5857875"/>
            <a:ext cx="9525" cy="38100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64" name="editable-native-assumptions-vpu-label-divider">
            <a:extLst xmlns:a="http://schemas.openxmlformats.org/drawingml/2006/main">
              <a:ext uri="{FF2B5EF4-FFF2-40B4-BE49-F238E27FC236}">
                <a16:creationId xmlns:a16="http://schemas.microsoft.com/office/drawing/2014/main" id="{1ECF2766-75B0-497F-A7D9-2F7C87F9D127}"/>
              </a:ext>
            </a:extLst>
          </p:cNvPr>
          <p:cNvSpPr>
            <a:spLocks xmlns:a="http://schemas.openxmlformats.org/drawingml/2006/main" noGrp="1"/>
          </p:cNvSpPr>
          <p:nvPr/>
        </p:nvSpPr>
        <p:spPr>
          <a:xfrm xmlns:a="http://schemas.openxmlformats.org/drawingml/2006/main">
            <a:off x="4638675" y="5857875"/>
            <a:ext cx="9525" cy="381000"/>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65" name="editable-native-assumptions-vpu-label">
            <a:extLst xmlns:a="http://schemas.openxmlformats.org/drawingml/2006/main">
              <a:ext uri="{FF2B5EF4-FFF2-40B4-BE49-F238E27FC236}">
                <a16:creationId xmlns:a16="http://schemas.microsoft.com/office/drawing/2014/main" id="{77AA515C-3C4A-4DB6-AEB4-BD7DF5EE618E}"/>
              </a:ext>
            </a:extLst>
          </p:cNvPr>
          <p:cNvSpPr>
            <a:spLocks xmlns:a="http://schemas.openxmlformats.org/drawingml/2006/main" noGrp="1"/>
          </p:cNvSpPr>
          <p:nvPr/>
        </p:nvSpPr>
        <p:spPr>
          <a:xfrm xmlns:a="http://schemas.openxmlformats.org/drawingml/2006/main">
            <a:off x="1781175" y="5895975"/>
            <a:ext cx="2724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200" b="1">
                <a:solidFill>
                  <a:srgbClr val="17212B"/>
                </a:solidFill>
                <a:latin typeface="Arial"/>
                <a:ea typeface="Arial"/>
                <a:cs typeface="Arial"/>
              </a:defRPr>
            </a:pPr>
            <a:r>
              <a:rPr sz="1200" b="1">
                <a:solidFill>
                  <a:srgbClr val="17212B"/>
                </a:solidFill>
                <a:latin typeface="Arial"/>
                <a:ea typeface="Arial"/>
                <a:cs typeface="Arial"/>
              </a:rPr>
              <a:t>Block Volume performance</a:t>
            </a:r>
          </a:p>
        </p:txBody>
      </p:sp>
      <p:sp>
        <p:nvSpPr>
          <p:cNvPr id="66" name="editable-native-assumptions-vpu">
            <a:extLst xmlns:a="http://schemas.openxmlformats.org/drawingml/2006/main">
              <a:ext uri="{FF2B5EF4-FFF2-40B4-BE49-F238E27FC236}">
                <a16:creationId xmlns:a16="http://schemas.microsoft.com/office/drawing/2014/main" id="{FD43BE79-3B82-491F-B893-3830EFD79962}"/>
              </a:ext>
            </a:extLst>
          </p:cNvPr>
          <p:cNvSpPr>
            <a:spLocks xmlns:a="http://schemas.openxmlformats.org/drawingml/2006/main" noGrp="1"/>
          </p:cNvSpPr>
          <p:nvPr/>
        </p:nvSpPr>
        <p:spPr>
          <a:xfrm xmlns:a="http://schemas.openxmlformats.org/drawingml/2006/main">
            <a:off x="4848225" y="5895975"/>
            <a:ext cx="6800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125" b="0">
                <a:solidFill>
                  <a:srgbClr val="17212B"/>
                </a:solidFill>
                <a:latin typeface="Arial"/>
                <a:ea typeface="Arial"/>
                <a:cs typeface="Arial"/>
              </a:defRPr>
            </a:pPr>
            <a:r>
              <a:rPr sz="1125" b="0">
                <a:solidFill>
                  <a:srgbClr val="17212B"/>
                </a:solidFill>
                <a:latin typeface="Arial"/>
                <a:ea typeface="Arial"/>
                <a:cs typeface="Arial"/>
              </a:rPr>
              <a:t>VPU configured per VM</a:t>
            </a:r>
          </a:p>
        </p:txBody>
      </p:sp>
      <p:pic>
        <p:nvPicPr>
          <p:cNvPr id="150" name=""/>
          <p:cNvPicPr>
            <a:picLocks xmlns:a="http://schemas.openxmlformats.org/drawingml/2006/main" noChangeAspect="1"/>
          </p:cNvPicPr>
          <p:nvPr/>
        </p:nvPicPr>
        <p:blipFill>
          <a:blip xmlns:r="http://schemas.openxmlformats.org/officeDocument/2006/relationships" xmlns:a="http://schemas.openxmlformats.org/drawingml/2006/main" r:embed="R962b05af14364ab8"/>
          <a:stretch xmlns:a="http://schemas.openxmlformats.org/drawingml/2006/main"/>
        </p:blipFill>
        <p:spPr>
          <a:xfrm xmlns:a="http://schemas.openxmlformats.org/drawingml/2006/main">
            <a:off x="723900" y="5905500"/>
            <a:ext cx="323850" cy="323850"/>
          </a:xfrm>
          <a:prstGeom xmlns:a="http://schemas.openxmlformats.org/drawingml/2006/main" prst="rect">
            <a:avLst/>
          </a:prstGeom>
        </p:spPr>
      </p:pic>
      <p:sp>
        <p:nvSpPr>
          <p:cNvPr id="68" name="native-assumptions-frame">
            <a:extLst xmlns:a="http://schemas.openxmlformats.org/drawingml/2006/main">
              <a:ext uri="{FF2B5EF4-FFF2-40B4-BE49-F238E27FC236}">
                <a16:creationId xmlns:a16="http://schemas.microsoft.com/office/drawing/2014/main" id="{2D64BA79-2A76-4058-9D03-F71B4E41B933}"/>
              </a:ext>
            </a:extLst>
          </p:cNvPr>
          <p:cNvSpPr>
            <a:spLocks xmlns:a="http://schemas.openxmlformats.org/drawingml/2006/main" noGrp="1"/>
          </p:cNvSpPr>
          <p:nvPr/>
        </p:nvSpPr>
        <p:spPr>
          <a:xfrm xmlns:a="http://schemas.openxmlformats.org/drawingml/2006/main">
            <a:off x="400050" y="2143125"/>
            <a:ext cx="11382375" cy="4095750"/>
          </a:xfrm>
          <a:prstGeom xmlns:a="http://schemas.openxmlformats.org/drawingml/2006/main" prst="roundRect">
            <a:avLst>
              <a:gd name="adj" fmla="val 1860"/>
            </a:avLst>
          </a:prstGeom>
          <a:noFill xmlns:a="http://schemas.openxmlformats.org/drawingml/2006/main"/>
          <a:ln xmlns:a="http://schemas.openxmlformats.org/drawingml/2006/main" w="9525">
            <a:solidFill>
              <a:srgbClr val="D6DBD7"/>
            </a:solidFill>
          </a:ln>
        </p:spPr>
      </p:sp>
      <p:sp>
        <p:nvSpPr>
          <p:cNvPr id="69" name="native-assumptions-footer-rule">
            <a:extLst xmlns:a="http://schemas.openxmlformats.org/drawingml/2006/main">
              <a:ext uri="{FF2B5EF4-FFF2-40B4-BE49-F238E27FC236}">
                <a16:creationId xmlns:a16="http://schemas.microsoft.com/office/drawing/2014/main" id="{A025CD18-0664-4D78-9D12-975550C366E1}"/>
              </a:ext>
            </a:extLst>
          </p:cNvPr>
          <p:cNvSpPr>
            <a:spLocks xmlns:a="http://schemas.openxmlformats.org/drawingml/2006/main" noGrp="1"/>
          </p:cNvSpPr>
          <p:nvPr/>
        </p:nvSpPr>
        <p:spPr>
          <a:xfrm xmlns:a="http://schemas.openxmlformats.org/drawingml/2006/main">
            <a:off x="381000" y="6419850"/>
            <a:ext cx="11239500" cy="9525"/>
          </a:xfrm>
          <a:prstGeom xmlns:a="http://schemas.openxmlformats.org/drawingml/2006/main" prst="rect">
            <a:avLst/>
          </a:prstGeom>
          <a:solidFill xmlns:a="http://schemas.openxmlformats.org/drawingml/2006/main">
            <a:srgbClr val="BFC5C1"/>
          </a:solidFill>
          <a:ln xmlns:a="http://schemas.openxmlformats.org/drawingml/2006/main" w="9525">
            <a:solidFill>
              <a:srgbClr val="BFC5C1"/>
            </a:solidFill>
          </a:ln>
        </p:spPr>
      </p:sp>
      <p:sp>
        <p:nvSpPr>
          <p:cNvPr id="70" name="native-assumptions-confidential">
            <a:extLst xmlns:a="http://schemas.openxmlformats.org/drawingml/2006/main">
              <a:ext uri="{FF2B5EF4-FFF2-40B4-BE49-F238E27FC236}">
                <a16:creationId xmlns:a16="http://schemas.microsoft.com/office/drawing/2014/main" id="{245DDBE6-FA83-4393-8AD4-48384D82B93D}"/>
              </a:ext>
            </a:extLst>
          </p:cNvPr>
          <p:cNvSpPr>
            <a:spLocks xmlns:a="http://schemas.openxmlformats.org/drawingml/2006/main" noGrp="1"/>
          </p:cNvSpPr>
          <p:nvPr/>
        </p:nvSpPr>
        <p:spPr>
          <a:xfrm xmlns:a="http://schemas.openxmlformats.org/drawingml/2006/main">
            <a:off x="381000" y="6534150"/>
            <a:ext cx="3429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lgn="l">
              <a:buNone/>
              <a:defRPr sz="675" b="0">
                <a:solidFill>
                  <a:srgbClr val="6A716E"/>
                </a:solidFill>
                <a:latin typeface="Arial"/>
                <a:ea typeface="Arial"/>
                <a:cs typeface="Arial"/>
              </a:defRPr>
            </a:pPr>
            <a:r>
              <a:rPr sz="675" b="0">
                <a:solidFill>
                  <a:srgbClr val="6A716E"/>
                </a:solidFill>
                <a:latin typeface="Arial"/>
                <a:ea typeface="Arial"/>
                <a:cs typeface="Arial"/>
              </a:rPr>
              <a:t>Confidential - Oracle Restricted \ Employees Only</a:t>
            </a:r>
          </a:p>
        </p:txBody>
      </p:sp>
      <p:sp>
        <p:nvSpPr>
          <p:cNvPr id="71" name="native-assumptions-footer-label">
            <a:extLst xmlns:a="http://schemas.openxmlformats.org/drawingml/2006/main">
              <a:ext uri="{FF2B5EF4-FFF2-40B4-BE49-F238E27FC236}">
                <a16:creationId xmlns:a16="http://schemas.microsoft.com/office/drawing/2014/main" id="{8CDE6F07-8D6E-4CA5-8CF7-B64857564223}"/>
              </a:ext>
            </a:extLst>
          </p:cNvPr>
          <p:cNvSpPr>
            <a:spLocks xmlns:a="http://schemas.openxmlformats.org/drawingml/2006/main" noGrp="1"/>
          </p:cNvSpPr>
          <p:nvPr/>
        </p:nvSpPr>
        <p:spPr>
          <a:xfrm xmlns:a="http://schemas.openxmlformats.org/drawingml/2006/main">
            <a:off x="4381500" y="6534150"/>
            <a:ext cx="23812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lgn="l">
              <a:buNone/>
              <a:defRPr sz="675" b="0">
                <a:solidFill>
                  <a:srgbClr val="6A716E"/>
                </a:solidFill>
                <a:latin typeface="Arial"/>
                <a:ea typeface="Arial"/>
                <a:cs typeface="Arial"/>
              </a:defRPr>
            </a:pPr>
            <a:r>
              <a:rPr sz="675" b="0">
                <a:solidFill>
                  <a:srgbClr val="6A716E"/>
                </a:solidFill>
                <a:latin typeface="Arial"/>
                <a:ea typeface="Arial"/>
                <a:cs typeface="Arial"/>
              </a:rPr>
              <a:t>OCI Compute Customer Sizing</a:t>
            </a:r>
          </a:p>
        </p:txBody>
      </p:sp>
      <p:pic>
        <p:nvPicPr>
          <p:cNvPr id="155" name=""/>
          <p:cNvPicPr>
            <a:picLocks xmlns:a="http://schemas.openxmlformats.org/drawingml/2006/main" noChangeAspect="1"/>
          </p:cNvPicPr>
          <p:nvPr/>
        </p:nvPicPr>
        <p:blipFill>
          <a:blip xmlns:r="http://schemas.openxmlformats.org/officeDocument/2006/relationships" xmlns:a="http://schemas.openxmlformats.org/drawingml/2006/main" r:embed="R4cf47c3e4f444f2d"/>
          <a:stretch xmlns:a="http://schemas.openxmlformats.org/drawingml/2006/main"/>
        </p:blipFill>
        <p:spPr>
          <a:xfrm xmlns:a="http://schemas.openxmlformats.org/drawingml/2006/main">
            <a:off x="11334750" y="6477000"/>
            <a:ext cx="342900" cy="276225"/>
          </a:xfrm>
          <a:prstGeom xmlns:a="http://schemas.openxmlformats.org/drawingml/2006/main" prst="rect">
            <a:avLst/>
          </a:prstGeom>
        </p:spPr>
      </p:pic>
    </p:spTree>
    <p:extLst>
      <p:ext uri="{BB962C8B-B14F-4D97-AF65-F5344CB8AC3E}">
        <p14:creationId xmlns:p14="http://schemas.microsoft.com/office/powerpoint/2010/main" val="52626924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22" name="decorative-dot-600">
            <a:extLst xmlns:a="http://schemas.openxmlformats.org/drawingml/2006/main">
              <a:ext uri="{FF2B5EF4-FFF2-40B4-BE49-F238E27FC236}">
                <a16:creationId xmlns:a16="http://schemas.microsoft.com/office/drawing/2014/main" id="{EC70E801-EFA5-4009-A7AB-6720C2F1D9B5}"/>
              </a:ext>
            </a:extLst>
          </p:cNvPr>
          <p:cNvSpPr>
            <a:spLocks xmlns:a="http://schemas.openxmlformats.org/drawingml/2006/main" noGrp="1"/>
          </p:cNvSpPr>
          <p:nvPr/>
        </p:nvSpPr>
        <p:spPr>
          <a:xfrm xmlns:a="http://schemas.openxmlformats.org/drawingml/2006/main">
            <a:off x="5715000" y="514350"/>
            <a:ext cx="47625" cy="47625"/>
          </a:xfrm>
          <a:prstGeom xmlns:a="http://schemas.openxmlformats.org/drawingml/2006/main" prst="roundRect">
            <a:avLst>
              <a:gd name="adj" fmla="val 50000"/>
            </a:avLst>
          </a:prstGeom>
          <a:solidFill xmlns:a="http://schemas.openxmlformats.org/drawingml/2006/main">
            <a:srgbClr val="E4E6E4"/>
          </a:solidFill>
          <a:ln xmlns:a="http://schemas.openxmlformats.org/drawingml/2006/main" w="0">
            <a:noFill/>
          </a:ln>
        </p:spPr>
      </p:sp>
      <p:sp>
        <p:nvSpPr>
          <p:cNvPr id="2" name="decorative-dot-743">
            <a:extLst xmlns:a="http://schemas.openxmlformats.org/drawingml/2006/main">
              <a:ext uri="{FF2B5EF4-FFF2-40B4-BE49-F238E27FC236}">
                <a16:creationId xmlns:a16="http://schemas.microsoft.com/office/drawing/2014/main" id="{E925C5D6-0D82-410B-AB63-20998AB6A5CD}"/>
              </a:ext>
            </a:extLst>
          </p:cNvPr>
          <p:cNvSpPr>
            <a:spLocks xmlns:a="http://schemas.openxmlformats.org/drawingml/2006/main" noGrp="1"/>
          </p:cNvSpPr>
          <p:nvPr/>
        </p:nvSpPr>
        <p:spPr>
          <a:xfrm xmlns:a="http://schemas.openxmlformats.org/drawingml/2006/main">
            <a:off x="7077075" y="333375"/>
            <a:ext cx="38100" cy="38100"/>
          </a:xfrm>
          <a:prstGeom xmlns:a="http://schemas.openxmlformats.org/drawingml/2006/main" prst="roundRect">
            <a:avLst>
              <a:gd name="adj" fmla="val 50000"/>
            </a:avLst>
          </a:prstGeom>
          <a:solidFill xmlns:a="http://schemas.openxmlformats.org/drawingml/2006/main">
            <a:srgbClr val="E4E6E4"/>
          </a:solidFill>
          <a:ln xmlns:a="http://schemas.openxmlformats.org/drawingml/2006/main" w="0">
            <a:noFill/>
          </a:ln>
        </p:spPr>
      </p:sp>
      <p:sp>
        <p:nvSpPr>
          <p:cNvPr id="3" name="decorative-dot-1100">
            <a:extLst xmlns:a="http://schemas.openxmlformats.org/drawingml/2006/main">
              <a:ext uri="{FF2B5EF4-FFF2-40B4-BE49-F238E27FC236}">
                <a16:creationId xmlns:a16="http://schemas.microsoft.com/office/drawing/2014/main" id="{64B7DA7B-7816-4FF1-BAF1-C32D24D3830C}"/>
              </a:ext>
            </a:extLst>
          </p:cNvPr>
          <p:cNvSpPr>
            <a:spLocks xmlns:a="http://schemas.openxmlformats.org/drawingml/2006/main" noGrp="1"/>
          </p:cNvSpPr>
          <p:nvPr/>
        </p:nvSpPr>
        <p:spPr>
          <a:xfrm xmlns:a="http://schemas.openxmlformats.org/drawingml/2006/main">
            <a:off x="10477500" y="809625"/>
            <a:ext cx="47625" cy="47625"/>
          </a:xfrm>
          <a:prstGeom xmlns:a="http://schemas.openxmlformats.org/drawingml/2006/main" prst="roundRect">
            <a:avLst>
              <a:gd name="adj" fmla="val 50000"/>
            </a:avLst>
          </a:prstGeom>
          <a:solidFill xmlns:a="http://schemas.openxmlformats.org/drawingml/2006/main">
            <a:srgbClr val="E4E6E4"/>
          </a:solidFill>
          <a:ln xmlns:a="http://schemas.openxmlformats.org/drawingml/2006/main" w="0">
            <a:noFill/>
          </a:ln>
        </p:spPr>
      </p:sp>
      <p:sp>
        <p:nvSpPr>
          <p:cNvPr id="4" name="decorative-dot-1186">
            <a:extLst xmlns:a="http://schemas.openxmlformats.org/drawingml/2006/main">
              <a:ext uri="{FF2B5EF4-FFF2-40B4-BE49-F238E27FC236}">
                <a16:creationId xmlns:a16="http://schemas.microsoft.com/office/drawing/2014/main" id="{63C04F89-4BC0-4BFC-9CD9-5FA080D1766D}"/>
              </a:ext>
            </a:extLst>
          </p:cNvPr>
          <p:cNvSpPr>
            <a:spLocks xmlns:a="http://schemas.openxmlformats.org/drawingml/2006/main" noGrp="1"/>
          </p:cNvSpPr>
          <p:nvPr/>
        </p:nvSpPr>
        <p:spPr>
          <a:xfrm xmlns:a="http://schemas.openxmlformats.org/drawingml/2006/main">
            <a:off x="11296650" y="1276350"/>
            <a:ext cx="28575" cy="28575"/>
          </a:xfrm>
          <a:prstGeom xmlns:a="http://schemas.openxmlformats.org/drawingml/2006/main" prst="roundRect">
            <a:avLst>
              <a:gd name="adj" fmla="val 50000"/>
            </a:avLst>
          </a:prstGeom>
          <a:solidFill xmlns:a="http://schemas.openxmlformats.org/drawingml/2006/main">
            <a:srgbClr val="E4E6E4"/>
          </a:solidFill>
          <a:ln xmlns:a="http://schemas.openxmlformats.org/drawingml/2006/main" w="0">
            <a:noFill/>
          </a:ln>
        </p:spPr>
      </p:sp>
      <p:sp>
        <p:nvSpPr>
          <p:cNvPr id="5" name="compute-summary-title">
            <a:extLst xmlns:a="http://schemas.openxmlformats.org/drawingml/2006/main">
              <a:ext uri="{FF2B5EF4-FFF2-40B4-BE49-F238E27FC236}">
                <a16:creationId xmlns:a16="http://schemas.microsoft.com/office/drawing/2014/main" id="{C5A7DBD4-9A06-4310-9B0E-259A1CB079EF}"/>
              </a:ext>
            </a:extLst>
          </p:cNvPr>
          <p:cNvSpPr>
            <a:spLocks xmlns:a="http://schemas.openxmlformats.org/drawingml/2006/main" noGrp="1"/>
          </p:cNvSpPr>
          <p:nvPr/>
        </p:nvSpPr>
        <p:spPr>
          <a:xfrm xmlns:a="http://schemas.openxmlformats.org/drawingml/2006/main">
            <a:off x="342900" y="247650"/>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l">
              <a:buNone/>
              <a:defRPr sz="2400" b="1">
                <a:solidFill>
                  <a:srgbClr val="111111"/>
                </a:solidFill>
                <a:latin typeface="Arial"/>
                <a:ea typeface="Arial"/>
                <a:cs typeface="Arial"/>
              </a:defRPr>
            </a:pPr>
            <a:r>
              <a:rPr sz="2400" b="1">
                <a:solidFill>
                  <a:srgbClr val="111111"/>
                </a:solidFill>
                <a:latin typeface="Arial"/>
                <a:ea typeface="Arial"/>
                <a:cs typeface="Arial"/>
              </a:rPr>
              <a:t>Infrastructure Sizing Summary – OCI Compute</a:t>
            </a:r>
          </a:p>
        </p:txBody>
      </p:sp>
      <p:sp>
        <p:nvSpPr>
          <p:cNvPr id="6" name="compute-summary-title-rule">
            <a:extLst xmlns:a="http://schemas.openxmlformats.org/drawingml/2006/main">
              <a:ext uri="{FF2B5EF4-FFF2-40B4-BE49-F238E27FC236}">
                <a16:creationId xmlns:a16="http://schemas.microsoft.com/office/drawing/2014/main" id="{23FA2849-5FC1-4E7D-8A5B-BD53EC2396C8}"/>
              </a:ext>
            </a:extLst>
          </p:cNvPr>
          <p:cNvSpPr>
            <a:spLocks xmlns:a="http://schemas.openxmlformats.org/drawingml/2006/main" noGrp="1"/>
          </p:cNvSpPr>
          <p:nvPr/>
        </p:nvSpPr>
        <p:spPr>
          <a:xfrm xmlns:a="http://schemas.openxmlformats.org/drawingml/2006/main">
            <a:off x="352425" y="723900"/>
            <a:ext cx="571500" cy="28575"/>
          </a:xfrm>
          <a:prstGeom xmlns:a="http://schemas.openxmlformats.org/drawingml/2006/main" prst="rect">
            <a:avLst/>
          </a:prstGeom>
          <a:solidFill xmlns:a="http://schemas.openxmlformats.org/drawingml/2006/main">
            <a:srgbClr val="00573F"/>
          </a:solidFill>
          <a:ln xmlns:a="http://schemas.openxmlformats.org/drawingml/2006/main" w="0">
            <a:noFill/>
          </a:ln>
        </p:spPr>
      </p:sp>
      <p:sp>
        <p:nvSpPr>
          <p:cNvPr id="7" name="compute-summary-subtitle">
            <a:extLst xmlns:a="http://schemas.openxmlformats.org/drawingml/2006/main">
              <a:ext uri="{FF2B5EF4-FFF2-40B4-BE49-F238E27FC236}">
                <a16:creationId xmlns:a16="http://schemas.microsoft.com/office/drawing/2014/main" id="{853F0CA3-0120-4749-B6DE-05A02EC47D8D}"/>
              </a:ext>
            </a:extLst>
          </p:cNvPr>
          <p:cNvSpPr>
            <a:spLocks xmlns:a="http://schemas.openxmlformats.org/drawingml/2006/main" noGrp="1"/>
          </p:cNvSpPr>
          <p:nvPr/>
        </p:nvSpPr>
        <p:spPr>
          <a:xfrm xmlns:a="http://schemas.openxmlformats.org/drawingml/2006/main">
            <a:off x="342900" y="876300"/>
            <a:ext cx="819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0588"/>
          </a:bodyPr>
          <a:lstStyle xmlns:a="http://schemas.openxmlformats.org/drawingml/2006/main"/>
          <a:p xmlns:a="http://schemas.openxmlformats.org/drawingml/2006/main">
            <a:pPr algn="l">
              <a:buNone/>
              <a:defRPr sz="1275" b="0">
                <a:solidFill>
                  <a:srgbClr val="17212B"/>
                </a:solidFill>
                <a:latin typeface="Arial"/>
                <a:ea typeface="Arial"/>
                <a:cs typeface="Arial"/>
              </a:defRPr>
            </a:pPr>
            <a:r>
              <a:rPr sz="1275" b="0">
                <a:solidFill>
                  <a:srgbClr val="17212B"/>
                </a:solidFill>
                <a:latin typeface="Arial"/>
                <a:ea typeface="Arial"/>
                <a:cs typeface="Arial"/>
              </a:rPr>
              <a:t>Right-sized OCI Compute infrastructure to support your VMware workloads.</a:t>
            </a:r>
          </a:p>
        </p:txBody>
      </p:sp>
      <p:sp>
        <p:nvSpPr>
          <p:cNvPr id="8" name="native-summary-card">
            <a:extLst xmlns:a="http://schemas.openxmlformats.org/drawingml/2006/main">
              <a:ext uri="{FF2B5EF4-FFF2-40B4-BE49-F238E27FC236}">
                <a16:creationId xmlns:a16="http://schemas.microsoft.com/office/drawing/2014/main" id="{66AE0A92-6C18-498E-837E-76C799D55F8D}"/>
              </a:ext>
            </a:extLst>
          </p:cNvPr>
          <p:cNvSpPr>
            <a:spLocks xmlns:a="http://schemas.openxmlformats.org/drawingml/2006/main" noGrp="1"/>
          </p:cNvSpPr>
          <p:nvPr/>
        </p:nvSpPr>
        <p:spPr>
          <a:xfrm xmlns:a="http://schemas.openxmlformats.org/drawingml/2006/main">
            <a:off x="361950" y="1295400"/>
            <a:ext cx="114681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DED9"/>
            </a:solidFill>
          </a:ln>
        </p:spPr>
      </p:sp>
      <p:sp>
        <p:nvSpPr>
          <p:cNvPr id="9" name="native-summary-band">
            <a:extLst xmlns:a="http://schemas.openxmlformats.org/drawingml/2006/main">
              <a:ext uri="{FF2B5EF4-FFF2-40B4-BE49-F238E27FC236}">
                <a16:creationId xmlns:a16="http://schemas.microsoft.com/office/drawing/2014/main" id="{F5F75509-D2E7-45D0-8374-BECDCA9BC24E}"/>
              </a:ext>
            </a:extLst>
          </p:cNvPr>
          <p:cNvSpPr>
            <a:spLocks xmlns:a="http://schemas.openxmlformats.org/drawingml/2006/main" noGrp="1"/>
          </p:cNvSpPr>
          <p:nvPr/>
        </p:nvSpPr>
        <p:spPr>
          <a:xfrm xmlns:a="http://schemas.openxmlformats.org/drawingml/2006/main">
            <a:off x="361950" y="1295400"/>
            <a:ext cx="2457450" cy="285750"/>
          </a:xfrm>
          <a:prstGeom xmlns:a="http://schemas.openxmlformats.org/drawingml/2006/main" prst="roundRect">
            <a:avLst>
              <a:gd name="adj" fmla="val 26667"/>
            </a:avLst>
          </a:prstGeom>
          <a:solidFill xmlns:a="http://schemas.openxmlformats.org/drawingml/2006/main">
            <a:srgbClr val="00573F"/>
          </a:solidFill>
          <a:ln xmlns:a="http://schemas.openxmlformats.org/drawingml/2006/main" w="0">
            <a:noFill/>
          </a:ln>
        </p:spPr>
      </p:sp>
      <p:sp>
        <p:nvSpPr>
          <p:cNvPr id="10" name="native-summary-band-label">
            <a:extLst xmlns:a="http://schemas.openxmlformats.org/drawingml/2006/main">
              <a:ext uri="{FF2B5EF4-FFF2-40B4-BE49-F238E27FC236}">
                <a16:creationId xmlns:a16="http://schemas.microsoft.com/office/drawing/2014/main" id="{70E81028-01F4-4992-9423-7F97ACF714A2}"/>
              </a:ext>
            </a:extLst>
          </p:cNvPr>
          <p:cNvSpPr>
            <a:spLocks xmlns:a="http://schemas.openxmlformats.org/drawingml/2006/main" noGrp="1"/>
          </p:cNvSpPr>
          <p:nvPr/>
        </p:nvSpPr>
        <p:spPr>
          <a:xfrm xmlns:a="http://schemas.openxmlformats.org/drawingml/2006/main">
            <a:off x="514350" y="1343025"/>
            <a:ext cx="2095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7778"/>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1   WORKLOAD SUMMARY</a:t>
            </a:r>
          </a:p>
        </p:txBody>
      </p:sp>
      <p:sp>
        <p:nvSpPr>
          <p:cNvPr id="11" name="native-summary-divider-350">
            <a:extLst xmlns:a="http://schemas.openxmlformats.org/drawingml/2006/main">
              <a:ext uri="{FF2B5EF4-FFF2-40B4-BE49-F238E27FC236}">
                <a16:creationId xmlns:a16="http://schemas.microsoft.com/office/drawing/2014/main" id="{3BE389C8-98E1-48FC-A1A8-68466AD43DE5}"/>
              </a:ext>
            </a:extLst>
          </p:cNvPr>
          <p:cNvSpPr>
            <a:spLocks xmlns:a="http://schemas.openxmlformats.org/drawingml/2006/main" noGrp="1"/>
          </p:cNvSpPr>
          <p:nvPr/>
        </p:nvSpPr>
        <p:spPr>
          <a:xfrm xmlns:a="http://schemas.openxmlformats.org/drawingml/2006/main">
            <a:off x="3333750" y="1752600"/>
            <a:ext cx="9525" cy="714375"/>
          </a:xfrm>
          <a:prstGeom xmlns:a="http://schemas.openxmlformats.org/drawingml/2006/main" prst="rect">
            <a:avLst/>
          </a:prstGeom>
          <a:solidFill xmlns:a="http://schemas.openxmlformats.org/drawingml/2006/main">
            <a:srgbClr val="D9DED9"/>
          </a:solidFill>
          <a:ln xmlns:a="http://schemas.openxmlformats.org/drawingml/2006/main" w="9525">
            <a:solidFill>
              <a:srgbClr val="D9DED9"/>
            </a:solidFill>
          </a:ln>
        </p:spPr>
      </p:sp>
      <p:sp>
        <p:nvSpPr>
          <p:cNvPr id="12" name="native-summary-divider-640">
            <a:extLst xmlns:a="http://schemas.openxmlformats.org/drawingml/2006/main">
              <a:ext uri="{FF2B5EF4-FFF2-40B4-BE49-F238E27FC236}">
                <a16:creationId xmlns:a16="http://schemas.microsoft.com/office/drawing/2014/main" id="{54FD6C93-A925-4D71-8462-176BCDD03C17}"/>
              </a:ext>
            </a:extLst>
          </p:cNvPr>
          <p:cNvSpPr>
            <a:spLocks xmlns:a="http://schemas.openxmlformats.org/drawingml/2006/main" noGrp="1"/>
          </p:cNvSpPr>
          <p:nvPr/>
        </p:nvSpPr>
        <p:spPr>
          <a:xfrm xmlns:a="http://schemas.openxmlformats.org/drawingml/2006/main">
            <a:off x="6096000" y="1752600"/>
            <a:ext cx="9525" cy="714375"/>
          </a:xfrm>
          <a:prstGeom xmlns:a="http://schemas.openxmlformats.org/drawingml/2006/main" prst="rect">
            <a:avLst/>
          </a:prstGeom>
          <a:solidFill xmlns:a="http://schemas.openxmlformats.org/drawingml/2006/main">
            <a:srgbClr val="D9DED9"/>
          </a:solidFill>
          <a:ln xmlns:a="http://schemas.openxmlformats.org/drawingml/2006/main" w="9525">
            <a:solidFill>
              <a:srgbClr val="D9DED9"/>
            </a:solidFill>
          </a:ln>
        </p:spPr>
      </p:sp>
      <p:sp>
        <p:nvSpPr>
          <p:cNvPr id="13" name="native-summary-divider-930">
            <a:extLst xmlns:a="http://schemas.openxmlformats.org/drawingml/2006/main">
              <a:ext uri="{FF2B5EF4-FFF2-40B4-BE49-F238E27FC236}">
                <a16:creationId xmlns:a16="http://schemas.microsoft.com/office/drawing/2014/main" id="{9BC95BB1-AD29-4E6D-A8B0-926B9CBBA5EE}"/>
              </a:ext>
            </a:extLst>
          </p:cNvPr>
          <p:cNvSpPr>
            <a:spLocks xmlns:a="http://schemas.openxmlformats.org/drawingml/2006/main" noGrp="1"/>
          </p:cNvSpPr>
          <p:nvPr/>
        </p:nvSpPr>
        <p:spPr>
          <a:xfrm xmlns:a="http://schemas.openxmlformats.org/drawingml/2006/main">
            <a:off x="8858250" y="1752600"/>
            <a:ext cx="9525" cy="714375"/>
          </a:xfrm>
          <a:prstGeom xmlns:a="http://schemas.openxmlformats.org/drawingml/2006/main" prst="rect">
            <a:avLst/>
          </a:prstGeom>
          <a:solidFill xmlns:a="http://schemas.openxmlformats.org/drawingml/2006/main">
            <a:srgbClr val="D9DED9"/>
          </a:solidFill>
          <a:ln xmlns:a="http://schemas.openxmlformats.org/drawingml/2006/main" w="9525">
            <a:solidFill>
              <a:srgbClr val="D9DED9"/>
            </a:solidFill>
          </a:ln>
        </p:spPr>
      </p:sp>
      <p:sp>
        <p:nvSpPr>
          <p:cNvPr id="14" name="editable-native-vms">
            <a:extLst xmlns:a="http://schemas.openxmlformats.org/drawingml/2006/main">
              <a:ext uri="{FF2B5EF4-FFF2-40B4-BE49-F238E27FC236}">
                <a16:creationId xmlns:a16="http://schemas.microsoft.com/office/drawing/2014/main" id="{B20EB05A-F11E-41AE-ADBD-3D9AF796DD08}"/>
              </a:ext>
            </a:extLst>
          </p:cNvPr>
          <p:cNvSpPr>
            <a:spLocks xmlns:a="http://schemas.openxmlformats.org/drawingml/2006/main" noGrp="1"/>
          </p:cNvSpPr>
          <p:nvPr/>
        </p:nvSpPr>
        <p:spPr>
          <a:xfrm xmlns:a="http://schemas.openxmlformats.org/drawingml/2006/main">
            <a:off x="1428750" y="1809750"/>
            <a:ext cx="158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0115"/>
          </a:bodyPr>
          <a:lstStyle xmlns:a="http://schemas.openxmlformats.org/drawingml/2006/main"/>
          <a:p xmlns:a="http://schemas.openxmlformats.org/drawingml/2006/main">
            <a:pPr algn="ctr">
              <a:buNone/>
              <a:defRPr sz="2175" b="1">
                <a:solidFill>
                  <a:srgbClr val="00573F"/>
                </a:solidFill>
                <a:latin typeface="Arial"/>
                <a:ea typeface="Arial"/>
                <a:cs typeface="Arial"/>
              </a:defRPr>
            </a:pPr>
            <a:r>
              <a:rPr sz="2175" b="1">
                <a:solidFill>
                  <a:srgbClr val="00573F"/>
                </a:solidFill>
                <a:latin typeface="Arial"/>
                <a:ea typeface="Arial"/>
                <a:cs typeface="Arial"/>
              </a:rPr>
              <a:t>0</a:t>
            </a:r>
          </a:p>
        </p:txBody>
      </p:sp>
      <p:sp>
        <p:nvSpPr>
          <p:cNvPr id="15" name="editable-native-vms-label">
            <a:extLst xmlns:a="http://schemas.openxmlformats.org/drawingml/2006/main">
              <a:ext uri="{FF2B5EF4-FFF2-40B4-BE49-F238E27FC236}">
                <a16:creationId xmlns:a16="http://schemas.microsoft.com/office/drawing/2014/main" id="{DC8E6EC6-9510-42B3-87CA-D483D88A0746}"/>
              </a:ext>
            </a:extLst>
          </p:cNvPr>
          <p:cNvSpPr>
            <a:spLocks xmlns:a="http://schemas.openxmlformats.org/drawingml/2006/main" noGrp="1"/>
          </p:cNvSpPr>
          <p:nvPr/>
        </p:nvSpPr>
        <p:spPr>
          <a:xfrm xmlns:a="http://schemas.openxmlformats.org/drawingml/2006/main">
            <a:off x="1428750" y="2171700"/>
            <a:ext cx="1581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4167"/>
          </a:bodyPr>
          <a:lstStyle xmlns:a="http://schemas.openxmlformats.org/drawingml/2006/main"/>
          <a:p xmlns:a="http://schemas.openxmlformats.org/drawingml/2006/main">
            <a:pPr algn="ctr">
              <a:buNone/>
              <a:defRPr sz="1200" b="0">
                <a:solidFill>
                  <a:srgbClr val="17212B"/>
                </a:solidFill>
                <a:latin typeface="Arial"/>
                <a:ea typeface="Arial"/>
                <a:cs typeface="Arial"/>
              </a:defRPr>
            </a:pPr>
            <a:r>
              <a:rPr sz="1200" b="0">
                <a:solidFill>
                  <a:srgbClr val="17212B"/>
                </a:solidFill>
                <a:latin typeface="Arial"/>
                <a:ea typeface="Arial"/>
                <a:cs typeface="Arial"/>
              </a:rPr>
              <a:t>VMs</a:t>
            </a:r>
          </a:p>
        </p:txBody>
      </p:sp>
      <p:sp>
        <p:nvSpPr>
          <p:cNvPr id="16" name="editable-native-vms-caption">
            <a:extLst xmlns:a="http://schemas.openxmlformats.org/drawingml/2006/main">
              <a:ext uri="{FF2B5EF4-FFF2-40B4-BE49-F238E27FC236}">
                <a16:creationId xmlns:a16="http://schemas.microsoft.com/office/drawing/2014/main" id="{07769956-3552-4EFF-9944-0B58407AC8E4}"/>
              </a:ext>
            </a:extLst>
          </p:cNvPr>
          <p:cNvSpPr>
            <a:spLocks xmlns:a="http://schemas.openxmlformats.org/drawingml/2006/main" noGrp="1"/>
          </p:cNvSpPr>
          <p:nvPr/>
        </p:nvSpPr>
        <p:spPr>
          <a:xfrm xmlns:a="http://schemas.openxmlformats.org/drawingml/2006/main">
            <a:off x="1428750" y="2457450"/>
            <a:ext cx="1581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0000"/>
          </a:bodyPr>
          <a:lstStyle xmlns:a="http://schemas.openxmlformats.org/drawingml/2006/main"/>
          <a:p xmlns:a="http://schemas.openxmlformats.org/drawingml/2006/main">
            <a:pPr algn="ctr">
              <a:buNone/>
              <a:defRPr sz="750" b="0">
                <a:solidFill>
                  <a:srgbClr val="444444"/>
                </a:solidFill>
                <a:latin typeface="Arial"/>
                <a:ea typeface="Arial"/>
                <a:cs typeface="Arial"/>
              </a:defRPr>
            </a:pPr>
            <a:r>
              <a:rPr sz="750" b="0">
                <a:solidFill>
                  <a:srgbClr val="444444"/>
                </a:solidFill>
                <a:latin typeface="Arial"/>
                <a:ea typeface="Arial"/>
                <a:cs typeface="Arial"/>
              </a:rPr>
              <a:t>Selected in Step 2</a:t>
            </a:r>
          </a:p>
        </p:txBody>
      </p:sp>
      <p:sp>
        <p:nvSpPr>
          <p:cNvPr id="17" name="editable-native-ocpus">
            <a:extLst xmlns:a="http://schemas.openxmlformats.org/drawingml/2006/main">
              <a:ext uri="{FF2B5EF4-FFF2-40B4-BE49-F238E27FC236}">
                <a16:creationId xmlns:a16="http://schemas.microsoft.com/office/drawing/2014/main" id="{15AAA7B4-92AC-4E3B-B319-F76B2AA27C27}"/>
              </a:ext>
            </a:extLst>
          </p:cNvPr>
          <p:cNvSpPr>
            <a:spLocks xmlns:a="http://schemas.openxmlformats.org/drawingml/2006/main" noGrp="1"/>
          </p:cNvSpPr>
          <p:nvPr/>
        </p:nvSpPr>
        <p:spPr>
          <a:xfrm xmlns:a="http://schemas.openxmlformats.org/drawingml/2006/main">
            <a:off x="3714750" y="1809750"/>
            <a:ext cx="158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0115"/>
          </a:bodyPr>
          <a:lstStyle xmlns:a="http://schemas.openxmlformats.org/drawingml/2006/main"/>
          <a:p xmlns:a="http://schemas.openxmlformats.org/drawingml/2006/main">
            <a:pPr algn="ctr">
              <a:buNone/>
              <a:defRPr sz="2175" b="1">
                <a:solidFill>
                  <a:srgbClr val="00573F"/>
                </a:solidFill>
                <a:latin typeface="Arial"/>
                <a:ea typeface="Arial"/>
                <a:cs typeface="Arial"/>
              </a:defRPr>
            </a:pPr>
            <a:r>
              <a:rPr sz="2175" b="1">
                <a:solidFill>
                  <a:srgbClr val="00573F"/>
                </a:solidFill>
                <a:latin typeface="Arial"/>
                <a:ea typeface="Arial"/>
                <a:cs typeface="Arial"/>
              </a:rPr>
              <a:t>0</a:t>
            </a:r>
          </a:p>
        </p:txBody>
      </p:sp>
      <p:sp>
        <p:nvSpPr>
          <p:cNvPr id="18" name="editable-native-ocpus-label">
            <a:extLst xmlns:a="http://schemas.openxmlformats.org/drawingml/2006/main">
              <a:ext uri="{FF2B5EF4-FFF2-40B4-BE49-F238E27FC236}">
                <a16:creationId xmlns:a16="http://schemas.microsoft.com/office/drawing/2014/main" id="{788DA217-E33C-4D92-9BD0-53C6BA6C0445}"/>
              </a:ext>
            </a:extLst>
          </p:cNvPr>
          <p:cNvSpPr>
            <a:spLocks xmlns:a="http://schemas.openxmlformats.org/drawingml/2006/main" noGrp="1"/>
          </p:cNvSpPr>
          <p:nvPr/>
        </p:nvSpPr>
        <p:spPr>
          <a:xfrm xmlns:a="http://schemas.openxmlformats.org/drawingml/2006/main">
            <a:off x="3714750" y="2171700"/>
            <a:ext cx="1581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4167"/>
          </a:bodyPr>
          <a:lstStyle xmlns:a="http://schemas.openxmlformats.org/drawingml/2006/main"/>
          <a:p xmlns:a="http://schemas.openxmlformats.org/drawingml/2006/main">
            <a:pPr algn="ctr">
              <a:buNone/>
              <a:defRPr sz="1200" b="0">
                <a:solidFill>
                  <a:srgbClr val="17212B"/>
                </a:solidFill>
                <a:latin typeface="Arial"/>
                <a:ea typeface="Arial"/>
                <a:cs typeface="Arial"/>
              </a:defRPr>
            </a:pPr>
            <a:r>
              <a:rPr sz="1200" b="0">
                <a:solidFill>
                  <a:srgbClr val="17212B"/>
                </a:solidFill>
                <a:latin typeface="Arial"/>
                <a:ea typeface="Arial"/>
                <a:cs typeface="Arial"/>
              </a:rPr>
              <a:t>OCPUs</a:t>
            </a:r>
          </a:p>
        </p:txBody>
      </p:sp>
      <p:sp>
        <p:nvSpPr>
          <p:cNvPr id="19" name="editable-native-ocpus-caption">
            <a:extLst xmlns:a="http://schemas.openxmlformats.org/drawingml/2006/main">
              <a:ext uri="{FF2B5EF4-FFF2-40B4-BE49-F238E27FC236}">
                <a16:creationId xmlns:a16="http://schemas.microsoft.com/office/drawing/2014/main" id="{79C95740-746A-4C54-9944-8BD032CE67D7}"/>
              </a:ext>
            </a:extLst>
          </p:cNvPr>
          <p:cNvSpPr>
            <a:spLocks xmlns:a="http://schemas.openxmlformats.org/drawingml/2006/main" noGrp="1"/>
          </p:cNvSpPr>
          <p:nvPr/>
        </p:nvSpPr>
        <p:spPr>
          <a:xfrm xmlns:a="http://schemas.openxmlformats.org/drawingml/2006/main">
            <a:off x="3714750" y="2457450"/>
            <a:ext cx="1581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0000"/>
          </a:bodyPr>
          <a:lstStyle xmlns:a="http://schemas.openxmlformats.org/drawingml/2006/main"/>
          <a:p xmlns:a="http://schemas.openxmlformats.org/drawingml/2006/main">
            <a:pPr algn="ctr">
              <a:buNone/>
              <a:defRPr sz="750" b="0">
                <a:solidFill>
                  <a:srgbClr val="444444"/>
                </a:solidFill>
                <a:latin typeface="Arial"/>
                <a:ea typeface="Arial"/>
                <a:cs typeface="Arial"/>
              </a:defRPr>
            </a:pPr>
            <a:r>
              <a:rPr sz="750" b="0">
                <a:solidFill>
                  <a:srgbClr val="444444"/>
                </a:solidFill>
                <a:latin typeface="Arial"/>
                <a:ea typeface="Arial"/>
                <a:cs typeface="Arial"/>
              </a:rPr>
              <a:t>Configured OCI compute capacity</a:t>
            </a:r>
          </a:p>
        </p:txBody>
      </p:sp>
      <p:sp>
        <p:nvSpPr>
          <p:cNvPr id="20" name="editable-native-vram">
            <a:extLst xmlns:a="http://schemas.openxmlformats.org/drawingml/2006/main">
              <a:ext uri="{FF2B5EF4-FFF2-40B4-BE49-F238E27FC236}">
                <a16:creationId xmlns:a16="http://schemas.microsoft.com/office/drawing/2014/main" id="{4CFA2113-6134-46D1-826C-D2E0AD26F67B}"/>
              </a:ext>
            </a:extLst>
          </p:cNvPr>
          <p:cNvSpPr>
            <a:spLocks xmlns:a="http://schemas.openxmlformats.org/drawingml/2006/main" noGrp="1"/>
          </p:cNvSpPr>
          <p:nvPr/>
        </p:nvSpPr>
        <p:spPr>
          <a:xfrm xmlns:a="http://schemas.openxmlformats.org/drawingml/2006/main">
            <a:off x="6477000" y="1809750"/>
            <a:ext cx="158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0115"/>
          </a:bodyPr>
          <a:lstStyle xmlns:a="http://schemas.openxmlformats.org/drawingml/2006/main"/>
          <a:p xmlns:a="http://schemas.openxmlformats.org/drawingml/2006/main">
            <a:pPr algn="ctr">
              <a:buNone/>
              <a:defRPr sz="2175" b="1">
                <a:solidFill>
                  <a:srgbClr val="00573F"/>
                </a:solidFill>
                <a:latin typeface="Arial"/>
                <a:ea typeface="Arial"/>
                <a:cs typeface="Arial"/>
              </a:defRPr>
            </a:pPr>
            <a:r>
              <a:rPr sz="2175" b="1">
                <a:solidFill>
                  <a:srgbClr val="00573F"/>
                </a:solidFill>
                <a:latin typeface="Arial"/>
                <a:ea typeface="Arial"/>
                <a:cs typeface="Arial"/>
              </a:rPr>
              <a:t>0</a:t>
            </a:r>
          </a:p>
        </p:txBody>
      </p:sp>
      <p:sp>
        <p:nvSpPr>
          <p:cNvPr id="21" name="editable-native-vram-label">
            <a:extLst xmlns:a="http://schemas.openxmlformats.org/drawingml/2006/main">
              <a:ext uri="{FF2B5EF4-FFF2-40B4-BE49-F238E27FC236}">
                <a16:creationId xmlns:a16="http://schemas.microsoft.com/office/drawing/2014/main" id="{8B9D4BB9-A363-426E-B2AE-AAE6658E757C}"/>
              </a:ext>
            </a:extLst>
          </p:cNvPr>
          <p:cNvSpPr>
            <a:spLocks xmlns:a="http://schemas.openxmlformats.org/drawingml/2006/main" noGrp="1"/>
          </p:cNvSpPr>
          <p:nvPr/>
        </p:nvSpPr>
        <p:spPr>
          <a:xfrm xmlns:a="http://schemas.openxmlformats.org/drawingml/2006/main">
            <a:off x="6477000" y="2171700"/>
            <a:ext cx="1581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4167"/>
          </a:bodyPr>
          <a:lstStyle xmlns:a="http://schemas.openxmlformats.org/drawingml/2006/main"/>
          <a:p xmlns:a="http://schemas.openxmlformats.org/drawingml/2006/main">
            <a:pPr algn="ctr">
              <a:buNone/>
              <a:defRPr sz="1200" b="0">
                <a:solidFill>
                  <a:srgbClr val="17212B"/>
                </a:solidFill>
                <a:latin typeface="Arial"/>
                <a:ea typeface="Arial"/>
                <a:cs typeface="Arial"/>
              </a:defRPr>
            </a:pPr>
            <a:r>
              <a:rPr sz="1200" b="0">
                <a:solidFill>
                  <a:srgbClr val="17212B"/>
                </a:solidFill>
                <a:latin typeface="Arial"/>
                <a:ea typeface="Arial"/>
                <a:cs typeface="Arial"/>
              </a:rPr>
              <a:t>RAM (GB)</a:t>
            </a:r>
          </a:p>
        </p:txBody>
      </p:sp>
      <p:sp>
        <p:nvSpPr>
          <p:cNvPr id="22" name="editable-native-vram-caption">
            <a:extLst xmlns:a="http://schemas.openxmlformats.org/drawingml/2006/main">
              <a:ext uri="{FF2B5EF4-FFF2-40B4-BE49-F238E27FC236}">
                <a16:creationId xmlns:a16="http://schemas.microsoft.com/office/drawing/2014/main" id="{774096ED-3F06-4252-BE0B-FD15666E840D}"/>
              </a:ext>
            </a:extLst>
          </p:cNvPr>
          <p:cNvSpPr>
            <a:spLocks xmlns:a="http://schemas.openxmlformats.org/drawingml/2006/main" noGrp="1"/>
          </p:cNvSpPr>
          <p:nvPr/>
        </p:nvSpPr>
        <p:spPr>
          <a:xfrm xmlns:a="http://schemas.openxmlformats.org/drawingml/2006/main">
            <a:off x="6477000" y="2457450"/>
            <a:ext cx="1581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0000"/>
          </a:bodyPr>
          <a:lstStyle xmlns:a="http://schemas.openxmlformats.org/drawingml/2006/main"/>
          <a:p xmlns:a="http://schemas.openxmlformats.org/drawingml/2006/main">
            <a:pPr algn="ctr">
              <a:buNone/>
              <a:defRPr sz="750" b="0">
                <a:solidFill>
                  <a:srgbClr val="444444"/>
                </a:solidFill>
                <a:latin typeface="Arial"/>
                <a:ea typeface="Arial"/>
                <a:cs typeface="Arial"/>
              </a:defRPr>
            </a:pPr>
            <a:r>
              <a:rPr sz="750" b="0">
                <a:solidFill>
                  <a:srgbClr val="444444"/>
                </a:solidFill>
                <a:latin typeface="Arial"/>
                <a:ea typeface="Arial"/>
                <a:cs typeface="Arial"/>
              </a:rPr>
              <a:t>Priced as flexible memory</a:t>
            </a:r>
          </a:p>
        </p:txBody>
      </p:sp>
      <p:sp>
        <p:nvSpPr>
          <p:cNvPr id="23" name="editable-native-storage">
            <a:extLst xmlns:a="http://schemas.openxmlformats.org/drawingml/2006/main">
              <a:ext uri="{FF2B5EF4-FFF2-40B4-BE49-F238E27FC236}">
                <a16:creationId xmlns:a16="http://schemas.microsoft.com/office/drawing/2014/main" id="{7D25EFB4-5DBF-405C-899B-A327B8CB38ED}"/>
              </a:ext>
            </a:extLst>
          </p:cNvPr>
          <p:cNvSpPr>
            <a:spLocks xmlns:a="http://schemas.openxmlformats.org/drawingml/2006/main" noGrp="1"/>
          </p:cNvSpPr>
          <p:nvPr/>
        </p:nvSpPr>
        <p:spPr>
          <a:xfrm xmlns:a="http://schemas.openxmlformats.org/drawingml/2006/main">
            <a:off x="9239250" y="1809750"/>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0115"/>
          </a:bodyPr>
          <a:lstStyle xmlns:a="http://schemas.openxmlformats.org/drawingml/2006/main"/>
          <a:p xmlns:a="http://schemas.openxmlformats.org/drawingml/2006/main">
            <a:pPr algn="ctr">
              <a:buNone/>
              <a:defRPr sz="2175" b="1">
                <a:solidFill>
                  <a:srgbClr val="00573F"/>
                </a:solidFill>
                <a:latin typeface="Arial"/>
                <a:ea typeface="Arial"/>
                <a:cs typeface="Arial"/>
              </a:defRPr>
            </a:pPr>
            <a:r>
              <a:rPr sz="2175" b="1">
                <a:solidFill>
                  <a:srgbClr val="00573F"/>
                </a:solidFill>
                <a:latin typeface="Arial"/>
                <a:ea typeface="Arial"/>
                <a:cs typeface="Arial"/>
              </a:rPr>
              <a:t>0</a:t>
            </a:r>
          </a:p>
        </p:txBody>
      </p:sp>
      <p:sp>
        <p:nvSpPr>
          <p:cNvPr id="24" name="editable-native-storage-label">
            <a:extLst xmlns:a="http://schemas.openxmlformats.org/drawingml/2006/main">
              <a:ext uri="{FF2B5EF4-FFF2-40B4-BE49-F238E27FC236}">
                <a16:creationId xmlns:a16="http://schemas.microsoft.com/office/drawing/2014/main" id="{FDB04029-1C2B-4282-B883-C525AD3CBDDC}"/>
              </a:ext>
            </a:extLst>
          </p:cNvPr>
          <p:cNvSpPr>
            <a:spLocks xmlns:a="http://schemas.openxmlformats.org/drawingml/2006/main" noGrp="1"/>
          </p:cNvSpPr>
          <p:nvPr/>
        </p:nvSpPr>
        <p:spPr>
          <a:xfrm xmlns:a="http://schemas.openxmlformats.org/drawingml/2006/main">
            <a:off x="9239250" y="2171700"/>
            <a:ext cx="2000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4167"/>
          </a:bodyPr>
          <a:lstStyle xmlns:a="http://schemas.openxmlformats.org/drawingml/2006/main"/>
          <a:p xmlns:a="http://schemas.openxmlformats.org/drawingml/2006/main">
            <a:pPr algn="ctr">
              <a:buNone/>
              <a:defRPr sz="1200" b="0">
                <a:solidFill>
                  <a:srgbClr val="17212B"/>
                </a:solidFill>
                <a:latin typeface="Arial"/>
                <a:ea typeface="Arial"/>
                <a:cs typeface="Arial"/>
              </a:defRPr>
            </a:pPr>
            <a:r>
              <a:rPr sz="1200" b="0">
                <a:solidFill>
                  <a:srgbClr val="17212B"/>
                </a:solidFill>
                <a:latin typeface="Arial"/>
                <a:ea typeface="Arial"/>
                <a:cs typeface="Arial"/>
              </a:rPr>
              <a:t>Block Volume</a:t>
            </a:r>
          </a:p>
        </p:txBody>
      </p:sp>
      <p:sp>
        <p:nvSpPr>
          <p:cNvPr id="25" name="editable-native-storage-caption">
            <a:extLst xmlns:a="http://schemas.openxmlformats.org/drawingml/2006/main">
              <a:ext uri="{FF2B5EF4-FFF2-40B4-BE49-F238E27FC236}">
                <a16:creationId xmlns:a16="http://schemas.microsoft.com/office/drawing/2014/main" id="{B4C67D16-4A33-401D-B9BE-C74BFE5DABD7}"/>
              </a:ext>
            </a:extLst>
          </p:cNvPr>
          <p:cNvSpPr>
            <a:spLocks xmlns:a="http://schemas.openxmlformats.org/drawingml/2006/main" noGrp="1"/>
          </p:cNvSpPr>
          <p:nvPr/>
        </p:nvSpPr>
        <p:spPr>
          <a:xfrm xmlns:a="http://schemas.openxmlformats.org/drawingml/2006/main">
            <a:off x="9239250" y="2457450"/>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0000"/>
          </a:bodyPr>
          <a:lstStyle xmlns:a="http://schemas.openxmlformats.org/drawingml/2006/main"/>
          <a:p xmlns:a="http://schemas.openxmlformats.org/drawingml/2006/main">
            <a:pPr algn="ctr">
              <a:buNone/>
              <a:defRPr sz="750" b="0">
                <a:solidFill>
                  <a:srgbClr val="444444"/>
                </a:solidFill>
                <a:latin typeface="Arial"/>
                <a:ea typeface="Arial"/>
                <a:cs typeface="Arial"/>
              </a:defRPr>
            </a:pPr>
            <a:r>
              <a:rPr sz="750" b="0">
                <a:solidFill>
                  <a:srgbClr val="444444"/>
                </a:solidFill>
                <a:latin typeface="Arial"/>
                <a:ea typeface="Arial"/>
                <a:cs typeface="Arial"/>
              </a:rPr>
              <a:t>Total capacity</a:t>
            </a:r>
          </a:p>
        </p:txBody>
      </p:sp>
      <p:sp>
        <p:nvSpPr>
          <p:cNvPr id="26" name="native-storage-kpi-unit">
            <a:extLst xmlns:a="http://schemas.openxmlformats.org/drawingml/2006/main">
              <a:ext uri="{FF2B5EF4-FFF2-40B4-BE49-F238E27FC236}">
                <a16:creationId xmlns:a16="http://schemas.microsoft.com/office/drawing/2014/main" id="{180C060E-11ED-46C5-B336-47F90ED337A4}"/>
              </a:ext>
            </a:extLst>
          </p:cNvPr>
          <p:cNvSpPr>
            <a:spLocks xmlns:a="http://schemas.openxmlformats.org/drawingml/2006/main" noGrp="1"/>
          </p:cNvSpPr>
          <p:nvPr/>
        </p:nvSpPr>
        <p:spPr>
          <a:xfrm xmlns:a="http://schemas.openxmlformats.org/drawingml/2006/main">
            <a:off x="10306050" y="191452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0784"/>
          </a:bodyPr>
          <a:lstStyle xmlns:a="http://schemas.openxmlformats.org/drawingml/2006/main"/>
          <a:p xmlns:a="http://schemas.openxmlformats.org/drawingml/2006/main">
            <a:pPr algn="l">
              <a:buNone/>
              <a:defRPr sz="1275" b="1">
                <a:solidFill>
                  <a:srgbClr val="00573F"/>
                </a:solidFill>
                <a:latin typeface="Arial"/>
                <a:ea typeface="Arial"/>
                <a:cs typeface="Arial"/>
              </a:defRPr>
            </a:pPr>
            <a:r>
              <a:rPr sz="1275" b="1">
                <a:solidFill>
                  <a:srgbClr val="00573F"/>
                </a:solidFill>
                <a:latin typeface="Arial"/>
                <a:ea typeface="Arial"/>
                <a:cs typeface="Arial"/>
              </a:rPr>
              <a:t>TB</a:t>
            </a:r>
          </a:p>
        </p:txBody>
      </p:sp>
      <p:sp>
        <p:nvSpPr>
          <p:cNvPr id="27" name="native-compute-panel">
            <a:extLst xmlns:a="http://schemas.openxmlformats.org/drawingml/2006/main">
              <a:ext uri="{FF2B5EF4-FFF2-40B4-BE49-F238E27FC236}">
                <a16:creationId xmlns:a16="http://schemas.microsoft.com/office/drawing/2014/main" id="{6E96E356-73A8-4483-86C3-D4C25123D6B4}"/>
              </a:ext>
            </a:extLst>
          </p:cNvPr>
          <p:cNvSpPr>
            <a:spLocks xmlns:a="http://schemas.openxmlformats.org/drawingml/2006/main" noGrp="1"/>
          </p:cNvSpPr>
          <p:nvPr/>
        </p:nvSpPr>
        <p:spPr>
          <a:xfrm xmlns:a="http://schemas.openxmlformats.org/drawingml/2006/main">
            <a:off x="361950" y="2952750"/>
            <a:ext cx="5029200" cy="31432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9525">
            <a:solidFill>
              <a:srgbClr val="D9DED9"/>
            </a:solidFill>
          </a:ln>
        </p:spPr>
      </p:sp>
      <p:sp>
        <p:nvSpPr>
          <p:cNvPr id="28" name="native-compute-band">
            <a:extLst xmlns:a="http://schemas.openxmlformats.org/drawingml/2006/main">
              <a:ext uri="{FF2B5EF4-FFF2-40B4-BE49-F238E27FC236}">
                <a16:creationId xmlns:a16="http://schemas.microsoft.com/office/drawing/2014/main" id="{C3C53D60-E4F5-4678-AEE6-EE612BAB1DF1}"/>
              </a:ext>
            </a:extLst>
          </p:cNvPr>
          <p:cNvSpPr>
            <a:spLocks xmlns:a="http://schemas.openxmlformats.org/drawingml/2006/main" noGrp="1"/>
          </p:cNvSpPr>
          <p:nvPr/>
        </p:nvSpPr>
        <p:spPr>
          <a:xfrm xmlns:a="http://schemas.openxmlformats.org/drawingml/2006/main">
            <a:off x="361950" y="2952750"/>
            <a:ext cx="5029200" cy="323850"/>
          </a:xfrm>
          <a:prstGeom xmlns:a="http://schemas.openxmlformats.org/drawingml/2006/main" prst="roundRect">
            <a:avLst>
              <a:gd name="adj" fmla="val 23529"/>
            </a:avLst>
          </a:prstGeom>
          <a:solidFill xmlns:a="http://schemas.openxmlformats.org/drawingml/2006/main">
            <a:srgbClr val="00573F"/>
          </a:solidFill>
          <a:ln xmlns:a="http://schemas.openxmlformats.org/drawingml/2006/main" w="0">
            <a:noFill/>
          </a:ln>
        </p:spPr>
      </p:sp>
      <p:sp>
        <p:nvSpPr>
          <p:cNvPr id="29" name="native-compute-band-label">
            <a:extLst xmlns:a="http://schemas.openxmlformats.org/drawingml/2006/main">
              <a:ext uri="{FF2B5EF4-FFF2-40B4-BE49-F238E27FC236}">
                <a16:creationId xmlns:a16="http://schemas.microsoft.com/office/drawing/2014/main" id="{3C03F953-83EA-4123-A73C-E4DC9CA1B44D}"/>
              </a:ext>
            </a:extLst>
          </p:cNvPr>
          <p:cNvSpPr>
            <a:spLocks xmlns:a="http://schemas.openxmlformats.org/drawingml/2006/main" noGrp="1"/>
          </p:cNvSpPr>
          <p:nvPr/>
        </p:nvSpPr>
        <p:spPr>
          <a:xfrm xmlns:a="http://schemas.openxmlformats.org/drawingml/2006/main">
            <a:off x="533400" y="3009900"/>
            <a:ext cx="4705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8889"/>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2   COMPUTE MIX (BY SHAPE)</a:t>
            </a:r>
          </a:p>
        </p:txBody>
      </p:sp>
      <p:sp>
        <p:nvSpPr>
          <p:cNvPr id="30" name="native-compute-intro">
            <a:extLst xmlns:a="http://schemas.openxmlformats.org/drawingml/2006/main">
              <a:ext uri="{FF2B5EF4-FFF2-40B4-BE49-F238E27FC236}">
                <a16:creationId xmlns:a16="http://schemas.microsoft.com/office/drawing/2014/main" id="{320C15A5-906A-44A2-B241-99AE38250921}"/>
              </a:ext>
            </a:extLst>
          </p:cNvPr>
          <p:cNvSpPr>
            <a:spLocks xmlns:a="http://schemas.openxmlformats.org/drawingml/2006/main" noGrp="1"/>
          </p:cNvSpPr>
          <p:nvPr/>
        </p:nvSpPr>
        <p:spPr>
          <a:xfrm xmlns:a="http://schemas.openxmlformats.org/drawingml/2006/main">
            <a:off x="876300" y="3371850"/>
            <a:ext cx="43624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l">
              <a:buNone/>
              <a:defRPr sz="825" b="0">
                <a:solidFill>
                  <a:srgbClr val="17212B"/>
                </a:solidFill>
                <a:latin typeface="Arial"/>
                <a:ea typeface="Arial"/>
                <a:cs typeface="Arial"/>
              </a:defRPr>
            </a:pPr>
            <a:r>
              <a:rPr sz="825" b="0">
                <a:solidFill>
                  <a:srgbClr val="17212B"/>
                </a:solidFill>
                <a:latin typeface="Arial"/>
                <a:ea typeface="Arial"/>
                <a:cs typeface="Arial"/>
              </a:rPr>
              <a:t>Right-sized compute shapes based on workload requirements</a:t>
            </a:r>
          </a:p>
        </p:txBody>
      </p:sp>
      <p:sp>
        <p:nvSpPr>
          <p:cNvPr id="31" name="native-compute-column-shape">
            <a:extLst xmlns:a="http://schemas.openxmlformats.org/drawingml/2006/main">
              <a:ext uri="{FF2B5EF4-FFF2-40B4-BE49-F238E27FC236}">
                <a16:creationId xmlns:a16="http://schemas.microsoft.com/office/drawing/2014/main" id="{961F6617-843E-4A84-8953-9EA3C24C745F}"/>
              </a:ext>
            </a:extLst>
          </p:cNvPr>
          <p:cNvSpPr>
            <a:spLocks xmlns:a="http://schemas.openxmlformats.org/drawingml/2006/main" noGrp="1"/>
          </p:cNvSpPr>
          <p:nvPr/>
        </p:nvSpPr>
        <p:spPr>
          <a:xfrm xmlns:a="http://schemas.openxmlformats.org/drawingml/2006/main">
            <a:off x="723900" y="37147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Compute Shape</a:t>
            </a:r>
          </a:p>
        </p:txBody>
      </p:sp>
      <p:sp>
        <p:nvSpPr>
          <p:cNvPr id="32" name="native-compute-column-vms">
            <a:extLst xmlns:a="http://schemas.openxmlformats.org/drawingml/2006/main">
              <a:ext uri="{FF2B5EF4-FFF2-40B4-BE49-F238E27FC236}">
                <a16:creationId xmlns:a16="http://schemas.microsoft.com/office/drawing/2014/main" id="{4968B3D6-C789-4306-9D89-316F4213A21F}"/>
              </a:ext>
            </a:extLst>
          </p:cNvPr>
          <p:cNvSpPr>
            <a:spLocks xmlns:a="http://schemas.openxmlformats.org/drawingml/2006/main" noGrp="1"/>
          </p:cNvSpPr>
          <p:nvPr/>
        </p:nvSpPr>
        <p:spPr>
          <a:xfrm xmlns:a="http://schemas.openxmlformats.org/drawingml/2006/main">
            <a:off x="3028950" y="371475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VMs</a:t>
            </a:r>
          </a:p>
        </p:txBody>
      </p:sp>
      <p:sp>
        <p:nvSpPr>
          <p:cNvPr id="33" name="native-compute-column-ocpus">
            <a:extLst xmlns:a="http://schemas.openxmlformats.org/drawingml/2006/main">
              <a:ext uri="{FF2B5EF4-FFF2-40B4-BE49-F238E27FC236}">
                <a16:creationId xmlns:a16="http://schemas.microsoft.com/office/drawing/2014/main" id="{3CEE20B2-A267-4F9B-B7CA-70248FBE532D}"/>
              </a:ext>
            </a:extLst>
          </p:cNvPr>
          <p:cNvSpPr>
            <a:spLocks xmlns:a="http://schemas.openxmlformats.org/drawingml/2006/main" noGrp="1"/>
          </p:cNvSpPr>
          <p:nvPr/>
        </p:nvSpPr>
        <p:spPr>
          <a:xfrm xmlns:a="http://schemas.openxmlformats.org/drawingml/2006/main">
            <a:off x="3714750" y="37147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OCPU</a:t>
            </a:r>
          </a:p>
        </p:txBody>
      </p:sp>
      <p:sp>
        <p:nvSpPr>
          <p:cNvPr id="34" name="native-compute-column-ram">
            <a:extLst xmlns:a="http://schemas.openxmlformats.org/drawingml/2006/main">
              <a:ext uri="{FF2B5EF4-FFF2-40B4-BE49-F238E27FC236}">
                <a16:creationId xmlns:a16="http://schemas.microsoft.com/office/drawing/2014/main" id="{0F2BAECE-D8C0-4431-9ABA-1356338ABFB8}"/>
              </a:ext>
            </a:extLst>
          </p:cNvPr>
          <p:cNvSpPr>
            <a:spLocks xmlns:a="http://schemas.openxmlformats.org/drawingml/2006/main" noGrp="1"/>
          </p:cNvSpPr>
          <p:nvPr/>
        </p:nvSpPr>
        <p:spPr>
          <a:xfrm xmlns:a="http://schemas.openxmlformats.org/drawingml/2006/main">
            <a:off x="4495800" y="37147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RAM (GB)</a:t>
            </a:r>
          </a:p>
        </p:txBody>
      </p:sp>
      <p:sp>
        <p:nvSpPr>
          <p:cNvPr id="35" name="native-compute-header-line">
            <a:extLst xmlns:a="http://schemas.openxmlformats.org/drawingml/2006/main">
              <a:ext uri="{FF2B5EF4-FFF2-40B4-BE49-F238E27FC236}">
                <a16:creationId xmlns:a16="http://schemas.microsoft.com/office/drawing/2014/main" id="{89090C67-DC04-4E7C-89A3-07E1342195A8}"/>
              </a:ext>
            </a:extLst>
          </p:cNvPr>
          <p:cNvSpPr>
            <a:spLocks xmlns:a="http://schemas.openxmlformats.org/drawingml/2006/main" noGrp="1"/>
          </p:cNvSpPr>
          <p:nvPr/>
        </p:nvSpPr>
        <p:spPr>
          <a:xfrm xmlns:a="http://schemas.openxmlformats.org/drawingml/2006/main">
            <a:off x="495300" y="4000500"/>
            <a:ext cx="4762500" cy="9525"/>
          </a:xfrm>
          <a:prstGeom xmlns:a="http://schemas.openxmlformats.org/drawingml/2006/main" prst="rect">
            <a:avLst/>
          </a:prstGeom>
          <a:solidFill xmlns:a="http://schemas.openxmlformats.org/drawingml/2006/main">
            <a:srgbClr val="D9DED9"/>
          </a:solidFill>
          <a:ln xmlns:a="http://schemas.openxmlformats.org/drawingml/2006/main" w="9525">
            <a:solidFill>
              <a:srgbClr val="D9DED9"/>
            </a:solidFill>
          </a:ln>
        </p:spPr>
      </p:sp>
      <p:sp>
        <p:nvSpPr>
          <p:cNvPr id="36" name="native-storage-panel">
            <a:extLst xmlns:a="http://schemas.openxmlformats.org/drawingml/2006/main">
              <a:ext uri="{FF2B5EF4-FFF2-40B4-BE49-F238E27FC236}">
                <a16:creationId xmlns:a16="http://schemas.microsoft.com/office/drawing/2014/main" id="{116130AA-1E38-4993-95BA-5FD7C5E99502}"/>
              </a:ext>
            </a:extLst>
          </p:cNvPr>
          <p:cNvSpPr>
            <a:spLocks xmlns:a="http://schemas.openxmlformats.org/drawingml/2006/main" noGrp="1"/>
          </p:cNvSpPr>
          <p:nvPr/>
        </p:nvSpPr>
        <p:spPr>
          <a:xfrm xmlns:a="http://schemas.openxmlformats.org/drawingml/2006/main">
            <a:off x="5562600" y="2952750"/>
            <a:ext cx="6267450" cy="31432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9525">
            <a:solidFill>
              <a:srgbClr val="D9DED9"/>
            </a:solidFill>
          </a:ln>
        </p:spPr>
      </p:sp>
      <p:sp>
        <p:nvSpPr>
          <p:cNvPr id="37" name="native-storage-band">
            <a:extLst xmlns:a="http://schemas.openxmlformats.org/drawingml/2006/main">
              <a:ext uri="{FF2B5EF4-FFF2-40B4-BE49-F238E27FC236}">
                <a16:creationId xmlns:a16="http://schemas.microsoft.com/office/drawing/2014/main" id="{C2A83ECB-A87A-4AE0-A3B4-3E83C7F9D458}"/>
              </a:ext>
            </a:extLst>
          </p:cNvPr>
          <p:cNvSpPr>
            <a:spLocks xmlns:a="http://schemas.openxmlformats.org/drawingml/2006/main" noGrp="1"/>
          </p:cNvSpPr>
          <p:nvPr/>
        </p:nvSpPr>
        <p:spPr>
          <a:xfrm xmlns:a="http://schemas.openxmlformats.org/drawingml/2006/main">
            <a:off x="5562600" y="2952750"/>
            <a:ext cx="6267450" cy="323850"/>
          </a:xfrm>
          <a:prstGeom xmlns:a="http://schemas.openxmlformats.org/drawingml/2006/main" prst="roundRect">
            <a:avLst>
              <a:gd name="adj" fmla="val 23529"/>
            </a:avLst>
          </a:prstGeom>
          <a:solidFill xmlns:a="http://schemas.openxmlformats.org/drawingml/2006/main">
            <a:srgbClr val="B53500"/>
          </a:solidFill>
          <a:ln xmlns:a="http://schemas.openxmlformats.org/drawingml/2006/main" w="0">
            <a:noFill/>
          </a:ln>
        </p:spPr>
      </p:sp>
      <p:sp>
        <p:nvSpPr>
          <p:cNvPr id="38" name="native-storage-band-label">
            <a:extLst xmlns:a="http://schemas.openxmlformats.org/drawingml/2006/main">
              <a:ext uri="{FF2B5EF4-FFF2-40B4-BE49-F238E27FC236}">
                <a16:creationId xmlns:a16="http://schemas.microsoft.com/office/drawing/2014/main" id="{04844636-36B0-465C-97BD-3E26882E7D9B}"/>
              </a:ext>
            </a:extLst>
          </p:cNvPr>
          <p:cNvSpPr>
            <a:spLocks xmlns:a="http://schemas.openxmlformats.org/drawingml/2006/main" noGrp="1"/>
          </p:cNvSpPr>
          <p:nvPr/>
        </p:nvSpPr>
        <p:spPr>
          <a:xfrm xmlns:a="http://schemas.openxmlformats.org/drawingml/2006/main">
            <a:off x="5734050" y="3009900"/>
            <a:ext cx="5943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8889"/>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3   STORAGE MIX (BY VPU)</a:t>
            </a:r>
          </a:p>
        </p:txBody>
      </p:sp>
      <p:sp>
        <p:nvSpPr>
          <p:cNvPr id="39" name="native-storage-intro">
            <a:extLst xmlns:a="http://schemas.openxmlformats.org/drawingml/2006/main">
              <a:ext uri="{FF2B5EF4-FFF2-40B4-BE49-F238E27FC236}">
                <a16:creationId xmlns:a16="http://schemas.microsoft.com/office/drawing/2014/main" id="{3D986DAC-A37C-4DC6-AC38-D945D77E81E3}"/>
              </a:ext>
            </a:extLst>
          </p:cNvPr>
          <p:cNvSpPr>
            <a:spLocks xmlns:a="http://schemas.openxmlformats.org/drawingml/2006/main" noGrp="1"/>
          </p:cNvSpPr>
          <p:nvPr/>
        </p:nvSpPr>
        <p:spPr>
          <a:xfrm xmlns:a="http://schemas.openxmlformats.org/drawingml/2006/main">
            <a:off x="6076950" y="3371850"/>
            <a:ext cx="5600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lgn="l">
              <a:buNone/>
              <a:defRPr sz="825" b="0">
                <a:solidFill>
                  <a:srgbClr val="17212B"/>
                </a:solidFill>
                <a:latin typeface="Arial"/>
                <a:ea typeface="Arial"/>
                <a:cs typeface="Arial"/>
              </a:defRPr>
            </a:pPr>
            <a:r>
              <a:rPr sz="825" b="0">
                <a:solidFill>
                  <a:srgbClr val="17212B"/>
                </a:solidFill>
                <a:latin typeface="Arial"/>
                <a:ea typeface="Arial"/>
                <a:cs typeface="Arial"/>
              </a:rPr>
              <a:t>Block Volume storage sized from configured VPU requirements</a:t>
            </a:r>
          </a:p>
        </p:txBody>
      </p:sp>
      <p:sp>
        <p:nvSpPr>
          <p:cNvPr id="40" name="native-storage-column-vpu">
            <a:extLst xmlns:a="http://schemas.openxmlformats.org/drawingml/2006/main">
              <a:ext uri="{FF2B5EF4-FFF2-40B4-BE49-F238E27FC236}">
                <a16:creationId xmlns:a16="http://schemas.microsoft.com/office/drawing/2014/main" id="{79A18085-6A21-471D-86AB-15F3B14BEB5F}"/>
              </a:ext>
            </a:extLst>
          </p:cNvPr>
          <p:cNvSpPr>
            <a:spLocks xmlns:a="http://schemas.openxmlformats.org/drawingml/2006/main" noGrp="1"/>
          </p:cNvSpPr>
          <p:nvPr/>
        </p:nvSpPr>
        <p:spPr>
          <a:xfrm xmlns:a="http://schemas.openxmlformats.org/drawingml/2006/main">
            <a:off x="5810250" y="37147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VPU Range (per VM)</a:t>
            </a:r>
          </a:p>
        </p:txBody>
      </p:sp>
      <p:sp>
        <p:nvSpPr>
          <p:cNvPr id="41" name="native-storage-column-tier">
            <a:extLst xmlns:a="http://schemas.openxmlformats.org/drawingml/2006/main">
              <a:ext uri="{FF2B5EF4-FFF2-40B4-BE49-F238E27FC236}">
                <a16:creationId xmlns:a16="http://schemas.microsoft.com/office/drawing/2014/main" id="{1FA164AC-2884-431D-B7C3-D6C533E3793D}"/>
              </a:ext>
            </a:extLst>
          </p:cNvPr>
          <p:cNvSpPr>
            <a:spLocks xmlns:a="http://schemas.openxmlformats.org/drawingml/2006/main" noGrp="1"/>
          </p:cNvSpPr>
          <p:nvPr/>
        </p:nvSpPr>
        <p:spPr>
          <a:xfrm xmlns:a="http://schemas.openxmlformats.org/drawingml/2006/main">
            <a:off x="7096125" y="3714750"/>
            <a:ext cx="100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Performance Tier</a:t>
            </a:r>
          </a:p>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(IOPS)</a:t>
            </a:r>
          </a:p>
        </p:txBody>
      </p:sp>
      <p:sp>
        <p:nvSpPr>
          <p:cNvPr id="42" name="native-storage-column-typical">
            <a:extLst xmlns:a="http://schemas.openxmlformats.org/drawingml/2006/main">
              <a:ext uri="{FF2B5EF4-FFF2-40B4-BE49-F238E27FC236}">
                <a16:creationId xmlns:a16="http://schemas.microsoft.com/office/drawing/2014/main" id="{20AB72F3-B5B3-45D7-B6DC-CEFB73C5FDB6}"/>
              </a:ext>
            </a:extLst>
          </p:cNvPr>
          <p:cNvSpPr>
            <a:spLocks xmlns:a="http://schemas.openxmlformats.org/drawingml/2006/main" noGrp="1"/>
          </p:cNvSpPr>
          <p:nvPr/>
        </p:nvSpPr>
        <p:spPr>
          <a:xfrm xmlns:a="http://schemas.openxmlformats.org/drawingml/2006/main">
            <a:off x="8286750" y="371475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Typical VPU</a:t>
            </a:r>
          </a:p>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per VM</a:t>
            </a:r>
          </a:p>
        </p:txBody>
      </p:sp>
      <p:sp>
        <p:nvSpPr>
          <p:cNvPr id="43" name="native-storage-column-vms">
            <a:extLst xmlns:a="http://schemas.openxmlformats.org/drawingml/2006/main">
              <a:ext uri="{FF2B5EF4-FFF2-40B4-BE49-F238E27FC236}">
                <a16:creationId xmlns:a16="http://schemas.microsoft.com/office/drawing/2014/main" id="{F5E4D720-40D7-4E91-8CD3-9ADCC0AFA151}"/>
              </a:ext>
            </a:extLst>
          </p:cNvPr>
          <p:cNvSpPr>
            <a:spLocks xmlns:a="http://schemas.openxmlformats.org/drawingml/2006/main" noGrp="1"/>
          </p:cNvSpPr>
          <p:nvPr/>
        </p:nvSpPr>
        <p:spPr>
          <a:xfrm xmlns:a="http://schemas.openxmlformats.org/drawingml/2006/main">
            <a:off x="9239250" y="3714750"/>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695"/>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Total VMs</a:t>
            </a:r>
          </a:p>
        </p:txBody>
      </p:sp>
      <p:sp>
        <p:nvSpPr>
          <p:cNvPr id="44" name="native-storage-column-total">
            <a:extLst xmlns:a="http://schemas.openxmlformats.org/drawingml/2006/main">
              <a:ext uri="{FF2B5EF4-FFF2-40B4-BE49-F238E27FC236}">
                <a16:creationId xmlns:a16="http://schemas.microsoft.com/office/drawing/2014/main" id="{E894E97B-8F09-4817-BDCC-766F78853647}"/>
              </a:ext>
            </a:extLst>
          </p:cNvPr>
          <p:cNvSpPr>
            <a:spLocks xmlns:a="http://schemas.openxmlformats.org/drawingml/2006/main" noGrp="1"/>
          </p:cNvSpPr>
          <p:nvPr/>
        </p:nvSpPr>
        <p:spPr>
          <a:xfrm xmlns:a="http://schemas.openxmlformats.org/drawingml/2006/main">
            <a:off x="10001250" y="37147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Total VPU</a:t>
            </a:r>
          </a:p>
        </p:txBody>
      </p:sp>
      <p:sp>
        <p:nvSpPr>
          <p:cNvPr id="45" name="native-storage-column-capacity">
            <a:extLst xmlns:a="http://schemas.openxmlformats.org/drawingml/2006/main">
              <a:ext uri="{FF2B5EF4-FFF2-40B4-BE49-F238E27FC236}">
                <a16:creationId xmlns:a16="http://schemas.microsoft.com/office/drawing/2014/main" id="{4BCC2DA6-E15B-43A0-9039-197281734998}"/>
              </a:ext>
            </a:extLst>
          </p:cNvPr>
          <p:cNvSpPr>
            <a:spLocks xmlns:a="http://schemas.openxmlformats.org/drawingml/2006/main" noGrp="1"/>
          </p:cNvSpPr>
          <p:nvPr/>
        </p:nvSpPr>
        <p:spPr>
          <a:xfrm xmlns:a="http://schemas.openxmlformats.org/drawingml/2006/main">
            <a:off x="10810875" y="3714750"/>
            <a:ext cx="781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Capacity</a:t>
            </a:r>
          </a:p>
        </p:txBody>
      </p:sp>
      <p:sp>
        <p:nvSpPr>
          <p:cNvPr id="46" name="native-storage-header-line">
            <a:extLst xmlns:a="http://schemas.openxmlformats.org/drawingml/2006/main">
              <a:ext uri="{FF2B5EF4-FFF2-40B4-BE49-F238E27FC236}">
                <a16:creationId xmlns:a16="http://schemas.microsoft.com/office/drawing/2014/main" id="{98F5BC19-6311-4129-B881-D90891BE0593}"/>
              </a:ext>
            </a:extLst>
          </p:cNvPr>
          <p:cNvSpPr>
            <a:spLocks xmlns:a="http://schemas.openxmlformats.org/drawingml/2006/main" noGrp="1"/>
          </p:cNvSpPr>
          <p:nvPr/>
        </p:nvSpPr>
        <p:spPr>
          <a:xfrm xmlns:a="http://schemas.openxmlformats.org/drawingml/2006/main">
            <a:off x="5695950" y="4000500"/>
            <a:ext cx="6000750" cy="9525"/>
          </a:xfrm>
          <a:prstGeom xmlns:a="http://schemas.openxmlformats.org/drawingml/2006/main" prst="rect">
            <a:avLst/>
          </a:prstGeom>
          <a:solidFill xmlns:a="http://schemas.openxmlformats.org/drawingml/2006/main">
            <a:srgbClr val="D9DED9"/>
          </a:solidFill>
          <a:ln xmlns:a="http://schemas.openxmlformats.org/drawingml/2006/main" w="9525">
            <a:solidFill>
              <a:srgbClr val="D9DED9"/>
            </a:solidFill>
          </a:ln>
        </p:spPr>
      </p:sp>
      <p:sp>
        <p:nvSpPr>
          <p:cNvPr id="47" name="editable-native-shape-row-1">
            <a:extLst xmlns:a="http://schemas.openxmlformats.org/drawingml/2006/main">
              <a:ext uri="{FF2B5EF4-FFF2-40B4-BE49-F238E27FC236}">
                <a16:creationId xmlns:a16="http://schemas.microsoft.com/office/drawing/2014/main" id="{E32E1A5B-5523-4E9D-A467-69EA757DFF61}"/>
              </a:ext>
            </a:extLst>
          </p:cNvPr>
          <p:cNvSpPr>
            <a:spLocks xmlns:a="http://schemas.openxmlformats.org/drawingml/2006/main" noGrp="1"/>
          </p:cNvSpPr>
          <p:nvPr/>
        </p:nvSpPr>
        <p:spPr>
          <a:xfrm xmlns:a="http://schemas.openxmlformats.org/drawingml/2006/main">
            <a:off x="723900" y="4095750"/>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675" b="1">
                <a:solidFill>
                  <a:srgbClr val="17212B"/>
                </a:solidFill>
                <a:latin typeface="Arial"/>
                <a:ea typeface="Arial"/>
                <a:cs typeface="Arial"/>
              </a:defRPr>
            </a:pPr>
            <a:r>
              <a:rPr sz="675" b="1">
                <a:solidFill>
                  <a:srgbClr val="17212B"/>
                </a:solidFill>
                <a:latin typeface="Arial"/>
                <a:ea typeface="Arial"/>
                <a:cs typeface="Arial"/>
              </a:rPr>
              <a:t>VM.Standard3.Flex</a:t>
            </a:r>
          </a:p>
        </p:txBody>
      </p:sp>
      <p:sp>
        <p:nvSpPr>
          <p:cNvPr id="48" name="editable-native-shape-vms-row-1">
            <a:extLst xmlns:a="http://schemas.openxmlformats.org/drawingml/2006/main">
              <a:ext uri="{FF2B5EF4-FFF2-40B4-BE49-F238E27FC236}">
                <a16:creationId xmlns:a16="http://schemas.microsoft.com/office/drawing/2014/main" id="{4AA215A9-C2BA-44E3-9BB0-B5FEB56431CB}"/>
              </a:ext>
            </a:extLst>
          </p:cNvPr>
          <p:cNvSpPr>
            <a:spLocks xmlns:a="http://schemas.openxmlformats.org/drawingml/2006/main" noGrp="1"/>
          </p:cNvSpPr>
          <p:nvPr/>
        </p:nvSpPr>
        <p:spPr>
          <a:xfrm xmlns:a="http://schemas.openxmlformats.org/drawingml/2006/main">
            <a:off x="3028950" y="409575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49" name="editable-native-shape-ocpus-row-1">
            <a:extLst xmlns:a="http://schemas.openxmlformats.org/drawingml/2006/main">
              <a:ext uri="{FF2B5EF4-FFF2-40B4-BE49-F238E27FC236}">
                <a16:creationId xmlns:a16="http://schemas.microsoft.com/office/drawing/2014/main" id="{390B0095-9F2D-43EA-887F-EDE95BEA3C2C}"/>
              </a:ext>
            </a:extLst>
          </p:cNvPr>
          <p:cNvSpPr>
            <a:spLocks xmlns:a="http://schemas.openxmlformats.org/drawingml/2006/main" noGrp="1"/>
          </p:cNvSpPr>
          <p:nvPr/>
        </p:nvSpPr>
        <p:spPr>
          <a:xfrm xmlns:a="http://schemas.openxmlformats.org/drawingml/2006/main">
            <a:off x="3714750" y="40957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50" name="editable-native-shape-ram-row-1">
            <a:extLst xmlns:a="http://schemas.openxmlformats.org/drawingml/2006/main">
              <a:ext uri="{FF2B5EF4-FFF2-40B4-BE49-F238E27FC236}">
                <a16:creationId xmlns:a16="http://schemas.microsoft.com/office/drawing/2014/main" id="{79B07E99-95F8-4348-AB59-B4DDACE040F9}"/>
              </a:ext>
            </a:extLst>
          </p:cNvPr>
          <p:cNvSpPr>
            <a:spLocks xmlns:a="http://schemas.openxmlformats.org/drawingml/2006/main" noGrp="1"/>
          </p:cNvSpPr>
          <p:nvPr/>
        </p:nvSpPr>
        <p:spPr>
          <a:xfrm xmlns:a="http://schemas.openxmlformats.org/drawingml/2006/main">
            <a:off x="4495800" y="40957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51" name="native-compute-row-1-line">
            <a:extLst xmlns:a="http://schemas.openxmlformats.org/drawingml/2006/main">
              <a:ext uri="{FF2B5EF4-FFF2-40B4-BE49-F238E27FC236}">
                <a16:creationId xmlns:a16="http://schemas.microsoft.com/office/drawing/2014/main" id="{1D4E6F2D-502D-4A08-B279-011C28F58B49}"/>
              </a:ext>
            </a:extLst>
          </p:cNvPr>
          <p:cNvSpPr>
            <a:spLocks xmlns:a="http://schemas.openxmlformats.org/drawingml/2006/main" noGrp="1"/>
          </p:cNvSpPr>
          <p:nvPr/>
        </p:nvSpPr>
        <p:spPr>
          <a:xfrm xmlns:a="http://schemas.openxmlformats.org/drawingml/2006/main">
            <a:off x="495300" y="4429125"/>
            <a:ext cx="4762500" cy="9525"/>
          </a:xfrm>
          <a:prstGeom xmlns:a="http://schemas.openxmlformats.org/drawingml/2006/main" prst="rect">
            <a:avLst/>
          </a:prstGeom>
          <a:solidFill xmlns:a="http://schemas.openxmlformats.org/drawingml/2006/main">
            <a:srgbClr val="D9DED9"/>
          </a:solidFill>
          <a:ln xmlns:a="http://schemas.openxmlformats.org/drawingml/2006/main" w="9525">
            <a:solidFill>
              <a:srgbClr val="D9DED9"/>
            </a:solidFill>
          </a:ln>
        </p:spPr>
      </p:sp>
      <p:sp>
        <p:nvSpPr>
          <p:cNvPr id="52" name="editable-native-vpu-label-row-1">
            <a:extLst xmlns:a="http://schemas.openxmlformats.org/drawingml/2006/main">
              <a:ext uri="{FF2B5EF4-FFF2-40B4-BE49-F238E27FC236}">
                <a16:creationId xmlns:a16="http://schemas.microsoft.com/office/drawing/2014/main" id="{D71A7A73-CA9E-4B68-9086-60CE4BFF3981}"/>
              </a:ext>
            </a:extLst>
          </p:cNvPr>
          <p:cNvSpPr>
            <a:spLocks xmlns:a="http://schemas.openxmlformats.org/drawingml/2006/main" noGrp="1"/>
          </p:cNvSpPr>
          <p:nvPr/>
        </p:nvSpPr>
        <p:spPr>
          <a:xfrm xmlns:a="http://schemas.openxmlformats.org/drawingml/2006/main">
            <a:off x="5810250" y="4095750"/>
            <a:ext cx="114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10.0</a:t>
            </a:r>
          </a:p>
        </p:txBody>
      </p:sp>
      <p:sp>
        <p:nvSpPr>
          <p:cNvPr id="53" name="editable-native-vpu-tier-row-1">
            <a:extLst xmlns:a="http://schemas.openxmlformats.org/drawingml/2006/main">
              <a:ext uri="{FF2B5EF4-FFF2-40B4-BE49-F238E27FC236}">
                <a16:creationId xmlns:a16="http://schemas.microsoft.com/office/drawing/2014/main" id="{604FFD8D-79D8-4A9F-AFFD-17EA6BDD03ED}"/>
              </a:ext>
            </a:extLst>
          </p:cNvPr>
          <p:cNvSpPr>
            <a:spLocks xmlns:a="http://schemas.openxmlformats.org/drawingml/2006/main" noGrp="1"/>
          </p:cNvSpPr>
          <p:nvPr/>
        </p:nvSpPr>
        <p:spPr>
          <a:xfrm xmlns:a="http://schemas.openxmlformats.org/drawingml/2006/main">
            <a:off x="7096125" y="4095750"/>
            <a:ext cx="1000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600" b="1">
                <a:solidFill>
                  <a:srgbClr val="17212B"/>
                </a:solidFill>
                <a:latin typeface="Arial"/>
                <a:ea typeface="Arial"/>
                <a:cs typeface="Arial"/>
              </a:defRPr>
            </a:pPr>
            <a:r>
              <a:rPr sz="600" b="1">
                <a:solidFill>
                  <a:srgbClr val="17212B"/>
                </a:solidFill>
                <a:latin typeface="Arial"/>
                <a:ea typeface="Arial"/>
                <a:cs typeface="Arial"/>
              </a:rPr>
              <a:t>Balanced 10K</a:t>
            </a:r>
          </a:p>
        </p:txBody>
      </p:sp>
      <p:sp>
        <p:nvSpPr>
          <p:cNvPr id="54" name="editable-native-vpu-per-vm-row-1">
            <a:extLst xmlns:a="http://schemas.openxmlformats.org/drawingml/2006/main">
              <a:ext uri="{FF2B5EF4-FFF2-40B4-BE49-F238E27FC236}">
                <a16:creationId xmlns:a16="http://schemas.microsoft.com/office/drawing/2014/main" id="{F7199A13-316A-43C8-A9D3-CD279093CC7E}"/>
              </a:ext>
            </a:extLst>
          </p:cNvPr>
          <p:cNvSpPr>
            <a:spLocks xmlns:a="http://schemas.openxmlformats.org/drawingml/2006/main" noGrp="1"/>
          </p:cNvSpPr>
          <p:nvPr/>
        </p:nvSpPr>
        <p:spPr>
          <a:xfrm xmlns:a="http://schemas.openxmlformats.org/drawingml/2006/main">
            <a:off x="8286750" y="4095750"/>
            <a:ext cx="762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10</a:t>
            </a:r>
          </a:p>
        </p:txBody>
      </p:sp>
      <p:sp>
        <p:nvSpPr>
          <p:cNvPr id="55" name="editable-native-vpu-vms-row-1">
            <a:extLst xmlns:a="http://schemas.openxmlformats.org/drawingml/2006/main">
              <a:ext uri="{FF2B5EF4-FFF2-40B4-BE49-F238E27FC236}">
                <a16:creationId xmlns:a16="http://schemas.microsoft.com/office/drawing/2014/main" id="{07237AF6-7DBA-4EA1-8993-3CA01C167D6D}"/>
              </a:ext>
            </a:extLst>
          </p:cNvPr>
          <p:cNvSpPr>
            <a:spLocks xmlns:a="http://schemas.openxmlformats.org/drawingml/2006/main" noGrp="1"/>
          </p:cNvSpPr>
          <p:nvPr/>
        </p:nvSpPr>
        <p:spPr>
          <a:xfrm xmlns:a="http://schemas.openxmlformats.org/drawingml/2006/main">
            <a:off x="9239250" y="4095750"/>
            <a:ext cx="619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56" name="editable-native-vpu-total-row-1">
            <a:extLst xmlns:a="http://schemas.openxmlformats.org/drawingml/2006/main">
              <a:ext uri="{FF2B5EF4-FFF2-40B4-BE49-F238E27FC236}">
                <a16:creationId xmlns:a16="http://schemas.microsoft.com/office/drawing/2014/main" id="{0D21CD6A-61D6-4EF9-BF15-457A456E4697}"/>
              </a:ext>
            </a:extLst>
          </p:cNvPr>
          <p:cNvSpPr>
            <a:spLocks xmlns:a="http://schemas.openxmlformats.org/drawingml/2006/main" noGrp="1"/>
          </p:cNvSpPr>
          <p:nvPr/>
        </p:nvSpPr>
        <p:spPr>
          <a:xfrm xmlns:a="http://schemas.openxmlformats.org/drawingml/2006/main">
            <a:off x="10001250" y="40957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57" name="editable-native-vpu-storage-row-1">
            <a:extLst xmlns:a="http://schemas.openxmlformats.org/drawingml/2006/main">
              <a:ext uri="{FF2B5EF4-FFF2-40B4-BE49-F238E27FC236}">
                <a16:creationId xmlns:a16="http://schemas.microsoft.com/office/drawing/2014/main" id="{7A56B3B4-3AEF-4CFC-B381-1B90AC21E39E}"/>
              </a:ext>
            </a:extLst>
          </p:cNvPr>
          <p:cNvSpPr>
            <a:spLocks xmlns:a="http://schemas.openxmlformats.org/drawingml/2006/main" noGrp="1"/>
          </p:cNvSpPr>
          <p:nvPr/>
        </p:nvSpPr>
        <p:spPr>
          <a:xfrm xmlns:a="http://schemas.openxmlformats.org/drawingml/2006/main">
            <a:off x="10810875" y="4095750"/>
            <a:ext cx="781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58" name="native-storage-row-1-line">
            <a:extLst xmlns:a="http://schemas.openxmlformats.org/drawingml/2006/main">
              <a:ext uri="{FF2B5EF4-FFF2-40B4-BE49-F238E27FC236}">
                <a16:creationId xmlns:a16="http://schemas.microsoft.com/office/drawing/2014/main" id="{A1D8CF5B-15EC-4FD6-BA6B-A35BBD460559}"/>
              </a:ext>
            </a:extLst>
          </p:cNvPr>
          <p:cNvSpPr>
            <a:spLocks xmlns:a="http://schemas.openxmlformats.org/drawingml/2006/main" noGrp="1"/>
          </p:cNvSpPr>
          <p:nvPr/>
        </p:nvSpPr>
        <p:spPr>
          <a:xfrm xmlns:a="http://schemas.openxmlformats.org/drawingml/2006/main">
            <a:off x="5695950" y="4429125"/>
            <a:ext cx="5981700" cy="9525"/>
          </a:xfrm>
          <a:prstGeom xmlns:a="http://schemas.openxmlformats.org/drawingml/2006/main" prst="rect">
            <a:avLst/>
          </a:prstGeom>
          <a:solidFill xmlns:a="http://schemas.openxmlformats.org/drawingml/2006/main">
            <a:srgbClr val="D9DED9"/>
          </a:solidFill>
          <a:ln xmlns:a="http://schemas.openxmlformats.org/drawingml/2006/main" w="9525">
            <a:solidFill>
              <a:srgbClr val="D9DED9"/>
            </a:solidFill>
          </a:ln>
        </p:spPr>
      </p:sp>
      <p:sp>
        <p:nvSpPr>
          <p:cNvPr id="59" name="editable-native-shape-row-2">
            <a:extLst xmlns:a="http://schemas.openxmlformats.org/drawingml/2006/main">
              <a:ext uri="{FF2B5EF4-FFF2-40B4-BE49-F238E27FC236}">
                <a16:creationId xmlns:a16="http://schemas.microsoft.com/office/drawing/2014/main" id="{98EE547C-945D-4526-A1FA-C81F6F6AFE73}"/>
              </a:ext>
            </a:extLst>
          </p:cNvPr>
          <p:cNvSpPr>
            <a:spLocks xmlns:a="http://schemas.openxmlformats.org/drawingml/2006/main" noGrp="1"/>
          </p:cNvSpPr>
          <p:nvPr/>
        </p:nvSpPr>
        <p:spPr>
          <a:xfrm xmlns:a="http://schemas.openxmlformats.org/drawingml/2006/main">
            <a:off x="723900" y="4457700"/>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675" b="1">
                <a:solidFill>
                  <a:srgbClr val="17212B"/>
                </a:solidFill>
                <a:latin typeface="Arial"/>
                <a:ea typeface="Arial"/>
                <a:cs typeface="Arial"/>
              </a:defRPr>
            </a:pPr>
            <a:r>
              <a:rPr sz="675" b="1">
                <a:solidFill>
                  <a:srgbClr val="17212B"/>
                </a:solidFill>
                <a:latin typeface="Arial"/>
                <a:ea typeface="Arial"/>
                <a:cs typeface="Arial"/>
              </a:rPr>
              <a:t>VM.Standard3.Flex</a:t>
            </a:r>
          </a:p>
        </p:txBody>
      </p:sp>
      <p:sp>
        <p:nvSpPr>
          <p:cNvPr id="60" name="editable-native-shape-vms-row-2">
            <a:extLst xmlns:a="http://schemas.openxmlformats.org/drawingml/2006/main">
              <a:ext uri="{FF2B5EF4-FFF2-40B4-BE49-F238E27FC236}">
                <a16:creationId xmlns:a16="http://schemas.microsoft.com/office/drawing/2014/main" id="{99821FAB-B02C-4810-8AFC-AE73041908F9}"/>
              </a:ext>
            </a:extLst>
          </p:cNvPr>
          <p:cNvSpPr>
            <a:spLocks xmlns:a="http://schemas.openxmlformats.org/drawingml/2006/main" noGrp="1"/>
          </p:cNvSpPr>
          <p:nvPr/>
        </p:nvSpPr>
        <p:spPr>
          <a:xfrm xmlns:a="http://schemas.openxmlformats.org/drawingml/2006/main">
            <a:off x="3028950" y="445770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61" name="editable-native-shape-ocpus-row-2">
            <a:extLst xmlns:a="http://schemas.openxmlformats.org/drawingml/2006/main">
              <a:ext uri="{FF2B5EF4-FFF2-40B4-BE49-F238E27FC236}">
                <a16:creationId xmlns:a16="http://schemas.microsoft.com/office/drawing/2014/main" id="{32E6433B-6C46-4113-AB9E-60D46A06415A}"/>
              </a:ext>
            </a:extLst>
          </p:cNvPr>
          <p:cNvSpPr>
            <a:spLocks xmlns:a="http://schemas.openxmlformats.org/drawingml/2006/main" noGrp="1"/>
          </p:cNvSpPr>
          <p:nvPr/>
        </p:nvSpPr>
        <p:spPr>
          <a:xfrm xmlns:a="http://schemas.openxmlformats.org/drawingml/2006/main">
            <a:off x="3714750" y="445770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62" name="editable-native-shape-ram-row-2">
            <a:extLst xmlns:a="http://schemas.openxmlformats.org/drawingml/2006/main">
              <a:ext uri="{FF2B5EF4-FFF2-40B4-BE49-F238E27FC236}">
                <a16:creationId xmlns:a16="http://schemas.microsoft.com/office/drawing/2014/main" id="{30C650BF-5F13-40BD-A500-52D6501E2CE5}"/>
              </a:ext>
            </a:extLst>
          </p:cNvPr>
          <p:cNvSpPr>
            <a:spLocks xmlns:a="http://schemas.openxmlformats.org/drawingml/2006/main" noGrp="1"/>
          </p:cNvSpPr>
          <p:nvPr/>
        </p:nvSpPr>
        <p:spPr>
          <a:xfrm xmlns:a="http://schemas.openxmlformats.org/drawingml/2006/main">
            <a:off x="4495800" y="445770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63" name="native-compute-row-2-line">
            <a:extLst xmlns:a="http://schemas.openxmlformats.org/drawingml/2006/main">
              <a:ext uri="{FF2B5EF4-FFF2-40B4-BE49-F238E27FC236}">
                <a16:creationId xmlns:a16="http://schemas.microsoft.com/office/drawing/2014/main" id="{CB50543F-F87F-4059-96EF-07BABECBD8A2}"/>
              </a:ext>
            </a:extLst>
          </p:cNvPr>
          <p:cNvSpPr>
            <a:spLocks xmlns:a="http://schemas.openxmlformats.org/drawingml/2006/main" noGrp="1"/>
          </p:cNvSpPr>
          <p:nvPr/>
        </p:nvSpPr>
        <p:spPr>
          <a:xfrm xmlns:a="http://schemas.openxmlformats.org/drawingml/2006/main">
            <a:off x="495300" y="4791075"/>
            <a:ext cx="4762500" cy="9525"/>
          </a:xfrm>
          <a:prstGeom xmlns:a="http://schemas.openxmlformats.org/drawingml/2006/main" prst="rect">
            <a:avLst/>
          </a:prstGeom>
          <a:solidFill xmlns:a="http://schemas.openxmlformats.org/drawingml/2006/main">
            <a:srgbClr val="D9DED9"/>
          </a:solidFill>
          <a:ln xmlns:a="http://schemas.openxmlformats.org/drawingml/2006/main" w="9525">
            <a:solidFill>
              <a:srgbClr val="D9DED9"/>
            </a:solidFill>
          </a:ln>
        </p:spPr>
      </p:sp>
      <p:sp>
        <p:nvSpPr>
          <p:cNvPr id="64" name="editable-native-vpu-label-row-2">
            <a:extLst xmlns:a="http://schemas.openxmlformats.org/drawingml/2006/main">
              <a:ext uri="{FF2B5EF4-FFF2-40B4-BE49-F238E27FC236}">
                <a16:creationId xmlns:a16="http://schemas.microsoft.com/office/drawing/2014/main" id="{9ADDBF63-6315-4D26-9764-7F1DF2E2EB0F}"/>
              </a:ext>
            </a:extLst>
          </p:cNvPr>
          <p:cNvSpPr>
            <a:spLocks xmlns:a="http://schemas.openxmlformats.org/drawingml/2006/main" noGrp="1"/>
          </p:cNvSpPr>
          <p:nvPr/>
        </p:nvSpPr>
        <p:spPr>
          <a:xfrm xmlns:a="http://schemas.openxmlformats.org/drawingml/2006/main">
            <a:off x="5810250" y="4457700"/>
            <a:ext cx="114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10.0</a:t>
            </a:r>
          </a:p>
        </p:txBody>
      </p:sp>
      <p:sp>
        <p:nvSpPr>
          <p:cNvPr id="65" name="editable-native-vpu-tier-row-2">
            <a:extLst xmlns:a="http://schemas.openxmlformats.org/drawingml/2006/main">
              <a:ext uri="{FF2B5EF4-FFF2-40B4-BE49-F238E27FC236}">
                <a16:creationId xmlns:a16="http://schemas.microsoft.com/office/drawing/2014/main" id="{5C173A45-E4BB-4766-8686-731CBD5E0FDB}"/>
              </a:ext>
            </a:extLst>
          </p:cNvPr>
          <p:cNvSpPr>
            <a:spLocks xmlns:a="http://schemas.openxmlformats.org/drawingml/2006/main" noGrp="1"/>
          </p:cNvSpPr>
          <p:nvPr/>
        </p:nvSpPr>
        <p:spPr>
          <a:xfrm xmlns:a="http://schemas.openxmlformats.org/drawingml/2006/main">
            <a:off x="7096125" y="4457700"/>
            <a:ext cx="1000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600" b="1">
                <a:solidFill>
                  <a:srgbClr val="17212B"/>
                </a:solidFill>
                <a:latin typeface="Arial"/>
                <a:ea typeface="Arial"/>
                <a:cs typeface="Arial"/>
              </a:defRPr>
            </a:pPr>
            <a:r>
              <a:rPr sz="600" b="1">
                <a:solidFill>
                  <a:srgbClr val="17212B"/>
                </a:solidFill>
                <a:latin typeface="Arial"/>
                <a:ea typeface="Arial"/>
                <a:cs typeface="Arial"/>
              </a:rPr>
              <a:t>Balanced 10K</a:t>
            </a:r>
          </a:p>
        </p:txBody>
      </p:sp>
      <p:sp>
        <p:nvSpPr>
          <p:cNvPr id="66" name="editable-native-vpu-per-vm-row-2">
            <a:extLst xmlns:a="http://schemas.openxmlformats.org/drawingml/2006/main">
              <a:ext uri="{FF2B5EF4-FFF2-40B4-BE49-F238E27FC236}">
                <a16:creationId xmlns:a16="http://schemas.microsoft.com/office/drawing/2014/main" id="{1D7BC099-D524-473E-92BD-0FEC9AF7D317}"/>
              </a:ext>
            </a:extLst>
          </p:cNvPr>
          <p:cNvSpPr>
            <a:spLocks xmlns:a="http://schemas.openxmlformats.org/drawingml/2006/main" noGrp="1"/>
          </p:cNvSpPr>
          <p:nvPr/>
        </p:nvSpPr>
        <p:spPr>
          <a:xfrm xmlns:a="http://schemas.openxmlformats.org/drawingml/2006/main">
            <a:off x="8286750" y="4457700"/>
            <a:ext cx="762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10</a:t>
            </a:r>
          </a:p>
        </p:txBody>
      </p:sp>
      <p:sp>
        <p:nvSpPr>
          <p:cNvPr id="67" name="editable-native-vpu-vms-row-2">
            <a:extLst xmlns:a="http://schemas.openxmlformats.org/drawingml/2006/main">
              <a:ext uri="{FF2B5EF4-FFF2-40B4-BE49-F238E27FC236}">
                <a16:creationId xmlns:a16="http://schemas.microsoft.com/office/drawing/2014/main" id="{28E1AD20-B963-43D5-8D22-D6A59A0C60C3}"/>
              </a:ext>
            </a:extLst>
          </p:cNvPr>
          <p:cNvSpPr>
            <a:spLocks xmlns:a="http://schemas.openxmlformats.org/drawingml/2006/main" noGrp="1"/>
          </p:cNvSpPr>
          <p:nvPr/>
        </p:nvSpPr>
        <p:spPr>
          <a:xfrm xmlns:a="http://schemas.openxmlformats.org/drawingml/2006/main">
            <a:off x="9239250" y="4457700"/>
            <a:ext cx="619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68" name="editable-native-vpu-total-row-2">
            <a:extLst xmlns:a="http://schemas.openxmlformats.org/drawingml/2006/main">
              <a:ext uri="{FF2B5EF4-FFF2-40B4-BE49-F238E27FC236}">
                <a16:creationId xmlns:a16="http://schemas.microsoft.com/office/drawing/2014/main" id="{2A867B3E-EA31-45C9-92BC-2B6B54190115}"/>
              </a:ext>
            </a:extLst>
          </p:cNvPr>
          <p:cNvSpPr>
            <a:spLocks xmlns:a="http://schemas.openxmlformats.org/drawingml/2006/main" noGrp="1"/>
          </p:cNvSpPr>
          <p:nvPr/>
        </p:nvSpPr>
        <p:spPr>
          <a:xfrm xmlns:a="http://schemas.openxmlformats.org/drawingml/2006/main">
            <a:off x="10001250" y="445770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69" name="editable-native-vpu-storage-row-2">
            <a:extLst xmlns:a="http://schemas.openxmlformats.org/drawingml/2006/main">
              <a:ext uri="{FF2B5EF4-FFF2-40B4-BE49-F238E27FC236}">
                <a16:creationId xmlns:a16="http://schemas.microsoft.com/office/drawing/2014/main" id="{95010C13-A2CB-429C-ADD7-2FB639E82C90}"/>
              </a:ext>
            </a:extLst>
          </p:cNvPr>
          <p:cNvSpPr>
            <a:spLocks xmlns:a="http://schemas.openxmlformats.org/drawingml/2006/main" noGrp="1"/>
          </p:cNvSpPr>
          <p:nvPr/>
        </p:nvSpPr>
        <p:spPr>
          <a:xfrm xmlns:a="http://schemas.openxmlformats.org/drawingml/2006/main">
            <a:off x="10810875" y="4457700"/>
            <a:ext cx="781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70" name="native-storage-row-2-line">
            <a:extLst xmlns:a="http://schemas.openxmlformats.org/drawingml/2006/main">
              <a:ext uri="{FF2B5EF4-FFF2-40B4-BE49-F238E27FC236}">
                <a16:creationId xmlns:a16="http://schemas.microsoft.com/office/drawing/2014/main" id="{EEBA73FF-59E7-4E3A-B48E-0A2FBAB30A40}"/>
              </a:ext>
            </a:extLst>
          </p:cNvPr>
          <p:cNvSpPr>
            <a:spLocks xmlns:a="http://schemas.openxmlformats.org/drawingml/2006/main" noGrp="1"/>
          </p:cNvSpPr>
          <p:nvPr/>
        </p:nvSpPr>
        <p:spPr>
          <a:xfrm xmlns:a="http://schemas.openxmlformats.org/drawingml/2006/main">
            <a:off x="5695950" y="4791075"/>
            <a:ext cx="5981700" cy="9525"/>
          </a:xfrm>
          <a:prstGeom xmlns:a="http://schemas.openxmlformats.org/drawingml/2006/main" prst="rect">
            <a:avLst/>
          </a:prstGeom>
          <a:solidFill xmlns:a="http://schemas.openxmlformats.org/drawingml/2006/main">
            <a:srgbClr val="D9DED9"/>
          </a:solidFill>
          <a:ln xmlns:a="http://schemas.openxmlformats.org/drawingml/2006/main" w="9525">
            <a:solidFill>
              <a:srgbClr val="D9DED9"/>
            </a:solidFill>
          </a:ln>
        </p:spPr>
      </p:sp>
      <p:sp>
        <p:nvSpPr>
          <p:cNvPr id="71" name="editable-native-shape-row-3">
            <a:extLst xmlns:a="http://schemas.openxmlformats.org/drawingml/2006/main">
              <a:ext uri="{FF2B5EF4-FFF2-40B4-BE49-F238E27FC236}">
                <a16:creationId xmlns:a16="http://schemas.microsoft.com/office/drawing/2014/main" id="{2E153949-DD17-4E5E-A23C-9168639601E7}"/>
              </a:ext>
            </a:extLst>
          </p:cNvPr>
          <p:cNvSpPr>
            <a:spLocks xmlns:a="http://schemas.openxmlformats.org/drawingml/2006/main" noGrp="1"/>
          </p:cNvSpPr>
          <p:nvPr/>
        </p:nvSpPr>
        <p:spPr>
          <a:xfrm xmlns:a="http://schemas.openxmlformats.org/drawingml/2006/main">
            <a:off x="723900" y="4819650"/>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675" b="1">
                <a:solidFill>
                  <a:srgbClr val="17212B"/>
                </a:solidFill>
                <a:latin typeface="Arial"/>
                <a:ea typeface="Arial"/>
                <a:cs typeface="Arial"/>
              </a:defRPr>
            </a:pPr>
            <a:r>
              <a:rPr sz="675" b="1">
                <a:solidFill>
                  <a:srgbClr val="17212B"/>
                </a:solidFill>
                <a:latin typeface="Arial"/>
                <a:ea typeface="Arial"/>
                <a:cs typeface="Arial"/>
              </a:rPr>
              <a:t>VM.Standard3.Flex</a:t>
            </a:r>
          </a:p>
        </p:txBody>
      </p:sp>
      <p:sp>
        <p:nvSpPr>
          <p:cNvPr id="72" name="editable-native-shape-vms-row-3">
            <a:extLst xmlns:a="http://schemas.openxmlformats.org/drawingml/2006/main">
              <a:ext uri="{FF2B5EF4-FFF2-40B4-BE49-F238E27FC236}">
                <a16:creationId xmlns:a16="http://schemas.microsoft.com/office/drawing/2014/main" id="{712E1EB9-D261-42B7-BC10-3EA73344A5FD}"/>
              </a:ext>
            </a:extLst>
          </p:cNvPr>
          <p:cNvSpPr>
            <a:spLocks xmlns:a="http://schemas.openxmlformats.org/drawingml/2006/main" noGrp="1"/>
          </p:cNvSpPr>
          <p:nvPr/>
        </p:nvSpPr>
        <p:spPr>
          <a:xfrm xmlns:a="http://schemas.openxmlformats.org/drawingml/2006/main">
            <a:off x="3028950" y="481965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73" name="editable-native-shape-ocpus-row-3">
            <a:extLst xmlns:a="http://schemas.openxmlformats.org/drawingml/2006/main">
              <a:ext uri="{FF2B5EF4-FFF2-40B4-BE49-F238E27FC236}">
                <a16:creationId xmlns:a16="http://schemas.microsoft.com/office/drawing/2014/main" id="{37B70459-87A3-4A9A-8D72-2DF12A21F972}"/>
              </a:ext>
            </a:extLst>
          </p:cNvPr>
          <p:cNvSpPr>
            <a:spLocks xmlns:a="http://schemas.openxmlformats.org/drawingml/2006/main" noGrp="1"/>
          </p:cNvSpPr>
          <p:nvPr/>
        </p:nvSpPr>
        <p:spPr>
          <a:xfrm xmlns:a="http://schemas.openxmlformats.org/drawingml/2006/main">
            <a:off x="3714750" y="48196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74" name="editable-native-shape-ram-row-3">
            <a:extLst xmlns:a="http://schemas.openxmlformats.org/drawingml/2006/main">
              <a:ext uri="{FF2B5EF4-FFF2-40B4-BE49-F238E27FC236}">
                <a16:creationId xmlns:a16="http://schemas.microsoft.com/office/drawing/2014/main" id="{47856F79-4C2D-4A3B-80BB-44040AA9D663}"/>
              </a:ext>
            </a:extLst>
          </p:cNvPr>
          <p:cNvSpPr>
            <a:spLocks xmlns:a="http://schemas.openxmlformats.org/drawingml/2006/main" noGrp="1"/>
          </p:cNvSpPr>
          <p:nvPr/>
        </p:nvSpPr>
        <p:spPr>
          <a:xfrm xmlns:a="http://schemas.openxmlformats.org/drawingml/2006/main">
            <a:off x="4495800" y="48196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75" name="native-compute-row-3-line">
            <a:extLst xmlns:a="http://schemas.openxmlformats.org/drawingml/2006/main">
              <a:ext uri="{FF2B5EF4-FFF2-40B4-BE49-F238E27FC236}">
                <a16:creationId xmlns:a16="http://schemas.microsoft.com/office/drawing/2014/main" id="{C8EBDD9A-C3FE-4229-979A-82295BB39343}"/>
              </a:ext>
            </a:extLst>
          </p:cNvPr>
          <p:cNvSpPr>
            <a:spLocks xmlns:a="http://schemas.openxmlformats.org/drawingml/2006/main" noGrp="1"/>
          </p:cNvSpPr>
          <p:nvPr/>
        </p:nvSpPr>
        <p:spPr>
          <a:xfrm xmlns:a="http://schemas.openxmlformats.org/drawingml/2006/main">
            <a:off x="495300" y="5153025"/>
            <a:ext cx="4762500" cy="9525"/>
          </a:xfrm>
          <a:prstGeom xmlns:a="http://schemas.openxmlformats.org/drawingml/2006/main" prst="rect">
            <a:avLst/>
          </a:prstGeom>
          <a:solidFill xmlns:a="http://schemas.openxmlformats.org/drawingml/2006/main">
            <a:srgbClr val="D9DED9"/>
          </a:solidFill>
          <a:ln xmlns:a="http://schemas.openxmlformats.org/drawingml/2006/main" w="9525">
            <a:solidFill>
              <a:srgbClr val="D9DED9"/>
            </a:solidFill>
          </a:ln>
        </p:spPr>
      </p:sp>
      <p:sp>
        <p:nvSpPr>
          <p:cNvPr id="76" name="editable-native-vpu-label-row-3">
            <a:extLst xmlns:a="http://schemas.openxmlformats.org/drawingml/2006/main">
              <a:ext uri="{FF2B5EF4-FFF2-40B4-BE49-F238E27FC236}">
                <a16:creationId xmlns:a16="http://schemas.microsoft.com/office/drawing/2014/main" id="{A76639EC-997A-4747-8B0A-CA610BF1DC92}"/>
              </a:ext>
            </a:extLst>
          </p:cNvPr>
          <p:cNvSpPr>
            <a:spLocks xmlns:a="http://schemas.openxmlformats.org/drawingml/2006/main" noGrp="1"/>
          </p:cNvSpPr>
          <p:nvPr/>
        </p:nvSpPr>
        <p:spPr>
          <a:xfrm xmlns:a="http://schemas.openxmlformats.org/drawingml/2006/main">
            <a:off x="5810250" y="4819650"/>
            <a:ext cx="114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10.0</a:t>
            </a:r>
          </a:p>
        </p:txBody>
      </p:sp>
      <p:sp>
        <p:nvSpPr>
          <p:cNvPr id="77" name="editable-native-vpu-tier-row-3">
            <a:extLst xmlns:a="http://schemas.openxmlformats.org/drawingml/2006/main">
              <a:ext uri="{FF2B5EF4-FFF2-40B4-BE49-F238E27FC236}">
                <a16:creationId xmlns:a16="http://schemas.microsoft.com/office/drawing/2014/main" id="{3A822E2D-2EDF-4468-A3E8-84960A873E03}"/>
              </a:ext>
            </a:extLst>
          </p:cNvPr>
          <p:cNvSpPr>
            <a:spLocks xmlns:a="http://schemas.openxmlformats.org/drawingml/2006/main" noGrp="1"/>
          </p:cNvSpPr>
          <p:nvPr/>
        </p:nvSpPr>
        <p:spPr>
          <a:xfrm xmlns:a="http://schemas.openxmlformats.org/drawingml/2006/main">
            <a:off x="7096125" y="4819650"/>
            <a:ext cx="1000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600" b="1">
                <a:solidFill>
                  <a:srgbClr val="17212B"/>
                </a:solidFill>
                <a:latin typeface="Arial"/>
                <a:ea typeface="Arial"/>
                <a:cs typeface="Arial"/>
              </a:defRPr>
            </a:pPr>
            <a:r>
              <a:rPr sz="600" b="1">
                <a:solidFill>
                  <a:srgbClr val="17212B"/>
                </a:solidFill>
                <a:latin typeface="Arial"/>
                <a:ea typeface="Arial"/>
                <a:cs typeface="Arial"/>
              </a:rPr>
              <a:t>Balanced 10K</a:t>
            </a:r>
          </a:p>
        </p:txBody>
      </p:sp>
      <p:sp>
        <p:nvSpPr>
          <p:cNvPr id="78" name="editable-native-vpu-per-vm-row-3">
            <a:extLst xmlns:a="http://schemas.openxmlformats.org/drawingml/2006/main">
              <a:ext uri="{FF2B5EF4-FFF2-40B4-BE49-F238E27FC236}">
                <a16:creationId xmlns:a16="http://schemas.microsoft.com/office/drawing/2014/main" id="{03CACDD2-C970-401E-AA24-115E6925F763}"/>
              </a:ext>
            </a:extLst>
          </p:cNvPr>
          <p:cNvSpPr>
            <a:spLocks xmlns:a="http://schemas.openxmlformats.org/drawingml/2006/main" noGrp="1"/>
          </p:cNvSpPr>
          <p:nvPr/>
        </p:nvSpPr>
        <p:spPr>
          <a:xfrm xmlns:a="http://schemas.openxmlformats.org/drawingml/2006/main">
            <a:off x="8286750" y="4819650"/>
            <a:ext cx="762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10</a:t>
            </a:r>
          </a:p>
        </p:txBody>
      </p:sp>
      <p:sp>
        <p:nvSpPr>
          <p:cNvPr id="79" name="editable-native-vpu-vms-row-3">
            <a:extLst xmlns:a="http://schemas.openxmlformats.org/drawingml/2006/main">
              <a:ext uri="{FF2B5EF4-FFF2-40B4-BE49-F238E27FC236}">
                <a16:creationId xmlns:a16="http://schemas.microsoft.com/office/drawing/2014/main" id="{86B69A58-FCFC-445C-A656-25EE65D06C30}"/>
              </a:ext>
            </a:extLst>
          </p:cNvPr>
          <p:cNvSpPr>
            <a:spLocks xmlns:a="http://schemas.openxmlformats.org/drawingml/2006/main" noGrp="1"/>
          </p:cNvSpPr>
          <p:nvPr/>
        </p:nvSpPr>
        <p:spPr>
          <a:xfrm xmlns:a="http://schemas.openxmlformats.org/drawingml/2006/main">
            <a:off x="9239250" y="4819650"/>
            <a:ext cx="619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80" name="editable-native-vpu-total-row-3">
            <a:extLst xmlns:a="http://schemas.openxmlformats.org/drawingml/2006/main">
              <a:ext uri="{FF2B5EF4-FFF2-40B4-BE49-F238E27FC236}">
                <a16:creationId xmlns:a16="http://schemas.microsoft.com/office/drawing/2014/main" id="{FD533AC9-00F2-4246-89F4-AFA76A7CABCF}"/>
              </a:ext>
            </a:extLst>
          </p:cNvPr>
          <p:cNvSpPr>
            <a:spLocks xmlns:a="http://schemas.openxmlformats.org/drawingml/2006/main" noGrp="1"/>
          </p:cNvSpPr>
          <p:nvPr/>
        </p:nvSpPr>
        <p:spPr>
          <a:xfrm xmlns:a="http://schemas.openxmlformats.org/drawingml/2006/main">
            <a:off x="10001250" y="48196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81" name="editable-native-vpu-storage-row-3">
            <a:extLst xmlns:a="http://schemas.openxmlformats.org/drawingml/2006/main">
              <a:ext uri="{FF2B5EF4-FFF2-40B4-BE49-F238E27FC236}">
                <a16:creationId xmlns:a16="http://schemas.microsoft.com/office/drawing/2014/main" id="{3DFCB138-EA87-4A86-8108-230766050E27}"/>
              </a:ext>
            </a:extLst>
          </p:cNvPr>
          <p:cNvSpPr>
            <a:spLocks xmlns:a="http://schemas.openxmlformats.org/drawingml/2006/main" noGrp="1"/>
          </p:cNvSpPr>
          <p:nvPr/>
        </p:nvSpPr>
        <p:spPr>
          <a:xfrm xmlns:a="http://schemas.openxmlformats.org/drawingml/2006/main">
            <a:off x="10810875" y="4819650"/>
            <a:ext cx="781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82" name="native-storage-row-3-line">
            <a:extLst xmlns:a="http://schemas.openxmlformats.org/drawingml/2006/main">
              <a:ext uri="{FF2B5EF4-FFF2-40B4-BE49-F238E27FC236}">
                <a16:creationId xmlns:a16="http://schemas.microsoft.com/office/drawing/2014/main" id="{8D1D7F8D-9D5A-4C23-A56C-51BA10D3ECF9}"/>
              </a:ext>
            </a:extLst>
          </p:cNvPr>
          <p:cNvSpPr>
            <a:spLocks xmlns:a="http://schemas.openxmlformats.org/drawingml/2006/main" noGrp="1"/>
          </p:cNvSpPr>
          <p:nvPr/>
        </p:nvSpPr>
        <p:spPr>
          <a:xfrm xmlns:a="http://schemas.openxmlformats.org/drawingml/2006/main">
            <a:off x="5695950" y="5153025"/>
            <a:ext cx="5981700" cy="9525"/>
          </a:xfrm>
          <a:prstGeom xmlns:a="http://schemas.openxmlformats.org/drawingml/2006/main" prst="rect">
            <a:avLst/>
          </a:prstGeom>
          <a:solidFill xmlns:a="http://schemas.openxmlformats.org/drawingml/2006/main">
            <a:srgbClr val="D9DED9"/>
          </a:solidFill>
          <a:ln xmlns:a="http://schemas.openxmlformats.org/drawingml/2006/main" w="9525">
            <a:solidFill>
              <a:srgbClr val="D9DED9"/>
            </a:solidFill>
          </a:ln>
        </p:spPr>
      </p:sp>
      <p:sp>
        <p:nvSpPr>
          <p:cNvPr id="83" name="editable-native-shape-row-4">
            <a:extLst xmlns:a="http://schemas.openxmlformats.org/drawingml/2006/main">
              <a:ext uri="{FF2B5EF4-FFF2-40B4-BE49-F238E27FC236}">
                <a16:creationId xmlns:a16="http://schemas.microsoft.com/office/drawing/2014/main" id="{E76F65F3-A4D6-4861-8672-690D2D8E8CCB}"/>
              </a:ext>
            </a:extLst>
          </p:cNvPr>
          <p:cNvSpPr>
            <a:spLocks xmlns:a="http://schemas.openxmlformats.org/drawingml/2006/main" noGrp="1"/>
          </p:cNvSpPr>
          <p:nvPr/>
        </p:nvSpPr>
        <p:spPr>
          <a:xfrm xmlns:a="http://schemas.openxmlformats.org/drawingml/2006/main">
            <a:off x="723900" y="5181600"/>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675" b="1">
                <a:solidFill>
                  <a:srgbClr val="17212B"/>
                </a:solidFill>
                <a:latin typeface="Arial"/>
                <a:ea typeface="Arial"/>
                <a:cs typeface="Arial"/>
              </a:defRPr>
            </a:pPr>
            <a:r>
              <a:rPr sz="675" b="1">
                <a:solidFill>
                  <a:srgbClr val="17212B"/>
                </a:solidFill>
                <a:latin typeface="Arial"/>
                <a:ea typeface="Arial"/>
                <a:cs typeface="Arial"/>
              </a:rPr>
              <a:t>VM.Standard3.Flex</a:t>
            </a:r>
          </a:p>
        </p:txBody>
      </p:sp>
      <p:sp>
        <p:nvSpPr>
          <p:cNvPr id="84" name="editable-native-shape-vms-row-4">
            <a:extLst xmlns:a="http://schemas.openxmlformats.org/drawingml/2006/main">
              <a:ext uri="{FF2B5EF4-FFF2-40B4-BE49-F238E27FC236}">
                <a16:creationId xmlns:a16="http://schemas.microsoft.com/office/drawing/2014/main" id="{34E9FD10-918B-43BE-A32D-53A22686BD40}"/>
              </a:ext>
            </a:extLst>
          </p:cNvPr>
          <p:cNvSpPr>
            <a:spLocks xmlns:a="http://schemas.openxmlformats.org/drawingml/2006/main" noGrp="1"/>
          </p:cNvSpPr>
          <p:nvPr/>
        </p:nvSpPr>
        <p:spPr>
          <a:xfrm xmlns:a="http://schemas.openxmlformats.org/drawingml/2006/main">
            <a:off x="3028950" y="518160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85" name="editable-native-shape-ocpus-row-4">
            <a:extLst xmlns:a="http://schemas.openxmlformats.org/drawingml/2006/main">
              <a:ext uri="{FF2B5EF4-FFF2-40B4-BE49-F238E27FC236}">
                <a16:creationId xmlns:a16="http://schemas.microsoft.com/office/drawing/2014/main" id="{B3150E19-E413-45A5-A826-C4F619E4CEE4}"/>
              </a:ext>
            </a:extLst>
          </p:cNvPr>
          <p:cNvSpPr>
            <a:spLocks xmlns:a="http://schemas.openxmlformats.org/drawingml/2006/main" noGrp="1"/>
          </p:cNvSpPr>
          <p:nvPr/>
        </p:nvSpPr>
        <p:spPr>
          <a:xfrm xmlns:a="http://schemas.openxmlformats.org/drawingml/2006/main">
            <a:off x="3714750" y="518160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86" name="editable-native-shape-ram-row-4">
            <a:extLst xmlns:a="http://schemas.openxmlformats.org/drawingml/2006/main">
              <a:ext uri="{FF2B5EF4-FFF2-40B4-BE49-F238E27FC236}">
                <a16:creationId xmlns:a16="http://schemas.microsoft.com/office/drawing/2014/main" id="{3238AEFE-9DA9-45ED-9491-3B930A410D78}"/>
              </a:ext>
            </a:extLst>
          </p:cNvPr>
          <p:cNvSpPr>
            <a:spLocks xmlns:a="http://schemas.openxmlformats.org/drawingml/2006/main" noGrp="1"/>
          </p:cNvSpPr>
          <p:nvPr/>
        </p:nvSpPr>
        <p:spPr>
          <a:xfrm xmlns:a="http://schemas.openxmlformats.org/drawingml/2006/main">
            <a:off x="4495800" y="518160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87" name="native-compute-row-4-line">
            <a:extLst xmlns:a="http://schemas.openxmlformats.org/drawingml/2006/main">
              <a:ext uri="{FF2B5EF4-FFF2-40B4-BE49-F238E27FC236}">
                <a16:creationId xmlns:a16="http://schemas.microsoft.com/office/drawing/2014/main" id="{5136F47C-D0B4-4D5B-BD43-BC9F7E1F64D6}"/>
              </a:ext>
            </a:extLst>
          </p:cNvPr>
          <p:cNvSpPr>
            <a:spLocks xmlns:a="http://schemas.openxmlformats.org/drawingml/2006/main" noGrp="1"/>
          </p:cNvSpPr>
          <p:nvPr/>
        </p:nvSpPr>
        <p:spPr>
          <a:xfrm xmlns:a="http://schemas.openxmlformats.org/drawingml/2006/main">
            <a:off x="495300" y="5514975"/>
            <a:ext cx="4762500" cy="9525"/>
          </a:xfrm>
          <a:prstGeom xmlns:a="http://schemas.openxmlformats.org/drawingml/2006/main" prst="rect">
            <a:avLst/>
          </a:prstGeom>
          <a:solidFill xmlns:a="http://schemas.openxmlformats.org/drawingml/2006/main">
            <a:srgbClr val="D9DED9"/>
          </a:solidFill>
          <a:ln xmlns:a="http://schemas.openxmlformats.org/drawingml/2006/main" w="9525">
            <a:solidFill>
              <a:srgbClr val="D9DED9"/>
            </a:solidFill>
          </a:ln>
        </p:spPr>
      </p:sp>
      <p:sp>
        <p:nvSpPr>
          <p:cNvPr id="88" name="editable-native-vpu-label-row-4">
            <a:extLst xmlns:a="http://schemas.openxmlformats.org/drawingml/2006/main">
              <a:ext uri="{FF2B5EF4-FFF2-40B4-BE49-F238E27FC236}">
                <a16:creationId xmlns:a16="http://schemas.microsoft.com/office/drawing/2014/main" id="{B2DD239A-C1A7-4AB1-8FFF-C0B94260B3D2}"/>
              </a:ext>
            </a:extLst>
          </p:cNvPr>
          <p:cNvSpPr>
            <a:spLocks xmlns:a="http://schemas.openxmlformats.org/drawingml/2006/main" noGrp="1"/>
          </p:cNvSpPr>
          <p:nvPr/>
        </p:nvSpPr>
        <p:spPr>
          <a:xfrm xmlns:a="http://schemas.openxmlformats.org/drawingml/2006/main">
            <a:off x="5810250" y="5181600"/>
            <a:ext cx="114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10.0</a:t>
            </a:r>
          </a:p>
        </p:txBody>
      </p:sp>
      <p:sp>
        <p:nvSpPr>
          <p:cNvPr id="89" name="editable-native-vpu-tier-row-4">
            <a:extLst xmlns:a="http://schemas.openxmlformats.org/drawingml/2006/main">
              <a:ext uri="{FF2B5EF4-FFF2-40B4-BE49-F238E27FC236}">
                <a16:creationId xmlns:a16="http://schemas.microsoft.com/office/drawing/2014/main" id="{A81545C1-00AF-484E-A99B-E2C51B5252AF}"/>
              </a:ext>
            </a:extLst>
          </p:cNvPr>
          <p:cNvSpPr>
            <a:spLocks xmlns:a="http://schemas.openxmlformats.org/drawingml/2006/main" noGrp="1"/>
          </p:cNvSpPr>
          <p:nvPr/>
        </p:nvSpPr>
        <p:spPr>
          <a:xfrm xmlns:a="http://schemas.openxmlformats.org/drawingml/2006/main">
            <a:off x="7096125" y="5181600"/>
            <a:ext cx="1000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600" b="1">
                <a:solidFill>
                  <a:srgbClr val="17212B"/>
                </a:solidFill>
                <a:latin typeface="Arial"/>
                <a:ea typeface="Arial"/>
                <a:cs typeface="Arial"/>
              </a:defRPr>
            </a:pPr>
            <a:r>
              <a:rPr sz="600" b="1">
                <a:solidFill>
                  <a:srgbClr val="17212B"/>
                </a:solidFill>
                <a:latin typeface="Arial"/>
                <a:ea typeface="Arial"/>
                <a:cs typeface="Arial"/>
              </a:rPr>
              <a:t>Balanced 10K</a:t>
            </a:r>
          </a:p>
        </p:txBody>
      </p:sp>
      <p:sp>
        <p:nvSpPr>
          <p:cNvPr id="90" name="editable-native-vpu-per-vm-row-4">
            <a:extLst xmlns:a="http://schemas.openxmlformats.org/drawingml/2006/main">
              <a:ext uri="{FF2B5EF4-FFF2-40B4-BE49-F238E27FC236}">
                <a16:creationId xmlns:a16="http://schemas.microsoft.com/office/drawing/2014/main" id="{D8D36802-E97B-4E32-ACA1-7AA28B1A52D5}"/>
              </a:ext>
            </a:extLst>
          </p:cNvPr>
          <p:cNvSpPr>
            <a:spLocks xmlns:a="http://schemas.openxmlformats.org/drawingml/2006/main" noGrp="1"/>
          </p:cNvSpPr>
          <p:nvPr/>
        </p:nvSpPr>
        <p:spPr>
          <a:xfrm xmlns:a="http://schemas.openxmlformats.org/drawingml/2006/main">
            <a:off x="8286750" y="5181600"/>
            <a:ext cx="762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10</a:t>
            </a:r>
          </a:p>
        </p:txBody>
      </p:sp>
      <p:sp>
        <p:nvSpPr>
          <p:cNvPr id="91" name="editable-native-vpu-vms-row-4">
            <a:extLst xmlns:a="http://schemas.openxmlformats.org/drawingml/2006/main">
              <a:ext uri="{FF2B5EF4-FFF2-40B4-BE49-F238E27FC236}">
                <a16:creationId xmlns:a16="http://schemas.microsoft.com/office/drawing/2014/main" id="{F9FCE75B-5E88-4435-9CC2-6EDAB3B2F569}"/>
              </a:ext>
            </a:extLst>
          </p:cNvPr>
          <p:cNvSpPr>
            <a:spLocks xmlns:a="http://schemas.openxmlformats.org/drawingml/2006/main" noGrp="1"/>
          </p:cNvSpPr>
          <p:nvPr/>
        </p:nvSpPr>
        <p:spPr>
          <a:xfrm xmlns:a="http://schemas.openxmlformats.org/drawingml/2006/main">
            <a:off x="9239250" y="5181600"/>
            <a:ext cx="619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92" name="editable-native-vpu-total-row-4">
            <a:extLst xmlns:a="http://schemas.openxmlformats.org/drawingml/2006/main">
              <a:ext uri="{FF2B5EF4-FFF2-40B4-BE49-F238E27FC236}">
                <a16:creationId xmlns:a16="http://schemas.microsoft.com/office/drawing/2014/main" id="{03444452-20D0-4FE5-A23D-219A25C27CD2}"/>
              </a:ext>
            </a:extLst>
          </p:cNvPr>
          <p:cNvSpPr>
            <a:spLocks xmlns:a="http://schemas.openxmlformats.org/drawingml/2006/main" noGrp="1"/>
          </p:cNvSpPr>
          <p:nvPr/>
        </p:nvSpPr>
        <p:spPr>
          <a:xfrm xmlns:a="http://schemas.openxmlformats.org/drawingml/2006/main">
            <a:off x="10001250" y="518160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93" name="editable-native-vpu-storage-row-4">
            <a:extLst xmlns:a="http://schemas.openxmlformats.org/drawingml/2006/main">
              <a:ext uri="{FF2B5EF4-FFF2-40B4-BE49-F238E27FC236}">
                <a16:creationId xmlns:a16="http://schemas.microsoft.com/office/drawing/2014/main" id="{1F5778B4-6DA4-4710-8CF8-F7D8CABE6363}"/>
              </a:ext>
            </a:extLst>
          </p:cNvPr>
          <p:cNvSpPr>
            <a:spLocks xmlns:a="http://schemas.openxmlformats.org/drawingml/2006/main" noGrp="1"/>
          </p:cNvSpPr>
          <p:nvPr/>
        </p:nvSpPr>
        <p:spPr>
          <a:xfrm xmlns:a="http://schemas.openxmlformats.org/drawingml/2006/main">
            <a:off x="10810875" y="5181600"/>
            <a:ext cx="781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750" b="1">
                <a:solidFill>
                  <a:srgbClr val="17212B"/>
                </a:solidFill>
                <a:latin typeface="Arial"/>
                <a:ea typeface="Arial"/>
                <a:cs typeface="Arial"/>
              </a:defRPr>
            </a:pPr>
            <a:r>
              <a:rPr sz="750" b="1">
                <a:solidFill>
                  <a:srgbClr val="17212B"/>
                </a:solidFill>
                <a:latin typeface="Arial"/>
                <a:ea typeface="Arial"/>
                <a:cs typeface="Arial"/>
              </a:rPr>
              <a:t>0</a:t>
            </a:r>
          </a:p>
        </p:txBody>
      </p:sp>
      <p:sp>
        <p:nvSpPr>
          <p:cNvPr id="94" name="native-storage-row-4-line">
            <a:extLst xmlns:a="http://schemas.openxmlformats.org/drawingml/2006/main">
              <a:ext uri="{FF2B5EF4-FFF2-40B4-BE49-F238E27FC236}">
                <a16:creationId xmlns:a16="http://schemas.microsoft.com/office/drawing/2014/main" id="{FDAC6425-3657-4A0B-BE80-5ACF24CD5727}"/>
              </a:ext>
            </a:extLst>
          </p:cNvPr>
          <p:cNvSpPr>
            <a:spLocks xmlns:a="http://schemas.openxmlformats.org/drawingml/2006/main" noGrp="1"/>
          </p:cNvSpPr>
          <p:nvPr/>
        </p:nvSpPr>
        <p:spPr>
          <a:xfrm xmlns:a="http://schemas.openxmlformats.org/drawingml/2006/main">
            <a:off x="5695950" y="5514975"/>
            <a:ext cx="5981700" cy="9525"/>
          </a:xfrm>
          <a:prstGeom xmlns:a="http://schemas.openxmlformats.org/drawingml/2006/main" prst="rect">
            <a:avLst/>
          </a:prstGeom>
          <a:solidFill xmlns:a="http://schemas.openxmlformats.org/drawingml/2006/main">
            <a:srgbClr val="D9DED9"/>
          </a:solidFill>
          <a:ln xmlns:a="http://schemas.openxmlformats.org/drawingml/2006/main" w="9525">
            <a:solidFill>
              <a:srgbClr val="D9DED9"/>
            </a:solidFill>
          </a:ln>
        </p:spPr>
      </p:sp>
      <p:sp>
        <p:nvSpPr>
          <p:cNvPr id="95" name="native-compute-total-fill">
            <a:extLst xmlns:a="http://schemas.openxmlformats.org/drawingml/2006/main">
              <a:ext uri="{FF2B5EF4-FFF2-40B4-BE49-F238E27FC236}">
                <a16:creationId xmlns:a16="http://schemas.microsoft.com/office/drawing/2014/main" id="{6866DCEC-05F8-4539-BD5F-A20F7F03E65F}"/>
              </a:ext>
            </a:extLst>
          </p:cNvPr>
          <p:cNvSpPr>
            <a:spLocks xmlns:a="http://schemas.openxmlformats.org/drawingml/2006/main" noGrp="1"/>
          </p:cNvSpPr>
          <p:nvPr/>
        </p:nvSpPr>
        <p:spPr>
          <a:xfrm xmlns:a="http://schemas.openxmlformats.org/drawingml/2006/main">
            <a:off x="495300" y="5600700"/>
            <a:ext cx="4762500" cy="400050"/>
          </a:xfrm>
          <a:prstGeom xmlns:a="http://schemas.openxmlformats.org/drawingml/2006/main" prst="rect">
            <a:avLst/>
          </a:prstGeom>
          <a:solidFill xmlns:a="http://schemas.openxmlformats.org/drawingml/2006/main">
            <a:srgbClr val="EEF6F1"/>
          </a:solidFill>
          <a:ln xmlns:a="http://schemas.openxmlformats.org/drawingml/2006/main" w="0">
            <a:noFill/>
          </a:ln>
        </p:spPr>
      </p:sp>
      <p:sp>
        <p:nvSpPr>
          <p:cNvPr id="96" name="native-compute-total-label">
            <a:extLst xmlns:a="http://schemas.openxmlformats.org/drawingml/2006/main">
              <a:ext uri="{FF2B5EF4-FFF2-40B4-BE49-F238E27FC236}">
                <a16:creationId xmlns:a16="http://schemas.microsoft.com/office/drawing/2014/main" id="{5876AEF8-B396-4B70-A02C-665D3F31EAD6}"/>
              </a:ext>
            </a:extLst>
          </p:cNvPr>
          <p:cNvSpPr>
            <a:spLocks xmlns:a="http://schemas.openxmlformats.org/drawingml/2006/main" noGrp="1"/>
          </p:cNvSpPr>
          <p:nvPr/>
        </p:nvSpPr>
        <p:spPr>
          <a:xfrm xmlns:a="http://schemas.openxmlformats.org/drawingml/2006/main">
            <a:off x="609600" y="5676900"/>
            <a:ext cx="1333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l">
              <a:buNone/>
              <a:defRPr sz="900" b="1">
                <a:solidFill>
                  <a:srgbClr val="00573F"/>
                </a:solidFill>
                <a:latin typeface="Arial"/>
                <a:ea typeface="Arial"/>
                <a:cs typeface="Arial"/>
              </a:defRPr>
            </a:pPr>
            <a:r>
              <a:rPr sz="900" b="1">
                <a:solidFill>
                  <a:srgbClr val="00573F"/>
                </a:solidFill>
                <a:latin typeface="Arial"/>
                <a:ea typeface="Arial"/>
                <a:cs typeface="Arial"/>
              </a:rPr>
              <a:t>TOTAL</a:t>
            </a:r>
          </a:p>
        </p:txBody>
      </p:sp>
      <p:sp>
        <p:nvSpPr>
          <p:cNvPr id="97" name="editable-native-total-vms">
            <a:extLst xmlns:a="http://schemas.openxmlformats.org/drawingml/2006/main">
              <a:ext uri="{FF2B5EF4-FFF2-40B4-BE49-F238E27FC236}">
                <a16:creationId xmlns:a16="http://schemas.microsoft.com/office/drawing/2014/main" id="{3A13BEC2-9878-438C-9AA0-C0085D115B2C}"/>
              </a:ext>
            </a:extLst>
          </p:cNvPr>
          <p:cNvSpPr>
            <a:spLocks xmlns:a="http://schemas.openxmlformats.org/drawingml/2006/main" noGrp="1"/>
          </p:cNvSpPr>
          <p:nvPr/>
        </p:nvSpPr>
        <p:spPr>
          <a:xfrm xmlns:a="http://schemas.openxmlformats.org/drawingml/2006/main">
            <a:off x="3143250" y="5638800"/>
            <a:ext cx="52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ctr">
              <a:buNone/>
              <a:defRPr sz="900" b="1">
                <a:solidFill>
                  <a:srgbClr val="00573F"/>
                </a:solidFill>
                <a:latin typeface="Arial"/>
                <a:ea typeface="Arial"/>
                <a:cs typeface="Arial"/>
              </a:defRPr>
            </a:pPr>
            <a:r>
              <a:rPr sz="900" b="1">
                <a:solidFill>
                  <a:srgbClr val="00573F"/>
                </a:solidFill>
                <a:latin typeface="Arial"/>
                <a:ea typeface="Arial"/>
                <a:cs typeface="Arial"/>
              </a:rPr>
              <a:t>0</a:t>
            </a:r>
          </a:p>
        </p:txBody>
      </p:sp>
      <p:sp>
        <p:nvSpPr>
          <p:cNvPr id="98" name="editable-native-total-ocpus">
            <a:extLst xmlns:a="http://schemas.openxmlformats.org/drawingml/2006/main">
              <a:ext uri="{FF2B5EF4-FFF2-40B4-BE49-F238E27FC236}">
                <a16:creationId xmlns:a16="http://schemas.microsoft.com/office/drawing/2014/main" id="{40C5741B-1895-4898-80FE-4A8AF91BC119}"/>
              </a:ext>
            </a:extLst>
          </p:cNvPr>
          <p:cNvSpPr>
            <a:spLocks xmlns:a="http://schemas.openxmlformats.org/drawingml/2006/main" noGrp="1"/>
          </p:cNvSpPr>
          <p:nvPr/>
        </p:nvSpPr>
        <p:spPr>
          <a:xfrm xmlns:a="http://schemas.openxmlformats.org/drawingml/2006/main">
            <a:off x="3857625" y="563880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ctr">
              <a:buNone/>
              <a:defRPr sz="900" b="1">
                <a:solidFill>
                  <a:srgbClr val="00573F"/>
                </a:solidFill>
                <a:latin typeface="Arial"/>
                <a:ea typeface="Arial"/>
                <a:cs typeface="Arial"/>
              </a:defRPr>
            </a:pPr>
            <a:r>
              <a:rPr sz="900" b="1">
                <a:solidFill>
                  <a:srgbClr val="00573F"/>
                </a:solidFill>
                <a:latin typeface="Arial"/>
                <a:ea typeface="Arial"/>
                <a:cs typeface="Arial"/>
              </a:rPr>
              <a:t>0</a:t>
            </a:r>
          </a:p>
        </p:txBody>
      </p:sp>
      <p:sp>
        <p:nvSpPr>
          <p:cNvPr id="99" name="editable-native-total-vram">
            <a:extLst xmlns:a="http://schemas.openxmlformats.org/drawingml/2006/main">
              <a:ext uri="{FF2B5EF4-FFF2-40B4-BE49-F238E27FC236}">
                <a16:creationId xmlns:a16="http://schemas.microsoft.com/office/drawing/2014/main" id="{23DE6086-8370-4C2D-AC73-5FC184FC1F65}"/>
              </a:ext>
            </a:extLst>
          </p:cNvPr>
          <p:cNvSpPr>
            <a:spLocks xmlns:a="http://schemas.openxmlformats.org/drawingml/2006/main" noGrp="1"/>
          </p:cNvSpPr>
          <p:nvPr/>
        </p:nvSpPr>
        <p:spPr>
          <a:xfrm xmlns:a="http://schemas.openxmlformats.org/drawingml/2006/main">
            <a:off x="4667250" y="563880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ctr">
              <a:buNone/>
              <a:defRPr sz="900" b="1">
                <a:solidFill>
                  <a:srgbClr val="00573F"/>
                </a:solidFill>
                <a:latin typeface="Arial"/>
                <a:ea typeface="Arial"/>
                <a:cs typeface="Arial"/>
              </a:defRPr>
            </a:pPr>
            <a:r>
              <a:rPr sz="900" b="1">
                <a:solidFill>
                  <a:srgbClr val="00573F"/>
                </a:solidFill>
                <a:latin typeface="Arial"/>
                <a:ea typeface="Arial"/>
                <a:cs typeface="Arial"/>
              </a:rPr>
              <a:t>0</a:t>
            </a:r>
          </a:p>
        </p:txBody>
      </p:sp>
      <p:sp>
        <p:nvSpPr>
          <p:cNvPr id="100" name="native-compute-total-vm-label">
            <a:extLst xmlns:a="http://schemas.openxmlformats.org/drawingml/2006/main">
              <a:ext uri="{FF2B5EF4-FFF2-40B4-BE49-F238E27FC236}">
                <a16:creationId xmlns:a16="http://schemas.microsoft.com/office/drawing/2014/main" id="{8178A499-AFEB-49D0-ABF1-09D5313DC5B7}"/>
              </a:ext>
            </a:extLst>
          </p:cNvPr>
          <p:cNvSpPr>
            <a:spLocks xmlns:a="http://schemas.openxmlformats.org/drawingml/2006/main" noGrp="1"/>
          </p:cNvSpPr>
          <p:nvPr/>
        </p:nvSpPr>
        <p:spPr>
          <a:xfrm xmlns:a="http://schemas.openxmlformats.org/drawingml/2006/main">
            <a:off x="3143250" y="5829300"/>
            <a:ext cx="523875"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0000"/>
          </a:bodyPr>
          <a:lstStyle xmlns:a="http://schemas.openxmlformats.org/drawingml/2006/main"/>
          <a:p xmlns:a="http://schemas.openxmlformats.org/drawingml/2006/main">
            <a:pPr algn="ctr">
              <a:buNone/>
              <a:defRPr sz="675" b="0">
                <a:solidFill>
                  <a:srgbClr val="17212B"/>
                </a:solidFill>
                <a:latin typeface="Arial"/>
                <a:ea typeface="Arial"/>
                <a:cs typeface="Arial"/>
              </a:defRPr>
            </a:pPr>
            <a:r>
              <a:rPr sz="675" b="0">
                <a:solidFill>
                  <a:srgbClr val="17212B"/>
                </a:solidFill>
                <a:latin typeface="Arial"/>
                <a:ea typeface="Arial"/>
                <a:cs typeface="Arial"/>
              </a:rPr>
              <a:t>VMs</a:t>
            </a:r>
          </a:p>
        </p:txBody>
      </p:sp>
      <p:sp>
        <p:nvSpPr>
          <p:cNvPr id="101" name="native-compute-total-ocpu-label">
            <a:extLst xmlns:a="http://schemas.openxmlformats.org/drawingml/2006/main">
              <a:ext uri="{FF2B5EF4-FFF2-40B4-BE49-F238E27FC236}">
                <a16:creationId xmlns:a16="http://schemas.microsoft.com/office/drawing/2014/main" id="{9367E67D-1623-4637-9C8F-2FB21F5B0A3A}"/>
              </a:ext>
            </a:extLst>
          </p:cNvPr>
          <p:cNvSpPr>
            <a:spLocks xmlns:a="http://schemas.openxmlformats.org/drawingml/2006/main" noGrp="1"/>
          </p:cNvSpPr>
          <p:nvPr/>
        </p:nvSpPr>
        <p:spPr>
          <a:xfrm xmlns:a="http://schemas.openxmlformats.org/drawingml/2006/main">
            <a:off x="3857625" y="5829300"/>
            <a:ext cx="666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0000"/>
          </a:bodyPr>
          <a:lstStyle xmlns:a="http://schemas.openxmlformats.org/drawingml/2006/main"/>
          <a:p xmlns:a="http://schemas.openxmlformats.org/drawingml/2006/main">
            <a:pPr algn="ctr">
              <a:buNone/>
              <a:defRPr sz="675" b="0">
                <a:solidFill>
                  <a:srgbClr val="17212B"/>
                </a:solidFill>
                <a:latin typeface="Arial"/>
                <a:ea typeface="Arial"/>
                <a:cs typeface="Arial"/>
              </a:defRPr>
            </a:pPr>
            <a:r>
              <a:rPr sz="675" b="0">
                <a:solidFill>
                  <a:srgbClr val="17212B"/>
                </a:solidFill>
                <a:latin typeface="Arial"/>
                <a:ea typeface="Arial"/>
                <a:cs typeface="Arial"/>
              </a:rPr>
              <a:t>OCPU</a:t>
            </a:r>
          </a:p>
        </p:txBody>
      </p:sp>
      <p:sp>
        <p:nvSpPr>
          <p:cNvPr id="102" name="native-compute-total-ram-label">
            <a:extLst xmlns:a="http://schemas.openxmlformats.org/drawingml/2006/main">
              <a:ext uri="{FF2B5EF4-FFF2-40B4-BE49-F238E27FC236}">
                <a16:creationId xmlns:a16="http://schemas.microsoft.com/office/drawing/2014/main" id="{A52B7149-55A0-42D9-B06F-C875DAC6874D}"/>
              </a:ext>
            </a:extLst>
          </p:cNvPr>
          <p:cNvSpPr>
            <a:spLocks xmlns:a="http://schemas.openxmlformats.org/drawingml/2006/main" noGrp="1"/>
          </p:cNvSpPr>
          <p:nvPr/>
        </p:nvSpPr>
        <p:spPr>
          <a:xfrm xmlns:a="http://schemas.openxmlformats.org/drawingml/2006/main">
            <a:off x="4667250" y="5829300"/>
            <a:ext cx="571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0000"/>
          </a:bodyPr>
          <a:lstStyle xmlns:a="http://schemas.openxmlformats.org/drawingml/2006/main"/>
          <a:p xmlns:a="http://schemas.openxmlformats.org/drawingml/2006/main">
            <a:pPr algn="ctr">
              <a:buNone/>
              <a:defRPr sz="675" b="0">
                <a:solidFill>
                  <a:srgbClr val="17212B"/>
                </a:solidFill>
                <a:latin typeface="Arial"/>
                <a:ea typeface="Arial"/>
                <a:cs typeface="Arial"/>
              </a:defRPr>
            </a:pPr>
            <a:r>
              <a:rPr sz="675" b="0">
                <a:solidFill>
                  <a:srgbClr val="17212B"/>
                </a:solidFill>
                <a:latin typeface="Arial"/>
                <a:ea typeface="Arial"/>
                <a:cs typeface="Arial"/>
              </a:rPr>
              <a:t>GB</a:t>
            </a:r>
          </a:p>
        </p:txBody>
      </p:sp>
      <p:sp>
        <p:nvSpPr>
          <p:cNvPr id="103" name="native-storage-total-fill">
            <a:extLst xmlns:a="http://schemas.openxmlformats.org/drawingml/2006/main">
              <a:ext uri="{FF2B5EF4-FFF2-40B4-BE49-F238E27FC236}">
                <a16:creationId xmlns:a16="http://schemas.microsoft.com/office/drawing/2014/main" id="{21A03609-FEA0-4736-81FC-2415FC58F590}"/>
              </a:ext>
            </a:extLst>
          </p:cNvPr>
          <p:cNvSpPr>
            <a:spLocks xmlns:a="http://schemas.openxmlformats.org/drawingml/2006/main" noGrp="1"/>
          </p:cNvSpPr>
          <p:nvPr/>
        </p:nvSpPr>
        <p:spPr>
          <a:xfrm xmlns:a="http://schemas.openxmlformats.org/drawingml/2006/main">
            <a:off x="5695950" y="5600700"/>
            <a:ext cx="5981700" cy="400050"/>
          </a:xfrm>
          <a:prstGeom xmlns:a="http://schemas.openxmlformats.org/drawingml/2006/main" prst="rect">
            <a:avLst/>
          </a:prstGeom>
          <a:solidFill xmlns:a="http://schemas.openxmlformats.org/drawingml/2006/main">
            <a:srgbClr val="FFF0E9"/>
          </a:solidFill>
          <a:ln xmlns:a="http://schemas.openxmlformats.org/drawingml/2006/main" w="0">
            <a:noFill/>
          </a:ln>
        </p:spPr>
      </p:sp>
      <p:sp>
        <p:nvSpPr>
          <p:cNvPr id="104" name="native-storage-total-label">
            <a:extLst xmlns:a="http://schemas.openxmlformats.org/drawingml/2006/main">
              <a:ext uri="{FF2B5EF4-FFF2-40B4-BE49-F238E27FC236}">
                <a16:creationId xmlns:a16="http://schemas.microsoft.com/office/drawing/2014/main" id="{691D5E2A-ADDB-477E-B534-482F9C55C3DD}"/>
              </a:ext>
            </a:extLst>
          </p:cNvPr>
          <p:cNvSpPr>
            <a:spLocks xmlns:a="http://schemas.openxmlformats.org/drawingml/2006/main" noGrp="1"/>
          </p:cNvSpPr>
          <p:nvPr/>
        </p:nvSpPr>
        <p:spPr>
          <a:xfrm xmlns:a="http://schemas.openxmlformats.org/drawingml/2006/main">
            <a:off x="5810250" y="5676900"/>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l">
              <a:buNone/>
              <a:defRPr sz="900" b="1">
                <a:solidFill>
                  <a:srgbClr val="EB4A16"/>
                </a:solidFill>
                <a:latin typeface="Arial"/>
                <a:ea typeface="Arial"/>
                <a:cs typeface="Arial"/>
              </a:defRPr>
            </a:pPr>
            <a:r>
              <a:rPr sz="900" b="1">
                <a:solidFill>
                  <a:srgbClr val="EB4A16"/>
                </a:solidFill>
                <a:latin typeface="Arial"/>
                <a:ea typeface="Arial"/>
                <a:cs typeface="Arial"/>
              </a:rPr>
              <a:t>TOTAL</a:t>
            </a:r>
          </a:p>
        </p:txBody>
      </p:sp>
      <p:sp>
        <p:nvSpPr>
          <p:cNvPr id="105" name="editable-native-storage-vm-count">
            <a:extLst xmlns:a="http://schemas.openxmlformats.org/drawingml/2006/main">
              <a:ext uri="{FF2B5EF4-FFF2-40B4-BE49-F238E27FC236}">
                <a16:creationId xmlns:a16="http://schemas.microsoft.com/office/drawing/2014/main" id="{85AD7B94-F839-45EE-B086-FDCBAE2ADD74}"/>
              </a:ext>
            </a:extLst>
          </p:cNvPr>
          <p:cNvSpPr>
            <a:spLocks xmlns:a="http://schemas.openxmlformats.org/drawingml/2006/main" noGrp="1"/>
          </p:cNvSpPr>
          <p:nvPr/>
        </p:nvSpPr>
        <p:spPr>
          <a:xfrm xmlns:a="http://schemas.openxmlformats.org/drawingml/2006/main">
            <a:off x="9239250" y="5638800"/>
            <a:ext cx="619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ctr">
              <a:buNone/>
              <a:defRPr sz="900" b="1">
                <a:solidFill>
                  <a:srgbClr val="EB4A16"/>
                </a:solidFill>
                <a:latin typeface="Arial"/>
                <a:ea typeface="Arial"/>
                <a:cs typeface="Arial"/>
              </a:defRPr>
            </a:pPr>
            <a:r>
              <a:rPr sz="900" b="1">
                <a:solidFill>
                  <a:srgbClr val="EB4A16"/>
                </a:solidFill>
                <a:latin typeface="Arial"/>
                <a:ea typeface="Arial"/>
                <a:cs typeface="Arial"/>
              </a:rPr>
              <a:t>0</a:t>
            </a:r>
          </a:p>
        </p:txBody>
      </p:sp>
      <p:sp>
        <p:nvSpPr>
          <p:cNvPr id="106" name="editable-native-total-vpus">
            <a:extLst xmlns:a="http://schemas.openxmlformats.org/drawingml/2006/main">
              <a:ext uri="{FF2B5EF4-FFF2-40B4-BE49-F238E27FC236}">
                <a16:creationId xmlns:a16="http://schemas.microsoft.com/office/drawing/2014/main" id="{727E06B2-227C-4498-A2C3-84E25571C091}"/>
              </a:ext>
            </a:extLst>
          </p:cNvPr>
          <p:cNvSpPr>
            <a:spLocks xmlns:a="http://schemas.openxmlformats.org/drawingml/2006/main" noGrp="1"/>
          </p:cNvSpPr>
          <p:nvPr/>
        </p:nvSpPr>
        <p:spPr>
          <a:xfrm xmlns:a="http://schemas.openxmlformats.org/drawingml/2006/main">
            <a:off x="10001250" y="563880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ctr">
              <a:buNone/>
              <a:defRPr sz="900" b="1">
                <a:solidFill>
                  <a:srgbClr val="EB4A16"/>
                </a:solidFill>
                <a:latin typeface="Arial"/>
                <a:ea typeface="Arial"/>
                <a:cs typeface="Arial"/>
              </a:defRPr>
            </a:pPr>
            <a:r>
              <a:rPr sz="900" b="1">
                <a:solidFill>
                  <a:srgbClr val="EB4A16"/>
                </a:solidFill>
                <a:latin typeface="Arial"/>
                <a:ea typeface="Arial"/>
                <a:cs typeface="Arial"/>
              </a:rPr>
              <a:t>0</a:t>
            </a:r>
          </a:p>
        </p:txBody>
      </p:sp>
      <p:sp>
        <p:nvSpPr>
          <p:cNvPr id="107" name="editable-native-total-storage">
            <a:extLst xmlns:a="http://schemas.openxmlformats.org/drawingml/2006/main">
              <a:ext uri="{FF2B5EF4-FFF2-40B4-BE49-F238E27FC236}">
                <a16:creationId xmlns:a16="http://schemas.microsoft.com/office/drawing/2014/main" id="{79D140C5-A095-4613-88CC-1FF3FE6ABB50}"/>
              </a:ext>
            </a:extLst>
          </p:cNvPr>
          <p:cNvSpPr>
            <a:spLocks xmlns:a="http://schemas.openxmlformats.org/drawingml/2006/main" noGrp="1"/>
          </p:cNvSpPr>
          <p:nvPr/>
        </p:nvSpPr>
        <p:spPr>
          <a:xfrm xmlns:a="http://schemas.openxmlformats.org/drawingml/2006/main">
            <a:off x="10810875" y="5638800"/>
            <a:ext cx="781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ctr">
              <a:buNone/>
              <a:defRPr sz="900" b="1">
                <a:solidFill>
                  <a:srgbClr val="EB4A16"/>
                </a:solidFill>
                <a:latin typeface="Arial"/>
                <a:ea typeface="Arial"/>
                <a:cs typeface="Arial"/>
              </a:defRPr>
            </a:pPr>
            <a:r>
              <a:rPr sz="900" b="1">
                <a:solidFill>
                  <a:srgbClr val="EB4A16"/>
                </a:solidFill>
                <a:latin typeface="Arial"/>
                <a:ea typeface="Arial"/>
                <a:cs typeface="Arial"/>
              </a:rPr>
              <a:t>0</a:t>
            </a:r>
          </a:p>
        </p:txBody>
      </p:sp>
      <p:sp>
        <p:nvSpPr>
          <p:cNvPr id="108" name="native-storage-total-vm-label">
            <a:extLst xmlns:a="http://schemas.openxmlformats.org/drawingml/2006/main">
              <a:ext uri="{FF2B5EF4-FFF2-40B4-BE49-F238E27FC236}">
                <a16:creationId xmlns:a16="http://schemas.microsoft.com/office/drawing/2014/main" id="{C56B3D50-0540-4A78-9447-CEA226997AB2}"/>
              </a:ext>
            </a:extLst>
          </p:cNvPr>
          <p:cNvSpPr>
            <a:spLocks xmlns:a="http://schemas.openxmlformats.org/drawingml/2006/main" noGrp="1"/>
          </p:cNvSpPr>
          <p:nvPr/>
        </p:nvSpPr>
        <p:spPr>
          <a:xfrm xmlns:a="http://schemas.openxmlformats.org/drawingml/2006/main">
            <a:off x="9239250" y="5829300"/>
            <a:ext cx="619125"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0000"/>
          </a:bodyPr>
          <a:lstStyle xmlns:a="http://schemas.openxmlformats.org/drawingml/2006/main"/>
          <a:p xmlns:a="http://schemas.openxmlformats.org/drawingml/2006/main">
            <a:pPr algn="ctr">
              <a:buNone/>
              <a:defRPr sz="675" b="0">
                <a:solidFill>
                  <a:srgbClr val="17212B"/>
                </a:solidFill>
                <a:latin typeface="Arial"/>
                <a:ea typeface="Arial"/>
                <a:cs typeface="Arial"/>
              </a:defRPr>
            </a:pPr>
            <a:r>
              <a:rPr sz="675" b="0">
                <a:solidFill>
                  <a:srgbClr val="17212B"/>
                </a:solidFill>
                <a:latin typeface="Arial"/>
                <a:ea typeface="Arial"/>
                <a:cs typeface="Arial"/>
              </a:rPr>
              <a:t>VMs</a:t>
            </a:r>
          </a:p>
        </p:txBody>
      </p:sp>
      <p:sp>
        <p:nvSpPr>
          <p:cNvPr id="109" name="native-storage-total-vpu-label">
            <a:extLst xmlns:a="http://schemas.openxmlformats.org/drawingml/2006/main">
              <a:ext uri="{FF2B5EF4-FFF2-40B4-BE49-F238E27FC236}">
                <a16:creationId xmlns:a16="http://schemas.microsoft.com/office/drawing/2014/main" id="{18F00836-9AA4-496A-BDE5-4FC63999E99E}"/>
              </a:ext>
            </a:extLst>
          </p:cNvPr>
          <p:cNvSpPr>
            <a:spLocks xmlns:a="http://schemas.openxmlformats.org/drawingml/2006/main" noGrp="1"/>
          </p:cNvSpPr>
          <p:nvPr/>
        </p:nvSpPr>
        <p:spPr>
          <a:xfrm xmlns:a="http://schemas.openxmlformats.org/drawingml/2006/main">
            <a:off x="10001250" y="5829300"/>
            <a:ext cx="666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0000"/>
          </a:bodyPr>
          <a:lstStyle xmlns:a="http://schemas.openxmlformats.org/drawingml/2006/main"/>
          <a:p xmlns:a="http://schemas.openxmlformats.org/drawingml/2006/main">
            <a:pPr algn="ctr">
              <a:buNone/>
              <a:defRPr sz="675" b="0">
                <a:solidFill>
                  <a:srgbClr val="17212B"/>
                </a:solidFill>
                <a:latin typeface="Arial"/>
                <a:ea typeface="Arial"/>
                <a:cs typeface="Arial"/>
              </a:defRPr>
            </a:pPr>
            <a:r>
              <a:rPr sz="675" b="0">
                <a:solidFill>
                  <a:srgbClr val="17212B"/>
                </a:solidFill>
                <a:latin typeface="Arial"/>
                <a:ea typeface="Arial"/>
                <a:cs typeface="Arial"/>
              </a:rPr>
              <a:t>VPU</a:t>
            </a:r>
          </a:p>
        </p:txBody>
      </p:sp>
      <p:sp>
        <p:nvSpPr>
          <p:cNvPr id="110" name="native-storage-total-capacity-label">
            <a:extLst xmlns:a="http://schemas.openxmlformats.org/drawingml/2006/main">
              <a:ext uri="{FF2B5EF4-FFF2-40B4-BE49-F238E27FC236}">
                <a16:creationId xmlns:a16="http://schemas.microsoft.com/office/drawing/2014/main" id="{E5939CB1-4C28-4E49-9075-03E6DC45D84A}"/>
              </a:ext>
            </a:extLst>
          </p:cNvPr>
          <p:cNvSpPr>
            <a:spLocks xmlns:a="http://schemas.openxmlformats.org/drawingml/2006/main" noGrp="1"/>
          </p:cNvSpPr>
          <p:nvPr/>
        </p:nvSpPr>
        <p:spPr>
          <a:xfrm xmlns:a="http://schemas.openxmlformats.org/drawingml/2006/main">
            <a:off x="10810875" y="5829300"/>
            <a:ext cx="7810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0000"/>
          </a:bodyPr>
          <a:lstStyle xmlns:a="http://schemas.openxmlformats.org/drawingml/2006/main"/>
          <a:p xmlns:a="http://schemas.openxmlformats.org/drawingml/2006/main">
            <a:pPr algn="ctr">
              <a:buNone/>
              <a:defRPr sz="675" b="0">
                <a:solidFill>
                  <a:srgbClr val="17212B"/>
                </a:solidFill>
                <a:latin typeface="Arial"/>
                <a:ea typeface="Arial"/>
                <a:cs typeface="Arial"/>
              </a:defRPr>
            </a:pPr>
            <a:r>
              <a:rPr sz="675" b="0">
                <a:solidFill>
                  <a:srgbClr val="17212B"/>
                </a:solidFill>
                <a:latin typeface="Arial"/>
                <a:ea typeface="Arial"/>
                <a:cs typeface="Arial"/>
              </a:rPr>
              <a:t>TB</a:t>
            </a:r>
          </a:p>
        </p:txBody>
      </p:sp>
      <p:sp>
        <p:nvSpPr>
          <p:cNvPr id="111" name="native-storage-note">
            <a:extLst xmlns:a="http://schemas.openxmlformats.org/drawingml/2006/main">
              <a:ext uri="{FF2B5EF4-FFF2-40B4-BE49-F238E27FC236}">
                <a16:creationId xmlns:a16="http://schemas.microsoft.com/office/drawing/2014/main" id="{963D3BF3-E5AD-4296-97E6-F36BD6E8D1B9}"/>
              </a:ext>
            </a:extLst>
          </p:cNvPr>
          <p:cNvSpPr>
            <a:spLocks xmlns:a="http://schemas.openxmlformats.org/drawingml/2006/main" noGrp="1"/>
          </p:cNvSpPr>
          <p:nvPr/>
        </p:nvSpPr>
        <p:spPr>
          <a:xfrm xmlns:a="http://schemas.openxmlformats.org/drawingml/2006/main">
            <a:off x="5753100" y="6229350"/>
            <a:ext cx="2286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lgn="l">
              <a:buNone/>
              <a:defRPr sz="675" b="0">
                <a:solidFill>
                  <a:srgbClr val="17212B"/>
                </a:solidFill>
                <a:latin typeface="Arial"/>
                <a:ea typeface="Arial"/>
                <a:cs typeface="Arial"/>
              </a:defRPr>
            </a:pPr>
            <a:r>
              <a:rPr sz="675" b="0">
                <a:solidFill>
                  <a:srgbClr val="17212B"/>
                </a:solidFill>
                <a:latin typeface="Arial"/>
                <a:ea typeface="Arial"/>
                <a:cs typeface="Arial"/>
              </a:rPr>
              <a:t>VPU ranges and performance tiers per</a:t>
            </a:r>
          </a:p>
        </p:txBody>
      </p:sp>
      <p:sp>
        <p:nvSpPr>
          <p:cNvPr id="112" name="native-storage-doc-link">
            <a:extLst xmlns:a="http://schemas.openxmlformats.org/drawingml/2006/main">
              <a:ext uri="{FF2B5EF4-FFF2-40B4-BE49-F238E27FC236}">
                <a16:creationId xmlns:a16="http://schemas.microsoft.com/office/drawing/2014/main" id="{E8E90508-A8A5-4235-AEE7-81851DAD85EF}"/>
              </a:ext>
            </a:extLst>
          </p:cNvPr>
          <p:cNvSpPr>
            <a:spLocks xmlns:a="http://schemas.openxmlformats.org/drawingml/2006/main" noGrp="1"/>
          </p:cNvSpPr>
          <p:nvPr/>
        </p:nvSpPr>
        <p:spPr>
          <a:xfrm xmlns:a="http://schemas.openxmlformats.org/drawingml/2006/main">
            <a:off x="7905750" y="6229350"/>
            <a:ext cx="23812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lgn="l">
              <a:buNone/>
              <a:defRPr sz="675" b="0">
                <a:solidFill>
                  <a:srgbClr val="0066CC"/>
                </a:solidFill>
                <a:latin typeface="Arial"/>
                <a:ea typeface="Arial"/>
                <a:cs typeface="Arial"/>
              </a:defRPr>
            </a:pPr>
            <a:r>
              <a:rPr sz="675" b="0">
                <a:solidFill>
                  <a:srgbClr val="0066CC"/>
                </a:solidFill>
                <a:latin typeface="Arial"/>
                <a:ea typeface="Arial"/>
                <a:cs typeface="Arial"/>
              </a:rPr>
              <a:t>Oracle Block Volume documentation.</a:t>
            </a:r>
          </a:p>
        </p:txBody>
      </p:sp>
      <p:sp>
        <p:nvSpPr>
          <p:cNvPr id="113" name="compute-footer">
            <a:extLst xmlns:a="http://schemas.openxmlformats.org/drawingml/2006/main">
              <a:ext uri="{FF2B5EF4-FFF2-40B4-BE49-F238E27FC236}">
                <a16:creationId xmlns:a16="http://schemas.microsoft.com/office/drawing/2014/main" id="{84D5CB60-B951-478C-942C-CC283AB1406F}"/>
              </a:ext>
            </a:extLst>
          </p:cNvPr>
          <p:cNvSpPr>
            <a:spLocks xmlns:a="http://schemas.openxmlformats.org/drawingml/2006/main" noGrp="1"/>
          </p:cNvSpPr>
          <p:nvPr/>
        </p:nvSpPr>
        <p:spPr>
          <a:xfrm xmlns:a="http://schemas.openxmlformats.org/drawingml/2006/main">
            <a:off x="342900" y="6591300"/>
            <a:ext cx="6667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45833"/>
          </a:bodyPr>
          <a:lstStyle xmlns:a="http://schemas.openxmlformats.org/drawingml/2006/main"/>
          <a:p xmlns:a="http://schemas.openxmlformats.org/drawingml/2006/main">
            <a:pPr algn="l">
              <a:buNone/>
              <a:defRPr sz="600" b="0">
                <a:solidFill>
                  <a:srgbClr val="6B6B6B"/>
                </a:solidFill>
                <a:latin typeface="Arial"/>
                <a:ea typeface="Arial"/>
                <a:cs typeface="Arial"/>
              </a:defRPr>
            </a:pPr>
            <a:r>
              <a:rPr sz="600" b="0">
                <a:solidFill>
                  <a:srgbClr val="6B6B6B"/>
                </a:solidFill>
                <a:latin typeface="Arial"/>
                <a:ea typeface="Arial"/>
                <a:cs typeface="Arial"/>
              </a:rPr>
              <a:t>Copyright © 2026, Oracle and/or its affiliates  |  Confidential: Internal/Restricted/Highly Restricted</a:t>
            </a:r>
          </a:p>
        </p:txBody>
      </p:sp>
      <p:pic>
        <p:nvPicPr>
          <p:cNvPr id="244" name=""/>
          <p:cNvPicPr>
            <a:picLocks xmlns:a="http://schemas.openxmlformats.org/drawingml/2006/main" noChangeAspect="1"/>
          </p:cNvPicPr>
          <p:nvPr/>
        </p:nvPicPr>
        <p:blipFill>
          <a:blip xmlns:r="http://schemas.openxmlformats.org/officeDocument/2006/relationships" xmlns:a="http://schemas.openxmlformats.org/drawingml/2006/main" r:embed="R57ff72bd0ffc44ef"/>
          <a:stretch xmlns:a="http://schemas.openxmlformats.org/drawingml/2006/main"/>
        </p:blipFill>
        <p:spPr>
          <a:xfrm xmlns:a="http://schemas.openxmlformats.org/drawingml/2006/main">
            <a:off x="9525000" y="285750"/>
            <a:ext cx="2514600" cy="314325"/>
          </a:xfrm>
          <a:prstGeom xmlns:a="http://schemas.openxmlformats.org/drawingml/2006/main" prst="rect">
            <a:avLst/>
          </a:prstGeom>
        </p:spPr>
      </p:pic>
      <p:pic>
        <p:nvPicPr>
          <p:cNvPr id="245" name=""/>
          <p:cNvPicPr>
            <a:picLocks xmlns:a="http://schemas.openxmlformats.org/drawingml/2006/main" noChangeAspect="1"/>
          </p:cNvPicPr>
          <p:nvPr/>
        </p:nvPicPr>
        <p:blipFill>
          <a:blip xmlns:r="http://schemas.openxmlformats.org/officeDocument/2006/relationships" xmlns:a="http://schemas.openxmlformats.org/drawingml/2006/main" r:embed="Rc715ba98603f4a81"/>
          <a:stretch xmlns:a="http://schemas.openxmlformats.org/drawingml/2006/main"/>
        </p:blipFill>
        <p:spPr>
          <a:xfrm xmlns:a="http://schemas.openxmlformats.org/drawingml/2006/main">
            <a:off x="838200" y="1952625"/>
            <a:ext cx="457200" cy="381000"/>
          </a:xfrm>
          <a:prstGeom xmlns:a="http://schemas.openxmlformats.org/drawingml/2006/main" prst="rect">
            <a:avLst/>
          </a:prstGeom>
        </p:spPr>
      </p:pic>
      <p:pic>
        <p:nvPicPr>
          <p:cNvPr id="246" name=""/>
          <p:cNvPicPr>
            <a:picLocks xmlns:a="http://schemas.openxmlformats.org/drawingml/2006/main" noChangeAspect="1"/>
          </p:cNvPicPr>
          <p:nvPr/>
        </p:nvPicPr>
        <p:blipFill>
          <a:blip xmlns:r="http://schemas.openxmlformats.org/officeDocument/2006/relationships" xmlns:a="http://schemas.openxmlformats.org/drawingml/2006/main" r:embed="R0687878141a04e1b"/>
          <a:stretch xmlns:a="http://schemas.openxmlformats.org/drawingml/2006/main"/>
        </p:blipFill>
        <p:spPr>
          <a:xfrm xmlns:a="http://schemas.openxmlformats.org/drawingml/2006/main">
            <a:off x="3000375" y="1914525"/>
            <a:ext cx="447675" cy="447675"/>
          </a:xfrm>
          <a:prstGeom xmlns:a="http://schemas.openxmlformats.org/drawingml/2006/main" prst="rect">
            <a:avLst/>
          </a:prstGeom>
        </p:spPr>
      </p:pic>
      <p:pic>
        <p:nvPicPr>
          <p:cNvPr id="247" name=""/>
          <p:cNvPicPr>
            <a:picLocks xmlns:a="http://schemas.openxmlformats.org/drawingml/2006/main" noChangeAspect="1"/>
          </p:cNvPicPr>
          <p:nvPr/>
        </p:nvPicPr>
        <p:blipFill>
          <a:blip xmlns:r="http://schemas.openxmlformats.org/officeDocument/2006/relationships" xmlns:a="http://schemas.openxmlformats.org/drawingml/2006/main" r:embed="Rafdddfe5467d4ab0"/>
          <a:stretch xmlns:a="http://schemas.openxmlformats.org/drawingml/2006/main"/>
        </p:blipFill>
        <p:spPr>
          <a:xfrm xmlns:a="http://schemas.openxmlformats.org/drawingml/2006/main">
            <a:off x="5286375" y="1952625"/>
            <a:ext cx="466725" cy="304800"/>
          </a:xfrm>
          <a:prstGeom xmlns:a="http://schemas.openxmlformats.org/drawingml/2006/main" prst="rect">
            <a:avLst/>
          </a:prstGeom>
        </p:spPr>
      </p:pic>
      <p:pic>
        <p:nvPicPr>
          <p:cNvPr id="248" name=""/>
          <p:cNvPicPr>
            <a:picLocks xmlns:a="http://schemas.openxmlformats.org/drawingml/2006/main" noChangeAspect="1"/>
          </p:cNvPicPr>
          <p:nvPr/>
        </p:nvPicPr>
        <p:blipFill>
          <a:blip xmlns:r="http://schemas.openxmlformats.org/officeDocument/2006/relationships" xmlns:a="http://schemas.openxmlformats.org/drawingml/2006/main" r:embed="R63d39b0ca37c489c"/>
          <a:stretch xmlns:a="http://schemas.openxmlformats.org/drawingml/2006/main"/>
        </p:blipFill>
        <p:spPr>
          <a:xfrm xmlns:a="http://schemas.openxmlformats.org/drawingml/2006/main">
            <a:off x="7839075" y="1895475"/>
            <a:ext cx="438150" cy="457200"/>
          </a:xfrm>
          <a:prstGeom xmlns:a="http://schemas.openxmlformats.org/drawingml/2006/main" prst="rect">
            <a:avLst/>
          </a:prstGeom>
        </p:spPr>
      </p:pic>
      <p:pic>
        <p:nvPicPr>
          <p:cNvPr id="249" name=""/>
          <p:cNvPicPr>
            <a:picLocks xmlns:a="http://schemas.openxmlformats.org/drawingml/2006/main" noChangeAspect="1"/>
          </p:cNvPicPr>
          <p:nvPr/>
        </p:nvPicPr>
        <p:blipFill>
          <a:blip xmlns:r="http://schemas.openxmlformats.org/officeDocument/2006/relationships" xmlns:a="http://schemas.openxmlformats.org/drawingml/2006/main" r:embed="Rfae6ee1867624899"/>
          <a:stretch xmlns:a="http://schemas.openxmlformats.org/drawingml/2006/main"/>
        </p:blipFill>
        <p:spPr>
          <a:xfrm xmlns:a="http://schemas.openxmlformats.org/drawingml/2006/main">
            <a:off x="685800" y="3333750"/>
            <a:ext cx="228600" cy="171450"/>
          </a:xfrm>
          <a:prstGeom xmlns:a="http://schemas.openxmlformats.org/drawingml/2006/main" prst="rect">
            <a:avLst/>
          </a:prstGeom>
        </p:spPr>
      </p:pic>
      <p:pic>
        <p:nvPicPr>
          <p:cNvPr id="250" name=""/>
          <p:cNvPicPr>
            <a:picLocks xmlns:a="http://schemas.openxmlformats.org/drawingml/2006/main" noChangeAspect="1"/>
          </p:cNvPicPr>
          <p:nvPr/>
        </p:nvPicPr>
        <p:blipFill>
          <a:blip xmlns:r="http://schemas.openxmlformats.org/officeDocument/2006/relationships" xmlns:a="http://schemas.openxmlformats.org/drawingml/2006/main" r:embed="Rc8c1ac42cd1343a9"/>
          <a:stretch xmlns:a="http://schemas.openxmlformats.org/drawingml/2006/main"/>
        </p:blipFill>
        <p:spPr>
          <a:xfrm xmlns:a="http://schemas.openxmlformats.org/drawingml/2006/main">
            <a:off x="5619750" y="3305175"/>
            <a:ext cx="266700" cy="257175"/>
          </a:xfrm>
          <a:prstGeom xmlns:a="http://schemas.openxmlformats.org/drawingml/2006/main" prst="rect">
            <a:avLst/>
          </a:prstGeom>
        </p:spPr>
      </p:pic>
      <p:pic>
        <p:nvPicPr>
          <p:cNvPr id="251" name=""/>
          <p:cNvPicPr>
            <a:picLocks xmlns:a="http://schemas.openxmlformats.org/drawingml/2006/main" noChangeAspect="1"/>
          </p:cNvPicPr>
          <p:nvPr/>
        </p:nvPicPr>
        <p:blipFill>
          <a:blip xmlns:r="http://schemas.openxmlformats.org/officeDocument/2006/relationships" xmlns:a="http://schemas.openxmlformats.org/drawingml/2006/main" r:embed="R73b328661a214a65"/>
          <a:stretch xmlns:a="http://schemas.openxmlformats.org/drawingml/2006/main"/>
        </p:blipFill>
        <p:spPr>
          <a:xfrm xmlns:a="http://schemas.openxmlformats.org/drawingml/2006/main">
            <a:off x="11715750" y="6477000"/>
            <a:ext cx="285750" cy="361950"/>
          </a:xfrm>
          <a:prstGeom xmlns:a="http://schemas.openxmlformats.org/drawingml/2006/main" prst="rect">
            <a:avLst/>
          </a:prstGeom>
        </p:spPr>
      </p:pic>
    </p:spTree>
    <p:extLst>
      <p:ext uri="{BB962C8B-B14F-4D97-AF65-F5344CB8AC3E}">
        <p14:creationId xmlns:p14="http://schemas.microsoft.com/office/powerpoint/2010/main" val="11930334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6" name="pricing-top-mask">
            <a:extLst xmlns:a="http://schemas.openxmlformats.org/drawingml/2006/main">
              <a:ext uri="{FF2B5EF4-FFF2-40B4-BE49-F238E27FC236}">
                <a16:creationId xmlns:a16="http://schemas.microsoft.com/office/drawing/2014/main" id="{913CB3F7-F40F-4408-83F6-3C36F3C34552}"/>
              </a:ext>
            </a:extLst>
          </p:cNvPr>
          <p:cNvSpPr>
            <a:spLocks xmlns:a="http://schemas.openxmlformats.org/drawingml/2006/main" noGrp="1"/>
          </p:cNvSpPr>
          <p:nvPr/>
        </p:nvSpPr>
        <p:spPr>
          <a:xfrm xmlns:a="http://schemas.openxmlformats.org/drawingml/2006/main">
            <a:off x="0" y="0"/>
            <a:ext cx="4095750" cy="9525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pricing-footer-mask">
            <a:extLst xmlns:a="http://schemas.openxmlformats.org/drawingml/2006/main">
              <a:ext uri="{FF2B5EF4-FFF2-40B4-BE49-F238E27FC236}">
                <a16:creationId xmlns:a16="http://schemas.microsoft.com/office/drawing/2014/main" id="{BAD3F4DD-011B-4028-B6C0-2F155FB38ADA}"/>
              </a:ext>
            </a:extLst>
          </p:cNvPr>
          <p:cNvSpPr>
            <a:spLocks xmlns:a="http://schemas.openxmlformats.org/drawingml/2006/main" noGrp="1"/>
          </p:cNvSpPr>
          <p:nvPr/>
        </p:nvSpPr>
        <p:spPr>
          <a:xfrm xmlns:a="http://schemas.openxmlformats.org/drawingml/2006/main">
            <a:off x="0" y="6267450"/>
            <a:ext cx="8858250" cy="5905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pricing-dot-1122-40">
            <a:extLst xmlns:a="http://schemas.openxmlformats.org/drawingml/2006/main">
              <a:ext uri="{FF2B5EF4-FFF2-40B4-BE49-F238E27FC236}">
                <a16:creationId xmlns:a16="http://schemas.microsoft.com/office/drawing/2014/main" id="{A2DFE874-B381-47F5-BC71-74D3923B637A}"/>
              </a:ext>
            </a:extLst>
          </p:cNvPr>
          <p:cNvSpPr>
            <a:spLocks xmlns:a="http://schemas.openxmlformats.org/drawingml/2006/main" noGrp="1"/>
          </p:cNvSpPr>
          <p:nvPr/>
        </p:nvSpPr>
        <p:spPr>
          <a:xfrm xmlns:a="http://schemas.openxmlformats.org/drawingml/2006/main">
            <a:off x="10687050" y="381000"/>
            <a:ext cx="38100" cy="38100"/>
          </a:xfrm>
          <a:prstGeom xmlns:a="http://schemas.openxmlformats.org/drawingml/2006/main" prst="roundRect">
            <a:avLst>
              <a:gd name="adj" fmla="val 50000"/>
            </a:avLst>
          </a:prstGeom>
          <a:solidFill xmlns:a="http://schemas.openxmlformats.org/drawingml/2006/main">
            <a:srgbClr val="E7EAE7"/>
          </a:solidFill>
          <a:ln xmlns:a="http://schemas.openxmlformats.org/drawingml/2006/main" w="0">
            <a:noFill/>
          </a:ln>
        </p:spPr>
      </p:sp>
      <p:sp>
        <p:nvSpPr>
          <p:cNvPr id="4" name="pricing-dot-1170-64">
            <a:extLst xmlns:a="http://schemas.openxmlformats.org/drawingml/2006/main">
              <a:ext uri="{FF2B5EF4-FFF2-40B4-BE49-F238E27FC236}">
                <a16:creationId xmlns:a16="http://schemas.microsoft.com/office/drawing/2014/main" id="{A003682A-4DDB-4E86-B7A7-ABB758AAADE6}"/>
              </a:ext>
            </a:extLst>
          </p:cNvPr>
          <p:cNvSpPr>
            <a:spLocks xmlns:a="http://schemas.openxmlformats.org/drawingml/2006/main" noGrp="1"/>
          </p:cNvSpPr>
          <p:nvPr/>
        </p:nvSpPr>
        <p:spPr>
          <a:xfrm xmlns:a="http://schemas.openxmlformats.org/drawingml/2006/main">
            <a:off x="11144250" y="609600"/>
            <a:ext cx="38100" cy="38100"/>
          </a:xfrm>
          <a:prstGeom xmlns:a="http://schemas.openxmlformats.org/drawingml/2006/main" prst="roundRect">
            <a:avLst>
              <a:gd name="adj" fmla="val 50000"/>
            </a:avLst>
          </a:prstGeom>
          <a:solidFill xmlns:a="http://schemas.openxmlformats.org/drawingml/2006/main">
            <a:srgbClr val="E7EAE7"/>
          </a:solidFill>
          <a:ln xmlns:a="http://schemas.openxmlformats.org/drawingml/2006/main" w="0">
            <a:noFill/>
          </a:ln>
        </p:spPr>
      </p:sp>
      <p:sp>
        <p:nvSpPr>
          <p:cNvPr id="5" name="pricing-dot-1215-30">
            <a:extLst xmlns:a="http://schemas.openxmlformats.org/drawingml/2006/main">
              <a:ext uri="{FF2B5EF4-FFF2-40B4-BE49-F238E27FC236}">
                <a16:creationId xmlns:a16="http://schemas.microsoft.com/office/drawing/2014/main" id="{868E7868-BAAB-48D5-8F80-B9D5C344EA6A}"/>
              </a:ext>
            </a:extLst>
          </p:cNvPr>
          <p:cNvSpPr>
            <a:spLocks xmlns:a="http://schemas.openxmlformats.org/drawingml/2006/main" noGrp="1"/>
          </p:cNvSpPr>
          <p:nvPr/>
        </p:nvSpPr>
        <p:spPr>
          <a:xfrm xmlns:a="http://schemas.openxmlformats.org/drawingml/2006/main">
            <a:off x="11572875" y="285750"/>
            <a:ext cx="28575" cy="28575"/>
          </a:xfrm>
          <a:prstGeom xmlns:a="http://schemas.openxmlformats.org/drawingml/2006/main" prst="roundRect">
            <a:avLst>
              <a:gd name="adj" fmla="val 50000"/>
            </a:avLst>
          </a:prstGeom>
          <a:solidFill xmlns:a="http://schemas.openxmlformats.org/drawingml/2006/main">
            <a:srgbClr val="E7EAE7"/>
          </a:solidFill>
          <a:ln xmlns:a="http://schemas.openxmlformats.org/drawingml/2006/main" w="0">
            <a:noFill/>
          </a:ln>
        </p:spPr>
      </p:sp>
      <p:sp>
        <p:nvSpPr>
          <p:cNvPr id="6" name="pricing-dot-1230-104">
            <a:extLst xmlns:a="http://schemas.openxmlformats.org/drawingml/2006/main">
              <a:ext uri="{FF2B5EF4-FFF2-40B4-BE49-F238E27FC236}">
                <a16:creationId xmlns:a16="http://schemas.microsoft.com/office/drawing/2014/main" id="{588E7524-680E-482C-87B4-5800786E081C}"/>
              </a:ext>
            </a:extLst>
          </p:cNvPr>
          <p:cNvSpPr>
            <a:spLocks xmlns:a="http://schemas.openxmlformats.org/drawingml/2006/main" noGrp="1"/>
          </p:cNvSpPr>
          <p:nvPr/>
        </p:nvSpPr>
        <p:spPr>
          <a:xfrm xmlns:a="http://schemas.openxmlformats.org/drawingml/2006/main">
            <a:off x="11715750" y="990600"/>
            <a:ext cx="47625" cy="47625"/>
          </a:xfrm>
          <a:prstGeom xmlns:a="http://schemas.openxmlformats.org/drawingml/2006/main" prst="roundRect">
            <a:avLst>
              <a:gd name="adj" fmla="val 50000"/>
            </a:avLst>
          </a:prstGeom>
          <a:solidFill xmlns:a="http://schemas.openxmlformats.org/drawingml/2006/main">
            <a:srgbClr val="E7EAE7"/>
          </a:solidFill>
          <a:ln xmlns:a="http://schemas.openxmlformats.org/drawingml/2006/main" w="0">
            <a:noFill/>
          </a:ln>
        </p:spPr>
      </p:sp>
      <p:sp>
        <p:nvSpPr>
          <p:cNvPr id="7" name="pricing-dot-1196-138">
            <a:extLst xmlns:a="http://schemas.openxmlformats.org/drawingml/2006/main">
              <a:ext uri="{FF2B5EF4-FFF2-40B4-BE49-F238E27FC236}">
                <a16:creationId xmlns:a16="http://schemas.microsoft.com/office/drawing/2014/main" id="{133E4664-FBA0-4C1D-9F89-83DE151BE1FF}"/>
              </a:ext>
            </a:extLst>
          </p:cNvPr>
          <p:cNvSpPr>
            <a:spLocks xmlns:a="http://schemas.openxmlformats.org/drawingml/2006/main" noGrp="1"/>
          </p:cNvSpPr>
          <p:nvPr/>
        </p:nvSpPr>
        <p:spPr>
          <a:xfrm xmlns:a="http://schemas.openxmlformats.org/drawingml/2006/main">
            <a:off x="11391900" y="1314450"/>
            <a:ext cx="28575" cy="28575"/>
          </a:xfrm>
          <a:prstGeom xmlns:a="http://schemas.openxmlformats.org/drawingml/2006/main" prst="roundRect">
            <a:avLst>
              <a:gd name="adj" fmla="val 50000"/>
            </a:avLst>
          </a:prstGeom>
          <a:solidFill xmlns:a="http://schemas.openxmlformats.org/drawingml/2006/main">
            <a:srgbClr val="E7EAE7"/>
          </a:solidFill>
          <a:ln xmlns:a="http://schemas.openxmlformats.org/drawingml/2006/main" w="0">
            <a:noFill/>
          </a:ln>
        </p:spPr>
      </p:sp>
      <p:sp>
        <p:nvSpPr>
          <p:cNvPr id="8" name="pricing-dot-1250-164">
            <a:extLst xmlns:a="http://schemas.openxmlformats.org/drawingml/2006/main">
              <a:ext uri="{FF2B5EF4-FFF2-40B4-BE49-F238E27FC236}">
                <a16:creationId xmlns:a16="http://schemas.microsoft.com/office/drawing/2014/main" id="{DD3D7F02-6D57-4BAF-A6CA-AA2B566E215F}"/>
              </a:ext>
            </a:extLst>
          </p:cNvPr>
          <p:cNvSpPr>
            <a:spLocks xmlns:a="http://schemas.openxmlformats.org/drawingml/2006/main" noGrp="1"/>
          </p:cNvSpPr>
          <p:nvPr/>
        </p:nvSpPr>
        <p:spPr>
          <a:xfrm xmlns:a="http://schemas.openxmlformats.org/drawingml/2006/main">
            <a:off x="11906250" y="1562100"/>
            <a:ext cx="28575" cy="28575"/>
          </a:xfrm>
          <a:prstGeom xmlns:a="http://schemas.openxmlformats.org/drawingml/2006/main" prst="roundRect">
            <a:avLst>
              <a:gd name="adj" fmla="val 50000"/>
            </a:avLst>
          </a:prstGeom>
          <a:solidFill xmlns:a="http://schemas.openxmlformats.org/drawingml/2006/main">
            <a:srgbClr val="E7EAE7"/>
          </a:solidFill>
          <a:ln xmlns:a="http://schemas.openxmlformats.org/drawingml/2006/main" w="0">
            <a:noFill/>
          </a:ln>
        </p:spPr>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a97f149dc9ec4c8e"/>
          <a:stretch xmlns:a="http://schemas.openxmlformats.org/drawingml/2006/main"/>
        </p:blipFill>
        <p:spPr>
          <a:xfrm xmlns:a="http://schemas.openxmlformats.org/drawingml/2006/main">
            <a:off x="381000" y="266700"/>
            <a:ext cx="1619250" cy="342900"/>
          </a:xfrm>
          <a:prstGeom xmlns:a="http://schemas.openxmlformats.org/drawingml/2006/main" prst="rect">
            <a:avLst/>
          </a:prstGeom>
        </p:spPr>
      </p:pic>
      <p:sp>
        <p:nvSpPr>
          <p:cNvPr id="10" name="oracle-cloud-infrastructure">
            <a:extLst xmlns:a="http://schemas.openxmlformats.org/drawingml/2006/main">
              <a:ext uri="{FF2B5EF4-FFF2-40B4-BE49-F238E27FC236}">
                <a16:creationId xmlns:a16="http://schemas.microsoft.com/office/drawing/2014/main" id="{1DEC9672-FE81-4A32-92E8-073C9DD336FD}"/>
              </a:ext>
            </a:extLst>
          </p:cNvPr>
          <p:cNvSpPr>
            <a:spLocks xmlns:a="http://schemas.openxmlformats.org/drawingml/2006/main" noGrp="1"/>
          </p:cNvSpPr>
          <p:nvPr/>
        </p:nvSpPr>
        <p:spPr>
          <a:xfrm xmlns:a="http://schemas.openxmlformats.org/drawingml/2006/main">
            <a:off x="381000" y="60960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0588"/>
          </a:bodyPr>
          <a:lstStyle xmlns:a="http://schemas.openxmlformats.org/drawingml/2006/main"/>
          <a:p xmlns:a="http://schemas.openxmlformats.org/drawingml/2006/main">
            <a:pPr algn="l">
              <a:defRPr sz="1275" b="0">
                <a:solidFill>
                  <a:srgbClr val="111111"/>
                </a:solidFill>
                <a:latin typeface="Arial"/>
                <a:ea typeface="Arial"/>
                <a:cs typeface="Arial"/>
              </a:defRPr>
            </a:pPr>
            <a:r>
              <a:rPr sz="1275" b="0">
                <a:solidFill>
                  <a:srgbClr val="111111"/>
                </a:solidFill>
                <a:latin typeface="Arial"/>
                <a:ea typeface="Arial"/>
                <a:cs typeface="Arial"/>
              </a:rPr>
              <a:t>Cloud Infrastructure</a:t>
            </a:r>
          </a:p>
        </p:txBody>
      </p:sp>
      <p:sp>
        <p:nvSpPr>
          <p:cNvPr id="11" name="oci-native-pricing-summary-title">
            <a:extLst xmlns:a="http://schemas.openxmlformats.org/drawingml/2006/main">
              <a:ext uri="{FF2B5EF4-FFF2-40B4-BE49-F238E27FC236}">
                <a16:creationId xmlns:a16="http://schemas.microsoft.com/office/drawing/2014/main" id="{3DC6ED27-AA43-4595-9663-4F757B753D52}"/>
              </a:ext>
            </a:extLst>
          </p:cNvPr>
          <p:cNvSpPr>
            <a:spLocks xmlns:a="http://schemas.openxmlformats.org/drawingml/2006/main" noGrp="1"/>
          </p:cNvSpPr>
          <p:nvPr/>
        </p:nvSpPr>
        <p:spPr>
          <a:xfrm xmlns:a="http://schemas.openxmlformats.org/drawingml/2006/main">
            <a:off x="381000" y="1104900"/>
            <a:ext cx="8286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000" b="1">
                <a:solidFill>
                  <a:srgbClr val="00573F"/>
                </a:solidFill>
                <a:latin typeface="Arial"/>
                <a:ea typeface="Arial"/>
                <a:cs typeface="Arial"/>
              </a:defRPr>
            </a:pPr>
            <a:r>
              <a:rPr sz="3000" b="1">
                <a:solidFill>
                  <a:srgbClr val="00573F"/>
                </a:solidFill>
                <a:latin typeface="Arial"/>
                <a:ea typeface="Arial"/>
                <a:cs typeface="Arial"/>
              </a:rPr>
              <a:t>OCI Native Pricing Summary</a:t>
            </a:r>
          </a:p>
        </p:txBody>
      </p:sp>
      <p:sp>
        <p:nvSpPr>
          <p:cNvPr id="12" name="pricing-title-rule">
            <a:extLst xmlns:a="http://schemas.openxmlformats.org/drawingml/2006/main">
              <a:ext uri="{FF2B5EF4-FFF2-40B4-BE49-F238E27FC236}">
                <a16:creationId xmlns:a16="http://schemas.microsoft.com/office/drawing/2014/main" id="{928A3C7B-7CC4-4F00-8E9D-E2389C6E8828}"/>
              </a:ext>
            </a:extLst>
          </p:cNvPr>
          <p:cNvSpPr>
            <a:spLocks xmlns:a="http://schemas.openxmlformats.org/drawingml/2006/main" noGrp="1"/>
          </p:cNvSpPr>
          <p:nvPr/>
        </p:nvSpPr>
        <p:spPr>
          <a:xfrm xmlns:a="http://schemas.openxmlformats.org/drawingml/2006/main">
            <a:off x="381000" y="1724025"/>
            <a:ext cx="895350" cy="38100"/>
          </a:xfrm>
          <a:prstGeom xmlns:a="http://schemas.openxmlformats.org/drawingml/2006/main" prst="rect">
            <a:avLst/>
          </a:prstGeom>
          <a:solidFill xmlns:a="http://schemas.openxmlformats.org/drawingml/2006/main">
            <a:srgbClr val="E53935"/>
          </a:solidFill>
          <a:ln xmlns:a="http://schemas.openxmlformats.org/drawingml/2006/main" w="0">
            <a:noFill/>
          </a:ln>
        </p:spPr>
      </p:sp>
      <p:sp>
        <p:nvSpPr>
          <p:cNvPr id="13" name="pricing-footer-rule">
            <a:extLst xmlns:a="http://schemas.openxmlformats.org/drawingml/2006/main">
              <a:ext uri="{FF2B5EF4-FFF2-40B4-BE49-F238E27FC236}">
                <a16:creationId xmlns:a16="http://schemas.microsoft.com/office/drawing/2014/main" id="{B6ED7831-2356-4B5D-AD5C-67DC9DA8447C}"/>
              </a:ext>
            </a:extLst>
          </p:cNvPr>
          <p:cNvSpPr>
            <a:spLocks xmlns:a="http://schemas.openxmlformats.org/drawingml/2006/main" noGrp="1"/>
          </p:cNvSpPr>
          <p:nvPr/>
        </p:nvSpPr>
        <p:spPr>
          <a:xfrm xmlns:a="http://schemas.openxmlformats.org/drawingml/2006/main">
            <a:off x="381000" y="6381750"/>
            <a:ext cx="11239500" cy="9525"/>
          </a:xfrm>
          <a:prstGeom xmlns:a="http://schemas.openxmlformats.org/drawingml/2006/main" prst="rect">
            <a:avLst/>
          </a:prstGeom>
          <a:solidFill xmlns:a="http://schemas.openxmlformats.org/drawingml/2006/main">
            <a:srgbClr val="BFC5C1"/>
          </a:solidFill>
          <a:ln xmlns:a="http://schemas.openxmlformats.org/drawingml/2006/main" w="9525">
            <a:solidFill>
              <a:srgbClr val="BFC5C1"/>
            </a:solidFill>
          </a:ln>
        </p:spPr>
      </p:sp>
      <p:sp>
        <p:nvSpPr>
          <p:cNvPr id="14" name="pricing-confidential">
            <a:extLst xmlns:a="http://schemas.openxmlformats.org/drawingml/2006/main">
              <a:ext uri="{FF2B5EF4-FFF2-40B4-BE49-F238E27FC236}">
                <a16:creationId xmlns:a16="http://schemas.microsoft.com/office/drawing/2014/main" id="{1216E946-964C-4251-8AF0-8E6EE7D7FAB3}"/>
              </a:ext>
            </a:extLst>
          </p:cNvPr>
          <p:cNvSpPr>
            <a:spLocks xmlns:a="http://schemas.openxmlformats.org/drawingml/2006/main" noGrp="1"/>
          </p:cNvSpPr>
          <p:nvPr/>
        </p:nvSpPr>
        <p:spPr>
          <a:xfrm xmlns:a="http://schemas.openxmlformats.org/drawingml/2006/main">
            <a:off x="381000" y="6534150"/>
            <a:ext cx="35242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lgn="l">
              <a:defRPr sz="675" b="0">
                <a:solidFill>
                  <a:srgbClr val="6A716E"/>
                </a:solidFill>
                <a:latin typeface="Arial"/>
                <a:ea typeface="Arial"/>
                <a:cs typeface="Arial"/>
              </a:defRPr>
            </a:pPr>
            <a:r>
              <a:rPr sz="675" b="0">
                <a:solidFill>
                  <a:srgbClr val="6A716E"/>
                </a:solidFill>
                <a:latin typeface="Arial"/>
                <a:ea typeface="Arial"/>
                <a:cs typeface="Arial"/>
              </a:rPr>
              <a:t>Confidential - Oracle Restricted \ Employees Only</a:t>
            </a:r>
          </a:p>
        </p:txBody>
      </p:sp>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a5044e9990e24ef3"/>
          <a:stretch xmlns:a="http://schemas.openxmlformats.org/drawingml/2006/main"/>
        </p:blipFill>
        <p:spPr>
          <a:xfrm xmlns:a="http://schemas.openxmlformats.org/drawingml/2006/main">
            <a:off x="11334750" y="6477000"/>
            <a:ext cx="342900" cy="276225"/>
          </a:xfrm>
          <a:prstGeom xmlns:a="http://schemas.openxmlformats.org/drawingml/2006/main" prst="rect">
            <a:avLst/>
          </a:prstGeom>
        </p:spPr>
      </p:pic>
      <p:sp>
        <p:nvSpPr>
          <p:cNvPr id="16" name="native-pricing-subtitle">
            <a:extLst xmlns:a="http://schemas.openxmlformats.org/drawingml/2006/main">
              <a:ext uri="{FF2B5EF4-FFF2-40B4-BE49-F238E27FC236}">
                <a16:creationId xmlns:a16="http://schemas.microsoft.com/office/drawing/2014/main" id="{8DE82980-FA99-43A5-B69C-57001C7BE3B5}"/>
              </a:ext>
            </a:extLst>
          </p:cNvPr>
          <p:cNvSpPr>
            <a:spLocks xmlns:a="http://schemas.openxmlformats.org/drawingml/2006/main" noGrp="1"/>
          </p:cNvSpPr>
          <p:nvPr/>
        </p:nvSpPr>
        <p:spPr>
          <a:xfrm xmlns:a="http://schemas.openxmlformats.org/drawingml/2006/main">
            <a:off x="381000" y="193357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0">
                <a:solidFill>
                  <a:srgbClr val="17212B"/>
                </a:solidFill>
                <a:latin typeface="Arial"/>
                <a:ea typeface="Arial"/>
                <a:cs typeface="Arial"/>
              </a:defRPr>
            </a:pPr>
            <a:r>
              <a:rPr sz="1200" b="0">
                <a:solidFill>
                  <a:srgbClr val="17212B"/>
                </a:solidFill>
                <a:latin typeface="Arial"/>
                <a:ea typeface="Arial"/>
                <a:cs typeface="Arial"/>
              </a:rPr>
              <a:t>Estimated pricing based on the selected OCI Native sizing result and commercial inputs.</a:t>
            </a:r>
          </a:p>
        </p:txBody>
      </p:sp>
      <p:sp>
        <p:nvSpPr>
          <p:cNvPr id="17" name="native-compute-card">
            <a:extLst xmlns:a="http://schemas.openxmlformats.org/drawingml/2006/main">
              <a:ext uri="{FF2B5EF4-FFF2-40B4-BE49-F238E27FC236}">
                <a16:creationId xmlns:a16="http://schemas.microsoft.com/office/drawing/2014/main" id="{432295E8-1B7A-4B97-87FE-6DE5473B9E82}"/>
              </a:ext>
            </a:extLst>
          </p:cNvPr>
          <p:cNvSpPr>
            <a:spLocks xmlns:a="http://schemas.openxmlformats.org/drawingml/2006/main" noGrp="1"/>
          </p:cNvSpPr>
          <p:nvPr/>
        </p:nvSpPr>
        <p:spPr>
          <a:xfrm xmlns:a="http://schemas.openxmlformats.org/drawingml/2006/main">
            <a:off x="1047750" y="2619375"/>
            <a:ext cx="4857750" cy="2143125"/>
          </a:xfrm>
          <a:prstGeom xmlns:a="http://schemas.openxmlformats.org/drawingml/2006/main" prst="roundRect">
            <a:avLst>
              <a:gd name="adj" fmla="val 3556"/>
            </a:avLst>
          </a:prstGeom>
          <a:solidFill xmlns:a="http://schemas.openxmlformats.org/drawingml/2006/main">
            <a:srgbClr val="FFFFFF"/>
          </a:solidFill>
          <a:ln xmlns:a="http://schemas.openxmlformats.org/drawingml/2006/main" w="9525">
            <a:solidFill>
              <a:srgbClr val="D6DBD7"/>
            </a:solidFill>
          </a:ln>
        </p:spPr>
      </p:sp>
      <p:sp>
        <p:nvSpPr>
          <p:cNvPr id="18" name="native-compute-band">
            <a:extLst xmlns:a="http://schemas.openxmlformats.org/drawingml/2006/main">
              <a:ext uri="{FF2B5EF4-FFF2-40B4-BE49-F238E27FC236}">
                <a16:creationId xmlns:a16="http://schemas.microsoft.com/office/drawing/2014/main" id="{15FC73DF-DE24-4E8D-A08D-20E9B99A87B8}"/>
              </a:ext>
            </a:extLst>
          </p:cNvPr>
          <p:cNvSpPr>
            <a:spLocks xmlns:a="http://schemas.openxmlformats.org/drawingml/2006/main" noGrp="1"/>
          </p:cNvSpPr>
          <p:nvPr/>
        </p:nvSpPr>
        <p:spPr>
          <a:xfrm xmlns:a="http://schemas.openxmlformats.org/drawingml/2006/main">
            <a:off x="1047750" y="2619375"/>
            <a:ext cx="4857750" cy="495300"/>
          </a:xfrm>
          <a:prstGeom xmlns:a="http://schemas.openxmlformats.org/drawingml/2006/main" prst="roundRect">
            <a:avLst>
              <a:gd name="adj" fmla="val 15385"/>
            </a:avLst>
          </a:prstGeom>
          <a:solidFill xmlns:a="http://schemas.openxmlformats.org/drawingml/2006/main">
            <a:srgbClr val="00573F"/>
          </a:solidFill>
          <a:ln xmlns:a="http://schemas.openxmlformats.org/drawingml/2006/main" w="0">
            <a:noFill/>
          </a:ln>
        </p:spPr>
      </p:sp>
      <p:sp>
        <p:nvSpPr>
          <p:cNvPr id="19" name="native-compute-heading">
            <a:extLst xmlns:a="http://schemas.openxmlformats.org/drawingml/2006/main">
              <a:ext uri="{FF2B5EF4-FFF2-40B4-BE49-F238E27FC236}">
                <a16:creationId xmlns:a16="http://schemas.microsoft.com/office/drawing/2014/main" id="{DB2E85C8-EDCC-41B2-B178-3E6B0075C26B}"/>
              </a:ext>
            </a:extLst>
          </p:cNvPr>
          <p:cNvSpPr>
            <a:spLocks xmlns:a="http://schemas.openxmlformats.org/drawingml/2006/main" noGrp="1"/>
          </p:cNvSpPr>
          <p:nvPr/>
        </p:nvSpPr>
        <p:spPr>
          <a:xfrm xmlns:a="http://schemas.openxmlformats.org/drawingml/2006/main">
            <a:off x="1295400" y="2705100"/>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ctr">
              <a:defRPr sz="1575" b="1">
                <a:solidFill>
                  <a:srgbClr val="FFFFFF"/>
                </a:solidFill>
                <a:latin typeface="Arial"/>
                <a:ea typeface="Arial"/>
                <a:cs typeface="Arial"/>
              </a:defRPr>
            </a:pPr>
            <a:r>
              <a:rPr sz="1575" b="1">
                <a:solidFill>
                  <a:srgbClr val="FFFFFF"/>
                </a:solidFill>
                <a:latin typeface="Arial"/>
                <a:ea typeface="Arial"/>
                <a:cs typeface="Arial"/>
              </a:rPr>
              <a:t>OCI Compute</a:t>
            </a:r>
          </a:p>
        </p:txBody>
      </p:sp>
      <p:sp>
        <p:nvSpPr>
          <p:cNvPr id="20" name="native-compute-note">
            <a:extLst xmlns:a="http://schemas.openxmlformats.org/drawingml/2006/main">
              <a:ext uri="{FF2B5EF4-FFF2-40B4-BE49-F238E27FC236}">
                <a16:creationId xmlns:a16="http://schemas.microsoft.com/office/drawing/2014/main" id="{A540995D-9C50-4FDE-B4A5-5C0B56CBC88F}"/>
              </a:ext>
            </a:extLst>
          </p:cNvPr>
          <p:cNvSpPr>
            <a:spLocks xmlns:a="http://schemas.openxmlformats.org/drawingml/2006/main" noGrp="1"/>
          </p:cNvSpPr>
          <p:nvPr/>
        </p:nvSpPr>
        <p:spPr>
          <a:xfrm xmlns:a="http://schemas.openxmlformats.org/drawingml/2006/main">
            <a:off x="1371600" y="3314700"/>
            <a:ext cx="4210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0">
                <a:solidFill>
                  <a:srgbClr val="6A716E"/>
                </a:solidFill>
                <a:latin typeface="Arial"/>
                <a:ea typeface="Arial"/>
                <a:cs typeface="Arial"/>
              </a:defRPr>
            </a:pPr>
            <a:r>
              <a:rPr sz="1050" b="0">
                <a:solidFill>
                  <a:srgbClr val="6A716E"/>
                </a:solidFill>
                <a:latin typeface="Arial"/>
                <a:ea typeface="Arial"/>
                <a:cs typeface="Arial"/>
              </a:rPr>
              <a:t>Configured OCI Compute capacity</a:t>
            </a:r>
          </a:p>
        </p:txBody>
      </p:sp>
      <p:sp>
        <p:nvSpPr>
          <p:cNvPr id="21" name="editable-native-pricing-compute">
            <a:extLst xmlns:a="http://schemas.openxmlformats.org/drawingml/2006/main">
              <a:ext uri="{FF2B5EF4-FFF2-40B4-BE49-F238E27FC236}">
                <a16:creationId xmlns:a16="http://schemas.microsoft.com/office/drawing/2014/main" id="{41835391-5342-4C4A-9D1C-E6C53400E684}"/>
              </a:ext>
            </a:extLst>
          </p:cNvPr>
          <p:cNvSpPr>
            <a:spLocks xmlns:a="http://schemas.openxmlformats.org/drawingml/2006/main" noGrp="1"/>
          </p:cNvSpPr>
          <p:nvPr/>
        </p:nvSpPr>
        <p:spPr>
          <a:xfrm xmlns:a="http://schemas.openxmlformats.org/drawingml/2006/main">
            <a:off x="1371600" y="3705225"/>
            <a:ext cx="42100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2250" b="1">
                <a:solidFill>
                  <a:srgbClr val="00573F"/>
                </a:solidFill>
                <a:latin typeface="Arial"/>
                <a:ea typeface="Arial"/>
                <a:cs typeface="Arial"/>
              </a:defRPr>
            </a:pPr>
            <a:r>
              <a:rPr sz="2250" b="1">
                <a:solidFill>
                  <a:srgbClr val="00573F"/>
                </a:solidFill>
                <a:latin typeface="Arial"/>
                <a:ea typeface="Arial"/>
                <a:cs typeface="Arial"/>
              </a:rPr>
              <a:t>Not available</a:t>
            </a:r>
          </a:p>
        </p:txBody>
      </p:sp>
      <p:sp>
        <p:nvSpPr>
          <p:cNvPr id="22" name="native-compute-monthly-label">
            <a:extLst xmlns:a="http://schemas.openxmlformats.org/drawingml/2006/main">
              <a:ext uri="{FF2B5EF4-FFF2-40B4-BE49-F238E27FC236}">
                <a16:creationId xmlns:a16="http://schemas.microsoft.com/office/drawing/2014/main" id="{8FCA0D24-FD9E-421C-B5A7-AB33B205879F}"/>
              </a:ext>
            </a:extLst>
          </p:cNvPr>
          <p:cNvSpPr>
            <a:spLocks xmlns:a="http://schemas.openxmlformats.org/drawingml/2006/main" noGrp="1"/>
          </p:cNvSpPr>
          <p:nvPr/>
        </p:nvSpPr>
        <p:spPr>
          <a:xfrm xmlns:a="http://schemas.openxmlformats.org/drawingml/2006/main">
            <a:off x="1371600" y="4257675"/>
            <a:ext cx="4210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ctr">
              <a:defRPr sz="900" b="0">
                <a:solidFill>
                  <a:srgbClr val="6A716E"/>
                </a:solidFill>
                <a:latin typeface="Arial"/>
                <a:ea typeface="Arial"/>
                <a:cs typeface="Arial"/>
              </a:defRPr>
            </a:pPr>
            <a:r>
              <a:rPr sz="900" b="0">
                <a:solidFill>
                  <a:srgbClr val="6A716E"/>
                </a:solidFill>
                <a:latin typeface="Arial"/>
                <a:ea typeface="Arial"/>
                <a:cs typeface="Arial"/>
              </a:rPr>
              <a:t>Monthly cost</a:t>
            </a:r>
          </a:p>
        </p:txBody>
      </p:sp>
      <p:sp>
        <p:nvSpPr>
          <p:cNvPr id="23" name="native-storage-card">
            <a:extLst xmlns:a="http://schemas.openxmlformats.org/drawingml/2006/main">
              <a:ext uri="{FF2B5EF4-FFF2-40B4-BE49-F238E27FC236}">
                <a16:creationId xmlns:a16="http://schemas.microsoft.com/office/drawing/2014/main" id="{FE35A22D-B61E-40CA-99B1-FC254580C64F}"/>
              </a:ext>
            </a:extLst>
          </p:cNvPr>
          <p:cNvSpPr>
            <a:spLocks xmlns:a="http://schemas.openxmlformats.org/drawingml/2006/main" noGrp="1"/>
          </p:cNvSpPr>
          <p:nvPr/>
        </p:nvSpPr>
        <p:spPr>
          <a:xfrm xmlns:a="http://schemas.openxmlformats.org/drawingml/2006/main">
            <a:off x="6286500" y="2619375"/>
            <a:ext cx="4857750" cy="2143125"/>
          </a:xfrm>
          <a:prstGeom xmlns:a="http://schemas.openxmlformats.org/drawingml/2006/main" prst="roundRect">
            <a:avLst>
              <a:gd name="adj" fmla="val 3556"/>
            </a:avLst>
          </a:prstGeom>
          <a:solidFill xmlns:a="http://schemas.openxmlformats.org/drawingml/2006/main">
            <a:srgbClr val="FFFFFF"/>
          </a:solidFill>
          <a:ln xmlns:a="http://schemas.openxmlformats.org/drawingml/2006/main" w="9525">
            <a:solidFill>
              <a:srgbClr val="D6DBD7"/>
            </a:solidFill>
          </a:ln>
        </p:spPr>
      </p:sp>
      <p:sp>
        <p:nvSpPr>
          <p:cNvPr id="24" name="native-storage-band">
            <a:extLst xmlns:a="http://schemas.openxmlformats.org/drawingml/2006/main">
              <a:ext uri="{FF2B5EF4-FFF2-40B4-BE49-F238E27FC236}">
                <a16:creationId xmlns:a16="http://schemas.microsoft.com/office/drawing/2014/main" id="{5897D3E3-50DE-42BB-AC88-6FAAE5EDF449}"/>
              </a:ext>
            </a:extLst>
          </p:cNvPr>
          <p:cNvSpPr>
            <a:spLocks xmlns:a="http://schemas.openxmlformats.org/drawingml/2006/main" noGrp="1"/>
          </p:cNvSpPr>
          <p:nvPr/>
        </p:nvSpPr>
        <p:spPr>
          <a:xfrm xmlns:a="http://schemas.openxmlformats.org/drawingml/2006/main">
            <a:off x="6286500" y="2619375"/>
            <a:ext cx="4857750" cy="495300"/>
          </a:xfrm>
          <a:prstGeom xmlns:a="http://schemas.openxmlformats.org/drawingml/2006/main" prst="roundRect">
            <a:avLst>
              <a:gd name="adj" fmla="val 15385"/>
            </a:avLst>
          </a:prstGeom>
          <a:solidFill xmlns:a="http://schemas.openxmlformats.org/drawingml/2006/main">
            <a:srgbClr val="00573F"/>
          </a:solidFill>
          <a:ln xmlns:a="http://schemas.openxmlformats.org/drawingml/2006/main" w="0">
            <a:noFill/>
          </a:ln>
        </p:spPr>
      </p:sp>
      <p:sp>
        <p:nvSpPr>
          <p:cNvPr id="25" name="native-storage-heading">
            <a:extLst xmlns:a="http://schemas.openxmlformats.org/drawingml/2006/main">
              <a:ext uri="{FF2B5EF4-FFF2-40B4-BE49-F238E27FC236}">
                <a16:creationId xmlns:a16="http://schemas.microsoft.com/office/drawing/2014/main" id="{8A972B3B-903D-40E4-84B8-89F82AC5AEBA}"/>
              </a:ext>
            </a:extLst>
          </p:cNvPr>
          <p:cNvSpPr>
            <a:spLocks xmlns:a="http://schemas.openxmlformats.org/drawingml/2006/main" noGrp="1"/>
          </p:cNvSpPr>
          <p:nvPr/>
        </p:nvSpPr>
        <p:spPr>
          <a:xfrm xmlns:a="http://schemas.openxmlformats.org/drawingml/2006/main">
            <a:off x="6534150" y="2705100"/>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ctr">
              <a:defRPr sz="1575" b="1">
                <a:solidFill>
                  <a:srgbClr val="FFFFFF"/>
                </a:solidFill>
                <a:latin typeface="Arial"/>
                <a:ea typeface="Arial"/>
                <a:cs typeface="Arial"/>
              </a:defRPr>
            </a:pPr>
            <a:r>
              <a:rPr sz="1575" b="1">
                <a:solidFill>
                  <a:srgbClr val="FFFFFF"/>
                </a:solidFill>
                <a:latin typeface="Arial"/>
                <a:ea typeface="Arial"/>
                <a:cs typeface="Arial"/>
              </a:rPr>
              <a:t>Block Volume</a:t>
            </a:r>
          </a:p>
        </p:txBody>
      </p:sp>
      <p:sp>
        <p:nvSpPr>
          <p:cNvPr id="26" name="native-storage-note">
            <a:extLst xmlns:a="http://schemas.openxmlformats.org/drawingml/2006/main">
              <a:ext uri="{FF2B5EF4-FFF2-40B4-BE49-F238E27FC236}">
                <a16:creationId xmlns:a16="http://schemas.microsoft.com/office/drawing/2014/main" id="{DCCDF71E-D4FA-45E0-964C-920D71DA19D8}"/>
              </a:ext>
            </a:extLst>
          </p:cNvPr>
          <p:cNvSpPr>
            <a:spLocks xmlns:a="http://schemas.openxmlformats.org/drawingml/2006/main" noGrp="1"/>
          </p:cNvSpPr>
          <p:nvPr/>
        </p:nvSpPr>
        <p:spPr>
          <a:xfrm xmlns:a="http://schemas.openxmlformats.org/drawingml/2006/main">
            <a:off x="6610350" y="3314700"/>
            <a:ext cx="4210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0">
                <a:solidFill>
                  <a:srgbClr val="6A716E"/>
                </a:solidFill>
                <a:latin typeface="Arial"/>
                <a:ea typeface="Arial"/>
                <a:cs typeface="Arial"/>
              </a:defRPr>
            </a:pPr>
            <a:r>
              <a:rPr sz="1050" b="0">
                <a:solidFill>
                  <a:srgbClr val="6A716E"/>
                </a:solidFill>
                <a:latin typeface="Arial"/>
                <a:ea typeface="Arial"/>
                <a:cs typeface="Arial"/>
              </a:rPr>
              <a:t>Provisioned capacity and performance</a:t>
            </a:r>
          </a:p>
        </p:txBody>
      </p:sp>
      <p:sp>
        <p:nvSpPr>
          <p:cNvPr id="27" name="editable-native-pricing-storage">
            <a:extLst xmlns:a="http://schemas.openxmlformats.org/drawingml/2006/main">
              <a:ext uri="{FF2B5EF4-FFF2-40B4-BE49-F238E27FC236}">
                <a16:creationId xmlns:a16="http://schemas.microsoft.com/office/drawing/2014/main" id="{8155D557-2FD2-4BB4-92E5-4995EF022B89}"/>
              </a:ext>
            </a:extLst>
          </p:cNvPr>
          <p:cNvSpPr>
            <a:spLocks xmlns:a="http://schemas.openxmlformats.org/drawingml/2006/main" noGrp="1"/>
          </p:cNvSpPr>
          <p:nvPr/>
        </p:nvSpPr>
        <p:spPr>
          <a:xfrm xmlns:a="http://schemas.openxmlformats.org/drawingml/2006/main">
            <a:off x="6610350" y="3705225"/>
            <a:ext cx="42100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2250" b="1">
                <a:solidFill>
                  <a:srgbClr val="00573F"/>
                </a:solidFill>
                <a:latin typeface="Arial"/>
                <a:ea typeface="Arial"/>
                <a:cs typeface="Arial"/>
              </a:defRPr>
            </a:pPr>
            <a:r>
              <a:rPr sz="2250" b="1">
                <a:solidFill>
                  <a:srgbClr val="00573F"/>
                </a:solidFill>
                <a:latin typeface="Arial"/>
                <a:ea typeface="Arial"/>
                <a:cs typeface="Arial"/>
              </a:rPr>
              <a:t>Not available</a:t>
            </a:r>
          </a:p>
        </p:txBody>
      </p:sp>
      <p:sp>
        <p:nvSpPr>
          <p:cNvPr id="28" name="native-storage-monthly-label">
            <a:extLst xmlns:a="http://schemas.openxmlformats.org/drawingml/2006/main">
              <a:ext uri="{FF2B5EF4-FFF2-40B4-BE49-F238E27FC236}">
                <a16:creationId xmlns:a16="http://schemas.microsoft.com/office/drawing/2014/main" id="{4A76E9A2-5873-4A40-9D71-AF28CBDEEDD7}"/>
              </a:ext>
            </a:extLst>
          </p:cNvPr>
          <p:cNvSpPr>
            <a:spLocks xmlns:a="http://schemas.openxmlformats.org/drawingml/2006/main" noGrp="1"/>
          </p:cNvSpPr>
          <p:nvPr/>
        </p:nvSpPr>
        <p:spPr>
          <a:xfrm xmlns:a="http://schemas.openxmlformats.org/drawingml/2006/main">
            <a:off x="6610350" y="4257675"/>
            <a:ext cx="4210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ctr">
              <a:defRPr sz="900" b="0">
                <a:solidFill>
                  <a:srgbClr val="6A716E"/>
                </a:solidFill>
                <a:latin typeface="Arial"/>
                <a:ea typeface="Arial"/>
                <a:cs typeface="Arial"/>
              </a:defRPr>
            </a:pPr>
            <a:r>
              <a:rPr sz="900" b="0">
                <a:solidFill>
                  <a:srgbClr val="6A716E"/>
                </a:solidFill>
                <a:latin typeface="Arial"/>
                <a:ea typeface="Arial"/>
                <a:cs typeface="Arial"/>
              </a:rPr>
              <a:t>Monthly cost</a:t>
            </a:r>
          </a:p>
        </p:txBody>
      </p:sp>
      <p:sp>
        <p:nvSpPr>
          <p:cNvPr id="29" name="native-pricing-total-card">
            <a:extLst xmlns:a="http://schemas.openxmlformats.org/drawingml/2006/main">
              <a:ext uri="{FF2B5EF4-FFF2-40B4-BE49-F238E27FC236}">
                <a16:creationId xmlns:a16="http://schemas.microsoft.com/office/drawing/2014/main" id="{9B15F6EE-C249-4B77-A4AB-94DE6BF4EFB8}"/>
              </a:ext>
            </a:extLst>
          </p:cNvPr>
          <p:cNvSpPr>
            <a:spLocks xmlns:a="http://schemas.openxmlformats.org/drawingml/2006/main" noGrp="1"/>
          </p:cNvSpPr>
          <p:nvPr/>
        </p:nvSpPr>
        <p:spPr>
          <a:xfrm xmlns:a="http://schemas.openxmlformats.org/drawingml/2006/main">
            <a:off x="3190875" y="5143500"/>
            <a:ext cx="5810250" cy="857250"/>
          </a:xfrm>
          <a:prstGeom xmlns:a="http://schemas.openxmlformats.org/drawingml/2006/main" prst="roundRect">
            <a:avLst>
              <a:gd name="adj" fmla="val 8889"/>
            </a:avLst>
          </a:prstGeom>
          <a:solidFill xmlns:a="http://schemas.openxmlformats.org/drawingml/2006/main">
            <a:srgbClr val="F2F8F4"/>
          </a:solidFill>
          <a:ln xmlns:a="http://schemas.openxmlformats.org/drawingml/2006/main" w="9525">
            <a:solidFill>
              <a:srgbClr val="D6DBD7"/>
            </a:solidFill>
          </a:ln>
        </p:spPr>
      </p:sp>
      <p:sp>
        <p:nvSpPr>
          <p:cNvPr id="30" name="native-pricing-total-label">
            <a:extLst xmlns:a="http://schemas.openxmlformats.org/drawingml/2006/main">
              <a:ext uri="{FF2B5EF4-FFF2-40B4-BE49-F238E27FC236}">
                <a16:creationId xmlns:a16="http://schemas.microsoft.com/office/drawing/2014/main" id="{AE30AFB6-48A5-4F63-91AA-A028F375EB6B}"/>
              </a:ext>
            </a:extLst>
          </p:cNvPr>
          <p:cNvSpPr>
            <a:spLocks xmlns:a="http://schemas.openxmlformats.org/drawingml/2006/main" noGrp="1"/>
          </p:cNvSpPr>
          <p:nvPr/>
        </p:nvSpPr>
        <p:spPr>
          <a:xfrm xmlns:a="http://schemas.openxmlformats.org/drawingml/2006/main">
            <a:off x="3429000" y="5295900"/>
            <a:ext cx="195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00573F"/>
                </a:solidFill>
                <a:latin typeface="Arial"/>
                <a:ea typeface="Arial"/>
                <a:cs typeface="Arial"/>
              </a:defRPr>
            </a:pPr>
            <a:r>
              <a:rPr sz="1275" b="1">
                <a:solidFill>
                  <a:srgbClr val="00573F"/>
                </a:solidFill>
                <a:latin typeface="Arial"/>
                <a:ea typeface="Arial"/>
                <a:cs typeface="Arial"/>
              </a:rPr>
              <a:t>Total Monthly Cost</a:t>
            </a:r>
          </a:p>
        </p:txBody>
      </p:sp>
      <p:sp>
        <p:nvSpPr>
          <p:cNvPr id="31" name="editable-native-pricing-monthly-total">
            <a:extLst xmlns:a="http://schemas.openxmlformats.org/drawingml/2006/main">
              <a:ext uri="{FF2B5EF4-FFF2-40B4-BE49-F238E27FC236}">
                <a16:creationId xmlns:a16="http://schemas.microsoft.com/office/drawing/2014/main" id="{7999754F-E853-4D32-A646-678F92AE5C5B}"/>
              </a:ext>
            </a:extLst>
          </p:cNvPr>
          <p:cNvSpPr>
            <a:spLocks xmlns:a="http://schemas.openxmlformats.org/drawingml/2006/main" noGrp="1"/>
          </p:cNvSpPr>
          <p:nvPr/>
        </p:nvSpPr>
        <p:spPr>
          <a:xfrm xmlns:a="http://schemas.openxmlformats.org/drawingml/2006/main">
            <a:off x="5762625" y="52578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424"/>
          </a:bodyPr>
          <a:lstStyle xmlns:a="http://schemas.openxmlformats.org/drawingml/2006/main"/>
          <a:p xmlns:a="http://schemas.openxmlformats.org/drawingml/2006/main">
            <a:pPr algn="r">
              <a:defRPr sz="1650" b="1">
                <a:solidFill>
                  <a:srgbClr val="00573F"/>
                </a:solidFill>
                <a:latin typeface="Arial"/>
                <a:ea typeface="Arial"/>
                <a:cs typeface="Arial"/>
              </a:defRPr>
            </a:pPr>
            <a:r>
              <a:rPr sz="1650" b="1">
                <a:solidFill>
                  <a:srgbClr val="00573F"/>
                </a:solidFill>
                <a:latin typeface="Arial"/>
                <a:ea typeface="Arial"/>
                <a:cs typeface="Arial"/>
              </a:rPr>
              <a:t>Not available</a:t>
            </a:r>
          </a:p>
        </p:txBody>
      </p:sp>
      <p:sp>
        <p:nvSpPr>
          <p:cNvPr id="32" name="native-pricing-total-divider">
            <a:extLst xmlns:a="http://schemas.openxmlformats.org/drawingml/2006/main">
              <a:ext uri="{FF2B5EF4-FFF2-40B4-BE49-F238E27FC236}">
                <a16:creationId xmlns:a16="http://schemas.microsoft.com/office/drawing/2014/main" id="{4E333AA1-BDCD-4A6A-B39B-D11647A954BA}"/>
              </a:ext>
            </a:extLst>
          </p:cNvPr>
          <p:cNvSpPr>
            <a:spLocks xmlns:a="http://schemas.openxmlformats.org/drawingml/2006/main" noGrp="1"/>
          </p:cNvSpPr>
          <p:nvPr/>
        </p:nvSpPr>
        <p:spPr>
          <a:xfrm xmlns:a="http://schemas.openxmlformats.org/drawingml/2006/main">
            <a:off x="3429000" y="5638800"/>
            <a:ext cx="4953000" cy="9525"/>
          </a:xfrm>
          <a:prstGeom xmlns:a="http://schemas.openxmlformats.org/drawingml/2006/main" prst="rect">
            <a:avLst/>
          </a:prstGeom>
          <a:solidFill xmlns:a="http://schemas.openxmlformats.org/drawingml/2006/main">
            <a:srgbClr val="D6DBD7"/>
          </a:solidFill>
          <a:ln xmlns:a="http://schemas.openxmlformats.org/drawingml/2006/main" w="9525">
            <a:solidFill>
              <a:srgbClr val="D6DBD7"/>
            </a:solidFill>
          </a:ln>
        </p:spPr>
      </p:sp>
      <p:sp>
        <p:nvSpPr>
          <p:cNvPr id="33" name="native-pricing-annual-label">
            <a:extLst xmlns:a="http://schemas.openxmlformats.org/drawingml/2006/main">
              <a:ext uri="{FF2B5EF4-FFF2-40B4-BE49-F238E27FC236}">
                <a16:creationId xmlns:a16="http://schemas.microsoft.com/office/drawing/2014/main" id="{135BD606-B495-4C4F-A359-C5177F2D92C1}"/>
              </a:ext>
            </a:extLst>
          </p:cNvPr>
          <p:cNvSpPr>
            <a:spLocks xmlns:a="http://schemas.openxmlformats.org/drawingml/2006/main" noGrp="1"/>
          </p:cNvSpPr>
          <p:nvPr/>
        </p:nvSpPr>
        <p:spPr>
          <a:xfrm xmlns:a="http://schemas.openxmlformats.org/drawingml/2006/main">
            <a:off x="3429000" y="5705475"/>
            <a:ext cx="1952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212B"/>
                </a:solidFill>
                <a:latin typeface="Arial"/>
                <a:ea typeface="Arial"/>
                <a:cs typeface="Arial"/>
              </a:defRPr>
            </a:pPr>
            <a:r>
              <a:rPr sz="1050" b="1">
                <a:solidFill>
                  <a:srgbClr val="17212B"/>
                </a:solidFill>
                <a:latin typeface="Arial"/>
                <a:ea typeface="Arial"/>
                <a:cs typeface="Arial"/>
              </a:rPr>
              <a:t>Total Annual Cost</a:t>
            </a:r>
          </a:p>
        </p:txBody>
      </p:sp>
      <p:sp>
        <p:nvSpPr>
          <p:cNvPr id="34" name="editable-native-pricing-annual-total">
            <a:extLst xmlns:a="http://schemas.openxmlformats.org/drawingml/2006/main">
              <a:ext uri="{FF2B5EF4-FFF2-40B4-BE49-F238E27FC236}">
                <a16:creationId xmlns:a16="http://schemas.microsoft.com/office/drawing/2014/main" id="{0042969A-4C20-4A7E-96E5-CFB32C48061A}"/>
              </a:ext>
            </a:extLst>
          </p:cNvPr>
          <p:cNvSpPr>
            <a:spLocks xmlns:a="http://schemas.openxmlformats.org/drawingml/2006/main" noGrp="1"/>
          </p:cNvSpPr>
          <p:nvPr/>
        </p:nvSpPr>
        <p:spPr>
          <a:xfrm xmlns:a="http://schemas.openxmlformats.org/drawingml/2006/main">
            <a:off x="5762625" y="5667375"/>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185"/>
          </a:bodyPr>
          <a:lstStyle xmlns:a="http://schemas.openxmlformats.org/drawingml/2006/main"/>
          <a:p xmlns:a="http://schemas.openxmlformats.org/drawingml/2006/main">
            <a:pPr algn="r">
              <a:defRPr sz="1350" b="1">
                <a:solidFill>
                  <a:srgbClr val="00573F"/>
                </a:solidFill>
                <a:latin typeface="Arial"/>
                <a:ea typeface="Arial"/>
                <a:cs typeface="Arial"/>
              </a:defRPr>
            </a:pPr>
            <a:r>
              <a:rPr sz="1350" b="1">
                <a:solidFill>
                  <a:srgbClr val="00573F"/>
                </a:solidFill>
                <a:latin typeface="Arial"/>
                <a:ea typeface="Arial"/>
                <a:cs typeface="Arial"/>
              </a:rPr>
              <a:t>Not available</a:t>
            </a:r>
          </a:p>
        </p:txBody>
      </p:sp>
      <p:sp>
        <p:nvSpPr>
          <p:cNvPr id="35" name="native-pricing-footer-label">
            <a:extLst xmlns:a="http://schemas.openxmlformats.org/drawingml/2006/main">
              <a:ext uri="{FF2B5EF4-FFF2-40B4-BE49-F238E27FC236}">
                <a16:creationId xmlns:a16="http://schemas.microsoft.com/office/drawing/2014/main" id="{E8851C4D-AF68-498F-B886-ED4226EB5F51}"/>
              </a:ext>
            </a:extLst>
          </p:cNvPr>
          <p:cNvSpPr>
            <a:spLocks xmlns:a="http://schemas.openxmlformats.org/drawingml/2006/main" noGrp="1"/>
          </p:cNvSpPr>
          <p:nvPr/>
        </p:nvSpPr>
        <p:spPr>
          <a:xfrm xmlns:a="http://schemas.openxmlformats.org/drawingml/2006/main">
            <a:off x="8572500" y="6534150"/>
            <a:ext cx="23812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lgn="r">
              <a:defRPr sz="675" b="0">
                <a:solidFill>
                  <a:srgbClr val="6A716E"/>
                </a:solidFill>
                <a:latin typeface="Arial"/>
                <a:ea typeface="Arial"/>
                <a:cs typeface="Arial"/>
              </a:defRPr>
            </a:pPr>
            <a:r>
              <a:rPr sz="675" b="0">
                <a:solidFill>
                  <a:srgbClr val="6A716E"/>
                </a:solidFill>
                <a:latin typeface="Arial"/>
                <a:ea typeface="Arial"/>
                <a:cs typeface="Arial"/>
              </a:rPr>
              <a:t>OCI Compute Customer Sizing</a:t>
            </a:r>
          </a:p>
        </p:txBody>
      </p:sp>
    </p:spTree>
    <p:extLst>
      <p:ext uri="{BB962C8B-B14F-4D97-AF65-F5344CB8AC3E}">
        <p14:creationId xmlns:p14="http://schemas.microsoft.com/office/powerpoint/2010/main" val="1224314841"/>
      </p:ext>
    </p:extLst>
  </p:cSld>
</p:sld>
</file>

<file path=ppt/slides/slide7.xml><?xml version="1.0" encoding="utf-8"?>
<p:sld xmlns:p="http://schemas.openxmlformats.org/presentationml/2006/main">
  <p:cSld>
    <p:bg>
      <p:bgPr>
        <a:solidFill xmlns:a="http://schemas.openxmlformats.org/drawingml/2006/main">
          <a:srgbClr val="E9E9E9"/>
        </a:solidFill>
      </p:bgPr>
    </p:bg>
    <p:spTree>
      <p:nvGrpSpPr>
        <p:cNvPr id="1" name=""/>
        <p:cNvGrpSpPr/>
        <p:nvPr/>
      </p:nvGrpSpPr>
      <p:grpSpPr>
        <a:xfrm xmlns:a="http://schemas.openxmlformats.org/drawingml/2006/main"/>
      </p:grpSpPr>
      <p:sp>
        <p:nvSpPr>
          <p:cNvPr id="4" name="Rectangle 3">
            <a:extLst xmlns:a="http://schemas.openxmlformats.org/drawingml/2006/main">
              <a:ext uri="{FF2B5EF4-FFF2-40B4-BE49-F238E27FC236}">
                <a16:creationId xmlns:a16="http://schemas.microsoft.com/office/drawing/2014/main" id="{6E3E53A5-E3BC-4534-ACFE-4693EDB11BE2}"/>
              </a:ext>
            </a:extLst>
          </p:cNvPr>
          <p:cNvSpPr>
            <a:spLocks xmlns:a="http://schemas.openxmlformats.org/drawingml/2006/main" noGrp="1"/>
          </p:cNvSpPr>
          <p:nvPr/>
        </p:nvSpPr>
        <p:spPr>
          <a:xfrm xmlns:a="http://schemas.openxmlformats.org/drawingml/2006/main">
            <a:off x="66675" y="85725"/>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5000"/>
              </a:lnSpc>
              <a:buNone/>
              <a:defRPr sz="900" b="0" i="0">
                <a:solidFill>
                  <a:srgbClr val="777777"/>
                </a:solidFill>
                <a:latin typeface="Arial"/>
                <a:ea typeface="Arial"/>
                <a:cs typeface="Arial"/>
              </a:defRPr>
            </a:pPr>
            <a:r>
              <a:rPr sz="900" b="0" i="0">
                <a:solidFill>
                  <a:srgbClr val="777777"/>
                </a:solidFill>
                <a:latin typeface="Arial"/>
                <a:ea typeface="Arial"/>
                <a:cs typeface="Arial"/>
              </a:rPr>
              <a:t>Confidential - Oracle Restricted \Employees</a:t>
            </a:r>
          </a:p>
          <a:p xmlns:a="http://schemas.openxmlformats.org/drawingml/2006/main">
            <a:pPr algn="l">
              <a:lnSpc>
                <a:spcPct val="115000"/>
              </a:lnSpc>
              <a:buNone/>
              <a:defRPr sz="900" b="0" i="0">
                <a:solidFill>
                  <a:srgbClr val="777777"/>
                </a:solidFill>
                <a:latin typeface="Arial"/>
                <a:ea typeface="Arial"/>
                <a:cs typeface="Arial"/>
              </a:defRPr>
            </a:pPr>
            <a:r>
              <a:rPr sz="900" b="0" i="0">
                <a:solidFill>
                  <a:srgbClr val="777777"/>
                </a:solidFill>
                <a:latin typeface="Arial"/>
                <a:ea typeface="Arial"/>
                <a:cs typeface="Arial"/>
              </a:rPr>
              <a:t>Only</a:t>
            </a:r>
          </a:p>
        </p:txBody>
      </p:sp>
      <p:pic>
        <p:nvPicPr>
          <p:cNvPr id="7" name="Picture 4"/>
          <p:cNvPicPr>
            <a:picLocks xmlns:a="http://schemas.openxmlformats.org/drawingml/2006/main" noChangeAspect="1"/>
          </p:cNvPicPr>
          <p:nvPr/>
        </p:nvPicPr>
        <p:blipFill>
          <a:blip xmlns:r="http://schemas.openxmlformats.org/officeDocument/2006/relationships" xmlns:a="http://schemas.openxmlformats.org/drawingml/2006/main" r:embed="R1b484fac354340e9"/>
          <a:stretch xmlns:a="http://schemas.openxmlformats.org/drawingml/2006/main"/>
        </p:blipFill>
        <p:spPr>
          <a:xfrm xmlns:a="http://schemas.openxmlformats.org/drawingml/2006/main">
            <a:off x="4171950" y="3095625"/>
            <a:ext cx="3848100" cy="609600"/>
          </a:xfrm>
          <a:prstGeom xmlns:a="http://schemas.openxmlformats.org/drawingml/2006/main" prst="rect">
            <a:avLst/>
          </a:prstGeom>
        </p:spPr>
      </p:pic>
      <p:sp>
        <p:nvSpPr>
          <p:cNvPr id="3" name="Rectangle 2">
            <a:extLst xmlns:a="http://schemas.openxmlformats.org/drawingml/2006/main">
              <a:ext uri="{FF2B5EF4-FFF2-40B4-BE49-F238E27FC236}">
                <a16:creationId xmlns:a16="http://schemas.microsoft.com/office/drawing/2014/main" id="{9D65AD44-E8D2-4785-A563-E45C5806CEB9}"/>
              </a:ext>
            </a:extLst>
          </p:cNvPr>
          <p:cNvSpPr>
            <a:spLocks xmlns:a="http://schemas.openxmlformats.org/drawingml/2006/main" noGrp="1"/>
          </p:cNvSpPr>
          <p:nvPr/>
        </p:nvSpPr>
        <p:spPr>
          <a:xfrm xmlns:a="http://schemas.openxmlformats.org/drawingml/2006/main">
            <a:off x="66675" y="664845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5000"/>
              </a:lnSpc>
              <a:buNone/>
              <a:defRPr sz="900" b="0" i="0">
                <a:solidFill>
                  <a:srgbClr val="777777"/>
                </a:solidFill>
                <a:latin typeface="Arial"/>
                <a:ea typeface="Arial"/>
                <a:cs typeface="Arial"/>
              </a:defRPr>
            </a:pPr>
            <a:r>
              <a:rPr sz="900" b="0" i="0">
                <a:solidFill>
                  <a:srgbClr val="777777"/>
                </a:solidFill>
                <a:latin typeface="Arial"/>
                <a:ea typeface="Arial"/>
                <a:cs typeface="Arial"/>
              </a:rPr>
              <a:t>Confidential - Oracle Restricted \Employees</a:t>
            </a:r>
          </a:p>
          <a:p xmlns:a="http://schemas.openxmlformats.org/drawingml/2006/main">
            <a:pPr algn="l">
              <a:lnSpc>
                <a:spcPct val="115000"/>
              </a:lnSpc>
              <a:buNone/>
              <a:defRPr sz="900" b="0" i="0">
                <a:solidFill>
                  <a:srgbClr val="777777"/>
                </a:solidFill>
                <a:latin typeface="Arial"/>
                <a:ea typeface="Arial"/>
                <a:cs typeface="Arial"/>
              </a:defRPr>
            </a:pPr>
            <a:r>
              <a:rPr sz="900" b="0" i="0">
                <a:solidFill>
                  <a:srgbClr val="777777"/>
                </a:solidFill>
                <a:latin typeface="Arial"/>
                <a:ea typeface="Arial"/>
                <a:cs typeface="Arial"/>
              </a:rPr>
              <a:t>Only</a:t>
            </a:r>
          </a:p>
        </p:txBody>
      </p:sp>
    </p:spTree>
    <p:extLst>
      <p:ext uri="{BB962C8B-B14F-4D97-AF65-F5344CB8AC3E}">
        <p14:creationId xmlns:p14="http://schemas.microsoft.com/office/powerpoint/2010/main" val="15454136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2026-09-06T17:51:27.7520000Z</dcterms:created>
  <dcterms:modified xsi:type="dcterms:W3CDTF">2026-09-06T17:51:27.7520000Z</dcterms:modified>
</coreProperties>
</file>