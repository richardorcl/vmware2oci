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3a57abb474c1f" /><Relationship Type="http://schemas.openxmlformats.org/officeDocument/2006/relationships/extended-properties" Target="/docProps/app.xml" Id="Rf5a25b3a5f31410a" /><Relationship Type="http://schemas.openxmlformats.org/officeDocument/2006/relationships/officeDocument" Target="/ppt/presentation.xml" Id="R1b95b89f2b63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ab45841694e24"/>
  </p:sldMasterIdLst>
  <p:notesMasterIdLst>
    <p:notesMasterId xmlns:r="http://schemas.openxmlformats.org/officeDocument/2006/relationships" r:id="Rec41d25bc7714caa"/>
  </p:notesMasterIdLst>
  <p:sldIdLst>
    <p:sldId xmlns:r="http://schemas.openxmlformats.org/officeDocument/2006/relationships" id="256" r:id="R7e60ccbe7bd542d2"/>
    <p:sldId xmlns:r="http://schemas.openxmlformats.org/officeDocument/2006/relationships" id="257" r:id="Rc8c4cd3df2694ca7"/>
    <p:sldId xmlns:r="http://schemas.openxmlformats.org/officeDocument/2006/relationships" id="258" r:id="R0c2b62062e684c34"/>
    <p:sldId xmlns:r="http://schemas.openxmlformats.org/officeDocument/2006/relationships" id="259" r:id="Re2bd654196654e4e"/>
    <p:sldId xmlns:r="http://schemas.openxmlformats.org/officeDocument/2006/relationships" id="260" r:id="R029cdd3512e94cfd"/>
    <p:sldId xmlns:r="http://schemas.openxmlformats.org/officeDocument/2006/relationships" id="261" r:id="Re498e57bc1294404"/>
    <p:sldId xmlns:r="http://schemas.openxmlformats.org/officeDocument/2006/relationships" id="262" r:id="R0590afb3629947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79106c5004270" /><Relationship Type="http://schemas.openxmlformats.org/officeDocument/2006/relationships/slideMaster" Target="/ppt/slideMasters/slideMaster1.xml" Id="R7abab45841694e24" /><Relationship Type="http://schemas.openxmlformats.org/officeDocument/2006/relationships/notesMaster" Target="/ppt/notesMasters/notesMaster1.xml" Id="Rec41d25bc7714caa" /><Relationship Type="http://schemas.openxmlformats.org/officeDocument/2006/relationships/presProps" Target="/ppt/presProps.xml" Id="Ra01052ff16174001" /><Relationship Type="http://schemas.openxmlformats.org/officeDocument/2006/relationships/viewProps" Target="/ppt/viewProps.xml" Id="Rfbc343e111bf4ea0" /><Relationship Type="http://schemas.openxmlformats.org/officeDocument/2006/relationships/tableStyles" Target="/ppt/tableStyles.xml" Id="Rd76b3992ab694b87" /><Relationship Type="http://schemas.openxmlformats.org/officeDocument/2006/relationships/slide" Target="/ppt/slides/slide1.xml" Id="R7e60ccbe7bd542d2" /><Relationship Type="http://schemas.openxmlformats.org/officeDocument/2006/relationships/slide" Target="/ppt/slides/slide2.xml" Id="Rc8c4cd3df2694ca7" /><Relationship Type="http://schemas.openxmlformats.org/officeDocument/2006/relationships/slide" Target="/ppt/slides/slide3.xml" Id="R0c2b62062e684c34" /><Relationship Type="http://schemas.openxmlformats.org/officeDocument/2006/relationships/slide" Target="/ppt/slides/slide4.xml" Id="Re2bd654196654e4e" /><Relationship Type="http://schemas.openxmlformats.org/officeDocument/2006/relationships/slide" Target="/ppt/slides/slide5.xml" Id="R029cdd3512e94cfd" /><Relationship Type="http://schemas.openxmlformats.org/officeDocument/2006/relationships/slide" Target="/ppt/slides/slide6.xml" Id="Re498e57bc1294404" /><Relationship Type="http://schemas.openxmlformats.org/officeDocument/2006/relationships/slide" Target="/ppt/slides/slide7.xml" Id="R0590afb36299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55d51c19e5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374be4eef4b86" /><Relationship Type="http://schemas.openxmlformats.org/officeDocument/2006/relationships/notesMaster" Target="/ppt/notesMasters/notesMaster1.xml" Id="Rb2f4db09ee4c4d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0bbdb27274434" /><Relationship Type="http://schemas.openxmlformats.org/officeDocument/2006/relationships/notesMaster" Target="/ppt/notesMasters/notesMaster1.xml" Id="R02d00155428b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6282ebc504a89" /><Relationship Type="http://schemas.openxmlformats.org/officeDocument/2006/relationships/notesMaster" Target="/ppt/notesMasters/notesMaster1.xml" Id="Rba6afde0fbba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7e81d62b74dd8" /><Relationship Type="http://schemas.openxmlformats.org/officeDocument/2006/relationships/notesMaster" Target="/ppt/notesMasters/notesMaster1.xml" Id="R0f4508c24786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218d5cce84361" /><Relationship Type="http://schemas.openxmlformats.org/officeDocument/2006/relationships/notesMaster" Target="/ppt/notesMasters/notesMaster1.xml" Id="R32c3bab3cacb43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f51a02d42946ea" /><Relationship Type="http://schemas.openxmlformats.org/officeDocument/2006/relationships/notesMaster" Target="/ppt/notesMasters/notesMaster1.xml" Id="R3cdc2805b29141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876be3b834d0e" /><Relationship Type="http://schemas.openxmlformats.org/officeDocument/2006/relationships/notesMaster" Target="/ppt/notesMasters/notesMaster1.xml" Id="R1f35d143fb18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1 of the provided PowerPoint. Oracle logo, Oracle mark, row icons, and the right-side Oracle Cloud VMware Solution illustration are kept as cropped image assets from the source. Visible title, sizing label, and customer/date/prepared-by text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user-provided Disaster Recovery.pptx, slide 2. The source slide was a flattened image; titles, captions, cards, arrows, separators, DR-site labels, bullet text, business-outcome copy and the bottom callout are recreated as editable PowerPoint objects. Oracle/OCI logo, third-party product logos, and all icons are retained as cropped image assets from the provided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4 of the provided PowerPoint. Oracle logo is kept as a cropped image asset from the source; confidentiality labels and grey background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652fa8cd249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1d9eb1458e459f" /><Relationship Type="http://schemas.openxmlformats.org/officeDocument/2006/relationships/slideLayout" Target="/ppt/slideLayouts/slideLayout1.xml" Id="R662fd27a950748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E27275-3E7C-0B92-4033-5280BB7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44BAD1-7E3A-370A-BA5D-BB7C310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421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fd27a950748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9f895096b4578" /><Relationship Type="http://schemas.openxmlformats.org/officeDocument/2006/relationships/image" Target="/ppt/media/image.png" Id="R39b4d306bd5b49a4" /><Relationship Type="http://schemas.openxmlformats.org/officeDocument/2006/relationships/image" Target="/ppt/media/image2.png" Id="R8696d86e2b054481" /><Relationship Type="http://schemas.openxmlformats.org/officeDocument/2006/relationships/image" Target="/ppt/media/image3.png" Id="R5585e16083da4ec6" /><Relationship Type="http://schemas.openxmlformats.org/officeDocument/2006/relationships/image" Target="/ppt/media/image4.png" Id="R458c380069bd48b5" /><Relationship Type="http://schemas.openxmlformats.org/officeDocument/2006/relationships/image" Target="/ppt/media/image5.png" Id="R07b211ffee4542ca" /><Relationship Type="http://schemas.openxmlformats.org/officeDocument/2006/relationships/image" Target="/ppt/media/image6.png" Id="R5606bfa66fc14176" /><Relationship Type="http://schemas.openxmlformats.org/officeDocument/2006/relationships/notesSlide" Target="/ppt/notesSlides/notesSlide1.xml" Id="R46dcff9d8338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35e6684db4e12" /><Relationship Type="http://schemas.openxmlformats.org/officeDocument/2006/relationships/image" Target="/ppt/media/image7.png" Id="R9e7cedfc0c7a4fef" /><Relationship Type="http://schemas.openxmlformats.org/officeDocument/2006/relationships/image" Target="/ppt/media/image8.png" Id="Re6e19e80bc994bca" /><Relationship Type="http://schemas.openxmlformats.org/officeDocument/2006/relationships/image" Target="/ppt/media/image9.png" Id="R57cf8946acc14785" /><Relationship Type="http://schemas.openxmlformats.org/officeDocument/2006/relationships/image" Target="/ppt/media/image10.png" Id="R4f6decb3e1b54b38" /><Relationship Type="http://schemas.openxmlformats.org/officeDocument/2006/relationships/image" Target="/ppt/media/image11.png" Id="R2e1552b303ac4f1f" /><Relationship Type="http://schemas.openxmlformats.org/officeDocument/2006/relationships/image" Target="/ppt/media/image12.png" Id="R56ef842e5b6a45bc" /><Relationship Type="http://schemas.openxmlformats.org/officeDocument/2006/relationships/image" Target="/ppt/media/image13.png" Id="R55e378941d444da3" /><Relationship Type="http://schemas.openxmlformats.org/officeDocument/2006/relationships/image" Target="/ppt/media/image14.png" Id="R67b2368a9432490a" /><Relationship Type="http://schemas.openxmlformats.org/officeDocument/2006/relationships/image" Target="/ppt/media/image15.png" Id="Raf17c65050b04ff7" /><Relationship Type="http://schemas.openxmlformats.org/officeDocument/2006/relationships/image" Target="/ppt/media/image16.png" Id="R565e776998ff4e0c" /><Relationship Type="http://schemas.openxmlformats.org/officeDocument/2006/relationships/image" Target="/ppt/media/image17.png" Id="Rd337e163eef24b39" /><Relationship Type="http://schemas.openxmlformats.org/officeDocument/2006/relationships/image" Target="/ppt/media/image18.png" Id="R1e427c4d697e439c" /><Relationship Type="http://schemas.openxmlformats.org/officeDocument/2006/relationships/image" Target="/ppt/media/image19.png" Id="Rc71ea68117d84f28" /><Relationship Type="http://schemas.openxmlformats.org/officeDocument/2006/relationships/image" Target="/ppt/media/image20.png" Id="R9c8d988d558d41d1" /><Relationship Type="http://schemas.openxmlformats.org/officeDocument/2006/relationships/image" Target="/ppt/media/image21.png" Id="R5d22ef98792746b7" /><Relationship Type="http://schemas.openxmlformats.org/officeDocument/2006/relationships/image" Target="/ppt/media/image22.png" Id="R2c205933c0124a3c" /><Relationship Type="http://schemas.openxmlformats.org/officeDocument/2006/relationships/image" Target="/ppt/media/image23.png" Id="R6ccd7147cb244a9a" /><Relationship Type="http://schemas.openxmlformats.org/officeDocument/2006/relationships/image" Target="/ppt/media/image24.png" Id="R594a6d1393a24d7c" /><Relationship Type="http://schemas.openxmlformats.org/officeDocument/2006/relationships/image" Target="/ppt/media/image25.png" Id="R5e69950ca48c481e" /><Relationship Type="http://schemas.openxmlformats.org/officeDocument/2006/relationships/image" Target="/ppt/media/image26.png" Id="R0817ddc32c434392" /><Relationship Type="http://schemas.openxmlformats.org/officeDocument/2006/relationships/image" Target="/ppt/media/image27.png" Id="R70c0ff57c808498c" /><Relationship Type="http://schemas.openxmlformats.org/officeDocument/2006/relationships/image" Target="/ppt/media/image28.png" Id="R4060bf9ff2b3496a" /><Relationship Type="http://schemas.openxmlformats.org/officeDocument/2006/relationships/image" Target="/ppt/media/image29.png" Id="Ra40308e5a9724d9d" /><Relationship Type="http://schemas.openxmlformats.org/officeDocument/2006/relationships/image" Target="/ppt/media/image30.png" Id="Raf751ed572554c74" /><Relationship Type="http://schemas.openxmlformats.org/officeDocument/2006/relationships/image" Target="/ppt/media/image31.png" Id="R7ce7efed566b4cd4" /><Relationship Type="http://schemas.openxmlformats.org/officeDocument/2006/relationships/image" Target="/ppt/media/image32.png" Id="R50710e10234c41c1" /><Relationship Type="http://schemas.openxmlformats.org/officeDocument/2006/relationships/image" Target="/ppt/media/image33.png" Id="Rb1482b936dc54f2a" /><Relationship Type="http://schemas.openxmlformats.org/officeDocument/2006/relationships/notesSlide" Target="/ppt/notesSlides/notesSlide2.xml" Id="Ra11e4536fc47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f55c8dcb4582" /><Relationship Type="http://schemas.openxmlformats.org/officeDocument/2006/relationships/image" Target="/ppt/media/image34.png" Id="R700d4010b1c94c36" /><Relationship Type="http://schemas.openxmlformats.org/officeDocument/2006/relationships/image" Target="/ppt/media/image35.png" Id="R7c9ab4a177e646e6" /><Relationship Type="http://schemas.openxmlformats.org/officeDocument/2006/relationships/notesSlide" Target="/ppt/notesSlides/notesSlide3.xml" Id="Rf5e96bf4d620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0e8c437e04e94" /><Relationship Type="http://schemas.openxmlformats.org/officeDocument/2006/relationships/image" Target="/ppt/media/image36.png" Id="R90a134d89d8d4095" /><Relationship Type="http://schemas.openxmlformats.org/officeDocument/2006/relationships/image" Target="/ppt/media/image37.png" Id="Rb22ca67638394c4b" /><Relationship Type="http://schemas.openxmlformats.org/officeDocument/2006/relationships/image" Target="/ppt/media/image38.png" Id="Rc725a610f9a6417f" /><Relationship Type="http://schemas.openxmlformats.org/officeDocument/2006/relationships/image" Target="/ppt/media/image39.png" Id="Rc27a24cf5d1f47e5" /><Relationship Type="http://schemas.openxmlformats.org/officeDocument/2006/relationships/image" Target="/ppt/media/image40.png" Id="Reb0ff283885448e3" /><Relationship Type="http://schemas.openxmlformats.org/officeDocument/2006/relationships/image" Target="/ppt/media/image41.png" Id="R520556262ad74b06" /><Relationship Type="http://schemas.openxmlformats.org/officeDocument/2006/relationships/image" Target="/ppt/media/image42.png" Id="R51f4e3db2dad4257" /><Relationship Type="http://schemas.openxmlformats.org/officeDocument/2006/relationships/image" Target="/ppt/media/image43.png" Id="R3fe2a77a5039484f" /><Relationship Type="http://schemas.openxmlformats.org/officeDocument/2006/relationships/image" Target="/ppt/media/image44.png" Id="R4ce80e80e630481c" /><Relationship Type="http://schemas.openxmlformats.org/officeDocument/2006/relationships/notesSlide" Target="/ppt/notesSlides/notesSlide4.xml" Id="R2d92a1a371b4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76ee2be27498f" /><Relationship Type="http://schemas.openxmlformats.org/officeDocument/2006/relationships/image" Target="/ppt/media/image45.png" Id="Rfa91ed139f91422c" /><Relationship Type="http://schemas.openxmlformats.org/officeDocument/2006/relationships/image" Target="/ppt/media/image46.png" Id="R2bd2cc328e5a4c32" /><Relationship Type="http://schemas.openxmlformats.org/officeDocument/2006/relationships/notesSlide" Target="/ppt/notesSlides/notesSlide5.xml" Id="R2d7810fc481e40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dcc7c4ca841a4" /><Relationship Type="http://schemas.openxmlformats.org/officeDocument/2006/relationships/image" Target="/ppt/media/image47.png" Id="R9a26789eacf547d6" /><Relationship Type="http://schemas.openxmlformats.org/officeDocument/2006/relationships/image" Target="/ppt/media/image48.png" Id="R3a994571cdbd4cb8" /><Relationship Type="http://schemas.openxmlformats.org/officeDocument/2006/relationships/notesSlide" Target="/ppt/notesSlides/notesSlide6.xml" Id="Rd5f0b1580bed43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5aa564a0346cb" /><Relationship Type="http://schemas.openxmlformats.org/officeDocument/2006/relationships/image" Target="/ppt/media/image49.png" Id="R7d05f9e09fd64daa" /><Relationship Type="http://schemas.openxmlformats.org/officeDocument/2006/relationships/notesSlide" Target="/ppt/notesSlides/notesSlide7.xml" Id="R0e00093f780d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696C5B5-BCFA-4425-B931-C6A2F4C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75AA658-C774-489C-98AA-71460C4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F6E5068-3122-4247-9AB7-38EBFA2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F01C8E-6137-4231-8D77-A754E49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10343F5-2252-4F30-81D6-73B3376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6BA590D-5274-475F-AEBD-A987F5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F11CAD1-90ED-4491-A3BE-A83AEE7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7FB2515-F71F-4A18-8796-33CCAB4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381125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52F6077-993B-4744-8476-4A5DEA1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2952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d306bd5b49a4"/>
          <a:stretch xmlns:a="http://schemas.openxmlformats.org/drawingml/2006/main"/>
        </p:blipFill>
        <p:spPr>
          <a:xfrm xmlns:a="http://schemas.openxmlformats.org/drawingml/2006/main">
            <a:off x="333375" y="295275"/>
            <a:ext cx="2152650" cy="704850"/>
          </a:xfrm>
          <a:prstGeom xmlns:a="http://schemas.openxmlformats.org/drawingml/2006/main" prst="rect">
            <a:avLst/>
          </a:prstGeom>
        </p:spPr>
      </p:pic>
      <p:pic>
        <p:nvPicPr>
          <p:cNvPr id="4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6d86e2b054481"/>
          <a:stretch xmlns:a="http://schemas.openxmlformats.org/drawingml/2006/main"/>
        </p:blipFill>
        <p:spPr>
          <a:xfrm xmlns:a="http://schemas.openxmlformats.org/drawingml/2006/main">
            <a:off x="6096000" y="476250"/>
            <a:ext cx="552450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18B706-8D3E-4081-9607-FAFE11C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33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3ED40B-2727-41E5-9FA9-6767E0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Solution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D35AF-65D4-4A89-A0BA-2543259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C6015-522F-4A3D-A984-81E7C71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51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5e16083da4ec6"/>
          <a:stretch xmlns:a="http://schemas.openxmlformats.org/drawingml/2006/main"/>
        </p:blipFill>
        <p:spPr>
          <a:xfrm xmlns:a="http://schemas.openxmlformats.org/drawingml/2006/main">
            <a:off x="409575" y="4514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766A464C-B41C-4A32-B41D-BFAE1B3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4955B22-66CD-4132-A773-8F5CF23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BE76D494-55F5-4B36-BA24-6D15C41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5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c380069bd48b5"/>
          <a:stretch xmlns:a="http://schemas.openxmlformats.org/drawingml/2006/main"/>
        </p:blipFill>
        <p:spPr>
          <a:xfrm xmlns:a="http://schemas.openxmlformats.org/drawingml/2006/main">
            <a:off x="409575" y="5133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C0F680F-8892-4F5E-9A05-8BE56B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2916E2-4478-4F86-A366-DBB47E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3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DD2D484A-CE83-4CF9-B570-03AA9C51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57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9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211ffee4542ca"/>
          <a:stretch xmlns:a="http://schemas.openxmlformats.org/drawingml/2006/main"/>
        </p:blipFill>
        <p:spPr>
          <a:xfrm xmlns:a="http://schemas.openxmlformats.org/drawingml/2006/main">
            <a:off x="409575" y="57531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B3390FB1-CD6B-41FD-9B09-6D59830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30C77E-C4B2-416C-9770-1B40B59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A52625-B2E2-4958-9002-F06DCF4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3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bfa66fc14176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56FCBF68-CAA2-45CB-8207-B4E43DF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0F3D6DD-6291-40F6-9BCB-3A4B2C8E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289F1B1-948D-4460-81A3-77577CD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3F06FF9-48BA-4281-A0E8-F149DE4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5730687-2D75-40B4-9655-64B2A3B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A2F2A46-9BF8-45E1-8BAF-62F0788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CBFC9DD0-865D-4BEF-AD66-93056BE1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334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665D1A-4623-4CF9-A20C-68CDF4C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5275"/>
            <a:ext cx="795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Disaster recovery with Oracle Cloud VMware Solution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9F218F-13FB-4BC0-8923-1FE366F8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001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88FE9F-F4BC-49FB-AA7D-E3404E80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001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Create a reliable DR environment in the cloud to ensure business continuity and resilience.</a:t>
            </a:r>
          </a:p>
        </p:txBody>
      </p:sp>
      <p:pic>
        <p:nvPicPr>
          <p:cNvPr id="157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cedfc0c7a4fef"/>
          <a:stretch xmlns:a="http://schemas.openxmlformats.org/drawingml/2006/main"/>
        </p:blipFill>
        <p:spPr>
          <a:xfrm xmlns:a="http://schemas.openxmlformats.org/drawingml/2006/main">
            <a:off x="9239250" y="410680"/>
            <a:ext cx="2647950" cy="312116"/>
          </a:xfrm>
          <a:prstGeom xmlns:a="http://schemas.openxmlformats.org/drawingml/2006/main" prst="rect">
            <a:avLst/>
          </a:prstGeom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6F4932-AB24-481B-95D0-E3179D3F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00175"/>
            <a:ext cx="957262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A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9" name="Picture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19e80bc994bca"/>
          <a:stretch xmlns:a="http://schemas.openxmlformats.org/drawingml/2006/main"/>
        </p:blipFill>
        <p:spPr>
          <a:xfrm xmlns:a="http://schemas.openxmlformats.org/drawingml/2006/main">
            <a:off x="542925" y="1595438"/>
            <a:ext cx="400050" cy="371475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5B05A7-8CAC-4DA1-AF73-A5CF6A8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continuity for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mission-critical applications</a:t>
            </a:r>
          </a:p>
        </p:txBody>
      </p:sp>
      <p:pic>
        <p:nvPicPr>
          <p:cNvPr id="161" name="Picture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f8946acc14785"/>
          <a:stretch xmlns:a="http://schemas.openxmlformats.org/drawingml/2006/main"/>
        </p:blipFill>
        <p:spPr>
          <a:xfrm xmlns:a="http://schemas.openxmlformats.org/drawingml/2006/main">
            <a:off x="3009900" y="1603375"/>
            <a:ext cx="400050" cy="355600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18FC33-3E60-40C1-A9CC-8A11633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2877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 systems without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disruption</a:t>
            </a:r>
          </a:p>
        </p:txBody>
      </p:sp>
      <p:pic>
        <p:nvPicPr>
          <p:cNvPr id="163" name="Picture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decb3e1b54b38"/>
          <a:stretch xmlns:a="http://schemas.openxmlformats.org/drawingml/2006/main"/>
        </p:blipFill>
        <p:spPr>
          <a:xfrm xmlns:a="http://schemas.openxmlformats.org/drawingml/2006/main">
            <a:off x="5448300" y="1590242"/>
            <a:ext cx="400050" cy="381866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A86944C-D13A-4B24-B4A7-3B4B8B6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2877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Ensure recovery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corruption &amp; cyberattacks</a:t>
            </a:r>
          </a:p>
        </p:txBody>
      </p:sp>
      <p:pic>
        <p:nvPicPr>
          <p:cNvPr id="165" name="Picture 1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552b303ac4f1f"/>
          <a:stretch xmlns:a="http://schemas.openxmlformats.org/drawingml/2006/main"/>
        </p:blipFill>
        <p:spPr>
          <a:xfrm xmlns:a="http://schemas.openxmlformats.org/drawingml/2006/main">
            <a:off x="7972425" y="1594788"/>
            <a:ext cx="400050" cy="372774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20C0DCF-D439-4048-8F9A-835D677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2877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defined RTO &amp; RPO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backups &amp; restores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41E699D-0E10-41F2-A6D0-918E054E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55257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AA3C1E6A-3277-45AB-9BB2-56CC633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5257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E09B376-0D97-4413-916B-C1F5FF0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5257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7253317-CAEC-48A1-8F7C-20ADFAC3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762250" cy="33337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459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FBE006E-8463-4626-AB6C-3C70879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76225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B2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FB030EF-3D58-47DB-A6BD-CE579811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6FDDD9C-FB20-4D4F-B0A9-E0A322A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ON-PREMISES PRIMARY SITE</a:t>
            </a:r>
          </a:p>
        </p:txBody>
      </p:sp>
      <p:pic>
        <p:nvPicPr>
          <p:cNvPr id="174" name="Picture 1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f842e5b6a45bc"/>
          <a:stretch xmlns:a="http://schemas.openxmlformats.org/drawingml/2006/main"/>
        </p:blipFill>
        <p:spPr>
          <a:xfrm xmlns:a="http://schemas.openxmlformats.org/drawingml/2006/main">
            <a:off x="504825" y="2905125"/>
            <a:ext cx="333375" cy="457200"/>
          </a:xfrm>
          <a:prstGeom xmlns:a="http://schemas.openxmlformats.org/drawingml/2006/main" prst="rect">
            <a:avLst/>
          </a:prstGeom>
        </p:spPr>
      </p:pic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015D1C53-1480-406E-95A5-3F548E01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295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AC5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5F5758E-8241-416E-9235-D3365C8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00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8E3B7C8C-5401-4836-B7F1-F7215B7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71800"/>
            <a:ext cx="295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AC5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4D7B0E1-6573-4B2D-AA61-FBDF21A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000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1B2D86F-2090-4613-9A64-609220E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71800"/>
            <a:ext cx="295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AC5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9BC1A62C-94B4-4D63-95EC-FA8D88A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2000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ED1F153-145B-4E46-B081-D559AD3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67050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C10885AF-7600-40AB-9466-621230D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71800"/>
            <a:ext cx="2952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AC5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01619FC-A122-4911-A981-A20D4D07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48000"/>
            <a:ext cx="2000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pic>
        <p:nvPicPr>
          <p:cNvPr id="184" name="Picture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378941d444da3"/>
          <a:stretch xmlns:a="http://schemas.openxmlformats.org/drawingml/2006/main"/>
        </p:blipFill>
        <p:spPr>
          <a:xfrm xmlns:a="http://schemas.openxmlformats.org/drawingml/2006/main">
            <a:off x="2719388" y="2981325"/>
            <a:ext cx="247650" cy="381000"/>
          </a:xfrm>
          <a:prstGeom xmlns:a="http://schemas.openxmlformats.org/drawingml/2006/main" prst="rect">
            <a:avLst/>
          </a:prstGeom>
        </p:spPr>
      </p:pic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6A4C0DD-5324-4975-84C9-42D699D7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5757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0B2B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B78"/>
                </a:solidFill>
                <a:latin typeface="Arial"/>
                <a:ea typeface="Arial"/>
                <a:cs typeface="Arial"/>
              </a:rPr>
              <a:t>Your Existing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0B2B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B78"/>
                </a:solidFill>
                <a:latin typeface="Arial"/>
                <a:ea typeface="Arial"/>
                <a:cs typeface="Arial"/>
              </a:rPr>
              <a:t>VMware Environment</a:t>
            </a:r>
          </a:p>
        </p:txBody>
      </p:sp>
      <p:sp>
        <p:nvSpPr>
          <p:cNvPr id="40" name="Straight Connector 39">
            <a:extLst xmlns:a="http://schemas.openxmlformats.org/drawingml/2006/main">
              <a:ext uri="{FF2B5EF4-FFF2-40B4-BE49-F238E27FC236}">
                <a16:creationId xmlns:a16="http://schemas.microsoft.com/office/drawing/2014/main" id="{1E88FD78-23FD-4569-842E-4DC9FE17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7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2368a9432490a"/>
          <a:stretch xmlns:a="http://schemas.openxmlformats.org/drawingml/2006/main"/>
        </p:blipFill>
        <p:spPr>
          <a:xfrm xmlns:a="http://schemas.openxmlformats.org/drawingml/2006/main">
            <a:off x="519113" y="4114800"/>
            <a:ext cx="228600" cy="238125"/>
          </a:xfrm>
          <a:prstGeom xmlns:a="http://schemas.openxmlformats.org/drawingml/2006/main" prst="rect">
            <a:avLst/>
          </a:prstGeom>
        </p:spPr>
      </p:pic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13622D2-8D66-42A6-A992-14BD39BC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Production workloads</a:t>
            </a:r>
          </a:p>
        </p:txBody>
      </p:sp>
      <p:pic>
        <p:nvPicPr>
          <p:cNvPr id="189" name="Picture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7c65050b04ff7"/>
          <a:stretch xmlns:a="http://schemas.openxmlformats.org/drawingml/2006/main"/>
        </p:blipFill>
        <p:spPr>
          <a:xfrm xmlns:a="http://schemas.openxmlformats.org/drawingml/2006/main">
            <a:off x="523509" y="4448175"/>
            <a:ext cx="219808" cy="238125"/>
          </a:xfrm>
          <a:prstGeom xmlns:a="http://schemas.openxmlformats.org/drawingml/2006/main" prst="rect">
            <a:avLst/>
          </a:prstGeom>
        </p:spPr>
      </p:pic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9A9ECA42-27F7-45FB-AE5F-6ECE73D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Critical business applications</a:t>
            </a:r>
          </a:p>
        </p:txBody>
      </p:sp>
      <p:pic>
        <p:nvPicPr>
          <p:cNvPr id="191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e776998ff4e0c"/>
          <a:stretch xmlns:a="http://schemas.openxmlformats.org/drawingml/2006/main"/>
        </p:blipFill>
        <p:spPr>
          <a:xfrm xmlns:a="http://schemas.openxmlformats.org/drawingml/2006/main">
            <a:off x="514350" y="47910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40F552E1-9799-43B7-9524-BA39905F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Users &amp; business operations</a:t>
            </a:r>
          </a:p>
        </p:txBody>
      </p:sp>
      <p:pic>
        <p:nvPicPr>
          <p:cNvPr id="193" name="Picture 1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7e163eef24b39"/>
          <a:stretch xmlns:a="http://schemas.openxmlformats.org/drawingml/2006/main"/>
        </p:blipFill>
        <p:spPr>
          <a:xfrm xmlns:a="http://schemas.openxmlformats.org/drawingml/2006/main">
            <a:off x="514350" y="51435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4F7F2423-F15C-468B-A5B7-0A1A72D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 risk from outages, disasters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 cyber incidents</a:t>
            </a:r>
          </a:p>
        </p:txBody>
      </p:sp>
      <p:sp>
        <p:nvSpPr>
          <p:cNvPr id="49" name="Right Arrow 48">
            <a:extLst xmlns:a="http://schemas.openxmlformats.org/drawingml/2006/main">
              <a:ext uri="{FF2B5EF4-FFF2-40B4-BE49-F238E27FC236}">
                <a16:creationId xmlns:a16="http://schemas.microsoft.com/office/drawing/2014/main" id="{5978E283-E303-4210-B94F-622F98F1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337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2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14E2E48A-04D8-43E1-A13D-B5FFB876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981325" cy="3333750"/>
          </a:xfrm>
          <a:prstGeom xmlns:a="http://schemas.openxmlformats.org/drawingml/2006/main" prst="roundRect">
            <a:avLst>
              <a:gd name="adj" fmla="val 22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7C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64288B55-B434-4E02-8A40-1D8BDB08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05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3RD PARTY DR SOLUTIONS</a:t>
            </a:r>
          </a:p>
        </p:txBody>
      </p:sp>
      <p:pic>
        <p:nvPicPr>
          <p:cNvPr id="198" name="Picture 1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27c4d697e439c"/>
          <a:stretch xmlns:a="http://schemas.openxmlformats.org/drawingml/2006/main"/>
        </p:blipFill>
        <p:spPr>
          <a:xfrm xmlns:a="http://schemas.openxmlformats.org/drawingml/2006/main">
            <a:off x="3733800" y="3025461"/>
            <a:ext cx="619125" cy="597528"/>
          </a:xfrm>
          <a:prstGeom xmlns:a="http://schemas.openxmlformats.org/drawingml/2006/main" prst="rect">
            <a:avLst/>
          </a:prstGeom>
        </p:spPr>
      </p:pic>
      <p:pic>
        <p:nvPicPr>
          <p:cNvPr id="199" name="Picture 1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ea68117d84f28"/>
          <a:stretch xmlns:a="http://schemas.openxmlformats.org/drawingml/2006/main"/>
        </p:blipFill>
        <p:spPr>
          <a:xfrm xmlns:a="http://schemas.openxmlformats.org/drawingml/2006/main">
            <a:off x="4480047" y="3028950"/>
            <a:ext cx="612531" cy="523875"/>
          </a:xfrm>
          <a:prstGeom xmlns:a="http://schemas.openxmlformats.org/drawingml/2006/main" prst="rect">
            <a:avLst/>
          </a:prstGeom>
        </p:spPr>
      </p:pic>
      <p:pic>
        <p:nvPicPr>
          <p:cNvPr id="200" name="Picture 1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d988d558d41d1"/>
          <a:stretch xmlns:a="http://schemas.openxmlformats.org/drawingml/2006/main"/>
        </p:blipFill>
        <p:spPr>
          <a:xfrm xmlns:a="http://schemas.openxmlformats.org/drawingml/2006/main">
            <a:off x="5241059" y="3028950"/>
            <a:ext cx="585932" cy="552450"/>
          </a:xfrm>
          <a:prstGeom xmlns:a="http://schemas.openxmlformats.org/drawingml/2006/main" prst="rect">
            <a:avLst/>
          </a:prstGeom>
        </p:spPr>
      </p:pic>
      <p:pic>
        <p:nvPicPr>
          <p:cNvPr id="201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2ef98792746b7"/>
          <a:stretch xmlns:a="http://schemas.openxmlformats.org/drawingml/2006/main"/>
        </p:blipFill>
        <p:spPr>
          <a:xfrm xmlns:a="http://schemas.openxmlformats.org/drawingml/2006/main">
            <a:off x="5843043" y="3238500"/>
            <a:ext cx="582114" cy="295275"/>
          </a:xfrm>
          <a:prstGeom xmlns:a="http://schemas.openxmlformats.org/drawingml/2006/main" prst="rect">
            <a:avLst/>
          </a:prstGeom>
        </p:spPr>
      </p:pic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E89A1072-F524-4B73-94E3-67E4F56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... and other 3rd party DR solutions</a:t>
            </a:r>
          </a:p>
        </p:txBody>
      </p:sp>
      <p:sp>
        <p:nvSpPr>
          <p:cNvPr id="57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03A1097D-A240-42C8-AA9C-CBC85B2B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6245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C77214DA-7389-4BA9-BED3-B7D0C28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43425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CONNECTIVITY OPTIONS</a:t>
            </a:r>
          </a:p>
        </p:txBody>
      </p:sp>
      <p:pic>
        <p:nvPicPr>
          <p:cNvPr id="205" name="Picture 1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05933c0124a3c"/>
          <a:stretch xmlns:a="http://schemas.openxmlformats.org/drawingml/2006/main"/>
        </p:blipFill>
        <p:spPr>
          <a:xfrm xmlns:a="http://schemas.openxmlformats.org/drawingml/2006/main">
            <a:off x="3819525" y="48768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3D104460-6F4F-4530-9658-7A0B953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911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pic>
        <p:nvPicPr>
          <p:cNvPr id="207" name="Picture 1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d7147cb244a9a"/>
          <a:stretch xmlns:a="http://schemas.openxmlformats.org/drawingml/2006/main"/>
        </p:blipFill>
        <p:spPr>
          <a:xfrm xmlns:a="http://schemas.openxmlformats.org/drawingml/2006/main">
            <a:off x="4778110" y="4876800"/>
            <a:ext cx="425979" cy="438150"/>
          </a:xfrm>
          <a:prstGeom xmlns:a="http://schemas.openxmlformats.org/drawingml/2006/main" prst="rect">
            <a:avLst/>
          </a:prstGeom>
        </p:spPr>
      </p:pic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F0A84327-6E14-4522-94EF-1952C646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911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pic>
        <p:nvPicPr>
          <p:cNvPr id="209" name="Picture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a6d1393a24d7c"/>
          <a:stretch xmlns:a="http://schemas.openxmlformats.org/drawingml/2006/main"/>
        </p:blipFill>
        <p:spPr>
          <a:xfrm xmlns:a="http://schemas.openxmlformats.org/drawingml/2006/main">
            <a:off x="5730446" y="4876800"/>
            <a:ext cx="426308" cy="438150"/>
          </a:xfrm>
          <a:prstGeom xmlns:a="http://schemas.openxmlformats.org/drawingml/2006/main" prst="rect">
            <a:avLst/>
          </a:prstGeom>
        </p:spPr>
      </p:pic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4E1CF4F6-B89D-477B-B1E8-6CC6F829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3911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sp>
        <p:nvSpPr>
          <p:cNvPr id="65" name="Right Arrow 64">
            <a:extLst xmlns:a="http://schemas.openxmlformats.org/drawingml/2006/main">
              <a:ext uri="{FF2B5EF4-FFF2-40B4-BE49-F238E27FC236}">
                <a16:creationId xmlns:a16="http://schemas.microsoft.com/office/drawing/2014/main" id="{A3966032-7426-420D-AEED-E02C51D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560A6269-B85D-44CB-A8B2-2F895D4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2838450" cy="3333750"/>
          </a:xfrm>
          <a:prstGeom xmlns:a="http://schemas.openxmlformats.org/drawingml/2006/main" prst="roundRect">
            <a:avLst>
              <a:gd name="adj" fmla="val 2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3B882103-CB4B-4816-A3B9-02AF42E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2838450" cy="304800"/>
          </a:xfrm>
          <a:prstGeom xmlns:a="http://schemas.openxmlformats.org/drawingml/2006/main" prst="roundRect">
            <a:avLst>
              <a:gd name="adj" fmla="val 21875"/>
            </a:avLst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BB6FA99B-4050-403D-B087-3A23074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20D044B9-0754-4849-B95B-DEFA3410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2552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 CLOUD VMWARE SOLUTION (DR SITE)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16CCC9E5-95F7-48D5-B8F0-0AD4B268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2600325" cy="1885950"/>
          </a:xfrm>
          <a:prstGeom xmlns:a="http://schemas.openxmlformats.org/drawingml/2006/main" prst="roundRect">
            <a:avLst>
              <a:gd name="adj" fmla="val 25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3B3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919D472F-82E2-48D8-9E3F-A7686BF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8" name="Picture 1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950ca48c481e"/>
          <a:stretch xmlns:a="http://schemas.openxmlformats.org/drawingml/2006/main"/>
        </p:blipFill>
        <p:spPr>
          <a:xfrm xmlns:a="http://schemas.openxmlformats.org/drawingml/2006/main">
            <a:off x="7348538" y="2857500"/>
            <a:ext cx="333375" cy="342900"/>
          </a:xfrm>
          <a:prstGeom xmlns:a="http://schemas.openxmlformats.org/drawingml/2006/main" prst="rect">
            <a:avLst/>
          </a:prstGeom>
        </p:spPr>
      </p:pic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B46BA02F-8ADF-404B-8A86-D364CB5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62275"/>
            <a:ext cx="1762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Virtual Cloud Network (VCN)</a:t>
            </a:r>
          </a:p>
        </p:txBody>
      </p:sp>
      <p:sp>
        <p:nvSpPr>
          <p:cNvPr id="74" name="Rounded Rectangle 73">
            <a:extLst xmlns:a="http://schemas.openxmlformats.org/drawingml/2006/main">
              <a:ext uri="{FF2B5EF4-FFF2-40B4-BE49-F238E27FC236}">
                <a16:creationId xmlns:a16="http://schemas.microsoft.com/office/drawing/2014/main" id="{5977D99C-A6C9-43F9-9115-F8976F0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95650"/>
            <a:ext cx="22860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FA78F8CC-726F-414C-A83E-E8D3EFB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1850"/>
            <a:ext cx="1238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9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VMware Environment (DR)</a:t>
            </a:r>
          </a:p>
        </p:txBody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99FF3F94-899E-4866-B995-4EE6A8CD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6381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72C6081C-E529-4DCA-84B2-51ADF3C6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14750"/>
            <a:ext cx="542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653F52B6-717A-464E-83D9-28CC9EF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638550"/>
            <a:ext cx="6381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F41D1919-A544-4E8B-90E7-45802FE0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542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0" name="Rounded Rectangle 79">
            <a:extLst xmlns:a="http://schemas.openxmlformats.org/drawingml/2006/main">
              <a:ext uri="{FF2B5EF4-FFF2-40B4-BE49-F238E27FC236}">
                <a16:creationId xmlns:a16="http://schemas.microsoft.com/office/drawing/2014/main" id="{4952F979-4C2B-4AB2-9F96-09B961F1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6381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E83AD443-5923-41E6-B0C8-F627A40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14750"/>
            <a:ext cx="542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pic>
        <p:nvPicPr>
          <p:cNvPr id="228" name="Picture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7ddc32c434392"/>
          <a:stretch xmlns:a="http://schemas.openxmlformats.org/drawingml/2006/main"/>
        </p:blipFill>
        <p:spPr>
          <a:xfrm xmlns:a="http://schemas.openxmlformats.org/drawingml/2006/main">
            <a:off x="7229475" y="4115753"/>
            <a:ext cx="342900" cy="274320"/>
          </a:xfrm>
          <a:prstGeom xmlns:a="http://schemas.openxmlformats.org/drawingml/2006/main" prst="rect">
            <a:avLst/>
          </a:prstGeom>
        </p:spPr>
      </p:pic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CFEA1D03-7553-484B-93F3-86BD1F0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30" name="Picture 1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7ddc32c434392"/>
          <a:stretch xmlns:a="http://schemas.openxmlformats.org/drawingml/2006/main"/>
        </p:blipFill>
        <p:spPr>
          <a:xfrm xmlns:a="http://schemas.openxmlformats.org/drawingml/2006/main">
            <a:off x="8086725" y="4115753"/>
            <a:ext cx="342900" cy="274320"/>
          </a:xfrm>
          <a:prstGeom xmlns:a="http://schemas.openxmlformats.org/drawingml/2006/main" prst="rect">
            <a:avLst/>
          </a:prstGeom>
        </p:spPr>
      </p:pic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AF36A18E-5127-4C0F-914F-C5E2D47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32" name="Picture 2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7ddc32c434392"/>
          <a:stretch xmlns:a="http://schemas.openxmlformats.org/drawingml/2006/main"/>
        </p:blipFill>
        <p:spPr>
          <a:xfrm xmlns:a="http://schemas.openxmlformats.org/drawingml/2006/main">
            <a:off x="8943975" y="4115753"/>
            <a:ext cx="342900" cy="274320"/>
          </a:xfrm>
          <a:prstGeom xmlns:a="http://schemas.openxmlformats.org/drawingml/2006/main" prst="rect">
            <a:avLst/>
          </a:prstGeom>
        </p:spPr>
      </p:pic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4035C2C7-42A8-4877-95B3-0BA6FA8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14850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88" name="Rounded Rectangle 87">
            <a:extLst xmlns:a="http://schemas.openxmlformats.org/drawingml/2006/main">
              <a:ext uri="{FF2B5EF4-FFF2-40B4-BE49-F238E27FC236}">
                <a16:creationId xmlns:a16="http://schemas.microsoft.com/office/drawing/2014/main" id="{5D9A0B81-CBDD-40FB-93B5-7F15AF61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29200"/>
            <a:ext cx="26003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5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0ff57c808498c"/>
          <a:stretch xmlns:a="http://schemas.openxmlformats.org/drawingml/2006/main"/>
        </p:blipFill>
        <p:spPr>
          <a:xfrm xmlns:a="http://schemas.openxmlformats.org/drawingml/2006/main">
            <a:off x="7100739" y="5143500"/>
            <a:ext cx="286048" cy="295275"/>
          </a:xfrm>
          <a:prstGeom xmlns:a="http://schemas.openxmlformats.org/drawingml/2006/main" prst="rect">
            <a:avLst/>
          </a:prstGeom>
        </p:spPr>
      </p:pic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13863862-6F20-443B-8D66-53DF13D9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1530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Isolated and protected DR environment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native OCI infrastructure</a:t>
            </a:r>
          </a:p>
        </p:txBody>
      </p:sp>
      <p:sp>
        <p:nvSpPr>
          <p:cNvPr id="91" name="Straight Connector 90">
            <a:extLst xmlns:a="http://schemas.openxmlformats.org/drawingml/2006/main">
              <a:ext uri="{FF2B5EF4-FFF2-40B4-BE49-F238E27FC236}">
                <a16:creationId xmlns:a16="http://schemas.microsoft.com/office/drawing/2014/main" id="{FF5E0613-E6D8-40EE-A062-ACE6246B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097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Rectangle 91">
            <a:extLst xmlns:a="http://schemas.openxmlformats.org/drawingml/2006/main">
              <a:ext uri="{FF2B5EF4-FFF2-40B4-BE49-F238E27FC236}">
                <a16:creationId xmlns:a16="http://schemas.microsoft.com/office/drawing/2014/main" id="{12076F34-908A-47F8-A47F-E0D0CC6F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52600"/>
            <a:ext cx="1524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93" name="Straight Connector 92">
            <a:extLst xmlns:a="http://schemas.openxmlformats.org/drawingml/2006/main">
              <a:ext uri="{FF2B5EF4-FFF2-40B4-BE49-F238E27FC236}">
                <a16:creationId xmlns:a16="http://schemas.microsoft.com/office/drawing/2014/main" id="{4A857B32-5962-4564-AAF4-3426E2D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812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0" name="Picture 2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0bf9ff2b3496a"/>
          <a:stretch xmlns:a="http://schemas.openxmlformats.org/drawingml/2006/main"/>
        </p:blipFill>
        <p:spPr>
          <a:xfrm xmlns:a="http://schemas.openxmlformats.org/drawingml/2006/main">
            <a:off x="10163175" y="215265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BC0771C2-FA8B-42EB-ACFF-D87E67E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621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Minimize downtime</a:t>
            </a: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A18726DA-D31D-429F-B817-31A6D31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Quick recovery to meet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RTO &amp; RPO targets.</a:t>
            </a:r>
          </a:p>
        </p:txBody>
      </p:sp>
      <p:sp>
        <p:nvSpPr>
          <p:cNvPr id="97" name="Straight Connector 96">
            <a:extLst xmlns:a="http://schemas.openxmlformats.org/drawingml/2006/main">
              <a:ext uri="{FF2B5EF4-FFF2-40B4-BE49-F238E27FC236}">
                <a16:creationId xmlns:a16="http://schemas.microsoft.com/office/drawing/2014/main" id="{629B3057-CA35-4101-82F8-35D3873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4" name="Picture 2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308e5a9724d9d"/>
          <a:stretch xmlns:a="http://schemas.openxmlformats.org/drawingml/2006/main"/>
        </p:blipFill>
        <p:spPr>
          <a:xfrm xmlns:a="http://schemas.openxmlformats.org/drawingml/2006/main">
            <a:off x="10163175" y="289560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99" name="Rectangle 98">
            <a:extLst xmlns:a="http://schemas.openxmlformats.org/drawingml/2006/main">
              <a:ext uri="{FF2B5EF4-FFF2-40B4-BE49-F238E27FC236}">
                <a16:creationId xmlns:a16="http://schemas.microsoft.com/office/drawing/2014/main" id="{14B3E80C-1548-4CE3-A8B8-E151D17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051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Protect your data</a:t>
            </a: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41B1DEC2-09AD-4644-94D8-F1D9BD68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670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Recover from corruption,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ransomware or disasters.</a:t>
            </a:r>
          </a:p>
        </p:txBody>
      </p:sp>
      <p:sp>
        <p:nvSpPr>
          <p:cNvPr id="101" name="Straight Connector 100">
            <a:extLst xmlns:a="http://schemas.openxmlformats.org/drawingml/2006/main">
              <a:ext uri="{FF2B5EF4-FFF2-40B4-BE49-F238E27FC236}">
                <a16:creationId xmlns:a16="http://schemas.microsoft.com/office/drawing/2014/main" id="{F2D3C9CF-3DB8-4ED3-BCFD-536FDC82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861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8" name="Picture 2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51ed572554c74"/>
          <a:stretch xmlns:a="http://schemas.openxmlformats.org/drawingml/2006/main"/>
        </p:blipFill>
        <p:spPr>
          <a:xfrm xmlns:a="http://schemas.openxmlformats.org/drawingml/2006/main">
            <a:off x="10163175" y="363855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469773F1-547B-4CC5-B79F-75602C0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480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Consistent VMware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2C1DCB54-2048-4A6C-A502-168BDAF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5287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tools, processes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skillsets.</a:t>
            </a:r>
          </a:p>
        </p:txBody>
      </p:sp>
      <p:sp>
        <p:nvSpPr>
          <p:cNvPr id="105" name="Straight Connector 104">
            <a:extLst xmlns:a="http://schemas.openxmlformats.org/drawingml/2006/main">
              <a:ext uri="{FF2B5EF4-FFF2-40B4-BE49-F238E27FC236}">
                <a16:creationId xmlns:a16="http://schemas.microsoft.com/office/drawing/2014/main" id="{C2A6082F-710F-408B-AAC6-6690C83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291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2" name="Picture 2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7efed566b4cd4"/>
          <a:stretch xmlns:a="http://schemas.openxmlformats.org/drawingml/2006/main"/>
        </p:blipFill>
        <p:spPr>
          <a:xfrm xmlns:a="http://schemas.openxmlformats.org/drawingml/2006/main">
            <a:off x="10163175" y="438150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ED13CF9F-B498-4921-99AB-319D71B9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91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Test and validate</a:t>
            </a:r>
          </a:p>
        </p:txBody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FCA7281E-20F2-4C59-9155-B743AF9B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52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 DR drills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impacting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production.</a:t>
            </a:r>
          </a:p>
        </p:txBody>
      </p:sp>
      <p:sp>
        <p:nvSpPr>
          <p:cNvPr id="109" name="Straight Connector 108">
            <a:extLst xmlns:a="http://schemas.openxmlformats.org/drawingml/2006/main">
              <a:ext uri="{FF2B5EF4-FFF2-40B4-BE49-F238E27FC236}">
                <a16:creationId xmlns:a16="http://schemas.microsoft.com/office/drawing/2014/main" id="{EB9FCB0A-5D65-49DB-873A-06D8422D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720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6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10e10234c41c1"/>
          <a:stretch xmlns:a="http://schemas.openxmlformats.org/drawingml/2006/main"/>
        </p:blipFill>
        <p:spPr>
          <a:xfrm xmlns:a="http://schemas.openxmlformats.org/drawingml/2006/main">
            <a:off x="10163175" y="517207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C193FF7F-1E8C-48E6-9EDA-B8309E99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816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Cost effective</a:t>
            </a:r>
          </a:p>
        </p:txBody>
      </p:sp>
      <p:sp>
        <p:nvSpPr>
          <p:cNvPr id="112" name="Rectangle 111">
            <a:extLst xmlns:a="http://schemas.openxmlformats.org/drawingml/2006/main">
              <a:ext uri="{FF2B5EF4-FFF2-40B4-BE49-F238E27FC236}">
                <a16:creationId xmlns:a16="http://schemas.microsoft.com/office/drawing/2014/main" id="{D7203644-5C9D-47DD-B3CD-B6DE62E1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3435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Pay for capacity only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65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when you need it.</a:t>
            </a:r>
          </a:p>
        </p:txBody>
      </p:sp>
      <p:sp>
        <p:nvSpPr>
          <p:cNvPr id="113" name="Rounded Rectangle 112">
            <a:extLst xmlns:a="http://schemas.openxmlformats.org/drawingml/2006/main">
              <a:ext uri="{FF2B5EF4-FFF2-40B4-BE49-F238E27FC236}">
                <a16:creationId xmlns:a16="http://schemas.microsoft.com/office/drawing/2014/main" id="{1F42245C-EE41-4BC5-B4DF-B62B4A98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905500"/>
            <a:ext cx="9363075" cy="685800"/>
          </a:xfrm>
          <a:prstGeom xmlns:a="http://schemas.openxmlformats.org/drawingml/2006/main" prst="roundRect">
            <a:avLst>
              <a:gd name="adj" fmla="val 9722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6482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0" name="Picture 2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82b936dc54f2a"/>
          <a:stretch xmlns:a="http://schemas.openxmlformats.org/drawingml/2006/main"/>
        </p:blipFill>
        <p:spPr>
          <a:xfrm xmlns:a="http://schemas.openxmlformats.org/drawingml/2006/main">
            <a:off x="495300" y="5995829"/>
            <a:ext cx="552450" cy="543243"/>
          </a:xfrm>
          <a:prstGeom xmlns:a="http://schemas.openxmlformats.org/drawingml/2006/main" prst="rect">
            <a:avLst/>
          </a:prstGeom>
        </p:spPr>
      </p:pic>
      <p:sp>
        <p:nvSpPr>
          <p:cNvPr id="115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CFC41103-AE2F-44DE-A1AC-42A27133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674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Schedule, test and execute your Disaster Recovery plan with confidence.</a:t>
            </a:r>
          </a:p>
        </p:txBody>
      </p:sp>
      <p:sp>
        <p:nvSpPr>
          <p:cNvPr id="116" name="Rectangle 115">
            <a:extLst xmlns:a="http://schemas.openxmlformats.org/drawingml/2006/main">
              <a:ext uri="{FF2B5EF4-FFF2-40B4-BE49-F238E27FC236}">
                <a16:creationId xmlns:a16="http://schemas.microsoft.com/office/drawing/2014/main" id="{D7A1E564-4CE8-4E81-A177-2B960F5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343650"/>
            <a:ext cx="685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workloads on-demand and restore operations quickly when it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5532205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C991DC65-798F-41B7-BF80-4B86FC14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5BDC2B8D-80C2-4183-8C20-475A9B0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116B8690-9160-4009-AE66-6DA0945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A0C6A7F3-9930-4643-811F-44FE0F34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40B8941D-3F63-4ED4-AC58-9134C2D3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5BCBD342-20A6-4FD4-A7E7-B917E48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67A79555-5631-4079-855E-331C564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3A8E7A06-40B1-4651-A32B-D55E282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06377694-5897-4A55-9201-14BE71A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07633A71-6374-49C5-9363-8F09E619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15F8C6DD-BEC5-4EBF-8239-332ECF78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B00F8902-07DE-488B-9871-FB935E1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83E0E578-DA09-4159-8746-5C29A410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F91F9622-3701-4E31-8517-D9D9A16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3E4A82EB-BB5F-43B2-82AE-006D2DC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5E8A9A16-EF77-4B39-8DD1-9DA40350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53D6E614-16A1-4E9F-83C2-BA019A38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55A0DC5D-E591-47D5-B031-C64E0EF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F1981FD4-3EF3-44A9-BF4F-D424B78B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0367BFE8-1E3A-4036-AC86-E2FA669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7E706A80-35E2-40F0-98F9-B46F0041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DFC3E229-19D5-492F-A322-E45A075A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0D6C96E7-FCB0-4B06-9BAF-143760A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6BEF845C-9C64-4471-8F14-5994C5A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F2705ACF-5AA1-4DB0-A306-7827086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EF865E0F-B9F9-4EC6-A36E-5FEF656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E9DFAEF0-3C4E-462C-B7E1-E8F3C82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2695B555-C8A4-4E6E-96E0-BDB7F17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A68402DA-D544-48B7-8595-0C9ECD13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A4900855-DADF-4789-BCB1-20D04A2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4BB43A89-E3FF-4AC4-8B25-70E3AD6F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81DC9725-F62F-4137-B1CD-1F1C746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182D5301-93E6-415F-BFD3-54E2280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78449FA8-EFE1-4508-B0B6-1AA2BE70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CC9A3744-22C4-4525-92F2-889CB57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6BE9CBDA-9A27-4A2C-993D-C58D193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F43B678D-03AE-4FDC-8E91-5A3BA4FD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67BDDA6E-E7BB-4811-ABC5-623612B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F8E04952-3E56-4161-B686-9D91D266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8D121C37-9404-4794-A5ED-D206812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532BFB28-9854-4E69-BCC0-4ED676DB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24DF38F2-AABD-40D9-BE87-B38BA13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AA8BE3DD-96B6-4860-B96D-0B1502A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08F2F4A6-DEB2-4EAB-8856-5F55CDD3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961D050B-BA2B-46D1-BED8-3C08F85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EE351C63-1A4C-43E5-A9D4-06DCB0C2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D22C087F-C03C-4369-AFC1-B8F99B0B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8D3CA8D9-001B-4640-A8FC-37DFFE48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B17CBABF-AB99-4D0E-9A42-6279D97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7C9818E6-A6C0-42A5-A761-4011893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38B3E517-579B-4461-9AB6-78649E43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8D9F9B00-DFB0-49D5-9814-39B9A41D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CAE628A8-5F57-4238-9DAF-9D08CA10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E5297367-95AE-4BB0-B93E-0AF1DFDD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A4C24251-DDB7-4251-A554-61A6B72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9BB124E5-2CB0-4285-9644-B496049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0DC0F7AC-6CCF-46C1-8D7E-1A101571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810F62EB-BD5B-44D1-80D5-CA28F25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355ABAF9-ED50-482D-A9B7-EBA9A93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A82A7FDC-033C-4219-B038-BE5F7157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C025D107-6B5B-41E8-BCF0-476AB4C9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093DEF2C-F27F-4FE3-87DE-4811CA12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1D723436-F22D-4D5F-BC85-FE08CE0C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d4010b1c94c36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ab4a177e646e6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01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134d89d8d4095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ca67638394c4b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5a610f9a6417f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a24cf5d1f47e5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ff283885448e3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556262ad74b06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4e3db2dad4257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2a77a5039484f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80e80e630481c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7B0D2AD4-C444-473A-BE34-8DD9C57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6C672D46-3411-4289-B04B-407A007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F7B5C358-4E96-4B3C-99FA-58F14B89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Proposed Oracle Cloud VMware Solution topology for the selected workload.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7E5C30D1-8915-4BE7-AE69-214CE25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BCBB47DB-E2D2-44EC-9CD2-3E435F3F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4A96103D-3DA5-481A-8230-10CDFEF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7658F519-1F4E-48D1-B9F6-CE7EB950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86D5EBBC-375C-4788-A527-D0A9A3C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FEEC73FE-4717-4CC2-A092-8A7B6CF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4EFA5349-F7B2-4655-AA4C-4F5AF9AE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526BB065-D560-4367-A28F-C30E5420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10AB97CE-8008-4417-8B2E-542E20B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BBDBB848-9312-4264-BA42-EFA1A9B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14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C1C0F29A-62AB-4AAC-B540-79F3A1BE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15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6499C218-B962-4363-8BC8-6334B9F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05FF0131-0B57-4DD2-8CD5-5B76770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7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6CA25EDA-B3AD-4907-8744-CBBD483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18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5F04CD67-388B-40DC-804B-AFEE7371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240C7ECC-971F-49CF-B247-CA76762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0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BE9A9D5F-F4CB-4956-A600-8288C19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1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45637DE2-42FC-4438-B2C8-D9D71F2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16A2680F-09F9-4AB4-BB91-2488E44E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3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84EA29BF-500A-4073-8A3F-714557D6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24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37B607D1-55A9-48B6-8207-6361120A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0C5F436F-99DA-4E90-B643-3C9E0425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6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3238BFD7-503A-4E51-A20B-88F6F2FE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27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B213FB50-7A92-4591-BCFD-71DA8F7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0B31BD66-8D44-4A8A-A571-3EA70601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9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03F251E9-121C-49C1-ADD7-C193BFD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30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6464852C-C925-48E7-962B-F5D7F469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1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983D3ED2-16DD-41FD-9760-5154F447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32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F08D7314-1CDC-4659-9155-13B170C4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3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A1736F93-C45B-4C88-A217-2B447022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34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318680AC-6A09-43BB-94BB-B7255F37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5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F238755D-FB5F-411B-B15D-43C171B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36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93E15D6C-E0EF-4DC6-B3C1-C0BE3437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7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D42D975B-8F77-4880-A576-7B1C1BB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8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D4A0BE0A-E547-473A-930B-C34F92FB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9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899466A9-8375-40FD-AD53-98F18645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0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5EA71C36-11AD-49AD-919B-E744C441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F2B689F8-4079-450C-BD24-4A5C5D2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2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5E212464-CE9D-496F-9F2C-1069B87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43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21DB9209-1535-40F1-A16F-380BA359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4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FB63E34F-792C-44B7-916C-2A72414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38FE7AC1-B450-4151-8A26-F44EA2D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46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28649C34-2222-4F5A-B733-8025A3E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7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FFCA1629-6E31-4079-B32A-FB14C7BB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8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16E8A9CD-8E0F-4553-A96F-E88A0E2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AD83436C-F6BA-4B10-ABC7-CF7B3199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0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4BBEB9CA-28CF-4162-85AE-BF786F79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1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59A638D8-056C-40E1-8F41-90E1783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2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43D18850-FE4D-4FDD-930C-176C4895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3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1C551258-88B8-4094-B926-358195D1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54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33F40457-0B12-4D2B-BDF0-2E538557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55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1F168697-6AFB-42AB-9A15-50C81ED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6EE0DEFF-E285-4ACA-8B31-CECC08F8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7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1DA153DB-8E34-4774-AF51-CCF0BFE3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8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16DFB3CB-51A3-4866-8B56-AF717CC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9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71AE52E7-22FD-4F2B-84C2-0462EA9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0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06D5E07E-BC4C-4A95-A45B-F042512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61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63CD7707-DFE7-4CD0-9D95-BBCDE981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2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7370F84E-D9D0-4F54-8112-A213216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63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2E8492D3-194F-4A37-A9E6-7EED986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A104D51E-437C-42ED-B680-1E7584C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65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0C0D25AA-8229-4AC1-835D-5370AD1F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66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0DFE579F-F126-4766-862B-AA4D9CC6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7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D9817F96-A5ED-4796-8E02-6177B13F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8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F6A88A2B-BB84-4326-A865-F82ABB44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9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7DD84F0F-6784-446F-967F-D0D79FCB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0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D997CB91-64B6-48D6-A76E-4BFA3F20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281A860D-37A1-43A8-B763-313DE07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2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CDD31124-24EB-46CA-927E-6AAD8417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3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D606DAF0-CE66-4C7E-B5B2-93A7C88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4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4813BA58-CB7E-4C27-91F3-1C369D57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75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00670735-B4DB-450C-8EB8-4298D36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76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30EF6131-C8B5-450B-9B9E-9DC8394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7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4A7FFB81-C1B1-4915-B03E-5A4A50D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8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8AF12760-A840-4D5D-8EB0-71E9903F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0D8E2E95-5C7E-4E64-B9D8-2EDF6DC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0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24702847-44E8-4E5D-B400-180BE3B5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1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B17B332D-1BE0-457E-A69B-4C9CBD2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2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9F0BCF27-1278-4050-BA5D-F95D6533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1ed139f91422c"/>
          <a:stretch xmlns:a="http://schemas.openxmlformats.org/drawingml/2006/main"/>
        </p:blipFill>
        <p:spPr>
          <a:xfrm xmlns:a="http://schemas.openxmlformats.org/drawingml/2006/main">
            <a:off x="342900" y="266700"/>
            <a:ext cx="1876425" cy="523875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2cc328e5a4c32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19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ricing-master-top-mask">
            <a:extLst xmlns:a="http://schemas.openxmlformats.org/drawingml/2006/main">
              <a:ext uri="{FF2B5EF4-FFF2-40B4-BE49-F238E27FC236}">
                <a16:creationId xmlns:a16="http://schemas.microsoft.com/office/drawing/2014/main" id="{66CCDA50-349F-48FD-B881-371A0C12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master-footer-mask">
            <a:extLst xmlns:a="http://schemas.openxmlformats.org/drawingml/2006/main">
              <a:ext uri="{FF2B5EF4-FFF2-40B4-BE49-F238E27FC236}">
                <a16:creationId xmlns:a16="http://schemas.microsoft.com/office/drawing/2014/main" id="{1F51C1BF-4047-49E8-988E-FC1142B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1D67B40E-65E1-41D4-9C3B-0ACF166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AADF3E7A-8489-41D0-B558-73DCA396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C3A5499C-0E06-4281-A8D2-031D21E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D93F55FA-94AC-43B1-9B24-F89A78C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4CD334E9-C6E0-4240-9425-28B910B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DC3F108B-C9B0-4112-A159-11BCDAF2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6789eacf547d6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24050" cy="600075"/>
          </a:xfrm>
          <a:prstGeom xmlns:a="http://schemas.openxmlformats.org/drawingml/2006/main" prst="rect">
            <a:avLst/>
          </a:prstGeom>
        </p:spPr>
      </p:pic>
      <p:sp>
        <p:nvSpPr>
          <p:cNvPr id="10" name="ocvs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1BF08A2D-51C1-4C98-B1AF-FBF3173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Summary</a:t>
            </a:r>
          </a:p>
        </p:txBody>
      </p:sp>
      <p:sp>
        <p:nvSpPr>
          <p:cNvPr id="11" name="ocvs-pricing-title-rule">
            <a:extLst xmlns:a="http://schemas.openxmlformats.org/drawingml/2006/main">
              <a:ext uri="{FF2B5EF4-FFF2-40B4-BE49-F238E27FC236}">
                <a16:creationId xmlns:a16="http://schemas.microsoft.com/office/drawing/2014/main" id="{2F1CF7CD-99D6-4B43-A161-0E81A8A5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ocvs-pricing-summary-subtitle">
            <a:extLst xmlns:a="http://schemas.openxmlformats.org/drawingml/2006/main">
              <a:ext uri="{FF2B5EF4-FFF2-40B4-BE49-F238E27FC236}">
                <a16:creationId xmlns:a16="http://schemas.microsoft.com/office/drawing/2014/main" id="{65B292FF-D255-4B7F-A5C8-0DBDD95D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OCVS sizing result and commitment term.</a:t>
            </a:r>
          </a:p>
        </p:txBody>
      </p:sp>
      <p:sp>
        <p:nvSpPr>
          <p:cNvPr id="13" name="pricing-payg-card">
            <a:extLst xmlns:a="http://schemas.openxmlformats.org/drawingml/2006/main">
              <a:ext uri="{FF2B5EF4-FFF2-40B4-BE49-F238E27FC236}">
                <a16:creationId xmlns:a16="http://schemas.microsoft.com/office/drawing/2014/main" id="{60711149-8889-44BD-9681-F51F6CA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4" name="pricing-payg-header">
            <a:extLst xmlns:a="http://schemas.openxmlformats.org/drawingml/2006/main">
              <a:ext uri="{FF2B5EF4-FFF2-40B4-BE49-F238E27FC236}">
                <a16:creationId xmlns:a16="http://schemas.microsoft.com/office/drawing/2014/main" id="{A2669869-17E6-44D2-B42B-13B02303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5" name="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366D8A63-8626-420F-BEF1-BB5E88B1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6" name="pricing-payg-row-1-fill">
            <a:extLst xmlns:a="http://schemas.openxmlformats.org/drawingml/2006/main">
              <a:ext uri="{FF2B5EF4-FFF2-40B4-BE49-F238E27FC236}">
                <a16:creationId xmlns:a16="http://schemas.microsoft.com/office/drawing/2014/main" id="{B89FA8F7-B755-409A-AA5F-2AFE74D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pricing-payg-row-1-line">
            <a:extLst xmlns:a="http://schemas.openxmlformats.org/drawingml/2006/main">
              <a:ext uri="{FF2B5EF4-FFF2-40B4-BE49-F238E27FC236}">
                <a16:creationId xmlns:a16="http://schemas.microsoft.com/office/drawing/2014/main" id="{7C9A81D3-71AE-4C0F-8C09-50DE4CC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8" name="pricing-payg-row-1-label">
            <a:extLst xmlns:a="http://schemas.openxmlformats.org/drawingml/2006/main">
              <a:ext uri="{FF2B5EF4-FFF2-40B4-BE49-F238E27FC236}">
                <a16:creationId xmlns:a16="http://schemas.microsoft.com/office/drawing/2014/main" id="{CAE4087B-C62F-48E4-B010-A206E052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19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4C99AFC8-6B5D-4E3E-9990-23B8E9F7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0" name="pricing-payg-row-2-fill">
            <a:extLst xmlns:a="http://schemas.openxmlformats.org/drawingml/2006/main">
              <a:ext uri="{FF2B5EF4-FFF2-40B4-BE49-F238E27FC236}">
                <a16:creationId xmlns:a16="http://schemas.microsoft.com/office/drawing/2014/main" id="{268B1713-EF17-46AF-A334-CE07555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ricing-payg-row-2-line">
            <a:extLst xmlns:a="http://schemas.openxmlformats.org/drawingml/2006/main">
              <a:ext uri="{FF2B5EF4-FFF2-40B4-BE49-F238E27FC236}">
                <a16:creationId xmlns:a16="http://schemas.microsoft.com/office/drawing/2014/main" id="{3F6ECC71-3B9F-4A8A-A284-B0A18D6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pricing-payg-row-2-label">
            <a:extLst xmlns:a="http://schemas.openxmlformats.org/drawingml/2006/main">
              <a:ext uri="{FF2B5EF4-FFF2-40B4-BE49-F238E27FC236}">
                <a16:creationId xmlns:a16="http://schemas.microsoft.com/office/drawing/2014/main" id="{C2DF6D78-1B4C-484D-9DC9-9F8C80F6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088F3C03-C236-4FCF-AA6E-0EE50A3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4" name="pricing-payg-row-3-fill">
            <a:extLst xmlns:a="http://schemas.openxmlformats.org/drawingml/2006/main">
              <a:ext uri="{FF2B5EF4-FFF2-40B4-BE49-F238E27FC236}">
                <a16:creationId xmlns:a16="http://schemas.microsoft.com/office/drawing/2014/main" id="{6313C37D-36E4-4F8D-BFCB-57D51D5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5" name="pricing-payg-row-3-line">
            <a:extLst xmlns:a="http://schemas.openxmlformats.org/drawingml/2006/main">
              <a:ext uri="{FF2B5EF4-FFF2-40B4-BE49-F238E27FC236}">
                <a16:creationId xmlns:a16="http://schemas.microsoft.com/office/drawing/2014/main" id="{66B298F0-92C7-4A68-9D21-1C74C171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6" name="pricing-payg-row-3-label">
            <a:extLst xmlns:a="http://schemas.openxmlformats.org/drawingml/2006/main">
              <a:ext uri="{FF2B5EF4-FFF2-40B4-BE49-F238E27FC236}">
                <a16:creationId xmlns:a16="http://schemas.microsoft.com/office/drawing/2014/main" id="{1842BAC8-9AE4-44AC-BE72-622B797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7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AC918373-15BB-4748-8E9B-8AABA24D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8" name="pricing-payg-row-4-fill">
            <a:extLst xmlns:a="http://schemas.openxmlformats.org/drawingml/2006/main">
              <a:ext uri="{FF2B5EF4-FFF2-40B4-BE49-F238E27FC236}">
                <a16:creationId xmlns:a16="http://schemas.microsoft.com/office/drawing/2014/main" id="{6116BFF8-736A-49AB-BAD6-85147D4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9" name="pricing-payg-row-4-line">
            <a:extLst xmlns:a="http://schemas.openxmlformats.org/drawingml/2006/main">
              <a:ext uri="{FF2B5EF4-FFF2-40B4-BE49-F238E27FC236}">
                <a16:creationId xmlns:a16="http://schemas.microsoft.com/office/drawing/2014/main" id="{25312F0B-B302-436B-9A24-8CADE3E7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pricing-payg-row-4-label">
            <a:extLst xmlns:a="http://schemas.openxmlformats.org/drawingml/2006/main">
              <a:ext uri="{FF2B5EF4-FFF2-40B4-BE49-F238E27FC236}">
                <a16:creationId xmlns:a16="http://schemas.microsoft.com/office/drawing/2014/main" id="{13D10983-A7F9-496A-8055-8B932B7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1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6EA9E767-6AE6-4A4B-A4BC-829EA5EB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80C75B94-0BA8-4018-AACB-50D30F8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3" name="pricing-one-year-header">
            <a:extLst xmlns:a="http://schemas.openxmlformats.org/drawingml/2006/main">
              <a:ext uri="{FF2B5EF4-FFF2-40B4-BE49-F238E27FC236}">
                <a16:creationId xmlns:a16="http://schemas.microsoft.com/office/drawing/2014/main" id="{DE925615-D3BD-4C55-A478-7C7C6831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4" name="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C5987D54-3505-4247-BF0D-C37A3DC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5" name="pricing-one-year-row-1-fill">
            <a:extLst xmlns:a="http://schemas.openxmlformats.org/drawingml/2006/main">
              <a:ext uri="{FF2B5EF4-FFF2-40B4-BE49-F238E27FC236}">
                <a16:creationId xmlns:a16="http://schemas.microsoft.com/office/drawing/2014/main" id="{FF46D2F3-6886-49BC-ACD8-DD1A589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pricing-one-year-row-1-line">
            <a:extLst xmlns:a="http://schemas.openxmlformats.org/drawingml/2006/main">
              <a:ext uri="{FF2B5EF4-FFF2-40B4-BE49-F238E27FC236}">
                <a16:creationId xmlns:a16="http://schemas.microsoft.com/office/drawing/2014/main" id="{40EAFB5B-B7A8-471B-A5FB-5115C4D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7" name="pricing-one-year-row-1-label">
            <a:extLst xmlns:a="http://schemas.openxmlformats.org/drawingml/2006/main">
              <a:ext uri="{FF2B5EF4-FFF2-40B4-BE49-F238E27FC236}">
                <a16:creationId xmlns:a16="http://schemas.microsoft.com/office/drawing/2014/main" id="{56BBEFD8-AF1C-4F56-B146-EA91F1D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088C6E4E-FE39-423A-8B06-9E1090D0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pricing-one-year-row-2-fill">
            <a:extLst xmlns:a="http://schemas.openxmlformats.org/drawingml/2006/main">
              <a:ext uri="{FF2B5EF4-FFF2-40B4-BE49-F238E27FC236}">
                <a16:creationId xmlns:a16="http://schemas.microsoft.com/office/drawing/2014/main" id="{E119335F-3FEF-4781-A9ED-295F956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pricing-one-year-row-2-line">
            <a:extLst xmlns:a="http://schemas.openxmlformats.org/drawingml/2006/main">
              <a:ext uri="{FF2B5EF4-FFF2-40B4-BE49-F238E27FC236}">
                <a16:creationId xmlns:a16="http://schemas.microsoft.com/office/drawing/2014/main" id="{1999B8F8-3847-4306-91E8-518F243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pricing-one-year-row-2-label">
            <a:extLst xmlns:a="http://schemas.openxmlformats.org/drawingml/2006/main">
              <a:ext uri="{FF2B5EF4-FFF2-40B4-BE49-F238E27FC236}">
                <a16:creationId xmlns:a16="http://schemas.microsoft.com/office/drawing/2014/main" id="{5530300C-8C33-426B-8EB8-B4ED133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2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F081933D-845F-4A4F-8D15-0D8E166B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pricing-one-year-row-3-fill">
            <a:extLst xmlns:a="http://schemas.openxmlformats.org/drawingml/2006/main">
              <a:ext uri="{FF2B5EF4-FFF2-40B4-BE49-F238E27FC236}">
                <a16:creationId xmlns:a16="http://schemas.microsoft.com/office/drawing/2014/main" id="{FA55C4E5-CB7B-44E7-8E45-0212AC9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4" name="pricing-one-year-row-3-line">
            <a:extLst xmlns:a="http://schemas.openxmlformats.org/drawingml/2006/main">
              <a:ext uri="{FF2B5EF4-FFF2-40B4-BE49-F238E27FC236}">
                <a16:creationId xmlns:a16="http://schemas.microsoft.com/office/drawing/2014/main" id="{C0C1F822-265A-4396-9F54-862F39A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5" name="pricing-one-year-row-3-label">
            <a:extLst xmlns:a="http://schemas.openxmlformats.org/drawingml/2006/main">
              <a:ext uri="{FF2B5EF4-FFF2-40B4-BE49-F238E27FC236}">
                <a16:creationId xmlns:a16="http://schemas.microsoft.com/office/drawing/2014/main" id="{75AD4812-4A14-4EA0-82B4-6D96248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6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78B185D0-3CC5-4EA3-B178-140F915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one-year-row-4-fill">
            <a:extLst xmlns:a="http://schemas.openxmlformats.org/drawingml/2006/main">
              <a:ext uri="{FF2B5EF4-FFF2-40B4-BE49-F238E27FC236}">
                <a16:creationId xmlns:a16="http://schemas.microsoft.com/office/drawing/2014/main" id="{ED56CA87-A335-4DE4-B550-970CC678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8" name="pricing-one-year-row-4-line">
            <a:extLst xmlns:a="http://schemas.openxmlformats.org/drawingml/2006/main">
              <a:ext uri="{FF2B5EF4-FFF2-40B4-BE49-F238E27FC236}">
                <a16:creationId xmlns:a16="http://schemas.microsoft.com/office/drawing/2014/main" id="{26416CA4-6C21-490B-BC2C-C2C127D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9" name="pricing-one-year-row-4-label">
            <a:extLst xmlns:a="http://schemas.openxmlformats.org/drawingml/2006/main">
              <a:ext uri="{FF2B5EF4-FFF2-40B4-BE49-F238E27FC236}">
                <a16:creationId xmlns:a16="http://schemas.microsoft.com/office/drawing/2014/main" id="{5270C318-AD98-43E9-89BB-26B831A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50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5722D746-37D1-4BE8-B7C9-4C865D75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8EB81BD6-AC0A-4E17-94DA-46324E46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2" name="pricing-three-year-header">
            <a:extLst xmlns:a="http://schemas.openxmlformats.org/drawingml/2006/main">
              <a:ext uri="{FF2B5EF4-FFF2-40B4-BE49-F238E27FC236}">
                <a16:creationId xmlns:a16="http://schemas.microsoft.com/office/drawing/2014/main" id="{9E308FD0-3091-4FFA-8AC2-D3A4417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3" name="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E7B5F9AE-9DDC-45A3-9A0F-B8B07E24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4" name="pricing-three-year-row-1-fill">
            <a:extLst xmlns:a="http://schemas.openxmlformats.org/drawingml/2006/main">
              <a:ext uri="{FF2B5EF4-FFF2-40B4-BE49-F238E27FC236}">
                <a16:creationId xmlns:a16="http://schemas.microsoft.com/office/drawing/2014/main" id="{D55445E7-705B-4604-905D-AEBDB092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pricing-three-year-row-1-line">
            <a:extLst xmlns:a="http://schemas.openxmlformats.org/drawingml/2006/main">
              <a:ext uri="{FF2B5EF4-FFF2-40B4-BE49-F238E27FC236}">
                <a16:creationId xmlns:a16="http://schemas.microsoft.com/office/drawing/2014/main" id="{15FB9036-9F88-407F-96A8-400429D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6" name="pricing-three-year-row-1-label">
            <a:extLst xmlns:a="http://schemas.openxmlformats.org/drawingml/2006/main">
              <a:ext uri="{FF2B5EF4-FFF2-40B4-BE49-F238E27FC236}">
                <a16:creationId xmlns:a16="http://schemas.microsoft.com/office/drawing/2014/main" id="{96FBF20C-BA2B-45A2-AD73-6035845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7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AF521B91-1CA3-4236-95D7-9E16CBD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pricing-three-year-row-2-fill">
            <a:extLst xmlns:a="http://schemas.openxmlformats.org/drawingml/2006/main">
              <a:ext uri="{FF2B5EF4-FFF2-40B4-BE49-F238E27FC236}">
                <a16:creationId xmlns:a16="http://schemas.microsoft.com/office/drawing/2014/main" id="{5870CA63-010D-4A9E-8024-44F3B3B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pricing-three-year-row-2-line">
            <a:extLst xmlns:a="http://schemas.openxmlformats.org/drawingml/2006/main">
              <a:ext uri="{FF2B5EF4-FFF2-40B4-BE49-F238E27FC236}">
                <a16:creationId xmlns:a16="http://schemas.microsoft.com/office/drawing/2014/main" id="{1B0EE9B1-2103-49D3-9E90-35560C3E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0" name="pricing-three-year-row-2-label">
            <a:extLst xmlns:a="http://schemas.openxmlformats.org/drawingml/2006/main">
              <a:ext uri="{FF2B5EF4-FFF2-40B4-BE49-F238E27FC236}">
                <a16:creationId xmlns:a16="http://schemas.microsoft.com/office/drawing/2014/main" id="{1C2FC97A-31D8-4729-B769-D502C4D1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1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E1443E56-B0FA-4E0A-8794-A6EBB79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pricing-three-year-row-3-fill">
            <a:extLst xmlns:a="http://schemas.openxmlformats.org/drawingml/2006/main">
              <a:ext uri="{FF2B5EF4-FFF2-40B4-BE49-F238E27FC236}">
                <a16:creationId xmlns:a16="http://schemas.microsoft.com/office/drawing/2014/main" id="{74FC0014-2EA2-4622-B9BC-14490B2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3" name="pricing-three-year-row-3-line">
            <a:extLst xmlns:a="http://schemas.openxmlformats.org/drawingml/2006/main">
              <a:ext uri="{FF2B5EF4-FFF2-40B4-BE49-F238E27FC236}">
                <a16:creationId xmlns:a16="http://schemas.microsoft.com/office/drawing/2014/main" id="{F4B0A6A2-CE8D-4CF1-8AC9-ACBBD18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4" name="pricing-three-year-row-3-label">
            <a:extLst xmlns:a="http://schemas.openxmlformats.org/drawingml/2006/main">
              <a:ext uri="{FF2B5EF4-FFF2-40B4-BE49-F238E27FC236}">
                <a16:creationId xmlns:a16="http://schemas.microsoft.com/office/drawing/2014/main" id="{7C41DA81-9211-41DE-8C6D-2AD2513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5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B994BC2F-31C6-4A27-A2C1-67A0037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pricing-three-year-row-4-fill">
            <a:extLst xmlns:a="http://schemas.openxmlformats.org/drawingml/2006/main">
              <a:ext uri="{FF2B5EF4-FFF2-40B4-BE49-F238E27FC236}">
                <a16:creationId xmlns:a16="http://schemas.microsoft.com/office/drawing/2014/main" id="{A3CB3F16-0C0F-4336-B2F0-09D5B17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7" name="pricing-three-year-row-4-line">
            <a:extLst xmlns:a="http://schemas.openxmlformats.org/drawingml/2006/main">
              <a:ext uri="{FF2B5EF4-FFF2-40B4-BE49-F238E27FC236}">
                <a16:creationId xmlns:a16="http://schemas.microsoft.com/office/drawing/2014/main" id="{B6795CF9-3BFE-44B6-94CB-D247CFB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8" name="pricing-three-year-row-4-label">
            <a:extLst xmlns:a="http://schemas.openxmlformats.org/drawingml/2006/main">
              <a:ext uri="{FF2B5EF4-FFF2-40B4-BE49-F238E27FC236}">
                <a16:creationId xmlns:a16="http://schemas.microsoft.com/office/drawing/2014/main" id="{95028E84-7675-4BB1-A68F-5FEDCE8B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9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E14211D9-4760-4CEB-927A-1895B9C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0" name="ocvs-pricing-disclaimer">
            <a:extLst xmlns:a="http://schemas.openxmlformats.org/drawingml/2006/main">
              <a:ext uri="{FF2B5EF4-FFF2-40B4-BE49-F238E27FC236}">
                <a16:creationId xmlns:a16="http://schemas.microsoft.com/office/drawing/2014/main" id="{4D54EF59-8E58-4B43-A500-BB03429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Pricing is indicative and reflects the active sizing result and commercial inputs.</a:t>
            </a:r>
          </a:p>
        </p:txBody>
      </p:sp>
      <p:sp>
        <p:nvSpPr>
          <p:cNvPr id="71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D375C48A-601F-4E00-92E7-1558169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72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C2A1DA1C-67A1-474F-A34A-7586A96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73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2025C103-55AE-4F0D-A13D-6EC12F4A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94571cdbd4cb8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96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30B4A-2296-4E67-AE3A-90D373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5f9e09fd64daa"/>
          <a:stretch xmlns:a="http://schemas.openxmlformats.org/drawingml/2006/main"/>
        </p:blipFill>
        <p:spPr>
          <a:xfrm xmlns:a="http://schemas.openxmlformats.org/drawingml/2006/main">
            <a:off x="4219575" y="3185422"/>
            <a:ext cx="3752850" cy="534781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7D35F5-2CF6-43F3-9813-9C11FDF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486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0444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2026-09-09T21:46:54.5380000Z</dcterms:created>
  <dcterms:modified xsi:type="dcterms:W3CDTF">2026-09-09T21:46:54.5380000Z</dcterms:modified>
</coreProperties>
</file>