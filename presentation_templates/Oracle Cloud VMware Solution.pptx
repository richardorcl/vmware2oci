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2c6ed90894244" /><Relationship Type="http://schemas.openxmlformats.org/officeDocument/2006/relationships/extended-properties" Target="/docProps/app.xml" Id="R685e2b28f0834ae6" /><Relationship Type="http://schemas.openxmlformats.org/officeDocument/2006/relationships/officeDocument" Target="/ppt/presentation.xml" Id="R4656cd75ec75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c057537eff443a"/>
  </p:sldMasterIdLst>
  <p:notesMasterIdLst>
    <p:notesMasterId xmlns:r="http://schemas.openxmlformats.org/officeDocument/2006/relationships" r:id="R6773e41eebd64754"/>
  </p:notesMasterIdLst>
  <p:sldIdLst>
    <p:sldId xmlns:r="http://schemas.openxmlformats.org/officeDocument/2006/relationships" id="256" r:id="R6a7d9eafa50a416c"/>
    <p:sldId xmlns:r="http://schemas.openxmlformats.org/officeDocument/2006/relationships" id="257" r:id="R2e1bd9f6d5d54d76"/>
    <p:sldId xmlns:r="http://schemas.openxmlformats.org/officeDocument/2006/relationships" id="258" r:id="R2b9f800dcf5b4c6d"/>
    <p:sldId xmlns:r="http://schemas.openxmlformats.org/officeDocument/2006/relationships" id="259" r:id="R5cd5fb263e104341"/>
    <p:sldId xmlns:r="http://schemas.openxmlformats.org/officeDocument/2006/relationships" id="260" r:id="Ref18a35e68594c77"/>
    <p:sldId xmlns:r="http://schemas.openxmlformats.org/officeDocument/2006/relationships" id="261" r:id="R1e992d4a2eb94af9"/>
    <p:sldId xmlns:r="http://schemas.openxmlformats.org/officeDocument/2006/relationships" id="262" r:id="R24f20eb6b8bf43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3803c83cb4724" /><Relationship Type="http://schemas.openxmlformats.org/officeDocument/2006/relationships/slideMaster" Target="/ppt/slideMasters/slideMaster1.xml" Id="Rafc057537eff443a" /><Relationship Type="http://schemas.openxmlformats.org/officeDocument/2006/relationships/notesMaster" Target="/ppt/notesMasters/notesMaster1.xml" Id="R6773e41eebd64754" /><Relationship Type="http://schemas.openxmlformats.org/officeDocument/2006/relationships/presProps" Target="/ppt/presProps.xml" Id="R5bbc174aad454491" /><Relationship Type="http://schemas.openxmlformats.org/officeDocument/2006/relationships/viewProps" Target="/ppt/viewProps.xml" Id="R473cb4bf30e741d6" /><Relationship Type="http://schemas.openxmlformats.org/officeDocument/2006/relationships/tableStyles" Target="/ppt/tableStyles.xml" Id="Rfa7423e37d8e42dd" /><Relationship Type="http://schemas.openxmlformats.org/officeDocument/2006/relationships/slide" Target="/ppt/slides/slide1.xml" Id="R6a7d9eafa50a416c" /><Relationship Type="http://schemas.openxmlformats.org/officeDocument/2006/relationships/slide" Target="/ppt/slides/slide2.xml" Id="R2e1bd9f6d5d54d76" /><Relationship Type="http://schemas.openxmlformats.org/officeDocument/2006/relationships/slide" Target="/ppt/slides/slide3.xml" Id="R2b9f800dcf5b4c6d" /><Relationship Type="http://schemas.openxmlformats.org/officeDocument/2006/relationships/slide" Target="/ppt/slides/slide4.xml" Id="R5cd5fb263e104341" /><Relationship Type="http://schemas.openxmlformats.org/officeDocument/2006/relationships/slide" Target="/ppt/slides/slide5.xml" Id="Ref18a35e68594c77" /><Relationship Type="http://schemas.openxmlformats.org/officeDocument/2006/relationships/slide" Target="/ppt/slides/slide6.xml" Id="R1e992d4a2eb94af9" /><Relationship Type="http://schemas.openxmlformats.org/officeDocument/2006/relationships/slide" Target="/ppt/slides/slide7.xml" Id="R24f20eb6b8bf43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26eed2cd0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cbcc4483c423f" /><Relationship Type="http://schemas.openxmlformats.org/officeDocument/2006/relationships/notesMaster" Target="/ppt/notesMasters/notesMaster1.xml" Id="Rf5ee34025e5c41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fd9ed5e07846c8" /><Relationship Type="http://schemas.openxmlformats.org/officeDocument/2006/relationships/notesMaster" Target="/ppt/notesMasters/notesMaster1.xml" Id="R25cd310bb02e45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3de2c33e34e14" /><Relationship Type="http://schemas.openxmlformats.org/officeDocument/2006/relationships/notesMaster" Target="/ppt/notesMasters/notesMaster1.xml" Id="Rba5088941e434c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9a83afa4134352" /><Relationship Type="http://schemas.openxmlformats.org/officeDocument/2006/relationships/notesMaster" Target="/ppt/notesMasters/notesMaster1.xml" Id="Rbabe1c3558e3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a4d2b6a8d340db" /><Relationship Type="http://schemas.openxmlformats.org/officeDocument/2006/relationships/notesMaster" Target="/ppt/notesMasters/notesMaster1.xml" Id="R7e454ac17c1944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b10e0410654990" /><Relationship Type="http://schemas.openxmlformats.org/officeDocument/2006/relationships/notesMaster" Target="/ppt/notesMasters/notesMaster1.xml" Id="Rd8746471ab7f49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d9a711369499d" /><Relationship Type="http://schemas.openxmlformats.org/officeDocument/2006/relationships/notesMaster" Target="/ppt/notesMasters/notesMaster1.xml" Id="Rf9131949cc8a48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1 of the provided PowerPoint. Oracle logo, Oracle mark, row icons, and the right-side Oracle Cloud VMware Solution illustration are kept as cropped image assets from the source. Visible title, sizing label, and customer/date/prepared-by text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2 of the provided PowerPoint. Oracle logo and all icons/pictograms are kept as cropped image assets from the source. Text, panels, arrows, table-like labels, callout, separators, and business-outcome copy are recreated as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4 of the provided PowerPoint. Oracle logo is kept as a cropped image asset from the source; confidentiality labels and grey background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193080ba3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b396c85b294d81" /><Relationship Type="http://schemas.openxmlformats.org/officeDocument/2006/relationships/slideLayout" Target="/ppt/slideLayouts/slideLayout1.xml" Id="R26d3a8d0600e48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d3a8d0600e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ae49fed57440d" /><Relationship Type="http://schemas.openxmlformats.org/officeDocument/2006/relationships/image" Target="/ppt/media/image.png" Id="R8084a9032b384254" /><Relationship Type="http://schemas.openxmlformats.org/officeDocument/2006/relationships/image" Target="/ppt/media/image2.png" Id="R15ec0b705fb2486f" /><Relationship Type="http://schemas.openxmlformats.org/officeDocument/2006/relationships/image" Target="/ppt/media/image3.png" Id="Rc98e0e84e69045c5" /><Relationship Type="http://schemas.openxmlformats.org/officeDocument/2006/relationships/image" Target="/ppt/media/image4.png" Id="R2b062d0057264e71" /><Relationship Type="http://schemas.openxmlformats.org/officeDocument/2006/relationships/image" Target="/ppt/media/image5.png" Id="R3bca851157de4d6c" /><Relationship Type="http://schemas.openxmlformats.org/officeDocument/2006/relationships/image" Target="/ppt/media/image6.png" Id="R4524914868054ef9" /><Relationship Type="http://schemas.openxmlformats.org/officeDocument/2006/relationships/notesSlide" Target="/ppt/notesSlides/notesSlide1.xml" Id="Rab146a3e7699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de8dbe2ec49b4" /><Relationship Type="http://schemas.openxmlformats.org/officeDocument/2006/relationships/image" Target="/ppt/media/image7.png" Id="R396c2785746a4f0c" /><Relationship Type="http://schemas.openxmlformats.org/officeDocument/2006/relationships/image" Target="/ppt/media/image8.png" Id="Rf603d8d9ad1548da" /><Relationship Type="http://schemas.openxmlformats.org/officeDocument/2006/relationships/image" Target="/ppt/media/image9.png" Id="Rf97174ca877d43f4" /><Relationship Type="http://schemas.openxmlformats.org/officeDocument/2006/relationships/image" Target="/ppt/media/image10.png" Id="R64fd406e1fed4040" /><Relationship Type="http://schemas.openxmlformats.org/officeDocument/2006/relationships/image" Target="/ppt/media/image11.png" Id="Rb24393d1be5b49d4" /><Relationship Type="http://schemas.openxmlformats.org/officeDocument/2006/relationships/image" Target="/ppt/media/image12.png" Id="R925b97921af6418f" /><Relationship Type="http://schemas.openxmlformats.org/officeDocument/2006/relationships/image" Target="/ppt/media/image13.png" Id="R52137a8686fe4fde" /><Relationship Type="http://schemas.openxmlformats.org/officeDocument/2006/relationships/image" Target="/ppt/media/image14.png" Id="Ra293f6646d6f456f" /><Relationship Type="http://schemas.openxmlformats.org/officeDocument/2006/relationships/image" Target="/ppt/media/image15.png" Id="Rb91b321dee314c62" /><Relationship Type="http://schemas.openxmlformats.org/officeDocument/2006/relationships/image" Target="/ppt/media/image16.png" Id="Rbd1e367b17f84a3b" /><Relationship Type="http://schemas.openxmlformats.org/officeDocument/2006/relationships/image" Target="/ppt/media/image17.png" Id="R02a7c569917b4d5f" /><Relationship Type="http://schemas.openxmlformats.org/officeDocument/2006/relationships/image" Target="/ppt/media/image18.png" Id="Ra19a7a8c45a54ea6" /><Relationship Type="http://schemas.openxmlformats.org/officeDocument/2006/relationships/image" Target="/ppt/media/image19.png" Id="R37710de0524345b8" /><Relationship Type="http://schemas.openxmlformats.org/officeDocument/2006/relationships/image" Target="/ppt/media/image20.png" Id="Rff4c07ad8a5e43f7" /><Relationship Type="http://schemas.openxmlformats.org/officeDocument/2006/relationships/image" Target="/ppt/media/image21.png" Id="Rffa8d80ab246449e" /><Relationship Type="http://schemas.openxmlformats.org/officeDocument/2006/relationships/image" Target="/ppt/media/image22.png" Id="Rcbd48539136d452e" /><Relationship Type="http://schemas.openxmlformats.org/officeDocument/2006/relationships/image" Target="/ppt/media/image23.png" Id="Rda41357abcb4411e" /><Relationship Type="http://schemas.openxmlformats.org/officeDocument/2006/relationships/image" Target="/ppt/media/image24.png" Id="Re586c5a47d56460e" /><Relationship Type="http://schemas.openxmlformats.org/officeDocument/2006/relationships/image" Target="/ppt/media/image25.png" Id="R8c5d57e3971f43ae" /><Relationship Type="http://schemas.openxmlformats.org/officeDocument/2006/relationships/image" Target="/ppt/media/image26.png" Id="Rdd7338292d824ae4" /><Relationship Type="http://schemas.openxmlformats.org/officeDocument/2006/relationships/image" Target="/ppt/media/image27.png" Id="Red81a9c19c544cb0" /><Relationship Type="http://schemas.openxmlformats.org/officeDocument/2006/relationships/image" Target="/ppt/media/image28.png" Id="R2f6b28408f9a4e46" /><Relationship Type="http://schemas.openxmlformats.org/officeDocument/2006/relationships/image" Target="/ppt/media/image29.png" Id="R05f07add121a4d68" /><Relationship Type="http://schemas.openxmlformats.org/officeDocument/2006/relationships/image" Target="/ppt/media/image30.png" Id="R6328114822634177" /><Relationship Type="http://schemas.openxmlformats.org/officeDocument/2006/relationships/image" Target="/ppt/media/image31.png" Id="R1f8cc58fb5094f0d" /><Relationship Type="http://schemas.openxmlformats.org/officeDocument/2006/relationships/image" Target="/ppt/media/image32.png" Id="R6492620dd7954080" /><Relationship Type="http://schemas.openxmlformats.org/officeDocument/2006/relationships/notesSlide" Target="/ppt/notesSlides/notesSlide2.xml" Id="Rbb7116e6ddee4e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5104283884140" /><Relationship Type="http://schemas.openxmlformats.org/officeDocument/2006/relationships/image" Target="/ppt/media/image33.png" Id="R0a47974b4ad8439f" /><Relationship Type="http://schemas.openxmlformats.org/officeDocument/2006/relationships/image" Target="/ppt/media/image34.png" Id="Re7d7358de7f54ce6" /><Relationship Type="http://schemas.openxmlformats.org/officeDocument/2006/relationships/notesSlide" Target="/ppt/notesSlides/notesSlide3.xml" Id="R41bbef06c10744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4e0d29b18460e" /><Relationship Type="http://schemas.openxmlformats.org/officeDocument/2006/relationships/image" Target="/ppt/media/image35.png" Id="R79ea4415627c460f" /><Relationship Type="http://schemas.openxmlformats.org/officeDocument/2006/relationships/image" Target="/ppt/media/image36.png" Id="Rb9bc34237b584f4b" /><Relationship Type="http://schemas.openxmlformats.org/officeDocument/2006/relationships/image" Target="/ppt/media/image37.png" Id="R4bc57fcbbe8e450d" /><Relationship Type="http://schemas.openxmlformats.org/officeDocument/2006/relationships/image" Target="/ppt/media/image38.png" Id="R29ea29f3b93145e4" /><Relationship Type="http://schemas.openxmlformats.org/officeDocument/2006/relationships/image" Target="/ppt/media/image39.png" Id="R86741f87a57a4499" /><Relationship Type="http://schemas.openxmlformats.org/officeDocument/2006/relationships/image" Target="/ppt/media/image40.png" Id="R1d02560fe76d4309" /><Relationship Type="http://schemas.openxmlformats.org/officeDocument/2006/relationships/image" Target="/ppt/media/image41.png" Id="Rf8a047aad91d48a5" /><Relationship Type="http://schemas.openxmlformats.org/officeDocument/2006/relationships/image" Target="/ppt/media/image42.png" Id="Rc0b885c4f966400e" /><Relationship Type="http://schemas.openxmlformats.org/officeDocument/2006/relationships/image" Target="/ppt/media/image43.png" Id="R310cfa7c3e82406c" /><Relationship Type="http://schemas.openxmlformats.org/officeDocument/2006/relationships/notesSlide" Target="/ppt/notesSlides/notesSlide4.xml" Id="R5614ff9eaef440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8ef973c52417c" /><Relationship Type="http://schemas.openxmlformats.org/officeDocument/2006/relationships/image" Target="/ppt/media/image44.png" Id="R04c21377859c49eb" /><Relationship Type="http://schemas.openxmlformats.org/officeDocument/2006/relationships/image" Target="/ppt/media/image45.png" Id="R7c232d62fd8f470c" /><Relationship Type="http://schemas.openxmlformats.org/officeDocument/2006/relationships/notesSlide" Target="/ppt/notesSlides/notesSlide5.xml" Id="Rb5dd5cdc2e9b4f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afa2a8e874765" /><Relationship Type="http://schemas.openxmlformats.org/officeDocument/2006/relationships/image" Target="/ppt/media/image46.png" Id="Re337664b52134666" /><Relationship Type="http://schemas.openxmlformats.org/officeDocument/2006/relationships/image" Target="/ppt/media/image47.png" Id="R87659b2f8b3c47d9" /><Relationship Type="http://schemas.openxmlformats.org/officeDocument/2006/relationships/notesSlide" Target="/ppt/notesSlides/notesSlide6.xml" Id="R96c014ea27b9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7e43e27e946b6" /><Relationship Type="http://schemas.openxmlformats.org/officeDocument/2006/relationships/image" Target="/ppt/media/image48.png" Id="R54cb2e4cadb14f65" /><Relationship Type="http://schemas.openxmlformats.org/officeDocument/2006/relationships/notesSlide" Target="/ppt/notesSlides/notesSlide7.xml" Id="Ra23fcc27f77240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4696C5B5-BCFA-4425-B931-C6A2F4CF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375AA658-C774-489C-98AA-71460C4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98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F6E5068-3122-4247-9AB7-38EBFA2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BF01C8E-6137-4231-8D77-A754E49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10343F5-2252-4F30-81D6-73B3376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6BA590D-5274-475F-AEBD-A987F53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F11CAD1-90ED-4491-A3BE-A83AEE7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76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7FB2515-F71F-4A18-8796-33CCAB4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381125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52F6077-993B-4744-8476-4A5DEA1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62625"/>
            <a:ext cx="2952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4a9032b384254"/>
          <a:stretch xmlns:a="http://schemas.openxmlformats.org/drawingml/2006/main"/>
        </p:blipFill>
        <p:spPr>
          <a:xfrm xmlns:a="http://schemas.openxmlformats.org/drawingml/2006/main">
            <a:off x="333375" y="295275"/>
            <a:ext cx="2152650" cy="704850"/>
          </a:xfrm>
          <a:prstGeom xmlns:a="http://schemas.openxmlformats.org/drawingml/2006/main" prst="rect">
            <a:avLst/>
          </a:prstGeom>
        </p:spPr>
      </p:pic>
      <p:pic>
        <p:nvPicPr>
          <p:cNvPr id="46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c0b705fb2486f"/>
          <a:stretch xmlns:a="http://schemas.openxmlformats.org/drawingml/2006/main"/>
        </p:blipFill>
        <p:spPr>
          <a:xfrm xmlns:a="http://schemas.openxmlformats.org/drawingml/2006/main">
            <a:off x="6096000" y="476250"/>
            <a:ext cx="5524500" cy="500062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E18B706-8D3E-4081-9607-FAFE11CA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335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Oracle Cloud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13ED40B-2727-41E5-9FA9-6767E03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00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VMware Solution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7D35AF-65D4-4A89-A0BA-25432591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CC6015-522F-4A3D-A984-81E7C71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Sizing</a:t>
            </a:r>
          </a:p>
        </p:txBody>
      </p:sp>
      <p:pic>
        <p:nvPicPr>
          <p:cNvPr id="51" name="Pictur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e0e84e69045c5"/>
          <a:stretch xmlns:a="http://schemas.openxmlformats.org/drawingml/2006/main"/>
        </p:blipFill>
        <p:spPr>
          <a:xfrm xmlns:a="http://schemas.openxmlformats.org/drawingml/2006/main">
            <a:off x="409575" y="451485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766A464C-B41C-4A32-B41D-BFAE1B3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4955B22-66CD-4132-A773-8F5CF233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81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9" name="editable-customer-value">
            <a:extLst xmlns:a="http://schemas.openxmlformats.org/drawingml/2006/main">
              <a:ext uri="{FF2B5EF4-FFF2-40B4-BE49-F238E27FC236}">
                <a16:creationId xmlns:a16="http://schemas.microsoft.com/office/drawing/2014/main" id="{BE76D494-55F5-4B36-BA24-6D15C41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pic>
        <p:nvPicPr>
          <p:cNvPr id="55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62d0057264e71"/>
          <a:stretch xmlns:a="http://schemas.openxmlformats.org/drawingml/2006/main"/>
        </p:blipFill>
        <p:spPr>
          <a:xfrm xmlns:a="http://schemas.openxmlformats.org/drawingml/2006/main">
            <a:off x="409575" y="5133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2C0F680F-8892-4F5E-9A05-8BE56BC3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53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72916E2-4478-4F86-A366-DBB47E5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3" name="editable-date-value">
            <a:extLst xmlns:a="http://schemas.openxmlformats.org/drawingml/2006/main">
              <a:ext uri="{FF2B5EF4-FFF2-40B4-BE49-F238E27FC236}">
                <a16:creationId xmlns:a16="http://schemas.microsoft.com/office/drawing/2014/main" id="{DD2D484A-CE83-4CF9-B570-03AA9C51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578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May 2025</a:t>
            </a:r>
          </a:p>
        </p:txBody>
      </p:sp>
      <p:pic>
        <p:nvPicPr>
          <p:cNvPr id="59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a851157de4d6c"/>
          <a:stretch xmlns:a="http://schemas.openxmlformats.org/drawingml/2006/main"/>
        </p:blipFill>
        <p:spPr>
          <a:xfrm xmlns:a="http://schemas.openxmlformats.org/drawingml/2006/main">
            <a:off x="409575" y="575310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5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B3390FB1-CD6B-41FD-9B09-6D59830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530C77E-C4B2-416C-9770-1B40B59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AA52625-B2E2-4958-9002-F06DCF48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7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Oracle Cloud VMware Specialist</a:t>
            </a:r>
          </a:p>
        </p:txBody>
      </p:sp>
      <p:pic>
        <p:nvPicPr>
          <p:cNvPr id="63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4914868054ef9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70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AAB06BC8-904B-407D-BF97-C04A89B1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86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A421FEF-A251-4C1D-92C0-ABE93290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52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978EC43-C228-4B86-BD1D-DB469B0A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152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A362E22-A2F6-4AA2-8A22-035E46E5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0763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C4B185BA-99C6-431E-B908-FDE74A2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3054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C4AD11-CDCB-4A95-89FF-35F1710B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881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Center Migration with Oracle Cloud VMware Solution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1281950-377B-41A5-BFA9-211263B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9334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6BF907D-57F9-4F74-9F10-EC873A2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1430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Migrate VMware workloads to OCI while preserving operational consistency.</a:t>
            </a:r>
          </a:p>
        </p:txBody>
      </p:sp>
      <p:pic>
        <p:nvPicPr>
          <p:cNvPr id="154" name="Picture 1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c2785746a4f0c"/>
          <a:stretch xmlns:a="http://schemas.openxmlformats.org/drawingml/2006/main"/>
        </p:blipFill>
        <p:spPr>
          <a:xfrm xmlns:a="http://schemas.openxmlformats.org/drawingml/2006/main">
            <a:off x="9544050" y="457200"/>
            <a:ext cx="2505075" cy="295275"/>
          </a:xfrm>
          <a:prstGeom xmlns:a="http://schemas.openxmlformats.org/drawingml/2006/main" prst="rect">
            <a:avLst/>
          </a:prstGeom>
        </p:spPr>
      </p:pic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2D41265-0F7D-45A0-8820-DC91E23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85900"/>
            <a:ext cx="9505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6" name="Picture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3d8d9ad1548da"/>
          <a:stretch xmlns:a="http://schemas.openxmlformats.org/drawingml/2006/main"/>
        </p:blipFill>
        <p:spPr>
          <a:xfrm xmlns:a="http://schemas.openxmlformats.org/drawingml/2006/main">
            <a:off x="523875" y="1670617"/>
            <a:ext cx="371475" cy="344941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A439A60-602B-4BC7-8D26-B7081F12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continuity for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mission-critical applications</a:t>
            </a:r>
          </a:p>
        </p:txBody>
      </p:sp>
      <p:pic>
        <p:nvPicPr>
          <p:cNvPr id="158" name="Picture 1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174ca877d43f4"/>
          <a:stretch xmlns:a="http://schemas.openxmlformats.org/drawingml/2006/main"/>
        </p:blipFill>
        <p:spPr>
          <a:xfrm xmlns:a="http://schemas.openxmlformats.org/drawingml/2006/main">
            <a:off x="2990850" y="1677988"/>
            <a:ext cx="371475" cy="330200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1D35F7-8582-43F6-8D0A-89AB099D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Maintain systems without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 disruption</a:t>
            </a:r>
          </a:p>
        </p:txBody>
      </p:sp>
      <p:pic>
        <p:nvPicPr>
          <p:cNvPr id="160" name="Picture 1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d406e1fed4040"/>
          <a:stretch xmlns:a="http://schemas.openxmlformats.org/drawingml/2006/main"/>
        </p:blipFill>
        <p:spPr>
          <a:xfrm xmlns:a="http://schemas.openxmlformats.org/drawingml/2006/main">
            <a:off x="5429250" y="1665793"/>
            <a:ext cx="371475" cy="35459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BED344-C8B2-448A-978B-1CB54667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Ensure recovery from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corruption &amp; cyberattacks</a:t>
            </a:r>
          </a:p>
        </p:txBody>
      </p:sp>
      <p:pic>
        <p:nvPicPr>
          <p:cNvPr id="162" name="Picture 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393d1be5b49d4"/>
          <a:stretch xmlns:a="http://schemas.openxmlformats.org/drawingml/2006/main"/>
        </p:blipFill>
        <p:spPr>
          <a:xfrm xmlns:a="http://schemas.openxmlformats.org/drawingml/2006/main">
            <a:off x="7953375" y="1670014"/>
            <a:ext cx="371475" cy="346147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1581696-20CF-42EC-946C-2E17E6F5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Meet defined RTO &amp; RPO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backups &amp; restores</a:t>
            </a:r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C7D05204-1F9A-4709-A9CA-DF4A0BA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EDC923C-3534-4BFD-B3C9-7886BC1B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72EC44E6-6E37-42DF-B0CA-644524BF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8740D5B-7891-4011-B7BD-453E36F8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562225" cy="3400425"/>
          </a:xfrm>
          <a:prstGeom xmlns:a="http://schemas.openxmlformats.org/drawingml/2006/main" prst="roundRect">
            <a:avLst>
              <a:gd name="adj" fmla="val 2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39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126FF3F-0B42-466A-8035-27E57C0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5622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2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E91AB13-FB98-484B-BDC0-DCC81637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00325"/>
            <a:ext cx="25622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F4A0A93-E6B0-4BC6-B846-878F007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pic>
        <p:nvPicPr>
          <p:cNvPr id="171" name="Picture 1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b97921af6418f"/>
          <a:stretch xmlns:a="http://schemas.openxmlformats.org/drawingml/2006/main"/>
        </p:blipFill>
        <p:spPr>
          <a:xfrm xmlns:a="http://schemas.openxmlformats.org/drawingml/2006/main">
            <a:off x="1286102" y="2838450"/>
            <a:ext cx="580571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FF73D31-34A3-4DD2-AA9D-BA367B3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C2F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C2F7A"/>
                </a:solidFill>
                <a:latin typeface="Arial"/>
                <a:ea typeface="Arial"/>
                <a:cs typeface="Arial"/>
              </a:rPr>
              <a:t>Existing Data Center</a:t>
            </a:r>
          </a:p>
        </p:txBody>
      </p:sp>
      <p:sp>
        <p:nvSpPr>
          <p:cNvPr id="29" name="Straight Connector 28">
            <a:extLst xmlns:a="http://schemas.openxmlformats.org/drawingml/2006/main">
              <a:ext uri="{FF2B5EF4-FFF2-40B4-BE49-F238E27FC236}">
                <a16:creationId xmlns:a16="http://schemas.microsoft.com/office/drawing/2014/main" id="{DF4E63A1-1B8B-4C89-B92D-EC6166D0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216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4" name="Picture 1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37a8686fe4fde"/>
          <a:stretch xmlns:a="http://schemas.openxmlformats.org/drawingml/2006/main"/>
        </p:blipFill>
        <p:spPr>
          <a:xfrm xmlns:a="http://schemas.openxmlformats.org/drawingml/2006/main">
            <a:off x="565785" y="3943350"/>
            <a:ext cx="24003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F2ABFD7-F5A0-4B33-B8EA-D8E3FDD0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Aging infrastructure</a:t>
            </a:r>
          </a:p>
        </p:txBody>
      </p:sp>
      <p:pic>
        <p:nvPicPr>
          <p:cNvPr id="176" name="Picture 1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3f6646d6f456f"/>
          <a:stretch xmlns:a="http://schemas.openxmlformats.org/drawingml/2006/main"/>
        </p:blipFill>
        <p:spPr>
          <a:xfrm xmlns:a="http://schemas.openxmlformats.org/drawingml/2006/main">
            <a:off x="565785" y="4371975"/>
            <a:ext cx="24003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8A6A276-EA36-4C9F-A3CE-DF93C8F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00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Hardware refresh cycles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7D5A6C5-1DBF-473F-9C7F-E3FB6CE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center consolidation</a:t>
            </a:r>
          </a:p>
        </p:txBody>
      </p:sp>
      <p:pic>
        <p:nvPicPr>
          <p:cNvPr id="179" name="Picture 1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b321dee314c62"/>
          <a:stretch xmlns:a="http://schemas.openxmlformats.org/drawingml/2006/main"/>
        </p:blipFill>
        <p:spPr>
          <a:xfrm xmlns:a="http://schemas.openxmlformats.org/drawingml/2006/main">
            <a:off x="576695" y="5181600"/>
            <a:ext cx="218209" cy="266700"/>
          </a:xfrm>
          <a:prstGeom xmlns:a="http://schemas.openxmlformats.org/drawingml/2006/main" prst="rect">
            <a:avLst/>
          </a:prstGeom>
        </p:spPr>
      </p:pic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D2FC335-A2C6-4128-A481-5853ADD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Rising operational costs</a:t>
            </a:r>
          </a:p>
        </p:txBody>
      </p:sp>
      <p:sp>
        <p:nvSpPr>
          <p:cNvPr id="38" name="Straight Connector 37">
            <a:extLst xmlns:a="http://schemas.openxmlformats.org/drawingml/2006/main">
              <a:ext uri="{FF2B5EF4-FFF2-40B4-BE49-F238E27FC236}">
                <a16:creationId xmlns:a16="http://schemas.microsoft.com/office/drawing/2014/main" id="{B8AC3128-91EE-46EC-A43A-CB493229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F44CD3DF-4DD0-4CB1-87AF-E70CC05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3" name="Picture 1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e367b17f84a3b"/>
          <a:stretch xmlns:a="http://schemas.openxmlformats.org/drawingml/2006/main"/>
        </p:blipFill>
        <p:spPr>
          <a:xfrm xmlns:a="http://schemas.openxmlformats.org/drawingml/2006/main">
            <a:off x="2971800" y="3562350"/>
            <a:ext cx="342900" cy="342900"/>
          </a:xfrm>
          <a:prstGeom xmlns:a="http://schemas.openxmlformats.org/drawingml/2006/main" prst="rect">
            <a:avLst/>
          </a:prstGeom>
        </p:spPr>
      </p:pic>
      <p:pic>
        <p:nvPicPr>
          <p:cNvPr id="184" name="Picture 1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7c569917b4d5f"/>
          <a:stretch xmlns:a="http://schemas.openxmlformats.org/drawingml/2006/main"/>
        </p:blipFill>
        <p:spPr>
          <a:xfrm xmlns:a="http://schemas.openxmlformats.org/drawingml/2006/main">
            <a:off x="5929313" y="3562350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19A4CE51-971D-4792-AC0A-891171D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619375" cy="4000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B4B3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6A69CB2-811D-4AAA-AF87-04D22502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43175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MIGRATION &amp; WORKLOAD MOBILITY</a:t>
            </a:r>
          </a:p>
        </p:txBody>
      </p:sp>
      <p:pic>
        <p:nvPicPr>
          <p:cNvPr id="187" name="Picture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a7a8c45a54ea6"/>
          <a:stretch xmlns:a="http://schemas.openxmlformats.org/drawingml/2006/main"/>
        </p:blipFill>
        <p:spPr>
          <a:xfrm xmlns:a="http://schemas.openxmlformats.org/drawingml/2006/main">
            <a:off x="4346087" y="2838450"/>
            <a:ext cx="566127" cy="361950"/>
          </a:xfrm>
          <a:prstGeom xmlns:a="http://schemas.openxmlformats.org/drawingml/2006/main" prst="rect">
            <a:avLst/>
          </a:prstGeom>
        </p:spPr>
      </p:pic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0530EC25-0694-4248-96E3-B211E32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HCX Mobility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A615CE4B-2731-4B35-898C-CEB1DDE5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62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workload migration over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Internet, VPN, or FastConnect</a:t>
            </a:r>
          </a:p>
        </p:txBody>
      </p:sp>
      <p:pic>
        <p:nvPicPr>
          <p:cNvPr id="190" name="Picture 1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10de0524345b8"/>
          <a:stretch xmlns:a="http://schemas.openxmlformats.org/drawingml/2006/main"/>
        </p:blipFill>
        <p:spPr>
          <a:xfrm xmlns:a="http://schemas.openxmlformats.org/drawingml/2006/main">
            <a:off x="3600450" y="40290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91" name="Picture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c07ad8a5e43f7"/>
          <a:stretch xmlns:a="http://schemas.openxmlformats.org/drawingml/2006/main"/>
        </p:blipFill>
        <p:spPr>
          <a:xfrm xmlns:a="http://schemas.openxmlformats.org/drawingml/2006/main">
            <a:off x="4433623" y="4029075"/>
            <a:ext cx="314854" cy="323850"/>
          </a:xfrm>
          <a:prstGeom xmlns:a="http://schemas.openxmlformats.org/drawingml/2006/main" prst="rect">
            <a:avLst/>
          </a:prstGeom>
        </p:spPr>
      </p:pic>
      <p:pic>
        <p:nvPicPr>
          <p:cNvPr id="192" name="Picture 1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8d80ab246449e"/>
          <a:stretch xmlns:a="http://schemas.openxmlformats.org/drawingml/2006/main"/>
        </p:blipFill>
        <p:spPr>
          <a:xfrm xmlns:a="http://schemas.openxmlformats.org/drawingml/2006/main">
            <a:off x="5290751" y="4019550"/>
            <a:ext cx="315097" cy="323850"/>
          </a:xfrm>
          <a:prstGeom xmlns:a="http://schemas.openxmlformats.org/drawingml/2006/main" prst="rect">
            <a:avLst/>
          </a:prstGeom>
        </p:spPr>
      </p:pic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60471DFB-83D5-47C1-BCD1-7601D9C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29125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B84611E-1C4D-4EF7-8A84-A49FE46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912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VPN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1780942A-2E68-4682-A280-1680A74B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29125"/>
            <a:ext cx="647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FastConnect</a:t>
            </a:r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9F17C3B6-611D-4615-9CE5-425C7AB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863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7" name="Picture 1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48539136d452e"/>
          <a:stretch xmlns:a="http://schemas.openxmlformats.org/drawingml/2006/main"/>
        </p:blipFill>
        <p:spPr>
          <a:xfrm xmlns:a="http://schemas.openxmlformats.org/drawingml/2006/main">
            <a:off x="34474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9B91EC93-ED4C-40D8-BD14-DF85C66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pic>
        <p:nvPicPr>
          <p:cNvPr id="199" name="Picture 1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48539136d452e"/>
          <a:stretch xmlns:a="http://schemas.openxmlformats.org/drawingml/2006/main"/>
        </p:blipFill>
        <p:spPr>
          <a:xfrm xmlns:a="http://schemas.openxmlformats.org/drawingml/2006/main">
            <a:off x="41713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BCBF05A3-471C-4A3C-A18F-3B313805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Minimal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downtime</a:t>
            </a:r>
          </a:p>
        </p:txBody>
      </p:sp>
      <p:pic>
        <p:nvPicPr>
          <p:cNvPr id="201" name="Picture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48539136d452e"/>
          <a:stretch xmlns:a="http://schemas.openxmlformats.org/drawingml/2006/main"/>
        </p:blipFill>
        <p:spPr>
          <a:xfrm xmlns:a="http://schemas.openxmlformats.org/drawingml/2006/main">
            <a:off x="491430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F56778D7-1183-4F9D-8D4A-6BAB64E9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Network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extension</a:t>
            </a:r>
          </a:p>
        </p:txBody>
      </p:sp>
      <p:pic>
        <p:nvPicPr>
          <p:cNvPr id="203" name="Picture 1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48539136d452e"/>
          <a:stretch xmlns:a="http://schemas.openxmlformats.org/drawingml/2006/main"/>
        </p:blipFill>
        <p:spPr>
          <a:xfrm xmlns:a="http://schemas.openxmlformats.org/drawingml/2006/main">
            <a:off x="56191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FC31E4EB-4103-440D-B82A-A521151D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62" name="Straight Connector 61">
            <a:extLst xmlns:a="http://schemas.openxmlformats.org/drawingml/2006/main">
              <a:ext uri="{FF2B5EF4-FFF2-40B4-BE49-F238E27FC236}">
                <a16:creationId xmlns:a16="http://schemas.microsoft.com/office/drawing/2014/main" id="{9B36067F-69DD-41C7-913E-CA54F8C4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A2CB8EE4-87EE-4E03-B094-5FD3A96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traight Connector 63">
            <a:extLst xmlns:a="http://schemas.openxmlformats.org/drawingml/2006/main">
              <a:ext uri="{FF2B5EF4-FFF2-40B4-BE49-F238E27FC236}">
                <a16:creationId xmlns:a16="http://schemas.microsoft.com/office/drawing/2014/main" id="{6426E86F-678A-4620-838E-2022A55F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E7EB4DE1-92A8-4571-B2DB-1CEAEE0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62200"/>
            <a:ext cx="3276600" cy="3400425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90F601E3-5DB4-407B-AC57-46094BF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62200"/>
            <a:ext cx="3276600" cy="304800"/>
          </a:xfrm>
          <a:prstGeom xmlns:a="http://schemas.openxmlformats.org/drawingml/2006/main" prst="roundRect">
            <a:avLst>
              <a:gd name="adj" fmla="val 18750"/>
            </a:avLst>
          </a:prstGeom>
          <a:gradFill xmlns:a="http://schemas.openxmlformats.org/drawingml/2006/main">
            <a:gsLst>
              <a:gs pos="0">
                <a:srgbClr val="D60000"/>
              </a:gs>
              <a:gs pos="100000">
                <a:srgbClr val="E0000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C2628BBB-C0E5-4EC4-841E-C01D9E66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00325"/>
            <a:ext cx="3276600" cy="76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60000"/>
              </a:gs>
              <a:gs pos="100000">
                <a:srgbClr val="E0000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AEB0B200-61AC-4A68-AE1E-F69838E2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ORACLE CLOUD VMWARE SOLUTION (OCVS)</a:t>
            </a: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FB8BABC6-30D2-4A52-B11A-6B939958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3076575" cy="1924050"/>
          </a:xfrm>
          <a:prstGeom xmlns:a="http://schemas.openxmlformats.org/drawingml/2006/main" prst="roundRect">
            <a:avLst>
              <a:gd name="adj" fmla="val 297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3B3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10F27041-0BF5-4E7A-98B0-97186FDC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4" name="Picture 1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1357abcb4411e"/>
          <a:stretch xmlns:a="http://schemas.openxmlformats.org/drawingml/2006/main"/>
        </p:blipFill>
        <p:spPr>
          <a:xfrm xmlns:a="http://schemas.openxmlformats.org/drawingml/2006/main">
            <a:off x="6962775" y="28575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72" name="Rectangle 71">
            <a:extLst xmlns:a="http://schemas.openxmlformats.org/drawingml/2006/main">
              <a:ext uri="{FF2B5EF4-FFF2-40B4-BE49-F238E27FC236}">
                <a16:creationId xmlns:a16="http://schemas.microsoft.com/office/drawing/2014/main" id="{23D883D7-AF85-44DC-B421-337DCF5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33700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Virtual Cloud Network (VCN)</a:t>
            </a:r>
          </a:p>
        </p:txBody>
      </p:sp>
      <p:sp>
        <p:nvSpPr>
          <p:cNvPr id="73" name="Rounded Rectangle 72">
            <a:extLst xmlns:a="http://schemas.openxmlformats.org/drawingml/2006/main">
              <a:ext uri="{FF2B5EF4-FFF2-40B4-BE49-F238E27FC236}">
                <a16:creationId xmlns:a16="http://schemas.microsoft.com/office/drawing/2014/main" id="{ABC8CB99-54C1-4CB2-B732-0A80BE0D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27432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B07CF799-F2FD-4488-85E0-D54ED29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62325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VMware Environment</a:t>
            </a:r>
          </a:p>
        </p:txBody>
      </p:sp>
      <p:sp>
        <p:nvSpPr>
          <p:cNvPr id="75" name="Rounded Rectangle 74">
            <a:extLst xmlns:a="http://schemas.openxmlformats.org/drawingml/2006/main">
              <a:ext uri="{FF2B5EF4-FFF2-40B4-BE49-F238E27FC236}">
                <a16:creationId xmlns:a16="http://schemas.microsoft.com/office/drawing/2014/main" id="{5C004DA8-B8F3-4DA1-9101-8DFA2735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650187E2-3C76-4358-971F-A5F83C5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F5D3827B-AD91-4C24-8337-C6C255E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A5DB91C5-7016-4391-8755-A5764244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9" name="Rounded Rectangle 78">
            <a:extLst xmlns:a="http://schemas.openxmlformats.org/drawingml/2006/main">
              <a:ext uri="{FF2B5EF4-FFF2-40B4-BE49-F238E27FC236}">
                <a16:creationId xmlns:a16="http://schemas.microsoft.com/office/drawing/2014/main" id="{4889516B-E239-407F-BCE9-46811647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3BEB0685-037B-4035-9D14-32DB390E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pic>
        <p:nvPicPr>
          <p:cNvPr id="224" name="Picture 1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6c5a47d56460e"/>
          <a:stretch xmlns:a="http://schemas.openxmlformats.org/drawingml/2006/main"/>
        </p:blipFill>
        <p:spPr>
          <a:xfrm xmlns:a="http://schemas.openxmlformats.org/drawingml/2006/main">
            <a:off x="68008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D001E645-FE15-465C-80E8-8FE2D092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pic>
        <p:nvPicPr>
          <p:cNvPr id="226" name="Picture 1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6c5a47d56460e"/>
          <a:stretch xmlns:a="http://schemas.openxmlformats.org/drawingml/2006/main"/>
        </p:blipFill>
        <p:spPr>
          <a:xfrm xmlns:a="http://schemas.openxmlformats.org/drawingml/2006/main">
            <a:off x="77914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98A396A1-7F76-41A1-AFA8-7B70FA8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pic>
        <p:nvPicPr>
          <p:cNvPr id="228" name="Picture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6c5a47d56460e"/>
          <a:stretch xmlns:a="http://schemas.openxmlformats.org/drawingml/2006/main"/>
        </p:blipFill>
        <p:spPr>
          <a:xfrm xmlns:a="http://schemas.openxmlformats.org/drawingml/2006/main">
            <a:off x="87820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6" name="Rectangle 85">
            <a:extLst xmlns:a="http://schemas.openxmlformats.org/drawingml/2006/main">
              <a:ext uri="{FF2B5EF4-FFF2-40B4-BE49-F238E27FC236}">
                <a16:creationId xmlns:a16="http://schemas.microsoft.com/office/drawing/2014/main" id="{6C8D6220-BE6B-4F00-92AD-B7B4B47F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87" name="Rounded Rectangle 86">
            <a:extLst xmlns:a="http://schemas.openxmlformats.org/drawingml/2006/main">
              <a:ext uri="{FF2B5EF4-FFF2-40B4-BE49-F238E27FC236}">
                <a16:creationId xmlns:a16="http://schemas.microsoft.com/office/drawing/2014/main" id="{85064B4D-70EA-4445-BB7D-496EC13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000625"/>
            <a:ext cx="29718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1" name="Picture 2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d57e3971f43ae"/>
          <a:stretch xmlns:a="http://schemas.openxmlformats.org/drawingml/2006/main"/>
        </p:blipFill>
        <p:spPr>
          <a:xfrm xmlns:a="http://schemas.openxmlformats.org/drawingml/2006/main">
            <a:off x="6600825" y="5119407"/>
            <a:ext cx="304800" cy="295835"/>
          </a:xfrm>
          <a:prstGeom xmlns:a="http://schemas.openxmlformats.org/drawingml/2006/main" prst="rect">
            <a:avLst/>
          </a:prstGeom>
        </p:spPr>
      </p:pic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239622D7-450A-43E7-A736-51F812A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53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Customer-managed VMware environment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 OCI infrastructure</a:t>
            </a:r>
          </a:p>
        </p:txBody>
      </p:sp>
      <p:sp>
        <p:nvSpPr>
          <p:cNvPr id="90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8DBE4D25-A75E-4E29-94BA-C2969469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09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BUSINESS OUTCOMES</a:t>
            </a:r>
          </a:p>
        </p:txBody>
      </p:sp>
      <p:sp>
        <p:nvSpPr>
          <p:cNvPr id="91" name="Straight Connector 90">
            <a:extLst xmlns:a="http://schemas.openxmlformats.org/drawingml/2006/main">
              <a:ext uri="{FF2B5EF4-FFF2-40B4-BE49-F238E27FC236}">
                <a16:creationId xmlns:a16="http://schemas.microsoft.com/office/drawing/2014/main" id="{152CC60B-A654-417A-B940-4187C14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5" name="Picture 2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338292d824ae4"/>
          <a:stretch xmlns:a="http://schemas.openxmlformats.org/drawingml/2006/main"/>
        </p:blipFill>
        <p:spPr>
          <a:xfrm xmlns:a="http://schemas.openxmlformats.org/drawingml/2006/main">
            <a:off x="10067925" y="220980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DBB3291D-DF6C-4589-9632-71CD6DA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193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Center Exit</a:t>
            </a: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17BBA97F-6308-414A-A3BD-F1EFAE82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Retire on-premises data center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infrastructure.</a:t>
            </a:r>
          </a:p>
        </p:txBody>
      </p:sp>
      <p:sp>
        <p:nvSpPr>
          <p:cNvPr id="95" name="Straight Connector 94">
            <a:extLst xmlns:a="http://schemas.openxmlformats.org/drawingml/2006/main">
              <a:ext uri="{FF2B5EF4-FFF2-40B4-BE49-F238E27FC236}">
                <a16:creationId xmlns:a16="http://schemas.microsoft.com/office/drawing/2014/main" id="{ABF27BBB-4FC4-4204-B910-564CFD2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8F2C7EB8-3C5E-4D6F-83D6-D879E47C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718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Avoid Hardware Refresh</a:t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6E356DE7-70E3-453D-BDBB-1732D8E8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33725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Eliminate CAPEX for hardware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refresh cycles.</a:t>
            </a:r>
          </a:p>
        </p:txBody>
      </p:sp>
      <p:sp>
        <p:nvSpPr>
          <p:cNvPr id="99" name="Straight Connector 98">
            <a:extLst xmlns:a="http://schemas.openxmlformats.org/drawingml/2006/main">
              <a:ext uri="{FF2B5EF4-FFF2-40B4-BE49-F238E27FC236}">
                <a16:creationId xmlns:a16="http://schemas.microsoft.com/office/drawing/2014/main" id="{A0B1F0DE-6364-4393-A65A-846FF003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83A0D7F6-F887-46A0-AD2F-43D2833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052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Preserve VMware Operations</a:t>
            </a:r>
          </a:p>
        </p:txBody>
      </p:sp>
      <p:sp>
        <p:nvSpPr>
          <p:cNvPr id="102" name="Rectangle 101">
            <a:extLst xmlns:a="http://schemas.openxmlformats.org/drawingml/2006/main">
              <a:ext uri="{FF2B5EF4-FFF2-40B4-BE49-F238E27FC236}">
                <a16:creationId xmlns:a16="http://schemas.microsoft.com/office/drawing/2014/main" id="{7FF8650F-120C-46C8-9796-DFF94CC6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6715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Continue using the same tools,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processes, and skillsets.</a:t>
            </a:r>
          </a:p>
        </p:txBody>
      </p:sp>
      <p:sp>
        <p:nvSpPr>
          <p:cNvPr id="103" name="Straight Connector 102">
            <a:extLst xmlns:a="http://schemas.openxmlformats.org/drawingml/2006/main">
              <a:ext uri="{FF2B5EF4-FFF2-40B4-BE49-F238E27FC236}">
                <a16:creationId xmlns:a16="http://schemas.microsoft.com/office/drawing/2014/main" id="{F860E018-8289-484F-A615-C663BF9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576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21187F40-208C-46A7-B79A-F6D0B00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386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Reduce Infrastructure Complexity</a:t>
            </a:r>
          </a:p>
        </p:txBody>
      </p:sp>
      <p:sp>
        <p:nvSpPr>
          <p:cNvPr id="106" name="Rectangle 105">
            <a:extLst xmlns:a="http://schemas.openxmlformats.org/drawingml/2006/main">
              <a:ext uri="{FF2B5EF4-FFF2-40B4-BE49-F238E27FC236}">
                <a16:creationId xmlns:a16="http://schemas.microsoft.com/office/drawing/2014/main" id="{A32230F1-EC94-4EC2-A8F0-6274DC4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00575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Simplify operations and reduce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management overhead.</a:t>
            </a:r>
          </a:p>
        </p:txBody>
      </p:sp>
      <p:sp>
        <p:nvSpPr>
          <p:cNvPr id="107" name="Straight Connector 106">
            <a:extLst xmlns:a="http://schemas.openxmlformats.org/drawingml/2006/main">
              <a:ext uri="{FF2B5EF4-FFF2-40B4-BE49-F238E27FC236}">
                <a16:creationId xmlns:a16="http://schemas.microsoft.com/office/drawing/2014/main" id="{F3AF8AAD-B7D2-40DA-A537-6537F56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911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0BC0A0C5-1CD9-49EC-8B69-80C9C62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720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Accelerate Cloud Adoption</a:t>
            </a: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5154D960-EF8D-4A15-A66E-6C93ACD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Move to the cloud at your own pace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lower risk.</a:t>
            </a:r>
          </a:p>
        </p:txBody>
      </p:sp>
      <p:sp>
        <p:nvSpPr>
          <p:cNvPr id="111" name="Rounded Rectangle 110">
            <a:extLst xmlns:a="http://schemas.openxmlformats.org/drawingml/2006/main">
              <a:ext uri="{FF2B5EF4-FFF2-40B4-BE49-F238E27FC236}">
                <a16:creationId xmlns:a16="http://schemas.microsoft.com/office/drawing/2014/main" id="{ACEA0D02-1655-4D6C-907E-7CA8F2DA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924550"/>
            <a:ext cx="9248775" cy="685800"/>
          </a:xfrm>
          <a:prstGeom xmlns:a="http://schemas.openxmlformats.org/drawingml/2006/main" prst="roundRect">
            <a:avLst>
              <a:gd name="adj" fmla="val 9722"/>
            </a:avLst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6482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1" name="Picture 2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1a9c19c544cb0"/>
          <a:stretch xmlns:a="http://schemas.openxmlformats.org/drawingml/2006/main"/>
        </p:blipFill>
        <p:spPr>
          <a:xfrm xmlns:a="http://schemas.openxmlformats.org/drawingml/2006/main">
            <a:off x="476250" y="5995829"/>
            <a:ext cx="552450" cy="543243"/>
          </a:xfrm>
          <a:prstGeom xmlns:a="http://schemas.openxmlformats.org/drawingml/2006/main" prst="rect">
            <a:avLst/>
          </a:prstGeom>
        </p:spPr>
      </p:pic>
      <p:sp>
        <p:nvSpPr>
          <p:cNvPr id="113" name="Rectangle 112">
            <a:extLst xmlns:a="http://schemas.openxmlformats.org/drawingml/2006/main">
              <a:ext uri="{FF2B5EF4-FFF2-40B4-BE49-F238E27FC236}">
                <a16:creationId xmlns:a16="http://schemas.microsoft.com/office/drawing/2014/main" id="{5C7BD333-122E-435D-9BA0-51C4A00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03885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Migrate VMware workloads at your own pace while preserving existing tools,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processes, and operational models.</a:t>
            </a:r>
          </a:p>
        </p:txBody>
      </p:sp>
      <p:pic>
        <p:nvPicPr>
          <p:cNvPr id="25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b28408f9a4e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0300" y="2918460"/>
            <a:ext cx="534489" cy="534489"/>
          </a:xfrm>
          <a:prstGeom xmlns:a="http://schemas.openxmlformats.org/drawingml/2006/main" prst="rect">
            <a:avLst/>
          </a:prstGeom>
        </p:spPr>
      </p:pic>
      <p:pic>
        <p:nvPicPr>
          <p:cNvPr id="25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07add121a4d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5128" y="3645801"/>
            <a:ext cx="560023" cy="535674"/>
          </a:xfrm>
          <a:prstGeom xmlns:a="http://schemas.openxmlformats.org/drawingml/2006/main" prst="rect">
            <a:avLst/>
          </a:prstGeom>
        </p:spPr>
      </p:pic>
      <p:pic>
        <p:nvPicPr>
          <p:cNvPr id="25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8114822634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3627" y="4385038"/>
            <a:ext cx="567690" cy="544036"/>
          </a:xfrm>
          <a:prstGeom xmlns:a="http://schemas.openxmlformats.org/drawingml/2006/main" prst="rect">
            <a:avLst/>
          </a:prstGeom>
        </p:spPr>
      </p:pic>
      <p:pic>
        <p:nvPicPr>
          <p:cNvPr id="256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cc58fb5094f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2200" y="5110162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257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2620dd7954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898" y="4703030"/>
            <a:ext cx="376657" cy="4237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57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Current Environment-title">
            <a:extLst xmlns:a="http://schemas.openxmlformats.org/drawingml/2006/main">
              <a:ext uri="{FF2B5EF4-FFF2-40B4-BE49-F238E27FC236}">
                <a16:creationId xmlns:a16="http://schemas.microsoft.com/office/drawing/2014/main" id="{1D8277E6-0E8D-4B1C-BE8B-0DFE6F3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sp>
        <p:nvSpPr>
          <p:cNvPr id="2" name="Current Environment-rule">
            <a:extLst xmlns:a="http://schemas.openxmlformats.org/drawingml/2006/main">
              <a:ext uri="{FF2B5EF4-FFF2-40B4-BE49-F238E27FC236}">
                <a16:creationId xmlns:a16="http://schemas.microsoft.com/office/drawing/2014/main" id="{5DE07460-2E25-4CF6-A8CC-3E5E2ECA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Current Environment-subtitle">
            <a:extLst xmlns:a="http://schemas.openxmlformats.org/drawingml/2006/main">
              <a:ext uri="{FF2B5EF4-FFF2-40B4-BE49-F238E27FC236}">
                <a16:creationId xmlns:a16="http://schemas.microsoft.com/office/drawing/2014/main" id="{377BC7BF-A4FE-4E62-B1C3-EFD2395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Analysis based on the selected RVTools assessment scope.</a:t>
            </a:r>
          </a:p>
        </p:txBody>
      </p:sp>
      <p:sp>
        <p:nvSpPr>
          <p:cNvPr id="4" name="Current Environment-footer">
            <a:extLst xmlns:a="http://schemas.openxmlformats.org/drawingml/2006/main">
              <a:ext uri="{FF2B5EF4-FFF2-40B4-BE49-F238E27FC236}">
                <a16:creationId xmlns:a16="http://schemas.microsoft.com/office/drawing/2014/main" id="{AEB8A7D7-EE0B-435D-ABD0-990406F9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current-vms">
            <a:extLst xmlns:a="http://schemas.openxmlformats.org/drawingml/2006/main">
              <a:ext uri="{FF2B5EF4-FFF2-40B4-BE49-F238E27FC236}">
                <a16:creationId xmlns:a16="http://schemas.microsoft.com/office/drawing/2014/main" id="{7969E390-7BAD-4E60-8B91-07F195F4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current-powered-on">
            <a:extLst xmlns:a="http://schemas.openxmlformats.org/drawingml/2006/main">
              <a:ext uri="{FF2B5EF4-FFF2-40B4-BE49-F238E27FC236}">
                <a16:creationId xmlns:a16="http://schemas.microsoft.com/office/drawing/2014/main" id="{B034B364-5C06-4AC6-AECF-BA6D7DC0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current-powered-off">
            <a:extLst xmlns:a="http://schemas.openxmlformats.org/drawingml/2006/main">
              <a:ext uri="{FF2B5EF4-FFF2-40B4-BE49-F238E27FC236}">
                <a16:creationId xmlns:a16="http://schemas.microsoft.com/office/drawing/2014/main" id="{5C15AD4A-EF3A-44EF-9F68-D5E9F2C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current-vcpus">
            <a:extLst xmlns:a="http://schemas.openxmlformats.org/drawingml/2006/main">
              <a:ext uri="{FF2B5EF4-FFF2-40B4-BE49-F238E27FC236}">
                <a16:creationId xmlns:a16="http://schemas.microsoft.com/office/drawing/2014/main" id="{A81CC16D-8F54-4CC2-9A5E-A940D5DC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current-vram">
            <a:extLst xmlns:a="http://schemas.openxmlformats.org/drawingml/2006/main">
              <a:ext uri="{FF2B5EF4-FFF2-40B4-BE49-F238E27FC236}">
                <a16:creationId xmlns:a16="http://schemas.microsoft.com/office/drawing/2014/main" id="{01C54D88-22F9-4D46-A7E2-858C683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current-storage">
            <a:extLst xmlns:a="http://schemas.openxmlformats.org/drawingml/2006/main">
              <a:ext uri="{FF2B5EF4-FFF2-40B4-BE49-F238E27FC236}">
                <a16:creationId xmlns:a16="http://schemas.microsoft.com/office/drawing/2014/main" id="{CD2DD363-C83E-4773-A04A-B0F2147D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current-cluster-panel">
            <a:extLst xmlns:a="http://schemas.openxmlformats.org/drawingml/2006/main">
              <a:ext uri="{FF2B5EF4-FFF2-40B4-BE49-F238E27FC236}">
                <a16:creationId xmlns:a16="http://schemas.microsoft.com/office/drawing/2014/main" id="{202B316C-A3FC-4CDC-86F5-08C3A32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current-cluster-band">
            <a:extLst xmlns:a="http://schemas.openxmlformats.org/drawingml/2006/main">
              <a:ext uri="{FF2B5EF4-FFF2-40B4-BE49-F238E27FC236}">
                <a16:creationId xmlns:a16="http://schemas.microsoft.com/office/drawing/2014/main" id="{C7F2EC04-F6D8-4293-97CD-7C4C93EC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current-cluster-band-label">
            <a:extLst xmlns:a="http://schemas.openxmlformats.org/drawingml/2006/main">
              <a:ext uri="{FF2B5EF4-FFF2-40B4-BE49-F238E27FC236}">
                <a16:creationId xmlns:a16="http://schemas.microsoft.com/office/drawing/2014/main" id="{01A5D460-3398-434E-800A-52786BE0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Environment</a:t>
            </a:r>
          </a:p>
        </p:txBody>
      </p:sp>
      <p:sp>
        <p:nvSpPr>
          <p:cNvPr id="14" name="current-column-Source cluster">
            <a:extLst xmlns:a="http://schemas.openxmlformats.org/drawingml/2006/main">
              <a:ext uri="{FF2B5EF4-FFF2-40B4-BE49-F238E27FC236}">
                <a16:creationId xmlns:a16="http://schemas.microsoft.com/office/drawing/2014/main" id="{771341A9-6600-4758-AA3E-FD188504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15" name="current-column-VMs">
            <a:extLst xmlns:a="http://schemas.openxmlformats.org/drawingml/2006/main">
              <a:ext uri="{FF2B5EF4-FFF2-40B4-BE49-F238E27FC236}">
                <a16:creationId xmlns:a16="http://schemas.microsoft.com/office/drawing/2014/main" id="{C2EC75AB-91D3-4EB9-8AB2-0EA04B9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VMs</a:t>
            </a:r>
          </a:p>
        </p:txBody>
      </p:sp>
      <p:sp>
        <p:nvSpPr>
          <p:cNvPr id="16" name="current-column-vCPUs">
            <a:extLst xmlns:a="http://schemas.openxmlformats.org/drawingml/2006/main">
              <a:ext uri="{FF2B5EF4-FFF2-40B4-BE49-F238E27FC236}">
                <a16:creationId xmlns:a16="http://schemas.microsoft.com/office/drawing/2014/main" id="{08012A2A-5572-4C5E-8A5E-0EB9B47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vCPUs</a:t>
            </a:r>
          </a:p>
        </p:txBody>
      </p:sp>
      <p:sp>
        <p:nvSpPr>
          <p:cNvPr id="17" name="current-column-vRAM (GB)">
            <a:extLst xmlns:a="http://schemas.openxmlformats.org/drawingml/2006/main">
              <a:ext uri="{FF2B5EF4-FFF2-40B4-BE49-F238E27FC236}">
                <a16:creationId xmlns:a16="http://schemas.microsoft.com/office/drawing/2014/main" id="{9C2CDCC5-B378-44B7-B2B4-AAE0DCAE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vRAM (GB)</a:t>
            </a:r>
          </a:p>
        </p:txBody>
      </p:sp>
      <p:sp>
        <p:nvSpPr>
          <p:cNvPr id="18" name="current-column-Storage (TB)">
            <a:extLst xmlns:a="http://schemas.openxmlformats.org/drawingml/2006/main">
              <a:ext uri="{FF2B5EF4-FFF2-40B4-BE49-F238E27FC236}">
                <a16:creationId xmlns:a16="http://schemas.microsoft.com/office/drawing/2014/main" id="{6C6F1A41-C742-4E59-A8BB-130865D1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19" name="editable-source-cluster-name-row-1">
            <a:extLst xmlns:a="http://schemas.openxmlformats.org/drawingml/2006/main">
              <a:ext uri="{FF2B5EF4-FFF2-40B4-BE49-F238E27FC236}">
                <a16:creationId xmlns:a16="http://schemas.microsoft.com/office/drawing/2014/main" id="{2841978C-EC33-4C2E-A1FA-568CB558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0" name="editable-source-cluster-vms-row-1">
            <a:extLst xmlns:a="http://schemas.openxmlformats.org/drawingml/2006/main">
              <a:ext uri="{FF2B5EF4-FFF2-40B4-BE49-F238E27FC236}">
                <a16:creationId xmlns:a16="http://schemas.microsoft.com/office/drawing/2014/main" id="{607DE43F-CCF0-459B-BC4C-7D8FB42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editable-source-cluster-vcpus-row-1">
            <a:extLst xmlns:a="http://schemas.openxmlformats.org/drawingml/2006/main">
              <a:ext uri="{FF2B5EF4-FFF2-40B4-BE49-F238E27FC236}">
                <a16:creationId xmlns:a16="http://schemas.microsoft.com/office/drawing/2014/main" id="{BCC0FC01-6799-4556-8BE5-2D0D774B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editable-source-cluster-vram-row-1">
            <a:extLst xmlns:a="http://schemas.openxmlformats.org/drawingml/2006/main">
              <a:ext uri="{FF2B5EF4-FFF2-40B4-BE49-F238E27FC236}">
                <a16:creationId xmlns:a16="http://schemas.microsoft.com/office/drawing/2014/main" id="{8BBC59E0-8D0A-414B-8679-DF094F8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editable-source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9DCF65A3-E8D1-472C-9552-D899A84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current-cluster-row-1-line">
            <a:extLst xmlns:a="http://schemas.openxmlformats.org/drawingml/2006/main">
              <a:ext uri="{FF2B5EF4-FFF2-40B4-BE49-F238E27FC236}">
                <a16:creationId xmlns:a16="http://schemas.microsoft.com/office/drawing/2014/main" id="{AC62CBA4-E261-4F86-875E-DF33A772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5" name="current-cluster-row-2-fill">
            <a:extLst xmlns:a="http://schemas.openxmlformats.org/drawingml/2006/main">
              <a:ext uri="{FF2B5EF4-FFF2-40B4-BE49-F238E27FC236}">
                <a16:creationId xmlns:a16="http://schemas.microsoft.com/office/drawing/2014/main" id="{2FB36D62-171A-4390-8AC9-FD0206D9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26" name="editable-source-cluster-name-row-2">
            <a:extLst xmlns:a="http://schemas.openxmlformats.org/drawingml/2006/main">
              <a:ext uri="{FF2B5EF4-FFF2-40B4-BE49-F238E27FC236}">
                <a16:creationId xmlns:a16="http://schemas.microsoft.com/office/drawing/2014/main" id="{226A87EE-3F52-4443-B8A6-E108596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7" name="editable-source-cluster-vms-row-2">
            <a:extLst xmlns:a="http://schemas.openxmlformats.org/drawingml/2006/main">
              <a:ext uri="{FF2B5EF4-FFF2-40B4-BE49-F238E27FC236}">
                <a16:creationId xmlns:a16="http://schemas.microsoft.com/office/drawing/2014/main" id="{C524C2FF-6D54-4320-9AC5-297C23D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editable-source-cluster-vcpus-row-2">
            <a:extLst xmlns:a="http://schemas.openxmlformats.org/drawingml/2006/main">
              <a:ext uri="{FF2B5EF4-FFF2-40B4-BE49-F238E27FC236}">
                <a16:creationId xmlns:a16="http://schemas.microsoft.com/office/drawing/2014/main" id="{6488C2E9-70FD-4A52-BA7D-37BCC47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editable-source-cluster-vram-row-2">
            <a:extLst xmlns:a="http://schemas.openxmlformats.org/drawingml/2006/main">
              <a:ext uri="{FF2B5EF4-FFF2-40B4-BE49-F238E27FC236}">
                <a16:creationId xmlns:a16="http://schemas.microsoft.com/office/drawing/2014/main" id="{21657689-2CA9-48CA-8E7F-24CF6E9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editable-source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81212400-C498-4ED5-908E-792FB33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current-cluster-row-2-line">
            <a:extLst xmlns:a="http://schemas.openxmlformats.org/drawingml/2006/main">
              <a:ext uri="{FF2B5EF4-FFF2-40B4-BE49-F238E27FC236}">
                <a16:creationId xmlns:a16="http://schemas.microsoft.com/office/drawing/2014/main" id="{3463D1A3-170F-4120-AA83-5C9E65E4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2" name="editable-source-cluster-name-row-3">
            <a:extLst xmlns:a="http://schemas.openxmlformats.org/drawingml/2006/main">
              <a:ext uri="{FF2B5EF4-FFF2-40B4-BE49-F238E27FC236}">
                <a16:creationId xmlns:a16="http://schemas.microsoft.com/office/drawing/2014/main" id="{B9D4BF67-DCAE-4BD2-8597-4AE7C911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33" name="editable-source-cluster-vms-row-3">
            <a:extLst xmlns:a="http://schemas.openxmlformats.org/drawingml/2006/main">
              <a:ext uri="{FF2B5EF4-FFF2-40B4-BE49-F238E27FC236}">
                <a16:creationId xmlns:a16="http://schemas.microsoft.com/office/drawing/2014/main" id="{0109D6FD-7CAA-47B5-855B-B006C81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576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editable-source-cluster-vcpus-row-3">
            <a:extLst xmlns:a="http://schemas.openxmlformats.org/drawingml/2006/main">
              <a:ext uri="{FF2B5EF4-FFF2-40B4-BE49-F238E27FC236}">
                <a16:creationId xmlns:a16="http://schemas.microsoft.com/office/drawing/2014/main" id="{9962CA04-361B-4A02-B41D-258E62DD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" name="editable-source-cluster-vram-row-3">
            <a:extLst xmlns:a="http://schemas.openxmlformats.org/drawingml/2006/main">
              <a:ext uri="{FF2B5EF4-FFF2-40B4-BE49-F238E27FC236}">
                <a16:creationId xmlns:a16="http://schemas.microsoft.com/office/drawing/2014/main" id="{416008A2-80BC-4C1D-817A-28AFE9D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editable-source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4BE433FA-5042-487C-A615-87BAB660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current-cluster-row-3-line">
            <a:extLst xmlns:a="http://schemas.openxmlformats.org/drawingml/2006/main">
              <a:ext uri="{FF2B5EF4-FFF2-40B4-BE49-F238E27FC236}">
                <a16:creationId xmlns:a16="http://schemas.microsoft.com/office/drawing/2014/main" id="{5328C1B1-5E89-4D48-A69E-F421EB8C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8" name="current-cluster-row-4-fill">
            <a:extLst xmlns:a="http://schemas.openxmlformats.org/drawingml/2006/main">
              <a:ext uri="{FF2B5EF4-FFF2-40B4-BE49-F238E27FC236}">
                <a16:creationId xmlns:a16="http://schemas.microsoft.com/office/drawing/2014/main" id="{DC7E745C-B27A-4750-85F3-CBAA5E7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39" name="editable-source-cluster-name-row-4">
            <a:extLst xmlns:a="http://schemas.openxmlformats.org/drawingml/2006/main">
              <a:ext uri="{FF2B5EF4-FFF2-40B4-BE49-F238E27FC236}">
                <a16:creationId xmlns:a16="http://schemas.microsoft.com/office/drawing/2014/main" id="{1A63F028-A120-44CF-9F2E-2A8A9570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0" name="editable-source-cluster-vms-row-4">
            <a:extLst xmlns:a="http://schemas.openxmlformats.org/drawingml/2006/main">
              <a:ext uri="{FF2B5EF4-FFF2-40B4-BE49-F238E27FC236}">
                <a16:creationId xmlns:a16="http://schemas.microsoft.com/office/drawing/2014/main" id="{E0855F93-8B1B-4585-A378-5DEFFE1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576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source-cluster-vcpus-row-4">
            <a:extLst xmlns:a="http://schemas.openxmlformats.org/drawingml/2006/main">
              <a:ext uri="{FF2B5EF4-FFF2-40B4-BE49-F238E27FC236}">
                <a16:creationId xmlns:a16="http://schemas.microsoft.com/office/drawing/2014/main" id="{2FA5CC67-5362-4F6D-9338-8E1E72A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editable-source-cluster-vram-row-4">
            <a:extLst xmlns:a="http://schemas.openxmlformats.org/drawingml/2006/main">
              <a:ext uri="{FF2B5EF4-FFF2-40B4-BE49-F238E27FC236}">
                <a16:creationId xmlns:a16="http://schemas.microsoft.com/office/drawing/2014/main" id="{483FBAD3-DBB2-4D12-BEAC-C85CD7F6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editable-source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44CBE0F0-01D5-46F0-BC8A-09436D8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current-cluster-row-4-line">
            <a:extLst xmlns:a="http://schemas.openxmlformats.org/drawingml/2006/main">
              <a:ext uri="{FF2B5EF4-FFF2-40B4-BE49-F238E27FC236}">
                <a16:creationId xmlns:a16="http://schemas.microsoft.com/office/drawing/2014/main" id="{4E9847D3-C961-4926-B168-F91CD81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editable-source-cluster-name-row-5">
            <a:extLst xmlns:a="http://schemas.openxmlformats.org/drawingml/2006/main">
              <a:ext uri="{FF2B5EF4-FFF2-40B4-BE49-F238E27FC236}">
                <a16:creationId xmlns:a16="http://schemas.microsoft.com/office/drawing/2014/main" id="{25CEE1F3-21D5-4CAB-A08E-4ADB70B3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6" name="editable-source-cluster-vms-row-5">
            <a:extLst xmlns:a="http://schemas.openxmlformats.org/drawingml/2006/main">
              <a:ext uri="{FF2B5EF4-FFF2-40B4-BE49-F238E27FC236}">
                <a16:creationId xmlns:a16="http://schemas.microsoft.com/office/drawing/2014/main" id="{4FC08FA2-3F8A-49F0-AF81-7D2BB02D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577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editable-source-cluster-vcpus-row-5">
            <a:extLst xmlns:a="http://schemas.openxmlformats.org/drawingml/2006/main">
              <a:ext uri="{FF2B5EF4-FFF2-40B4-BE49-F238E27FC236}">
                <a16:creationId xmlns:a16="http://schemas.microsoft.com/office/drawing/2014/main" id="{54FF5F0A-E7DA-46C6-A94D-A6EB754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editable-source-cluster-vram-row-5">
            <a:extLst xmlns:a="http://schemas.openxmlformats.org/drawingml/2006/main">
              <a:ext uri="{FF2B5EF4-FFF2-40B4-BE49-F238E27FC236}">
                <a16:creationId xmlns:a16="http://schemas.microsoft.com/office/drawing/2014/main" id="{1687F88E-4D2A-4F43-A7E4-4F2620D1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source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AAD7809F-24E8-4907-BD05-24726B6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current-cluster-row-5-line">
            <a:extLst xmlns:a="http://schemas.openxmlformats.org/drawingml/2006/main">
              <a:ext uri="{FF2B5EF4-FFF2-40B4-BE49-F238E27FC236}">
                <a16:creationId xmlns:a16="http://schemas.microsoft.com/office/drawing/2014/main" id="{00F74F2D-2625-4ED8-A2F0-6E1F484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1" name="current-cluster-row-6-fill">
            <a:extLst xmlns:a="http://schemas.openxmlformats.org/drawingml/2006/main">
              <a:ext uri="{FF2B5EF4-FFF2-40B4-BE49-F238E27FC236}">
                <a16:creationId xmlns:a16="http://schemas.microsoft.com/office/drawing/2014/main" id="{0429A2C0-C273-411A-8D62-5E06652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52" name="editable-source-cluster-name-row-6">
            <a:extLst xmlns:a="http://schemas.openxmlformats.org/drawingml/2006/main">
              <a:ext uri="{FF2B5EF4-FFF2-40B4-BE49-F238E27FC236}">
                <a16:creationId xmlns:a16="http://schemas.microsoft.com/office/drawing/2014/main" id="{488C77BB-5758-4DBF-9641-AF730134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53" name="editable-source-cluster-vms-row-6">
            <a:extLst xmlns:a="http://schemas.openxmlformats.org/drawingml/2006/main">
              <a:ext uri="{FF2B5EF4-FFF2-40B4-BE49-F238E27FC236}">
                <a16:creationId xmlns:a16="http://schemas.microsoft.com/office/drawing/2014/main" id="{8873D980-29E1-4E3E-9FD6-12C484A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577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editable-source-cluster-vcpus-row-6">
            <a:extLst xmlns:a="http://schemas.openxmlformats.org/drawingml/2006/main">
              <a:ext uri="{FF2B5EF4-FFF2-40B4-BE49-F238E27FC236}">
                <a16:creationId xmlns:a16="http://schemas.microsoft.com/office/drawing/2014/main" id="{75E8C647-0A5F-4F9C-8063-11578A2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editable-source-cluster-vram-row-6">
            <a:extLst xmlns:a="http://schemas.openxmlformats.org/drawingml/2006/main">
              <a:ext uri="{FF2B5EF4-FFF2-40B4-BE49-F238E27FC236}">
                <a16:creationId xmlns:a16="http://schemas.microsoft.com/office/drawing/2014/main" id="{C2EECF49-7CFF-40D8-8D49-148DE426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source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04434576-EE7F-42E6-AC9D-F2714E0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current-cluster-row-6-line">
            <a:extLst xmlns:a="http://schemas.openxmlformats.org/drawingml/2006/main">
              <a:ext uri="{FF2B5EF4-FFF2-40B4-BE49-F238E27FC236}">
                <a16:creationId xmlns:a16="http://schemas.microsoft.com/office/drawing/2014/main" id="{33DA886F-CC81-44D0-BEE7-3A709C4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8" name="current-total-band">
            <a:extLst xmlns:a="http://schemas.openxmlformats.org/drawingml/2006/main">
              <a:ext uri="{FF2B5EF4-FFF2-40B4-BE49-F238E27FC236}">
                <a16:creationId xmlns:a16="http://schemas.microsoft.com/office/drawing/2014/main" id="{A5A85FE6-4F53-43FC-BE56-1112F89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0"/>
            <a:ext cx="1143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59" name="current-total-label">
            <a:extLst xmlns:a="http://schemas.openxmlformats.org/drawingml/2006/main">
              <a:ext uri="{FF2B5EF4-FFF2-40B4-BE49-F238E27FC236}">
                <a16:creationId xmlns:a16="http://schemas.microsoft.com/office/drawing/2014/main" id="{95B02967-14B9-4919-A025-DC43A3A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SELECTED SCOPE</a:t>
            </a:r>
          </a:p>
        </p:txBody>
      </p:sp>
      <p:sp>
        <p:nvSpPr>
          <p:cNvPr id="60" name="editable-total-vms">
            <a:extLst xmlns:a="http://schemas.openxmlformats.org/drawingml/2006/main">
              <a:ext uri="{FF2B5EF4-FFF2-40B4-BE49-F238E27FC236}">
                <a16:creationId xmlns:a16="http://schemas.microsoft.com/office/drawing/2014/main" id="{65A3FE14-0468-4189-9F9A-50B073E8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95312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editable-total-vcpus">
            <a:extLst xmlns:a="http://schemas.openxmlformats.org/drawingml/2006/main">
              <a:ext uri="{FF2B5EF4-FFF2-40B4-BE49-F238E27FC236}">
                <a16:creationId xmlns:a16="http://schemas.microsoft.com/office/drawing/2014/main" id="{4112AD2E-FF57-44DA-922D-C1B51314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531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2" name="editable-total-vram">
            <a:extLst xmlns:a="http://schemas.openxmlformats.org/drawingml/2006/main">
              <a:ext uri="{FF2B5EF4-FFF2-40B4-BE49-F238E27FC236}">
                <a16:creationId xmlns:a16="http://schemas.microsoft.com/office/drawing/2014/main" id="{B47C6655-0C25-492B-A122-0515832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53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editable-total-storage">
            <a:extLst xmlns:a="http://schemas.openxmlformats.org/drawingml/2006/main">
              <a:ext uri="{FF2B5EF4-FFF2-40B4-BE49-F238E27FC236}">
                <a16:creationId xmlns:a16="http://schemas.microsoft.com/office/drawing/2014/main" id="{928FA884-4BED-43F4-8279-E0B9DFB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531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7974b4ad8439f"/>
          <a:stretch xmlns:a="http://schemas.openxmlformats.org/drawingml/2006/main"/>
        </p:blipFill>
        <p:spPr>
          <a:xfrm xmlns:a="http://schemas.openxmlformats.org/drawingml/2006/main">
            <a:off x="426149" y="276225"/>
            <a:ext cx="1824228" cy="54292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7358de7f54ce6"/>
          <a:stretch xmlns:a="http://schemas.openxmlformats.org/drawingml/2006/main"/>
        </p:blipFill>
        <p:spPr>
          <a:xfrm xmlns:a="http://schemas.openxmlformats.org/drawingml/2006/main">
            <a:off x="11382375" y="6459855"/>
            <a:ext cx="419100" cy="396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43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73A5942D-D23C-45E6-ACE1-2F77352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57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3088BEA-17DF-442D-9BC7-02155DD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85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F40793F-68B7-4A09-857E-9B1E1E9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74B1F8E-B96D-4B16-B046-787E870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23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CE320BA-C63B-4BBF-94C5-92BE519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F232F3B-1324-4364-BD60-137FAF1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47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2DA0ADF-18D5-4143-BAFB-C1D4E032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0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EF1F3FD-6495-4F9F-8163-4CEB685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81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3A8DECC-6222-4521-82D5-B349CA0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848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a4415627c460f"/>
          <a:stretch xmlns:a="http://schemas.openxmlformats.org/drawingml/2006/main"/>
        </p:blipFill>
        <p:spPr>
          <a:xfrm xmlns:a="http://schemas.openxmlformats.org/drawingml/2006/main">
            <a:off x="361950" y="357187"/>
            <a:ext cx="1927741" cy="60007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1FA5E6-65B3-42DA-A23A-AE93E67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3347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Assumptions &amp; Methodology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29860D-8183-4AA2-8F53-EEB1515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764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E173982-393B-42AC-A28E-FA0B094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383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proposed sizing is based on the information provided by the customer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the following assumptions and methodology.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05FD567-6830-4B7C-A6B4-1C17F3F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76650"/>
          </a:xfrm>
          <a:prstGeom xmlns:a="http://schemas.openxmlformats.org/drawingml/2006/main" prst="roundRect">
            <a:avLst>
              <a:gd name="adj" fmla="val 1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E7120EA-B371-422A-9F44-F023B4B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1950"/>
          </a:xfrm>
          <a:prstGeom xmlns:a="http://schemas.openxmlformats.org/drawingml/2006/main" prst="roundRect">
            <a:avLst>
              <a:gd name="adj" fmla="val 18421"/>
            </a:avLst>
          </a:prstGeom>
          <a:gradFill xmlns:a="http://schemas.openxmlformats.org/drawingml/2006/main">
            <a:gsLst>
              <a:gs pos="0">
                <a:srgbClr val="00351F"/>
              </a:gs>
              <a:gs pos="100000">
                <a:srgbClr val="07543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Picture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c34237b584f4b"/>
          <a:stretch xmlns:a="http://schemas.openxmlformats.org/drawingml/2006/main"/>
        </p:blipFill>
        <p:spPr>
          <a:xfrm xmlns:a="http://schemas.openxmlformats.org/drawingml/2006/main">
            <a:off x="617492" y="2390775"/>
            <a:ext cx="260441" cy="276225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91505E6-4E87-4F2F-9412-FA897C3D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38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Sizing Methodology</a:t>
            </a:r>
          </a:p>
        </p:txBody>
      </p:sp>
      <p:pic>
        <p:nvPicPr>
          <p:cNvPr id="78" name="Picture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57fcbbe8e450d"/>
          <a:stretch xmlns:a="http://schemas.openxmlformats.org/drawingml/2006/main"/>
        </p:blipFill>
        <p:spPr>
          <a:xfrm xmlns:a="http://schemas.openxmlformats.org/drawingml/2006/main">
            <a:off x="600075" y="2779303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908386-5A93-4A58-A462-83A24A1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Source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74A58121-1B16-4F12-92B5-F259AF49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289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D931CB-6DBE-4D20-B729-9888519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289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RVTools export provided by the customer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(Analysis Date: May 08, 2025)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3397379-0F76-4614-83F5-A13601AE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6421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a29f3b93145e4"/>
          <a:stretch xmlns:a="http://schemas.openxmlformats.org/drawingml/2006/main"/>
        </p:blipFill>
        <p:spPr>
          <a:xfrm xmlns:a="http://schemas.openxmlformats.org/drawingml/2006/main">
            <a:off x="600075" y="3309845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E8908F2-D896-472D-AF70-B94F25A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519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Sizing Approach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FDEC23A-6F66-49D5-87D3-62C87F3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946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ECE9441-9ABA-4D86-B0D0-CA3DF1A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946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based on current utilization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projected growth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45CE46C6-B9C0-4849-A834-96BE0653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94760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Picture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41f87a57a4499"/>
          <a:stretch xmlns:a="http://schemas.openxmlformats.org/drawingml/2006/main"/>
        </p:blipFill>
        <p:spPr>
          <a:xfrm xmlns:a="http://schemas.openxmlformats.org/drawingml/2006/main">
            <a:off x="600075" y="3836686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085D01-F2D9-4FF8-AFE8-59DAD7C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573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CPU Contention Ratio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72944B4F-936E-4666-BCB5-19428C8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001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editable-cpu-contention-ratio">
            <a:extLst xmlns:a="http://schemas.openxmlformats.org/drawingml/2006/main">
              <a:ext uri="{FF2B5EF4-FFF2-40B4-BE49-F238E27FC236}">
                <a16:creationId xmlns:a16="http://schemas.microsoft.com/office/drawing/2014/main" id="{4BB2C1F5-D562-49B2-9F9A-0CC0CC2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9001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1:6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1010FD1-CF72-4430-AE27-159930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0908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(Industry standard for medium consolidation)</a:t>
            </a:r>
          </a:p>
        </p:txBody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02CD068C-C8FC-47C9-BB57-3D4C6435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25303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4" name="Picture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2560fe76d4309"/>
          <a:stretch xmlns:a="http://schemas.openxmlformats.org/drawingml/2006/main"/>
        </p:blipFill>
        <p:spPr>
          <a:xfrm xmlns:a="http://schemas.openxmlformats.org/drawingml/2006/main">
            <a:off x="600075" y="4367228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5B0B338-2A00-4402-837C-6832FD3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6278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Average Utilization</a:t>
            </a:r>
          </a:p>
        </p:txBody>
      </p:sp>
      <p:sp>
        <p:nvSpPr>
          <p:cNvPr id="37" name="Straight Connector 36">
            <a:extLst xmlns:a="http://schemas.openxmlformats.org/drawingml/2006/main">
              <a:ext uri="{FF2B5EF4-FFF2-40B4-BE49-F238E27FC236}">
                <a16:creationId xmlns:a16="http://schemas.microsoft.com/office/drawing/2014/main" id="{0004D49C-3CEF-4D64-8EE4-5C2EF19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0553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9B219E-B635-42E5-8711-6CCAA05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0553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vCPU: 50%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vMEM: 60%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5294845-2E5B-41F1-8CD4-A4D7AFA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5845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9" name="Picture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047aad91d48a5"/>
          <a:stretch xmlns:a="http://schemas.openxmlformats.org/drawingml/2006/main"/>
        </p:blipFill>
        <p:spPr>
          <a:xfrm xmlns:a="http://schemas.openxmlformats.org/drawingml/2006/main">
            <a:off x="600075" y="4897771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237AD7F-4836-4176-AF9D-C45EBA30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682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Target Utilization</a:t>
            </a: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4D9346C3-2665-41B0-99E5-1FA2EBA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109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BC0D906-17E6-4658-8738-8B36754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109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(For both vCPU and vMEM)</a:t>
            </a:r>
          </a:p>
        </p:txBody>
      </p:sp>
      <p:sp>
        <p:nvSpPr>
          <p:cNvPr id="44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76C190DA-7557-4EF8-A3B4-C1CD1D53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8638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4" name="Picture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885c4f966400e"/>
          <a:stretch xmlns:a="http://schemas.openxmlformats.org/drawingml/2006/main"/>
        </p:blipFill>
        <p:spPr>
          <a:xfrm xmlns:a="http://schemas.openxmlformats.org/drawingml/2006/main">
            <a:off x="600075" y="5424488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AAF8FDE-50FC-4C3F-9F81-15310F8F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736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FFEF831B-5985-4EBD-83C8-5066846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163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editable-methodology-storage-type">
            <a:extLst xmlns:a="http://schemas.openxmlformats.org/drawingml/2006/main">
              <a:ext uri="{FF2B5EF4-FFF2-40B4-BE49-F238E27FC236}">
                <a16:creationId xmlns:a16="http://schemas.microsoft.com/office/drawing/2014/main" id="{FCCC5123-50EE-49F7-9C4E-AD8B5F1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8163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Block Volume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(Block Storage)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16E4D860-FD45-4FE4-BDF9-3E6C0A6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553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pic>
        <p:nvPicPr>
          <p:cNvPr id="109" name="Picture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cfa7c3e82406c"/>
          <a:stretch xmlns:a="http://schemas.openxmlformats.org/drawingml/2006/main"/>
        </p:blipFill>
        <p:spPr>
          <a:xfrm xmlns:a="http://schemas.openxmlformats.org/drawingml/2006/main">
            <a:off x="11391900" y="6479151"/>
            <a:ext cx="400050" cy="3290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572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Infrastructure Sizing Summary-title">
            <a:extLst xmlns:a="http://schemas.openxmlformats.org/drawingml/2006/main">
              <a:ext uri="{FF2B5EF4-FFF2-40B4-BE49-F238E27FC236}">
                <a16:creationId xmlns:a16="http://schemas.microsoft.com/office/drawing/2014/main" id="{8DDD8EBD-14B5-4BCB-AF31-F850CB3A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Infrastructure Sizing Summary</a:t>
            </a:r>
          </a:p>
        </p:txBody>
      </p:sp>
      <p:sp>
        <p:nvSpPr>
          <p:cNvPr id="2" name="Infrastructure Sizing Summary-rule">
            <a:extLst xmlns:a="http://schemas.openxmlformats.org/drawingml/2006/main">
              <a:ext uri="{FF2B5EF4-FFF2-40B4-BE49-F238E27FC236}">
                <a16:creationId xmlns:a16="http://schemas.microsoft.com/office/drawing/2014/main" id="{E9444FE5-8822-4892-B58C-D3B9BD72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Infrastructure Sizing Summary-subtitle">
            <a:extLst xmlns:a="http://schemas.openxmlformats.org/drawingml/2006/main">
              <a:ext uri="{FF2B5EF4-FFF2-40B4-BE49-F238E27FC236}">
                <a16:creationId xmlns:a16="http://schemas.microsoft.com/office/drawing/2014/main" id="{A25CB3B4-C9DF-4005-9498-D3B6BFA3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Proposed Oracle Cloud VMware Solution topology for the selected workload.</a:t>
            </a:r>
          </a:p>
        </p:txBody>
      </p:sp>
      <p:sp>
        <p:nvSpPr>
          <p:cNvPr id="4" name="Infrastructure Sizing Summary-footer">
            <a:extLst xmlns:a="http://schemas.openxmlformats.org/drawingml/2006/main">
              <a:ext uri="{FF2B5EF4-FFF2-40B4-BE49-F238E27FC236}">
                <a16:creationId xmlns:a16="http://schemas.microsoft.com/office/drawing/2014/main" id="{C22909A3-B4AA-4105-A660-38F2C42A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production-hosts">
            <a:extLst xmlns:a="http://schemas.openxmlformats.org/drawingml/2006/main">
              <a:ext uri="{FF2B5EF4-FFF2-40B4-BE49-F238E27FC236}">
                <a16:creationId xmlns:a16="http://schemas.microsoft.com/office/drawing/2014/main" id="{7A23B4E9-8DEF-425E-8676-A7FFE5CA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production-shape">
            <a:extLst xmlns:a="http://schemas.openxmlformats.org/drawingml/2006/main">
              <a:ext uri="{FF2B5EF4-FFF2-40B4-BE49-F238E27FC236}">
                <a16:creationId xmlns:a16="http://schemas.microsoft.com/office/drawing/2014/main" id="{8D8AA430-26AB-43F2-A691-AC7A027F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ocvs-production-hosts">
            <a:extLst xmlns:a="http://schemas.openxmlformats.org/drawingml/2006/main">
              <a:ext uri="{FF2B5EF4-FFF2-40B4-BE49-F238E27FC236}">
                <a16:creationId xmlns:a16="http://schemas.microsoft.com/office/drawing/2014/main" id="{C8060D93-F200-4121-A8F4-B60CB3CE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ocvs-production-shape">
            <a:extLst xmlns:a="http://schemas.openxmlformats.org/drawingml/2006/main">
              <a:ext uri="{FF2B5EF4-FFF2-40B4-BE49-F238E27FC236}">
                <a16:creationId xmlns:a16="http://schemas.microsoft.com/office/drawing/2014/main" id="{44A1CF5A-2F75-424A-839D-8788BC8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ocvs-production-storage">
            <a:extLst xmlns:a="http://schemas.openxmlformats.org/drawingml/2006/main">
              <a:ext uri="{FF2B5EF4-FFF2-40B4-BE49-F238E27FC236}">
                <a16:creationId xmlns:a16="http://schemas.microsoft.com/office/drawing/2014/main" id="{DB965F50-676B-4BE8-976A-BC9E217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ocvs-shape">
            <a:extLst xmlns:a="http://schemas.openxmlformats.org/drawingml/2006/main">
              <a:ext uri="{FF2B5EF4-FFF2-40B4-BE49-F238E27FC236}">
                <a16:creationId xmlns:a16="http://schemas.microsoft.com/office/drawing/2014/main" id="{1717285A-5473-409E-BD95-8244D3D1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98BE580A-A548-4154-B15D-CC8C8C0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architecture-band">
            <a:extLst xmlns:a="http://schemas.openxmlformats.org/drawingml/2006/main">
              <a:ext uri="{FF2B5EF4-FFF2-40B4-BE49-F238E27FC236}">
                <a16:creationId xmlns:a16="http://schemas.microsoft.com/office/drawing/2014/main" id="{2255B871-EECF-43E4-8ED9-ABFBFB0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architecture-band-label">
            <a:extLst xmlns:a="http://schemas.openxmlformats.org/drawingml/2006/main">
              <a:ext uri="{FF2B5EF4-FFF2-40B4-BE49-F238E27FC236}">
                <a16:creationId xmlns:a16="http://schemas.microsoft.com/office/drawing/2014/main" id="{B6C9CD7F-BA12-4DDB-8D03-B2BAE48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Architecture</a:t>
            </a:r>
          </a:p>
        </p:txBody>
      </p:sp>
      <p:sp>
        <p:nvSpPr>
          <p:cNvPr id="14" name="architecture-0-label">
            <a:extLst xmlns:a="http://schemas.openxmlformats.org/drawingml/2006/main">
              <a:ext uri="{FF2B5EF4-FFF2-40B4-BE49-F238E27FC236}">
                <a16:creationId xmlns:a16="http://schemas.microsoft.com/office/drawing/2014/main" id="{1DA73C48-F2F4-4B26-B361-890D9E2E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SDDCs</a:t>
            </a:r>
          </a:p>
        </p:txBody>
      </p:sp>
      <p:sp>
        <p:nvSpPr>
          <p:cNvPr id="15" name="editable-ocvs-sddcs">
            <a:extLst xmlns:a="http://schemas.openxmlformats.org/drawingml/2006/main">
              <a:ext uri="{FF2B5EF4-FFF2-40B4-BE49-F238E27FC236}">
                <a16:creationId xmlns:a16="http://schemas.microsoft.com/office/drawing/2014/main" id="{7517D09A-2689-4A71-A671-BAF2B6A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architecture-0-line">
            <a:extLst xmlns:a="http://schemas.openxmlformats.org/drawingml/2006/main">
              <a:ext uri="{FF2B5EF4-FFF2-40B4-BE49-F238E27FC236}">
                <a16:creationId xmlns:a16="http://schemas.microsoft.com/office/drawing/2014/main" id="{7492ACA8-4B55-490D-A2BD-252F8179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17" name="architecture-1-label">
            <a:extLst xmlns:a="http://schemas.openxmlformats.org/drawingml/2006/main">
              <a:ext uri="{FF2B5EF4-FFF2-40B4-BE49-F238E27FC236}">
                <a16:creationId xmlns:a16="http://schemas.microsoft.com/office/drawing/2014/main" id="{9CFF7D13-B6C3-47DC-8BF2-F7DEE424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18" name="editable-ocvs-clusters">
            <a:extLst xmlns:a="http://schemas.openxmlformats.org/drawingml/2006/main">
              <a:ext uri="{FF2B5EF4-FFF2-40B4-BE49-F238E27FC236}">
                <a16:creationId xmlns:a16="http://schemas.microsoft.com/office/drawing/2014/main" id="{93295264-A539-48AB-93CC-FAB189E7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architecture-1-line">
            <a:extLst xmlns:a="http://schemas.openxmlformats.org/drawingml/2006/main">
              <a:ext uri="{FF2B5EF4-FFF2-40B4-BE49-F238E27FC236}">
                <a16:creationId xmlns:a16="http://schemas.microsoft.com/office/drawing/2014/main" id="{31CAEF73-9531-448C-BCE3-641ABF06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0" name="architecture-2-label">
            <a:extLst xmlns:a="http://schemas.openxmlformats.org/drawingml/2006/main">
              <a:ext uri="{FF2B5EF4-FFF2-40B4-BE49-F238E27FC236}">
                <a16:creationId xmlns:a16="http://schemas.microsoft.com/office/drawing/2014/main" id="{4BECA517-E3E9-406D-87FD-0E25F5E3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21" name="editable-ocvs-hosts">
            <a:extLst xmlns:a="http://schemas.openxmlformats.org/drawingml/2006/main">
              <a:ext uri="{FF2B5EF4-FFF2-40B4-BE49-F238E27FC236}">
                <a16:creationId xmlns:a16="http://schemas.microsoft.com/office/drawing/2014/main" id="{EF3BA3EF-8094-4716-A7CC-605316B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29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architecture-2-line">
            <a:extLst xmlns:a="http://schemas.openxmlformats.org/drawingml/2006/main">
              <a:ext uri="{FF2B5EF4-FFF2-40B4-BE49-F238E27FC236}">
                <a16:creationId xmlns:a16="http://schemas.microsoft.com/office/drawing/2014/main" id="{666F1DE8-6D60-4CDA-B33F-924BDCF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3" name="architecture-3-label">
            <a:extLst xmlns:a="http://schemas.openxmlformats.org/drawingml/2006/main">
              <a:ext uri="{FF2B5EF4-FFF2-40B4-BE49-F238E27FC236}">
                <a16:creationId xmlns:a16="http://schemas.microsoft.com/office/drawing/2014/main" id="{90879DA1-8595-4A6D-8ADB-FF1BF5B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24" name="editable-ocvs-storage">
            <a:extLst xmlns:a="http://schemas.openxmlformats.org/drawingml/2006/main">
              <a:ext uri="{FF2B5EF4-FFF2-40B4-BE49-F238E27FC236}">
                <a16:creationId xmlns:a16="http://schemas.microsoft.com/office/drawing/2014/main" id="{D27AB04C-B0FA-4604-82B6-4EA8F31C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architecture-3-line">
            <a:extLst xmlns:a="http://schemas.openxmlformats.org/drawingml/2006/main">
              <a:ext uri="{FF2B5EF4-FFF2-40B4-BE49-F238E27FC236}">
                <a16:creationId xmlns:a16="http://schemas.microsoft.com/office/drawing/2014/main" id="{3623C212-D135-469E-911C-0ACECDDC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6" name="architecture-4-label">
            <a:extLst xmlns:a="http://schemas.openxmlformats.org/drawingml/2006/main">
              <a:ext uri="{FF2B5EF4-FFF2-40B4-BE49-F238E27FC236}">
                <a16:creationId xmlns:a16="http://schemas.microsoft.com/office/drawing/2014/main" id="{D51016FF-7E51-4207-B14F-9210DA17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27" name="editable-ocvs-storage-type">
            <a:extLst xmlns:a="http://schemas.openxmlformats.org/drawingml/2006/main">
              <a:ext uri="{FF2B5EF4-FFF2-40B4-BE49-F238E27FC236}">
                <a16:creationId xmlns:a16="http://schemas.microsoft.com/office/drawing/2014/main" id="{7F1AA975-0363-491D-95AB-C4CE5B9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architecture-4-line">
            <a:extLst xmlns:a="http://schemas.openxmlformats.org/drawingml/2006/main">
              <a:ext uri="{FF2B5EF4-FFF2-40B4-BE49-F238E27FC236}">
                <a16:creationId xmlns:a16="http://schemas.microsoft.com/office/drawing/2014/main" id="{9373A7F7-B05F-414E-843B-9F1D64C9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9" name="cluster-distribution-panel">
            <a:extLst xmlns:a="http://schemas.openxmlformats.org/drawingml/2006/main">
              <a:ext uri="{FF2B5EF4-FFF2-40B4-BE49-F238E27FC236}">
                <a16:creationId xmlns:a16="http://schemas.microsoft.com/office/drawing/2014/main" id="{77F7BC98-4BBA-4B2C-922F-4D872AE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30" name="cluster-distribution-band">
            <a:extLst xmlns:a="http://schemas.openxmlformats.org/drawingml/2006/main">
              <a:ext uri="{FF2B5EF4-FFF2-40B4-BE49-F238E27FC236}">
                <a16:creationId xmlns:a16="http://schemas.microsoft.com/office/drawing/2014/main" id="{964FEDBB-0D4A-49C3-AD18-D2EE9AD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1" name="cluster-distribution-band-label">
            <a:extLst xmlns:a="http://schemas.openxmlformats.org/drawingml/2006/main">
              <a:ext uri="{FF2B5EF4-FFF2-40B4-BE49-F238E27FC236}">
                <a16:creationId xmlns:a16="http://schemas.microsoft.com/office/drawing/2014/main" id="{E21B3A7C-1F05-41E7-BF3C-20B9265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OCVS Cluster Distribution</a:t>
            </a:r>
          </a:p>
        </p:txBody>
      </p:sp>
      <p:sp>
        <p:nvSpPr>
          <p:cNvPr id="32" name="cluster-header-Cluster">
            <a:extLst xmlns:a="http://schemas.openxmlformats.org/drawingml/2006/main">
              <a:ext uri="{FF2B5EF4-FFF2-40B4-BE49-F238E27FC236}">
                <a16:creationId xmlns:a16="http://schemas.microsoft.com/office/drawing/2014/main" id="{190BC1B4-1C7C-4100-9686-968EEF2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3" name="cluster-header-Workload">
            <a:extLst xmlns:a="http://schemas.openxmlformats.org/drawingml/2006/main">
              <a:ext uri="{FF2B5EF4-FFF2-40B4-BE49-F238E27FC236}">
                <a16:creationId xmlns:a16="http://schemas.microsoft.com/office/drawing/2014/main" id="{9BF70E92-07F0-4483-843C-7F7CF6DE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sp>
        <p:nvSpPr>
          <p:cNvPr id="34" name="cluster-header-Hosts">
            <a:extLst xmlns:a="http://schemas.openxmlformats.org/drawingml/2006/main">
              <a:ext uri="{FF2B5EF4-FFF2-40B4-BE49-F238E27FC236}">
                <a16:creationId xmlns:a16="http://schemas.microsoft.com/office/drawing/2014/main" id="{E9175D69-D2F3-43C9-BC2F-E00ED70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1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35" name="cluster-header-Shape">
            <a:extLst xmlns:a="http://schemas.openxmlformats.org/drawingml/2006/main">
              <a:ext uri="{FF2B5EF4-FFF2-40B4-BE49-F238E27FC236}">
                <a16:creationId xmlns:a16="http://schemas.microsoft.com/office/drawing/2014/main" id="{83822C15-7A89-48B3-B1F0-BF8BA114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36" name="cluster-header-Storage">
            <a:extLst xmlns:a="http://schemas.openxmlformats.org/drawingml/2006/main">
              <a:ext uri="{FF2B5EF4-FFF2-40B4-BE49-F238E27FC236}">
                <a16:creationId xmlns:a16="http://schemas.microsoft.com/office/drawing/2014/main" id="{65019F4D-DE17-4E19-AE54-1EBA2E2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7" name="cluster-header-Architecture">
            <a:extLst xmlns:a="http://schemas.openxmlformats.org/drawingml/2006/main">
              <a:ext uri="{FF2B5EF4-FFF2-40B4-BE49-F238E27FC236}">
                <a16:creationId xmlns:a16="http://schemas.microsoft.com/office/drawing/2014/main" id="{B8D29B03-8CF4-49D7-B73C-1AA1A844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14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8" name="editable-ocvs-cluster-name-row-1">
            <a:extLst xmlns:a="http://schemas.openxmlformats.org/drawingml/2006/main">
              <a:ext uri="{FF2B5EF4-FFF2-40B4-BE49-F238E27FC236}">
                <a16:creationId xmlns:a16="http://schemas.microsoft.com/office/drawing/2014/main" id="{0449B1F1-A723-49B1-ACD4-6109C273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9" name="editable-ocvs-cluster-workload-row-1">
            <a:extLst xmlns:a="http://schemas.openxmlformats.org/drawingml/2006/main">
              <a:ext uri="{FF2B5EF4-FFF2-40B4-BE49-F238E27FC236}">
                <a16:creationId xmlns:a16="http://schemas.microsoft.com/office/drawing/2014/main" id="{B2101716-457D-461F-B246-F1BA05F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0" name="editable-ocvs-cluster-hosts-row-1">
            <a:extLst xmlns:a="http://schemas.openxmlformats.org/drawingml/2006/main">
              <a:ext uri="{FF2B5EF4-FFF2-40B4-BE49-F238E27FC236}">
                <a16:creationId xmlns:a16="http://schemas.microsoft.com/office/drawing/2014/main" id="{E9CD2974-AF09-4F13-8D44-8A78BB6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81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ocvs-cluster-shape-row-1">
            <a:extLst xmlns:a="http://schemas.openxmlformats.org/drawingml/2006/main">
              <a:ext uri="{FF2B5EF4-FFF2-40B4-BE49-F238E27FC236}">
                <a16:creationId xmlns:a16="http://schemas.microsoft.com/office/drawing/2014/main" id="{8D58C2B7-29DF-4EC5-A974-11DD56E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42" name="editable-ocvs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A712DD0B-4514-4917-9E26-037F97BF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43" name="editable-ocvs-cluster-architecture-row-1">
            <a:extLst xmlns:a="http://schemas.openxmlformats.org/drawingml/2006/main">
              <a:ext uri="{FF2B5EF4-FFF2-40B4-BE49-F238E27FC236}">
                <a16:creationId xmlns:a16="http://schemas.microsoft.com/office/drawing/2014/main" id="{2D410E82-5B40-4847-8008-80BDFE31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81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4" name="ocvs-cluster-row-1-line">
            <a:extLst xmlns:a="http://schemas.openxmlformats.org/drawingml/2006/main">
              <a:ext uri="{FF2B5EF4-FFF2-40B4-BE49-F238E27FC236}">
                <a16:creationId xmlns:a16="http://schemas.microsoft.com/office/drawing/2014/main" id="{8F50E8C5-B4AD-4690-9465-860D2B1F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28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ocvs-cluster-row-2-fill">
            <a:extLst xmlns:a="http://schemas.openxmlformats.org/drawingml/2006/main">
              <a:ext uri="{FF2B5EF4-FFF2-40B4-BE49-F238E27FC236}">
                <a16:creationId xmlns:a16="http://schemas.microsoft.com/office/drawing/2014/main" id="{7A529A6F-430D-47A0-A816-8C4C3BBD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46" name="editable-ocvs-cluster-name-row-2">
            <a:extLst xmlns:a="http://schemas.openxmlformats.org/drawingml/2006/main">
              <a:ext uri="{FF2B5EF4-FFF2-40B4-BE49-F238E27FC236}">
                <a16:creationId xmlns:a16="http://schemas.microsoft.com/office/drawing/2014/main" id="{83163986-EF8F-4546-964C-ED8F5E0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47" name="editable-ocvs-cluster-workload-row-2">
            <a:extLst xmlns:a="http://schemas.openxmlformats.org/drawingml/2006/main">
              <a:ext uri="{FF2B5EF4-FFF2-40B4-BE49-F238E27FC236}">
                <a16:creationId xmlns:a16="http://schemas.microsoft.com/office/drawing/2014/main" id="{ACD5D5BF-C65C-4D49-AF7B-144573E4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57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8" name="editable-ocvs-cluster-hosts-row-2">
            <a:extLst xmlns:a="http://schemas.openxmlformats.org/drawingml/2006/main">
              <a:ext uri="{FF2B5EF4-FFF2-40B4-BE49-F238E27FC236}">
                <a16:creationId xmlns:a16="http://schemas.microsoft.com/office/drawing/2014/main" id="{0980A366-4242-454E-8EBA-3E3B18C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57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ocvs-cluster-shape-row-2">
            <a:extLst xmlns:a="http://schemas.openxmlformats.org/drawingml/2006/main">
              <a:ext uri="{FF2B5EF4-FFF2-40B4-BE49-F238E27FC236}">
                <a16:creationId xmlns:a16="http://schemas.microsoft.com/office/drawing/2014/main" id="{A016766B-74A4-42FB-8BF9-E418615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57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0" name="editable-ocvs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30FA1F1B-350A-4202-8360-2B3A1B4F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1" name="editable-ocvs-cluster-architecture-row-2">
            <a:extLst xmlns:a="http://schemas.openxmlformats.org/drawingml/2006/main">
              <a:ext uri="{FF2B5EF4-FFF2-40B4-BE49-F238E27FC236}">
                <a16:creationId xmlns:a16="http://schemas.microsoft.com/office/drawing/2014/main" id="{667E7064-0B1A-4346-8149-C4DD1A1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57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2" name="ocvs-cluster-row-2-line">
            <a:extLst xmlns:a="http://schemas.openxmlformats.org/drawingml/2006/main">
              <a:ext uri="{FF2B5EF4-FFF2-40B4-BE49-F238E27FC236}">
                <a16:creationId xmlns:a16="http://schemas.microsoft.com/office/drawing/2014/main" id="{B4D45778-3277-4223-A7DB-50545E43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3" name="editable-ocvs-cluster-name-row-3">
            <a:extLst xmlns:a="http://schemas.openxmlformats.org/drawingml/2006/main">
              <a:ext uri="{FF2B5EF4-FFF2-40B4-BE49-F238E27FC236}">
                <a16:creationId xmlns:a16="http://schemas.microsoft.com/office/drawing/2014/main" id="{C2237DC3-CBF0-4402-9926-7B2E357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54" name="editable-ocvs-cluster-workload-row-3">
            <a:extLst xmlns:a="http://schemas.openxmlformats.org/drawingml/2006/main">
              <a:ext uri="{FF2B5EF4-FFF2-40B4-BE49-F238E27FC236}">
                <a16:creationId xmlns:a16="http://schemas.microsoft.com/office/drawing/2014/main" id="{1A675F77-26BA-4127-BA9A-A5ED90C5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338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55" name="editable-ocvs-cluster-hosts-row-3">
            <a:extLst xmlns:a="http://schemas.openxmlformats.org/drawingml/2006/main">
              <a:ext uri="{FF2B5EF4-FFF2-40B4-BE49-F238E27FC236}">
                <a16:creationId xmlns:a16="http://schemas.microsoft.com/office/drawing/2014/main" id="{E4CB9966-B4D9-46A7-A486-25D2B0A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33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ocvs-cluster-shape-row-3">
            <a:extLst xmlns:a="http://schemas.openxmlformats.org/drawingml/2006/main">
              <a:ext uri="{FF2B5EF4-FFF2-40B4-BE49-F238E27FC236}">
                <a16:creationId xmlns:a16="http://schemas.microsoft.com/office/drawing/2014/main" id="{61B0E4AC-02E8-47B7-B394-13A8B16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7" name="editable-ocvs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70AAD25C-EEAE-48F9-98E7-D3D24659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8" name="editable-ocvs-cluster-architecture-row-3">
            <a:extLst xmlns:a="http://schemas.openxmlformats.org/drawingml/2006/main">
              <a:ext uri="{FF2B5EF4-FFF2-40B4-BE49-F238E27FC236}">
                <a16:creationId xmlns:a16="http://schemas.microsoft.com/office/drawing/2014/main" id="{8ECF6467-771A-448E-BB45-E91E760F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338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9" name="ocvs-cluster-row-3-line">
            <a:extLst xmlns:a="http://schemas.openxmlformats.org/drawingml/2006/main">
              <a:ext uri="{FF2B5EF4-FFF2-40B4-BE49-F238E27FC236}">
                <a16:creationId xmlns:a16="http://schemas.microsoft.com/office/drawing/2014/main" id="{848EDE57-D123-4DCE-A02D-387650D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814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0" name="ocvs-cluster-row-4-fill">
            <a:extLst xmlns:a="http://schemas.openxmlformats.org/drawingml/2006/main">
              <a:ext uri="{FF2B5EF4-FFF2-40B4-BE49-F238E27FC236}">
                <a16:creationId xmlns:a16="http://schemas.microsoft.com/office/drawing/2014/main" id="{D99CB25D-FED6-4989-8402-7F93C1E0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61" name="editable-ocvs-cluster-name-row-4">
            <a:extLst xmlns:a="http://schemas.openxmlformats.org/drawingml/2006/main">
              <a:ext uri="{FF2B5EF4-FFF2-40B4-BE49-F238E27FC236}">
                <a16:creationId xmlns:a16="http://schemas.microsoft.com/office/drawing/2014/main" id="{89E67D40-BEAA-4AED-BDD9-DE8A779A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2" name="editable-ocvs-cluster-workload-row-4">
            <a:extLst xmlns:a="http://schemas.openxmlformats.org/drawingml/2006/main">
              <a:ext uri="{FF2B5EF4-FFF2-40B4-BE49-F238E27FC236}">
                <a16:creationId xmlns:a16="http://schemas.microsoft.com/office/drawing/2014/main" id="{1841CF5E-5BAB-4B82-9211-E1F3300E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100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63" name="editable-ocvs-cluster-hosts-row-4">
            <a:extLst xmlns:a="http://schemas.openxmlformats.org/drawingml/2006/main">
              <a:ext uri="{FF2B5EF4-FFF2-40B4-BE49-F238E27FC236}">
                <a16:creationId xmlns:a16="http://schemas.microsoft.com/office/drawing/2014/main" id="{E29EAC17-AF97-4A17-BE1A-5C801CBB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0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editable-ocvs-cluster-shape-row-4">
            <a:extLst xmlns:a="http://schemas.openxmlformats.org/drawingml/2006/main">
              <a:ext uri="{FF2B5EF4-FFF2-40B4-BE49-F238E27FC236}">
                <a16:creationId xmlns:a16="http://schemas.microsoft.com/office/drawing/2014/main" id="{2AC6D1F4-17DC-4484-9483-0616BC31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65" name="editable-ocvs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F400875A-3BE7-4A37-AA1F-D97FE732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66" name="editable-ocvs-cluster-architecture-row-4">
            <a:extLst xmlns:a="http://schemas.openxmlformats.org/drawingml/2006/main">
              <a:ext uri="{FF2B5EF4-FFF2-40B4-BE49-F238E27FC236}">
                <a16:creationId xmlns:a16="http://schemas.microsoft.com/office/drawing/2014/main" id="{D3E3B993-B881-4A3D-A956-16207DA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10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7" name="ocvs-cluster-row-4-line">
            <a:extLst xmlns:a="http://schemas.openxmlformats.org/drawingml/2006/main">
              <a:ext uri="{FF2B5EF4-FFF2-40B4-BE49-F238E27FC236}">
                <a16:creationId xmlns:a16="http://schemas.microsoft.com/office/drawing/2014/main" id="{2E41DBC7-4ECE-40FB-8B84-B5F2D5A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577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8" name="editable-ocvs-cluster-name-row-5">
            <a:extLst xmlns:a="http://schemas.openxmlformats.org/drawingml/2006/main">
              <a:ext uri="{FF2B5EF4-FFF2-40B4-BE49-F238E27FC236}">
                <a16:creationId xmlns:a16="http://schemas.microsoft.com/office/drawing/2014/main" id="{B4F35D7D-1B9E-4038-A336-C85286D0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9" name="editable-ocvs-cluster-workload-row-5">
            <a:extLst xmlns:a="http://schemas.openxmlformats.org/drawingml/2006/main">
              <a:ext uri="{FF2B5EF4-FFF2-40B4-BE49-F238E27FC236}">
                <a16:creationId xmlns:a16="http://schemas.microsoft.com/office/drawing/2014/main" id="{C501CD67-F1FE-499A-B570-8441743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0" name="editable-ocvs-cluster-hosts-row-5">
            <a:extLst xmlns:a="http://schemas.openxmlformats.org/drawingml/2006/main">
              <a:ext uri="{FF2B5EF4-FFF2-40B4-BE49-F238E27FC236}">
                <a16:creationId xmlns:a16="http://schemas.microsoft.com/office/drawing/2014/main" id="{6768F0EC-BDF6-47FB-9429-7D3DD829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86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1" name="editable-ocvs-cluster-shape-row-5">
            <a:extLst xmlns:a="http://schemas.openxmlformats.org/drawingml/2006/main">
              <a:ext uri="{FF2B5EF4-FFF2-40B4-BE49-F238E27FC236}">
                <a16:creationId xmlns:a16="http://schemas.microsoft.com/office/drawing/2014/main" id="{74F1656B-F397-48F7-B006-9B2385F9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72" name="editable-ocvs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DA3202F9-A8A4-41A8-A386-48C36D4E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73" name="editable-ocvs-cluster-architecture-row-5">
            <a:extLst xmlns:a="http://schemas.openxmlformats.org/drawingml/2006/main">
              <a:ext uri="{FF2B5EF4-FFF2-40B4-BE49-F238E27FC236}">
                <a16:creationId xmlns:a16="http://schemas.microsoft.com/office/drawing/2014/main" id="{B267F579-D525-4A0F-89A6-CA216587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86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4" name="ocvs-cluster-row-5-line">
            <a:extLst xmlns:a="http://schemas.openxmlformats.org/drawingml/2006/main">
              <a:ext uri="{FF2B5EF4-FFF2-40B4-BE49-F238E27FC236}">
                <a16:creationId xmlns:a16="http://schemas.microsoft.com/office/drawing/2014/main" id="{C52A43D2-387F-44A9-A68E-02EC107B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33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75" name="ocvs-cluster-row-6-fill">
            <a:extLst xmlns:a="http://schemas.openxmlformats.org/drawingml/2006/main">
              <a:ext uri="{FF2B5EF4-FFF2-40B4-BE49-F238E27FC236}">
                <a16:creationId xmlns:a16="http://schemas.microsoft.com/office/drawing/2014/main" id="{6EFBCC3B-16D4-4570-A3B4-A54C7B3D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62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76" name="editable-ocvs-cluster-name-row-6">
            <a:extLst xmlns:a="http://schemas.openxmlformats.org/drawingml/2006/main">
              <a:ext uri="{FF2B5EF4-FFF2-40B4-BE49-F238E27FC236}">
                <a16:creationId xmlns:a16="http://schemas.microsoft.com/office/drawing/2014/main" id="{EDCE47DF-3807-46D4-95C0-6E921A69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62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77" name="editable-ocvs-cluster-workload-row-6">
            <a:extLst xmlns:a="http://schemas.openxmlformats.org/drawingml/2006/main">
              <a:ext uri="{FF2B5EF4-FFF2-40B4-BE49-F238E27FC236}">
                <a16:creationId xmlns:a16="http://schemas.microsoft.com/office/drawing/2014/main" id="{3AE42621-927D-40AD-848A-1FB8B93A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8" name="editable-ocvs-cluster-hosts-row-6">
            <a:extLst xmlns:a="http://schemas.openxmlformats.org/drawingml/2006/main">
              <a:ext uri="{FF2B5EF4-FFF2-40B4-BE49-F238E27FC236}">
                <a16:creationId xmlns:a16="http://schemas.microsoft.com/office/drawing/2014/main" id="{DCB6DF62-B191-4875-B87C-B54EA8BC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62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editable-ocvs-cluster-shape-row-6">
            <a:extLst xmlns:a="http://schemas.openxmlformats.org/drawingml/2006/main">
              <a:ext uri="{FF2B5EF4-FFF2-40B4-BE49-F238E27FC236}">
                <a16:creationId xmlns:a16="http://schemas.microsoft.com/office/drawing/2014/main" id="{09337C91-CAD7-4B1C-A6E3-DE0E7B15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62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80" name="editable-ocvs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9F3D67E0-45A3-4FD5-AEB6-4A39CFD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62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81" name="editable-ocvs-cluster-architecture-row-6">
            <a:extLst xmlns:a="http://schemas.openxmlformats.org/drawingml/2006/main">
              <a:ext uri="{FF2B5EF4-FFF2-40B4-BE49-F238E27FC236}">
                <a16:creationId xmlns:a16="http://schemas.microsoft.com/office/drawing/2014/main" id="{1D9EF5E2-0D8F-4D3E-8BEF-7D147DE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62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82" name="ocvs-cluster-row-6-line">
            <a:extLst xmlns:a="http://schemas.openxmlformats.org/drawingml/2006/main">
              <a:ext uri="{FF2B5EF4-FFF2-40B4-BE49-F238E27FC236}">
                <a16:creationId xmlns:a16="http://schemas.microsoft.com/office/drawing/2014/main" id="{B0D94D6E-0884-448C-8AA7-F557CC4E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0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21377859c49eb"/>
          <a:stretch xmlns:a="http://schemas.openxmlformats.org/drawingml/2006/main"/>
        </p:blipFill>
        <p:spPr>
          <a:xfrm xmlns:a="http://schemas.openxmlformats.org/drawingml/2006/main">
            <a:off x="342900" y="266700"/>
            <a:ext cx="1876425" cy="523875"/>
          </a:xfrm>
          <a:prstGeom xmlns:a="http://schemas.openxmlformats.org/drawingml/2006/main" prst="rect">
            <a:avLst/>
          </a:prstGeom>
        </p:spPr>
      </p:pic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32d62fd8f470c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223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ricing-master-top-mask">
            <a:extLst xmlns:a="http://schemas.openxmlformats.org/drawingml/2006/main">
              <a:ext uri="{FF2B5EF4-FFF2-40B4-BE49-F238E27FC236}">
                <a16:creationId xmlns:a16="http://schemas.microsoft.com/office/drawing/2014/main" id="{F2737592-7ED9-4D13-AF51-EF1DC758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ricing-master-footer-mask">
            <a:extLst xmlns:a="http://schemas.openxmlformats.org/drawingml/2006/main">
              <a:ext uri="{FF2B5EF4-FFF2-40B4-BE49-F238E27FC236}">
                <a16:creationId xmlns:a16="http://schemas.microsoft.com/office/drawing/2014/main" id="{4890BC2B-DD56-4C10-BBAF-7CA1F9F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pricing-dot-1122-40">
            <a:extLst xmlns:a="http://schemas.openxmlformats.org/drawingml/2006/main">
              <a:ext uri="{FF2B5EF4-FFF2-40B4-BE49-F238E27FC236}">
                <a16:creationId xmlns:a16="http://schemas.microsoft.com/office/drawing/2014/main" id="{D629AB68-23AD-4E50-B4EB-CBE3D48F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4" name="pricing-dot-1170-64">
            <a:extLst xmlns:a="http://schemas.openxmlformats.org/drawingml/2006/main">
              <a:ext uri="{FF2B5EF4-FFF2-40B4-BE49-F238E27FC236}">
                <a16:creationId xmlns:a16="http://schemas.microsoft.com/office/drawing/2014/main" id="{D31D4684-53CC-42D6-B3D7-54D06BC1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5" name="pricing-dot-1215-30">
            <a:extLst xmlns:a="http://schemas.openxmlformats.org/drawingml/2006/main">
              <a:ext uri="{FF2B5EF4-FFF2-40B4-BE49-F238E27FC236}">
                <a16:creationId xmlns:a16="http://schemas.microsoft.com/office/drawing/2014/main" id="{803FC164-FCBF-48CD-9108-DD17F78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57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6" name="pricing-dot-1230-104">
            <a:extLst xmlns:a="http://schemas.openxmlformats.org/drawingml/2006/main">
              <a:ext uri="{FF2B5EF4-FFF2-40B4-BE49-F238E27FC236}">
                <a16:creationId xmlns:a16="http://schemas.microsoft.com/office/drawing/2014/main" id="{A5F25B21-1C6D-42F0-BD63-C6317285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906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7" name="pricing-dot-1196-138">
            <a:extLst xmlns:a="http://schemas.openxmlformats.org/drawingml/2006/main">
              <a:ext uri="{FF2B5EF4-FFF2-40B4-BE49-F238E27FC236}">
                <a16:creationId xmlns:a16="http://schemas.microsoft.com/office/drawing/2014/main" id="{AD686ECB-B888-47EF-A6B3-9B6ECE1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8" name="pricing-dot-1250-164">
            <a:extLst xmlns:a="http://schemas.openxmlformats.org/drawingml/2006/main">
              <a:ext uri="{FF2B5EF4-FFF2-40B4-BE49-F238E27FC236}">
                <a16:creationId xmlns:a16="http://schemas.microsoft.com/office/drawing/2014/main" id="{845518CB-D4E0-4591-94E4-68C11C32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6210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7664b52134666"/>
          <a:stretch xmlns:a="http://schemas.openxmlformats.org/drawingml/2006/main"/>
        </p:blipFill>
        <p:spPr>
          <a:xfrm xmlns:a="http://schemas.openxmlformats.org/drawingml/2006/main">
            <a:off x="361950" y="266700"/>
            <a:ext cx="1924050" cy="600075"/>
          </a:xfrm>
          <a:prstGeom xmlns:a="http://schemas.openxmlformats.org/drawingml/2006/main" prst="rect">
            <a:avLst/>
          </a:prstGeom>
        </p:spPr>
      </p:pic>
      <p:sp>
        <p:nvSpPr>
          <p:cNvPr id="10" name="ocvs-pricing-summary-title">
            <a:extLst xmlns:a="http://schemas.openxmlformats.org/drawingml/2006/main">
              <a:ext uri="{FF2B5EF4-FFF2-40B4-BE49-F238E27FC236}">
                <a16:creationId xmlns:a16="http://schemas.microsoft.com/office/drawing/2014/main" id="{2EB22904-35AD-4588-B05E-56E32F29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OCVS Pricing Summary</a:t>
            </a:r>
          </a:p>
        </p:txBody>
      </p:sp>
      <p:sp>
        <p:nvSpPr>
          <p:cNvPr id="11" name="ocvs-pricing-title-rule">
            <a:extLst xmlns:a="http://schemas.openxmlformats.org/drawingml/2006/main">
              <a:ext uri="{FF2B5EF4-FFF2-40B4-BE49-F238E27FC236}">
                <a16:creationId xmlns:a16="http://schemas.microsoft.com/office/drawing/2014/main" id="{2ECC2841-1BA2-4167-AD6A-922C9267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</a:ln>
        </p:spPr>
      </p:sp>
      <p:sp>
        <p:nvSpPr>
          <p:cNvPr id="12" name="ocvs-pricing-summary-subtitle">
            <a:extLst xmlns:a="http://schemas.openxmlformats.org/drawingml/2006/main">
              <a:ext uri="{FF2B5EF4-FFF2-40B4-BE49-F238E27FC236}">
                <a16:creationId xmlns:a16="http://schemas.microsoft.com/office/drawing/2014/main" id="{36104604-0A83-446D-A11B-73662905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33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Estimated pricing based on the selected OCVS sizing result and commitment term.</a:t>
            </a:r>
          </a:p>
        </p:txBody>
      </p:sp>
      <p:sp>
        <p:nvSpPr>
          <p:cNvPr id="13" name="pricing-payg-card">
            <a:extLst xmlns:a="http://schemas.openxmlformats.org/drawingml/2006/main">
              <a:ext uri="{FF2B5EF4-FFF2-40B4-BE49-F238E27FC236}">
                <a16:creationId xmlns:a16="http://schemas.microsoft.com/office/drawing/2014/main" id="{E5029A10-8C8E-477D-827E-42C71C71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4" name="pricing-payg-header">
            <a:extLst xmlns:a="http://schemas.openxmlformats.org/drawingml/2006/main">
              <a:ext uri="{FF2B5EF4-FFF2-40B4-BE49-F238E27FC236}">
                <a16:creationId xmlns:a16="http://schemas.microsoft.com/office/drawing/2014/main" id="{F155F66E-080B-43C2-97FD-678BE40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5" name="pricing-payg-heading">
            <a:extLst xmlns:a="http://schemas.openxmlformats.org/drawingml/2006/main">
              <a:ext uri="{FF2B5EF4-FFF2-40B4-BE49-F238E27FC236}">
                <a16:creationId xmlns:a16="http://schemas.microsoft.com/office/drawing/2014/main" id="{BC34A6A9-E292-462D-AFFC-CDD6641C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On-Demand</a:t>
            </a:r>
          </a:p>
        </p:txBody>
      </p:sp>
      <p:sp>
        <p:nvSpPr>
          <p:cNvPr id="16" name="pricing-payg-row-1-fill">
            <a:extLst xmlns:a="http://schemas.openxmlformats.org/drawingml/2006/main">
              <a:ext uri="{FF2B5EF4-FFF2-40B4-BE49-F238E27FC236}">
                <a16:creationId xmlns:a16="http://schemas.microsoft.com/office/drawing/2014/main" id="{A09D84CB-021D-4325-A244-A93EC4B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pricing-payg-row-1-line">
            <a:extLst xmlns:a="http://schemas.openxmlformats.org/drawingml/2006/main">
              <a:ext uri="{FF2B5EF4-FFF2-40B4-BE49-F238E27FC236}">
                <a16:creationId xmlns:a16="http://schemas.microsoft.com/office/drawing/2014/main" id="{0631DE72-A60B-4F25-99D5-9228BF4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8" name="pricing-payg-row-1-label">
            <a:extLst xmlns:a="http://schemas.openxmlformats.org/drawingml/2006/main">
              <a:ext uri="{FF2B5EF4-FFF2-40B4-BE49-F238E27FC236}">
                <a16:creationId xmlns:a16="http://schemas.microsoft.com/office/drawing/2014/main" id="{3A3A79D7-B4BF-4EED-9D40-CB879BB2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19" name="editable-ocvs-pricing-payg-infrastructure">
            <a:extLst xmlns:a="http://schemas.openxmlformats.org/drawingml/2006/main">
              <a:ext uri="{FF2B5EF4-FFF2-40B4-BE49-F238E27FC236}">
                <a16:creationId xmlns:a16="http://schemas.microsoft.com/office/drawing/2014/main" id="{51A3BC44-9F15-4452-88E2-0DB95630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0" name="pricing-payg-row-2-fill">
            <a:extLst xmlns:a="http://schemas.openxmlformats.org/drawingml/2006/main">
              <a:ext uri="{FF2B5EF4-FFF2-40B4-BE49-F238E27FC236}">
                <a16:creationId xmlns:a16="http://schemas.microsoft.com/office/drawing/2014/main" id="{CFC36F2B-EEF5-4E0C-9766-95B8908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ricing-payg-row-2-line">
            <a:extLst xmlns:a="http://schemas.openxmlformats.org/drawingml/2006/main">
              <a:ext uri="{FF2B5EF4-FFF2-40B4-BE49-F238E27FC236}">
                <a16:creationId xmlns:a16="http://schemas.microsoft.com/office/drawing/2014/main" id="{C08C0E1B-CCBE-4F7E-BE61-7E61228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2" name="pricing-payg-row-2-label">
            <a:extLst xmlns:a="http://schemas.openxmlformats.org/drawingml/2006/main">
              <a:ext uri="{FF2B5EF4-FFF2-40B4-BE49-F238E27FC236}">
                <a16:creationId xmlns:a16="http://schemas.microsoft.com/office/drawing/2014/main" id="{33F50F75-D459-47E8-BBC6-DA43E32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3" name="editable-ocvs-pricing-payg-storage">
            <a:extLst xmlns:a="http://schemas.openxmlformats.org/drawingml/2006/main">
              <a:ext uri="{FF2B5EF4-FFF2-40B4-BE49-F238E27FC236}">
                <a16:creationId xmlns:a16="http://schemas.microsoft.com/office/drawing/2014/main" id="{DD165367-AFBE-4E87-98FE-1BF6B55E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4" name="pricing-payg-row-3-fill">
            <a:extLst xmlns:a="http://schemas.openxmlformats.org/drawingml/2006/main">
              <a:ext uri="{FF2B5EF4-FFF2-40B4-BE49-F238E27FC236}">
                <a16:creationId xmlns:a16="http://schemas.microsoft.com/office/drawing/2014/main" id="{2C6FE6D5-DBB4-4EB6-B102-B491CD0C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5" name="pricing-payg-row-3-line">
            <a:extLst xmlns:a="http://schemas.openxmlformats.org/drawingml/2006/main">
              <a:ext uri="{FF2B5EF4-FFF2-40B4-BE49-F238E27FC236}">
                <a16:creationId xmlns:a16="http://schemas.microsoft.com/office/drawing/2014/main" id="{939FDBCC-2069-4B82-A414-E4A32CC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6" name="pricing-payg-row-3-label">
            <a:extLst xmlns:a="http://schemas.openxmlformats.org/drawingml/2006/main">
              <a:ext uri="{FF2B5EF4-FFF2-40B4-BE49-F238E27FC236}">
                <a16:creationId xmlns:a16="http://schemas.microsoft.com/office/drawing/2014/main" id="{2E371D0C-FCCC-4E7B-9A33-522CD96A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27" name="editable-ocvs-pricing-payg-monthly-total">
            <a:extLst xmlns:a="http://schemas.openxmlformats.org/drawingml/2006/main">
              <a:ext uri="{FF2B5EF4-FFF2-40B4-BE49-F238E27FC236}">
                <a16:creationId xmlns:a16="http://schemas.microsoft.com/office/drawing/2014/main" id="{47B46A6A-1C67-45DE-AD28-B1D55D09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8" name="pricing-payg-row-4-fill">
            <a:extLst xmlns:a="http://schemas.openxmlformats.org/drawingml/2006/main">
              <a:ext uri="{FF2B5EF4-FFF2-40B4-BE49-F238E27FC236}">
                <a16:creationId xmlns:a16="http://schemas.microsoft.com/office/drawing/2014/main" id="{91193D26-E22A-4AF6-B749-06FAD657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9" name="pricing-payg-row-4-line">
            <a:extLst xmlns:a="http://schemas.openxmlformats.org/drawingml/2006/main">
              <a:ext uri="{FF2B5EF4-FFF2-40B4-BE49-F238E27FC236}">
                <a16:creationId xmlns:a16="http://schemas.microsoft.com/office/drawing/2014/main" id="{8E063E18-90F9-4598-90BB-E2DED084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0" name="pricing-payg-row-4-label">
            <a:extLst xmlns:a="http://schemas.openxmlformats.org/drawingml/2006/main">
              <a:ext uri="{FF2B5EF4-FFF2-40B4-BE49-F238E27FC236}">
                <a16:creationId xmlns:a16="http://schemas.microsoft.com/office/drawing/2014/main" id="{38298E48-11D2-4D2F-929C-BBDD5EC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31" name="editable-ocvs-pricing-payg-annual-total">
            <a:extLst xmlns:a="http://schemas.openxmlformats.org/drawingml/2006/main">
              <a:ext uri="{FF2B5EF4-FFF2-40B4-BE49-F238E27FC236}">
                <a16:creationId xmlns:a16="http://schemas.microsoft.com/office/drawing/2014/main" id="{5FA079C6-B62A-4724-8C8B-DA3A31A0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2" name="pricing-one-year-card">
            <a:extLst xmlns:a="http://schemas.openxmlformats.org/drawingml/2006/main">
              <a:ext uri="{FF2B5EF4-FFF2-40B4-BE49-F238E27FC236}">
                <a16:creationId xmlns:a16="http://schemas.microsoft.com/office/drawing/2014/main" id="{37E295EA-13D9-4634-A1AB-AB29135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3" name="pricing-one-year-header">
            <a:extLst xmlns:a="http://schemas.openxmlformats.org/drawingml/2006/main">
              <a:ext uri="{FF2B5EF4-FFF2-40B4-BE49-F238E27FC236}">
                <a16:creationId xmlns:a16="http://schemas.microsoft.com/office/drawing/2014/main" id="{40E3CDA1-EE1C-4D26-A8C4-53B3F980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4" name="pricing-one-year-heading">
            <a:extLst xmlns:a="http://schemas.openxmlformats.org/drawingml/2006/main">
              <a:ext uri="{FF2B5EF4-FFF2-40B4-BE49-F238E27FC236}">
                <a16:creationId xmlns:a16="http://schemas.microsoft.com/office/drawing/2014/main" id="{7FF38563-3163-400B-886A-5C13B1DB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1-Year Commitment</a:t>
            </a:r>
          </a:p>
        </p:txBody>
      </p:sp>
      <p:sp>
        <p:nvSpPr>
          <p:cNvPr id="35" name="pricing-one-year-row-1-fill">
            <a:extLst xmlns:a="http://schemas.openxmlformats.org/drawingml/2006/main">
              <a:ext uri="{FF2B5EF4-FFF2-40B4-BE49-F238E27FC236}">
                <a16:creationId xmlns:a16="http://schemas.microsoft.com/office/drawing/2014/main" id="{28E7C60A-B304-4131-BA10-081FE72B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pricing-one-year-row-1-line">
            <a:extLst xmlns:a="http://schemas.openxmlformats.org/drawingml/2006/main">
              <a:ext uri="{FF2B5EF4-FFF2-40B4-BE49-F238E27FC236}">
                <a16:creationId xmlns:a16="http://schemas.microsoft.com/office/drawing/2014/main" id="{BC5C5BBE-7EE4-4A66-AA63-EB2D75D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7" name="pricing-one-year-row-1-label">
            <a:extLst xmlns:a="http://schemas.openxmlformats.org/drawingml/2006/main">
              <a:ext uri="{FF2B5EF4-FFF2-40B4-BE49-F238E27FC236}">
                <a16:creationId xmlns:a16="http://schemas.microsoft.com/office/drawing/2014/main" id="{E8E1C769-7380-43F2-B0E7-6A8910E5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38" name="editable-ocvs-pricing-on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44E934D8-06EB-4F9E-A12F-FDD9902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9" name="pricing-one-year-row-2-fill">
            <a:extLst xmlns:a="http://schemas.openxmlformats.org/drawingml/2006/main">
              <a:ext uri="{FF2B5EF4-FFF2-40B4-BE49-F238E27FC236}">
                <a16:creationId xmlns:a16="http://schemas.microsoft.com/office/drawing/2014/main" id="{F7970B9E-9129-4C64-AFC1-BECAC7E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pricing-one-year-row-2-line">
            <a:extLst xmlns:a="http://schemas.openxmlformats.org/drawingml/2006/main">
              <a:ext uri="{FF2B5EF4-FFF2-40B4-BE49-F238E27FC236}">
                <a16:creationId xmlns:a16="http://schemas.microsoft.com/office/drawing/2014/main" id="{62690468-720F-4E3C-BAE5-BCDC52F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1" name="pricing-one-year-row-2-label">
            <a:extLst xmlns:a="http://schemas.openxmlformats.org/drawingml/2006/main">
              <a:ext uri="{FF2B5EF4-FFF2-40B4-BE49-F238E27FC236}">
                <a16:creationId xmlns:a16="http://schemas.microsoft.com/office/drawing/2014/main" id="{35F840F2-F05B-44E2-B095-E4C01E57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2" name="editable-ocvs-pricing-one-year-storage">
            <a:extLst xmlns:a="http://schemas.openxmlformats.org/drawingml/2006/main">
              <a:ext uri="{FF2B5EF4-FFF2-40B4-BE49-F238E27FC236}">
                <a16:creationId xmlns:a16="http://schemas.microsoft.com/office/drawing/2014/main" id="{A92A1301-0D99-43C4-BAA9-1396C41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3" name="pricing-one-year-row-3-fill">
            <a:extLst xmlns:a="http://schemas.openxmlformats.org/drawingml/2006/main">
              <a:ext uri="{FF2B5EF4-FFF2-40B4-BE49-F238E27FC236}">
                <a16:creationId xmlns:a16="http://schemas.microsoft.com/office/drawing/2014/main" id="{F1065F3C-3B8C-4B99-A976-DE35BEE9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4" name="pricing-one-year-row-3-line">
            <a:extLst xmlns:a="http://schemas.openxmlformats.org/drawingml/2006/main">
              <a:ext uri="{FF2B5EF4-FFF2-40B4-BE49-F238E27FC236}">
                <a16:creationId xmlns:a16="http://schemas.microsoft.com/office/drawing/2014/main" id="{50EEF697-C6C8-4260-BD10-10611B42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5" name="pricing-one-year-row-3-label">
            <a:extLst xmlns:a="http://schemas.openxmlformats.org/drawingml/2006/main">
              <a:ext uri="{FF2B5EF4-FFF2-40B4-BE49-F238E27FC236}">
                <a16:creationId xmlns:a16="http://schemas.microsoft.com/office/drawing/2014/main" id="{E0EC3E7F-83BD-4ACC-981D-2FB046F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46" name="editable-ocvs-pricing-on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61593558-E536-4506-85EE-24BF8422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7" name="pricing-one-year-row-4-fill">
            <a:extLst xmlns:a="http://schemas.openxmlformats.org/drawingml/2006/main">
              <a:ext uri="{FF2B5EF4-FFF2-40B4-BE49-F238E27FC236}">
                <a16:creationId xmlns:a16="http://schemas.microsoft.com/office/drawing/2014/main" id="{ECB68273-1037-44B7-B5F1-FAAE6ADC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8" name="pricing-one-year-row-4-line">
            <a:extLst xmlns:a="http://schemas.openxmlformats.org/drawingml/2006/main">
              <a:ext uri="{FF2B5EF4-FFF2-40B4-BE49-F238E27FC236}">
                <a16:creationId xmlns:a16="http://schemas.microsoft.com/office/drawing/2014/main" id="{3CA570B6-3346-4989-B0C9-89C0B398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9" name="pricing-one-year-row-4-label">
            <a:extLst xmlns:a="http://schemas.openxmlformats.org/drawingml/2006/main">
              <a:ext uri="{FF2B5EF4-FFF2-40B4-BE49-F238E27FC236}">
                <a16:creationId xmlns:a16="http://schemas.microsoft.com/office/drawing/2014/main" id="{FD649963-B07F-4516-BCF3-462391BC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50" name="editable-ocvs-pricing-one-year-annual-total">
            <a:extLst xmlns:a="http://schemas.openxmlformats.org/drawingml/2006/main">
              <a:ext uri="{FF2B5EF4-FFF2-40B4-BE49-F238E27FC236}">
                <a16:creationId xmlns:a16="http://schemas.microsoft.com/office/drawing/2014/main" id="{27B481C9-6A0B-4F10-A6B2-005EBF9E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1" name="pricing-three-year-card">
            <a:extLst xmlns:a="http://schemas.openxmlformats.org/drawingml/2006/main">
              <a:ext uri="{FF2B5EF4-FFF2-40B4-BE49-F238E27FC236}">
                <a16:creationId xmlns:a16="http://schemas.microsoft.com/office/drawing/2014/main" id="{1DD6F95E-5409-4523-94F7-53219D5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2" name="pricing-three-year-header">
            <a:extLst xmlns:a="http://schemas.openxmlformats.org/drawingml/2006/main">
              <a:ext uri="{FF2B5EF4-FFF2-40B4-BE49-F238E27FC236}">
                <a16:creationId xmlns:a16="http://schemas.microsoft.com/office/drawing/2014/main" id="{23CB253E-6DD9-4ACF-BB2D-4D92D78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53" name="pricing-three-year-heading">
            <a:extLst xmlns:a="http://schemas.openxmlformats.org/drawingml/2006/main">
              <a:ext uri="{FF2B5EF4-FFF2-40B4-BE49-F238E27FC236}">
                <a16:creationId xmlns:a16="http://schemas.microsoft.com/office/drawing/2014/main" id="{78419A74-6C1E-4D26-9FE3-80CA785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3-Year Commitment</a:t>
            </a:r>
          </a:p>
        </p:txBody>
      </p:sp>
      <p:sp>
        <p:nvSpPr>
          <p:cNvPr id="54" name="pricing-three-year-row-1-fill">
            <a:extLst xmlns:a="http://schemas.openxmlformats.org/drawingml/2006/main">
              <a:ext uri="{FF2B5EF4-FFF2-40B4-BE49-F238E27FC236}">
                <a16:creationId xmlns:a16="http://schemas.microsoft.com/office/drawing/2014/main" id="{07275161-63AB-4250-8ED2-E8F9A32A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pricing-three-year-row-1-line">
            <a:extLst xmlns:a="http://schemas.openxmlformats.org/drawingml/2006/main">
              <a:ext uri="{FF2B5EF4-FFF2-40B4-BE49-F238E27FC236}">
                <a16:creationId xmlns:a16="http://schemas.microsoft.com/office/drawing/2014/main" id="{E992E744-4F0D-4055-86B6-8AA6872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6" name="pricing-three-year-row-1-label">
            <a:extLst xmlns:a="http://schemas.openxmlformats.org/drawingml/2006/main">
              <a:ext uri="{FF2B5EF4-FFF2-40B4-BE49-F238E27FC236}">
                <a16:creationId xmlns:a16="http://schemas.microsoft.com/office/drawing/2014/main" id="{80FBA0D5-15AE-4746-AE36-CAB6E24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57" name="editable-ocvs-pricing-thre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08D22671-564F-471A-92FF-CB68E5C8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8" name="pricing-three-year-row-2-fill">
            <a:extLst xmlns:a="http://schemas.openxmlformats.org/drawingml/2006/main">
              <a:ext uri="{FF2B5EF4-FFF2-40B4-BE49-F238E27FC236}">
                <a16:creationId xmlns:a16="http://schemas.microsoft.com/office/drawing/2014/main" id="{F5B3F501-5377-46BB-B9D5-E9EAFB3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pricing-three-year-row-2-line">
            <a:extLst xmlns:a="http://schemas.openxmlformats.org/drawingml/2006/main">
              <a:ext uri="{FF2B5EF4-FFF2-40B4-BE49-F238E27FC236}">
                <a16:creationId xmlns:a16="http://schemas.microsoft.com/office/drawing/2014/main" id="{E4B96A14-8524-474F-B914-A8F44FE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0" name="pricing-three-year-row-2-label">
            <a:extLst xmlns:a="http://schemas.openxmlformats.org/drawingml/2006/main">
              <a:ext uri="{FF2B5EF4-FFF2-40B4-BE49-F238E27FC236}">
                <a16:creationId xmlns:a16="http://schemas.microsoft.com/office/drawing/2014/main" id="{87DDDDB6-1103-4FC5-9631-9790BE6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1" name="editable-ocvs-pricing-three-year-storage">
            <a:extLst xmlns:a="http://schemas.openxmlformats.org/drawingml/2006/main">
              <a:ext uri="{FF2B5EF4-FFF2-40B4-BE49-F238E27FC236}">
                <a16:creationId xmlns:a16="http://schemas.microsoft.com/office/drawing/2014/main" id="{2C8055AF-902A-4FB4-810B-E539587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2" name="pricing-three-year-row-3-fill">
            <a:extLst xmlns:a="http://schemas.openxmlformats.org/drawingml/2006/main">
              <a:ext uri="{FF2B5EF4-FFF2-40B4-BE49-F238E27FC236}">
                <a16:creationId xmlns:a16="http://schemas.microsoft.com/office/drawing/2014/main" id="{632C8AB3-D827-410E-9724-87F3B33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3" name="pricing-three-year-row-3-line">
            <a:extLst xmlns:a="http://schemas.openxmlformats.org/drawingml/2006/main">
              <a:ext uri="{FF2B5EF4-FFF2-40B4-BE49-F238E27FC236}">
                <a16:creationId xmlns:a16="http://schemas.microsoft.com/office/drawing/2014/main" id="{0A3D3CE6-865D-4987-889E-CE342EB4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4" name="pricing-three-year-row-3-label">
            <a:extLst xmlns:a="http://schemas.openxmlformats.org/drawingml/2006/main">
              <a:ext uri="{FF2B5EF4-FFF2-40B4-BE49-F238E27FC236}">
                <a16:creationId xmlns:a16="http://schemas.microsoft.com/office/drawing/2014/main" id="{ADFA199B-5564-45EF-AC2A-6D452B2E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65" name="editable-ocvs-pricing-thre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1289989B-82C1-4AEF-B92D-D2D05DD4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6" name="pricing-three-year-row-4-fill">
            <a:extLst xmlns:a="http://schemas.openxmlformats.org/drawingml/2006/main">
              <a:ext uri="{FF2B5EF4-FFF2-40B4-BE49-F238E27FC236}">
                <a16:creationId xmlns:a16="http://schemas.microsoft.com/office/drawing/2014/main" id="{A9E1CA93-739A-4597-A6AE-1BD9C651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7" name="pricing-three-year-row-4-line">
            <a:extLst xmlns:a="http://schemas.openxmlformats.org/drawingml/2006/main">
              <a:ext uri="{FF2B5EF4-FFF2-40B4-BE49-F238E27FC236}">
                <a16:creationId xmlns:a16="http://schemas.microsoft.com/office/drawing/2014/main" id="{D0F63DA3-FB01-4453-B8E9-3E08749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8" name="pricing-three-year-row-4-label">
            <a:extLst xmlns:a="http://schemas.openxmlformats.org/drawingml/2006/main">
              <a:ext uri="{FF2B5EF4-FFF2-40B4-BE49-F238E27FC236}">
                <a16:creationId xmlns:a16="http://schemas.microsoft.com/office/drawing/2014/main" id="{6194E081-28CE-4BE5-8C22-1913F48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69" name="editable-ocvs-pricing-three-year-annual-total">
            <a:extLst xmlns:a="http://schemas.openxmlformats.org/drawingml/2006/main">
              <a:ext uri="{FF2B5EF4-FFF2-40B4-BE49-F238E27FC236}">
                <a16:creationId xmlns:a16="http://schemas.microsoft.com/office/drawing/2014/main" id="{1FA83883-1522-4B41-9EFA-AA5DEACB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0" name="ocvs-pricing-disclaimer">
            <a:extLst xmlns:a="http://schemas.openxmlformats.org/drawingml/2006/main">
              <a:ext uri="{FF2B5EF4-FFF2-40B4-BE49-F238E27FC236}">
                <a16:creationId xmlns:a16="http://schemas.microsoft.com/office/drawing/2014/main" id="{7B26FBB7-93C1-448F-9929-B84D73E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Pricing is indicative and reflects the active sizing result and commercial inputs.</a:t>
            </a:r>
          </a:p>
        </p:txBody>
      </p:sp>
      <p:sp>
        <p:nvSpPr>
          <p:cNvPr id="71" name="pricing-footer-rule">
            <a:extLst xmlns:a="http://schemas.openxmlformats.org/drawingml/2006/main">
              <a:ext uri="{FF2B5EF4-FFF2-40B4-BE49-F238E27FC236}">
                <a16:creationId xmlns:a16="http://schemas.microsoft.com/office/drawing/2014/main" id="{711173EF-150D-4F3A-8E9E-274E4E2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1"/>
          </a:solidFill>
          <a:ln xmlns:a="http://schemas.openxmlformats.org/drawingml/2006/main" w="9525">
            <a:solidFill>
              <a:srgbClr val="BFC5C1"/>
            </a:solidFill>
          </a:ln>
        </p:spPr>
      </p:sp>
      <p:sp>
        <p:nvSpPr>
          <p:cNvPr id="72" name="pricing-confidential">
            <a:extLst xmlns:a="http://schemas.openxmlformats.org/drawingml/2006/main">
              <a:ext uri="{FF2B5EF4-FFF2-40B4-BE49-F238E27FC236}">
                <a16:creationId xmlns:a16="http://schemas.microsoft.com/office/drawing/2014/main" id="{FA30E786-572B-4009-9724-EF67992C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Confidential - Oracle Restricted \ Employees Only</a:t>
            </a:r>
          </a:p>
        </p:txBody>
      </p:sp>
      <p:sp>
        <p:nvSpPr>
          <p:cNvPr id="73" name="pricing-footer-label">
            <a:extLst xmlns:a="http://schemas.openxmlformats.org/drawingml/2006/main">
              <a:ext uri="{FF2B5EF4-FFF2-40B4-BE49-F238E27FC236}">
                <a16:creationId xmlns:a16="http://schemas.microsoft.com/office/drawing/2014/main" id="{5EFCF22E-4A95-444A-8BC6-DAF5D76E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OCVS Customer Sizing</a:t>
            </a:r>
          </a:p>
        </p:txBody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59b2f8b3c47d9"/>
          <a:stretch xmlns:a="http://schemas.openxmlformats.org/drawingml/2006/main"/>
        </p:blipFill>
        <p:spPr>
          <a:xfrm xmlns:a="http://schemas.openxmlformats.org/drawingml/2006/main">
            <a:off x="11334750" y="6477000"/>
            <a:ext cx="342900" cy="27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0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030B4A-2296-4E67-AE3A-90D3730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857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pic>
        <p:nvPicPr>
          <p:cNvPr id="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b2e4cadb14f65"/>
          <a:stretch xmlns:a="http://schemas.openxmlformats.org/drawingml/2006/main"/>
        </p:blipFill>
        <p:spPr>
          <a:xfrm xmlns:a="http://schemas.openxmlformats.org/drawingml/2006/main">
            <a:off x="4219575" y="3185422"/>
            <a:ext cx="3752850" cy="534781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7D35F5-2CF6-43F3-9813-9C11FDF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64865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104449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2026-09-09T21:46:52.9770000Z</dcterms:created>
  <dcterms:modified xsi:type="dcterms:W3CDTF">2026-09-09T21:46:52.9770000Z</dcterms:modified>
</coreProperties>
</file>