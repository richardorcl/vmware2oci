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7446045c8f4f00" /><Relationship Type="http://schemas.openxmlformats.org/officeDocument/2006/relationships/extended-properties" Target="/docProps/app.xml" Id="R4043f074ee2747a8" /><Relationship Type="http://schemas.openxmlformats.org/officeDocument/2006/relationships/officeDocument" Target="/ppt/presentation.xml" Id="R6f2a454f0902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8752daee44dfb"/>
  </p:sldMasterIdLst>
  <p:notesMasterIdLst>
    <p:notesMasterId xmlns:r="http://schemas.openxmlformats.org/officeDocument/2006/relationships" r:id="Rdefc72d28e9d4a20"/>
  </p:notesMasterIdLst>
  <p:sldIdLst>
    <p:sldId xmlns:r="http://schemas.openxmlformats.org/officeDocument/2006/relationships" id="256" r:id="Rdbc8771c9cb34a4e"/>
    <p:sldId xmlns:r="http://schemas.openxmlformats.org/officeDocument/2006/relationships" id="257" r:id="R74d9637096374ec4"/>
    <p:sldId xmlns:r="http://schemas.openxmlformats.org/officeDocument/2006/relationships" id="258" r:id="R1ca43a8959d34f1b"/>
    <p:sldId xmlns:r="http://schemas.openxmlformats.org/officeDocument/2006/relationships" id="259" r:id="Rf9abee8385164a16"/>
    <p:sldId xmlns:r="http://schemas.openxmlformats.org/officeDocument/2006/relationships" id="260" r:id="R063e5130bd75443e"/>
    <p:sldId xmlns:r="http://schemas.openxmlformats.org/officeDocument/2006/relationships" id="261" r:id="R17dc3dc4ad0a45ab"/>
    <p:sldId xmlns:r="http://schemas.openxmlformats.org/officeDocument/2006/relationships" id="262" r:id="Ra256700580a3463c"/>
    <p:sldId xmlns:r="http://schemas.openxmlformats.org/officeDocument/2006/relationships" id="263" r:id="Rc4afd0e7d54b43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573b80e7644af" /><Relationship Type="http://schemas.openxmlformats.org/officeDocument/2006/relationships/slideMaster" Target="/ppt/slideMasters/slideMaster1.xml" Id="R89f8752daee44dfb" /><Relationship Type="http://schemas.openxmlformats.org/officeDocument/2006/relationships/notesMaster" Target="/ppt/notesMasters/notesMaster1.xml" Id="Rdefc72d28e9d4a20" /><Relationship Type="http://schemas.openxmlformats.org/officeDocument/2006/relationships/presProps" Target="/ppt/presProps.xml" Id="R3c292d5c5c18457a" /><Relationship Type="http://schemas.openxmlformats.org/officeDocument/2006/relationships/viewProps" Target="/ppt/viewProps.xml" Id="Rf74029ea17424d00" /><Relationship Type="http://schemas.openxmlformats.org/officeDocument/2006/relationships/tableStyles" Target="/ppt/tableStyles.xml" Id="Rb359099372e94aeb" /><Relationship Type="http://schemas.openxmlformats.org/officeDocument/2006/relationships/slide" Target="/ppt/slides/slide1.xml" Id="Rdbc8771c9cb34a4e" /><Relationship Type="http://schemas.openxmlformats.org/officeDocument/2006/relationships/slide" Target="/ppt/slides/slide2.xml" Id="R74d9637096374ec4" /><Relationship Type="http://schemas.openxmlformats.org/officeDocument/2006/relationships/slide" Target="/ppt/slides/slide3.xml" Id="R1ca43a8959d34f1b" /><Relationship Type="http://schemas.openxmlformats.org/officeDocument/2006/relationships/slide" Target="/ppt/slides/slide4.xml" Id="Rf9abee8385164a16" /><Relationship Type="http://schemas.openxmlformats.org/officeDocument/2006/relationships/slide" Target="/ppt/slides/slide5.xml" Id="R063e5130bd75443e" /><Relationship Type="http://schemas.openxmlformats.org/officeDocument/2006/relationships/slide" Target="/ppt/slides/slide6.xml" Id="R17dc3dc4ad0a45ab" /><Relationship Type="http://schemas.openxmlformats.org/officeDocument/2006/relationships/slide" Target="/ppt/slides/slide7.xml" Id="Ra256700580a3463c" /><Relationship Type="http://schemas.openxmlformats.org/officeDocument/2006/relationships/slide" Target="/ppt/slides/slide8.xml" Id="Rc4afd0e7d54b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4e57a574d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3869007bf43af" /><Relationship Type="http://schemas.openxmlformats.org/officeDocument/2006/relationships/notesMaster" Target="/ppt/notesMasters/notesMaster1.xml" Id="R5af68131f2404f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8ece8c537c438b" /><Relationship Type="http://schemas.openxmlformats.org/officeDocument/2006/relationships/notesMaster" Target="/ppt/notesMasters/notesMaster1.xml" Id="R45d09f30ab0e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1b0aacc1e4c1c" /><Relationship Type="http://schemas.openxmlformats.org/officeDocument/2006/relationships/notesMaster" Target="/ppt/notesMasters/notesMaster1.xml" Id="R02e97ab8304343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8e0fcfbe7b4438" /><Relationship Type="http://schemas.openxmlformats.org/officeDocument/2006/relationships/notesMaster" Target="/ppt/notesMasters/notesMaster1.xml" Id="R6162ae7f62dc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5b3c8c59c646fa" /><Relationship Type="http://schemas.openxmlformats.org/officeDocument/2006/relationships/notesMaster" Target="/ppt/notesMasters/notesMaster1.xml" Id="R108630a95899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b9b5caa0ee4ead" /><Relationship Type="http://schemas.openxmlformats.org/officeDocument/2006/relationships/notesMaster" Target="/ppt/notesMasters/notesMaster1.xml" Id="Raa0125ccacbe4a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b06778b8204daf" /><Relationship Type="http://schemas.openxmlformats.org/officeDocument/2006/relationships/notesMaster" Target="/ppt/notesMasters/notesMaster1.xml" Id="Rea9102225ae54b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9a579758ed48f2" /><Relationship Type="http://schemas.openxmlformats.org/officeDocument/2006/relationships/notesMaster" Target="/ppt/notesMasters/notesMaster1.xml" Id="Re3e82674b1ac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1 of the provided PowerPoint. Oracle logo, Oracle mark, row icons, and the right-side Oracle Cloud VMware Solution illustration are kept as cropped image assets from the source. Visible title, sizing label, and customer/date/prepared-by text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2 of the provided PowerPoint. Oracle logo and all icons/pictograms are kept as cropped image assets from the source. Text, panels, arrows, table-like labels, callout, separators, and business-outcome copy are recreated as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4 of the provided PowerPoint. Oracle logo is kept as a cropped image asset from the source; confidentiality labels and grey background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91cadfc264f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a8f956f98e4712" /><Relationship Type="http://schemas.openxmlformats.org/officeDocument/2006/relationships/slideLayout" Target="/ppt/slideLayouts/slideLayout1.xml" Id="R6b6bbf703ec6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bbf703ec6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3aac9db749c5" /><Relationship Type="http://schemas.openxmlformats.org/officeDocument/2006/relationships/image" Target="/ppt/media/image.png" Id="Re032236dd6c84f80" /><Relationship Type="http://schemas.openxmlformats.org/officeDocument/2006/relationships/image" Target="/ppt/media/image2.png" Id="R422119d558af454b" /><Relationship Type="http://schemas.openxmlformats.org/officeDocument/2006/relationships/image" Target="/ppt/media/image3.png" Id="R89bde01485f940a4" /><Relationship Type="http://schemas.openxmlformats.org/officeDocument/2006/relationships/image" Target="/ppt/media/image4.png" Id="Rcb74e702041148c9" /><Relationship Type="http://schemas.openxmlformats.org/officeDocument/2006/relationships/image" Target="/ppt/media/image5.png" Id="Raf0888c212074b98" /><Relationship Type="http://schemas.openxmlformats.org/officeDocument/2006/relationships/image" Target="/ppt/media/image6.png" Id="R3cfed9dc74ee4b40" /><Relationship Type="http://schemas.openxmlformats.org/officeDocument/2006/relationships/notesSlide" Target="/ppt/notesSlides/notesSlide1.xml" Id="Rbe3215ec3812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2f27f06054b3a" /><Relationship Type="http://schemas.openxmlformats.org/officeDocument/2006/relationships/image" Target="/ppt/media/image7.png" Id="R62250bf4972144d0" /><Relationship Type="http://schemas.openxmlformats.org/officeDocument/2006/relationships/image" Target="/ppt/media/image8.png" Id="R02b0f63aca834d77" /><Relationship Type="http://schemas.openxmlformats.org/officeDocument/2006/relationships/image" Target="/ppt/media/image9.png" Id="Re7e5807e7c5a492e" /><Relationship Type="http://schemas.openxmlformats.org/officeDocument/2006/relationships/image" Target="/ppt/media/image10.png" Id="Rcb0545aaf9774646" /><Relationship Type="http://schemas.openxmlformats.org/officeDocument/2006/relationships/image" Target="/ppt/media/image11.png" Id="R2d05f4ade6c54dc3" /><Relationship Type="http://schemas.openxmlformats.org/officeDocument/2006/relationships/image" Target="/ppt/media/image12.png" Id="R72a7c9fad91c4b12" /><Relationship Type="http://schemas.openxmlformats.org/officeDocument/2006/relationships/image" Target="/ppt/media/image13.png" Id="R4e3128d6f4da4b19" /><Relationship Type="http://schemas.openxmlformats.org/officeDocument/2006/relationships/image" Target="/ppt/media/image14.png" Id="R62bc2d2e2afa4bb5" /><Relationship Type="http://schemas.openxmlformats.org/officeDocument/2006/relationships/image" Target="/ppt/media/image15.png" Id="R40c79de28983498d" /><Relationship Type="http://schemas.openxmlformats.org/officeDocument/2006/relationships/image" Target="/ppt/media/image16.png" Id="R18e59e4e04504b69" /><Relationship Type="http://schemas.openxmlformats.org/officeDocument/2006/relationships/image" Target="/ppt/media/image17.png" Id="R21ee160381fe4de8" /><Relationship Type="http://schemas.openxmlformats.org/officeDocument/2006/relationships/image" Target="/ppt/media/image18.png" Id="Raf1d8cd1bd754235" /><Relationship Type="http://schemas.openxmlformats.org/officeDocument/2006/relationships/image" Target="/ppt/media/image19.png" Id="R016517ddd2894682" /><Relationship Type="http://schemas.openxmlformats.org/officeDocument/2006/relationships/image" Target="/ppt/media/image20.png" Id="R8909cd59ef8c4e72" /><Relationship Type="http://schemas.openxmlformats.org/officeDocument/2006/relationships/image" Target="/ppt/media/image21.png" Id="Re0bc60d6866148ba" /><Relationship Type="http://schemas.openxmlformats.org/officeDocument/2006/relationships/image" Target="/ppt/media/image22.png" Id="Rc2fb50e15bba438c" /><Relationship Type="http://schemas.openxmlformats.org/officeDocument/2006/relationships/image" Target="/ppt/media/image23.png" Id="Rebb7eea90c844b9d" /><Relationship Type="http://schemas.openxmlformats.org/officeDocument/2006/relationships/image" Target="/ppt/media/image24.png" Id="Rda8ca6abb54141f7" /><Relationship Type="http://schemas.openxmlformats.org/officeDocument/2006/relationships/image" Target="/ppt/media/image25.png" Id="R6f52a97090f34880" /><Relationship Type="http://schemas.openxmlformats.org/officeDocument/2006/relationships/image" Target="/ppt/media/image26.png" Id="R4b082a27769b4869" /><Relationship Type="http://schemas.openxmlformats.org/officeDocument/2006/relationships/image" Target="/ppt/media/image27.png" Id="R699cb0df19d14c6b" /><Relationship Type="http://schemas.openxmlformats.org/officeDocument/2006/relationships/image" Target="/ppt/media/image28.png" Id="R777e1a6ad037463d" /><Relationship Type="http://schemas.openxmlformats.org/officeDocument/2006/relationships/image" Target="/ppt/media/image29.png" Id="Re6864f2451224b73" /><Relationship Type="http://schemas.openxmlformats.org/officeDocument/2006/relationships/image" Target="/ppt/media/image30.png" Id="R2ca42f0812b94cec" /><Relationship Type="http://schemas.openxmlformats.org/officeDocument/2006/relationships/image" Target="/ppt/media/image31.png" Id="Re238a565b1b540d0" /><Relationship Type="http://schemas.openxmlformats.org/officeDocument/2006/relationships/image" Target="/ppt/media/image32.png" Id="R2779be08a0d24efe" /><Relationship Type="http://schemas.openxmlformats.org/officeDocument/2006/relationships/notesSlide" Target="/ppt/notesSlides/notesSlide2.xml" Id="R701e6728718a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62d4d6ab4067" /><Relationship Type="http://schemas.openxmlformats.org/officeDocument/2006/relationships/image" Target="/ppt/media/image33.png" Id="Ra74a8a808ba1420f" /><Relationship Type="http://schemas.openxmlformats.org/officeDocument/2006/relationships/image" Target="/ppt/media/image34.png" Id="Rbea0250993104901" /><Relationship Type="http://schemas.openxmlformats.org/officeDocument/2006/relationships/notesSlide" Target="/ppt/notesSlides/notesSlide3.xml" Id="R6f1e8d9e28d0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c64cebc164f63" /><Relationship Type="http://schemas.openxmlformats.org/officeDocument/2006/relationships/image" Target="/ppt/media/image35.png" Id="R9dc6c52695b54ed4" /><Relationship Type="http://schemas.openxmlformats.org/officeDocument/2006/relationships/image" Target="/ppt/media/image36.png" Id="R7f3daa0be93a4357" /><Relationship Type="http://schemas.openxmlformats.org/officeDocument/2006/relationships/image" Target="/ppt/media/image37.png" Id="R3a0681d93f15482e" /><Relationship Type="http://schemas.openxmlformats.org/officeDocument/2006/relationships/image" Target="/ppt/media/image38.png" Id="R697d237006094894" /><Relationship Type="http://schemas.openxmlformats.org/officeDocument/2006/relationships/image" Target="/ppt/media/image39.png" Id="R0a62ae2403214255" /><Relationship Type="http://schemas.openxmlformats.org/officeDocument/2006/relationships/image" Target="/ppt/media/image40.png" Id="R0a18e0e1d1e2472f" /><Relationship Type="http://schemas.openxmlformats.org/officeDocument/2006/relationships/image" Target="/ppt/media/image41.png" Id="R42c47daeed214344" /><Relationship Type="http://schemas.openxmlformats.org/officeDocument/2006/relationships/image" Target="/ppt/media/image42.png" Id="Rf329b907d0ff4605" /><Relationship Type="http://schemas.openxmlformats.org/officeDocument/2006/relationships/image" Target="/ppt/media/image43.png" Id="Rc7cb00c1d96540a4" /><Relationship Type="http://schemas.openxmlformats.org/officeDocument/2006/relationships/notesSlide" Target="/ppt/notesSlides/notesSlide4.xml" Id="R24f8ae920fb84f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cd0afcde04a02" /><Relationship Type="http://schemas.openxmlformats.org/officeDocument/2006/relationships/image" Target="/ppt/media/image44.png" Id="Rdc8d7a84525e4e14" /><Relationship Type="http://schemas.openxmlformats.org/officeDocument/2006/relationships/image" Target="/ppt/media/image45.png" Id="R3d5f2f674b7547e9" /><Relationship Type="http://schemas.openxmlformats.org/officeDocument/2006/relationships/notesSlide" Target="/ppt/notesSlides/notesSlide5.xml" Id="R07ea6cb81cdb4d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57bac6c724d37" /><Relationship Type="http://schemas.openxmlformats.org/officeDocument/2006/relationships/image" Target="/ppt/media/image46.png" Id="R8c34af7be08c48a8" /><Relationship Type="http://schemas.openxmlformats.org/officeDocument/2006/relationships/image" Target="/ppt/media/image47.png" Id="R7c2bf9a27541494b" /><Relationship Type="http://schemas.openxmlformats.org/officeDocument/2006/relationships/notesSlide" Target="/ppt/notesSlides/notesSlide6.xml" Id="R79e62973a41f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0b51fa46d4d8f" /><Relationship Type="http://schemas.openxmlformats.org/officeDocument/2006/relationships/image" Target="/ppt/media/image48.png" Id="R75bcc223be9c482b" /><Relationship Type="http://schemas.openxmlformats.org/officeDocument/2006/relationships/image" Target="/ppt/media/image49.png" Id="R63cb2ad6457649e8" /><Relationship Type="http://schemas.openxmlformats.org/officeDocument/2006/relationships/notesSlide" Target="/ppt/notesSlides/notesSlide7.xml" Id="Rd7bb81a8bdde4a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b0c009c043e4" /><Relationship Type="http://schemas.openxmlformats.org/officeDocument/2006/relationships/image" Target="/ppt/media/image50.png" Id="Rae18dcaa00d0482d" /><Relationship Type="http://schemas.openxmlformats.org/officeDocument/2006/relationships/notesSlide" Target="/ppt/notesSlides/notesSlide8.xml" Id="R3ce85a1d102d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696C5B5-BCFA-4425-B931-C6A2F4C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75AA658-C774-489C-98AA-71460C4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F6E5068-3122-4247-9AB7-38EBFA2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F01C8E-6137-4231-8D77-A754E49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10343F5-2252-4F30-81D6-73B3376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6BA590D-5274-475F-AEBD-A987F5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F11CAD1-90ED-4491-A3BE-A83AEE7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7FB2515-F71F-4A18-8796-33CCAB4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381125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52F6077-993B-4744-8476-4A5DEA1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2952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2236dd6c84f80"/>
          <a:stretch xmlns:a="http://schemas.openxmlformats.org/drawingml/2006/main"/>
        </p:blipFill>
        <p:spPr>
          <a:xfrm xmlns:a="http://schemas.openxmlformats.org/drawingml/2006/main">
            <a:off x="333375" y="295275"/>
            <a:ext cx="2152650" cy="704850"/>
          </a:xfrm>
          <a:prstGeom xmlns:a="http://schemas.openxmlformats.org/drawingml/2006/main" prst="rect">
            <a:avLst/>
          </a:prstGeom>
        </p:spPr>
      </p:pic>
      <p:pic>
        <p:nvPicPr>
          <p:cNvPr id="4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119d558af454b"/>
          <a:stretch xmlns:a="http://schemas.openxmlformats.org/drawingml/2006/main"/>
        </p:blipFill>
        <p:spPr>
          <a:xfrm xmlns:a="http://schemas.openxmlformats.org/drawingml/2006/main">
            <a:off x="6096000" y="476250"/>
            <a:ext cx="552450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18B706-8D3E-4081-9607-FAFE11C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33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3ED40B-2727-41E5-9FA9-6767E0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Solution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D35AF-65D4-4A89-A0BA-2543259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C6015-522F-4A3D-A984-81E7C71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51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de01485f940a4"/>
          <a:stretch xmlns:a="http://schemas.openxmlformats.org/drawingml/2006/main"/>
        </p:blipFill>
        <p:spPr>
          <a:xfrm xmlns:a="http://schemas.openxmlformats.org/drawingml/2006/main">
            <a:off x="409575" y="4514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766A464C-B41C-4A32-B41D-BFAE1B3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4955B22-66CD-4132-A773-8F5CF23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BE76D494-55F5-4B36-BA24-6D15C41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5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4e702041148c9"/>
          <a:stretch xmlns:a="http://schemas.openxmlformats.org/drawingml/2006/main"/>
        </p:blipFill>
        <p:spPr>
          <a:xfrm xmlns:a="http://schemas.openxmlformats.org/drawingml/2006/main">
            <a:off x="409575" y="5133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C0F680F-8892-4F5E-9A05-8BE56B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2916E2-4478-4F86-A366-DBB47E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3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DD2D484A-CE83-4CF9-B570-03AA9C51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57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9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888c212074b98"/>
          <a:stretch xmlns:a="http://schemas.openxmlformats.org/drawingml/2006/main"/>
        </p:blipFill>
        <p:spPr>
          <a:xfrm xmlns:a="http://schemas.openxmlformats.org/drawingml/2006/main">
            <a:off x="409575" y="57531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B3390FB1-CD6B-41FD-9B09-6D59830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30C77E-C4B2-416C-9770-1B40B59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A52625-B2E2-4958-9002-F06DCF4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3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ed9dc74ee4b40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AB06BC8-904B-407D-BF97-C04A89B1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A421FEF-A251-4C1D-92C0-ABE9329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52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978EC43-C228-4B86-BD1D-DB469B0A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152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A362E22-A2F6-4AA2-8A22-035E46E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076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4B185BA-99C6-431E-B908-FDE74A2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05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C4AD11-CDCB-4A95-89FF-35F1710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881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Migration with Oracle Cloud VMware Solution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1281950-377B-41A5-BFA9-211263B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33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6BF907D-57F9-4F74-9F10-EC873A2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430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Migrate VMware workloads to OCI while preserving operational consistency.</a:t>
            </a:r>
          </a:p>
        </p:txBody>
      </p:sp>
      <p:pic>
        <p:nvPicPr>
          <p:cNvPr id="154" name="Picture 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50bf4972144d0"/>
          <a:stretch xmlns:a="http://schemas.openxmlformats.org/drawingml/2006/main"/>
        </p:blipFill>
        <p:spPr>
          <a:xfrm xmlns:a="http://schemas.openxmlformats.org/drawingml/2006/main">
            <a:off x="9544050" y="457200"/>
            <a:ext cx="2505075" cy="295275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D41265-0F7D-45A0-8820-DC91E23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85900"/>
            <a:ext cx="9505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6" name="Picture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0f63aca834d77"/>
          <a:stretch xmlns:a="http://schemas.openxmlformats.org/drawingml/2006/main"/>
        </p:blipFill>
        <p:spPr>
          <a:xfrm xmlns:a="http://schemas.openxmlformats.org/drawingml/2006/main">
            <a:off x="523875" y="1670617"/>
            <a:ext cx="371475" cy="34494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439A60-602B-4BC7-8D26-B7081F12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continuity for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mission-critical applications</a:t>
            </a:r>
          </a:p>
        </p:txBody>
      </p:sp>
      <p:pic>
        <p:nvPicPr>
          <p:cNvPr id="158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807e7c5a492e"/>
          <a:stretch xmlns:a="http://schemas.openxmlformats.org/drawingml/2006/main"/>
        </p:blipFill>
        <p:spPr>
          <a:xfrm xmlns:a="http://schemas.openxmlformats.org/drawingml/2006/main">
            <a:off x="2990850" y="1677988"/>
            <a:ext cx="371475" cy="330200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1D35F7-8582-43F6-8D0A-89AB099D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 systems without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disruption</a:t>
            </a:r>
          </a:p>
        </p:txBody>
      </p:sp>
      <p:pic>
        <p:nvPicPr>
          <p:cNvPr id="160" name="Picture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545aaf9774646"/>
          <a:stretch xmlns:a="http://schemas.openxmlformats.org/drawingml/2006/main"/>
        </p:blipFill>
        <p:spPr>
          <a:xfrm xmlns:a="http://schemas.openxmlformats.org/drawingml/2006/main">
            <a:off x="5429250" y="1665793"/>
            <a:ext cx="371475" cy="35459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BED344-C8B2-448A-978B-1CB5466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Ensure recovery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corruption &amp; cyberattacks</a:t>
            </a:r>
          </a:p>
        </p:txBody>
      </p:sp>
      <p:pic>
        <p:nvPicPr>
          <p:cNvPr id="162" name="Picture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5f4ade6c54dc3"/>
          <a:stretch xmlns:a="http://schemas.openxmlformats.org/drawingml/2006/main"/>
        </p:blipFill>
        <p:spPr>
          <a:xfrm xmlns:a="http://schemas.openxmlformats.org/drawingml/2006/main">
            <a:off x="7953375" y="1670014"/>
            <a:ext cx="371475" cy="346147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1581696-20CF-42EC-946C-2E17E6F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defined RTO &amp; RPO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backups &amp; restores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7D05204-1F9A-4709-A9CA-DF4A0BA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EDC923C-3534-4BFD-B3C9-7886BC1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2EC44E6-6E37-42DF-B0CA-644524B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8740D5B-7891-4011-B7BD-453E36F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400425"/>
          </a:xfrm>
          <a:prstGeom xmlns:a="http://schemas.openxmlformats.org/drawingml/2006/main" prst="roundRect">
            <a:avLst>
              <a:gd name="adj" fmla="val 2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39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126FF3F-0B42-466A-8035-27E57C0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E91AB13-FB98-484B-BDC0-DCC8163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25622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F4A0A93-E6B0-4BC6-B846-878F007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pic>
        <p:nvPicPr>
          <p:cNvPr id="171" name="Picture 1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7c9fad91c4b12"/>
          <a:stretch xmlns:a="http://schemas.openxmlformats.org/drawingml/2006/main"/>
        </p:blipFill>
        <p:spPr>
          <a:xfrm xmlns:a="http://schemas.openxmlformats.org/drawingml/2006/main">
            <a:off x="1286102" y="2838450"/>
            <a:ext cx="580571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FF73D31-34A3-4DD2-AA9D-BA367B3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C2F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C2F7A"/>
                </a:solidFill>
                <a:latin typeface="Arial"/>
                <a:ea typeface="Arial"/>
                <a:cs typeface="Arial"/>
              </a:rPr>
              <a:t>Existing Data Center</a:t>
            </a:r>
          </a:p>
        </p:txBody>
      </p: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DF4E63A1-1B8B-4C89-B92D-EC6166D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16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4" name="Picture 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128d6f4da4b19"/>
          <a:stretch xmlns:a="http://schemas.openxmlformats.org/drawingml/2006/main"/>
        </p:blipFill>
        <p:spPr>
          <a:xfrm xmlns:a="http://schemas.openxmlformats.org/drawingml/2006/main">
            <a:off x="565785" y="3943350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F2ABFD7-F5A0-4B33-B8EA-D8E3FDD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Aging infrastructure</a:t>
            </a:r>
          </a:p>
        </p:txBody>
      </p:sp>
      <p:pic>
        <p:nvPicPr>
          <p:cNvPr id="176" name="Picture 1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c2d2e2afa4bb5"/>
          <a:stretch xmlns:a="http://schemas.openxmlformats.org/drawingml/2006/main"/>
        </p:blipFill>
        <p:spPr>
          <a:xfrm xmlns:a="http://schemas.openxmlformats.org/drawingml/2006/main">
            <a:off x="565785" y="4371975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8A6A276-EA36-4C9F-A3CE-DF93C8F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Hardware refresh cycles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7D5A6C5-1DBF-473F-9C7F-E3FB6C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center consolidation</a:t>
            </a:r>
          </a:p>
        </p:txBody>
      </p:sp>
      <p:pic>
        <p:nvPicPr>
          <p:cNvPr id="179" name="Picture 1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79de28983498d"/>
          <a:stretch xmlns:a="http://schemas.openxmlformats.org/drawingml/2006/main"/>
        </p:blipFill>
        <p:spPr>
          <a:xfrm xmlns:a="http://schemas.openxmlformats.org/drawingml/2006/main">
            <a:off x="576695" y="5181600"/>
            <a:ext cx="218209" cy="266700"/>
          </a:xfrm>
          <a:prstGeom xmlns:a="http://schemas.openxmlformats.org/drawingml/2006/main" prst="rect">
            <a:avLst/>
          </a:prstGeom>
        </p:spPr>
      </p:pic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D2FC335-A2C6-4128-A481-5853ADD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Rising operational costs</a:t>
            </a:r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B8AC3128-91EE-46EC-A43A-CB49322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44CD3DF-4DD0-4CB1-87AF-E70CC05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3" name="Picture 1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59e4e04504b69"/>
          <a:stretch xmlns:a="http://schemas.openxmlformats.org/drawingml/2006/main"/>
        </p:blipFill>
        <p:spPr>
          <a:xfrm xmlns:a="http://schemas.openxmlformats.org/drawingml/2006/main">
            <a:off x="2971800" y="356235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184" name="Picture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e160381fe4de8"/>
          <a:stretch xmlns:a="http://schemas.openxmlformats.org/drawingml/2006/main"/>
        </p:blipFill>
        <p:spPr>
          <a:xfrm xmlns:a="http://schemas.openxmlformats.org/drawingml/2006/main">
            <a:off x="5929313" y="3562350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19A4CE51-971D-4792-AC0A-891171D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619375" cy="4000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B4B3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6A69CB2-811D-4AAA-AF87-04D2250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43175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MIGRATION &amp; WORKLOAD MOBILITY</a:t>
            </a:r>
          </a:p>
        </p:txBody>
      </p:sp>
      <p:pic>
        <p:nvPicPr>
          <p:cNvPr id="187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d8cd1bd754235"/>
          <a:stretch xmlns:a="http://schemas.openxmlformats.org/drawingml/2006/main"/>
        </p:blipFill>
        <p:spPr>
          <a:xfrm xmlns:a="http://schemas.openxmlformats.org/drawingml/2006/main">
            <a:off x="4346087" y="2838450"/>
            <a:ext cx="566127" cy="36195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0530EC25-0694-4248-96E3-B211E32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HCX Mobility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A615CE4B-2731-4B35-898C-CEB1DDE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workload migration over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Internet, VPN, or FastConnect</a:t>
            </a:r>
          </a:p>
        </p:txBody>
      </p:sp>
      <p:pic>
        <p:nvPicPr>
          <p:cNvPr id="190" name="Picture 1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17ddd2894682"/>
          <a:stretch xmlns:a="http://schemas.openxmlformats.org/drawingml/2006/main"/>
        </p:blipFill>
        <p:spPr>
          <a:xfrm xmlns:a="http://schemas.openxmlformats.org/drawingml/2006/main">
            <a:off x="3600450" y="40290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1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9cd59ef8c4e72"/>
          <a:stretch xmlns:a="http://schemas.openxmlformats.org/drawingml/2006/main"/>
        </p:blipFill>
        <p:spPr>
          <a:xfrm xmlns:a="http://schemas.openxmlformats.org/drawingml/2006/main">
            <a:off x="4433623" y="4029075"/>
            <a:ext cx="314854" cy="323850"/>
          </a:xfrm>
          <a:prstGeom xmlns:a="http://schemas.openxmlformats.org/drawingml/2006/main" prst="rect">
            <a:avLst/>
          </a:prstGeom>
        </p:spPr>
      </p:pic>
      <p:pic>
        <p:nvPicPr>
          <p:cNvPr id="192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c60d6866148ba"/>
          <a:stretch xmlns:a="http://schemas.openxmlformats.org/drawingml/2006/main"/>
        </p:blipFill>
        <p:spPr>
          <a:xfrm xmlns:a="http://schemas.openxmlformats.org/drawingml/2006/main">
            <a:off x="5290751" y="4019550"/>
            <a:ext cx="315097" cy="323850"/>
          </a:xfrm>
          <a:prstGeom xmlns:a="http://schemas.openxmlformats.org/drawingml/2006/main" prst="rect">
            <a:avLst/>
          </a:prstGeom>
        </p:spPr>
      </p:pic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0471DFB-83D5-47C1-BCD1-7601D9C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29125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B84611E-1C4D-4EF7-8A84-A49FE46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91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1780942A-2E68-4682-A280-1680A74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29125"/>
            <a:ext cx="647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9F17C3B6-611D-4615-9CE5-425C7AB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7" name="Picture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b50e15bba438c"/>
          <a:stretch xmlns:a="http://schemas.openxmlformats.org/drawingml/2006/main"/>
        </p:blipFill>
        <p:spPr>
          <a:xfrm xmlns:a="http://schemas.openxmlformats.org/drawingml/2006/main">
            <a:off x="34474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9B91EC93-ED4C-40D8-BD14-DF85C66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pic>
        <p:nvPicPr>
          <p:cNvPr id="199" name="Picture 1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b50e15bba438c"/>
          <a:stretch xmlns:a="http://schemas.openxmlformats.org/drawingml/2006/main"/>
        </p:blipFill>
        <p:spPr>
          <a:xfrm xmlns:a="http://schemas.openxmlformats.org/drawingml/2006/main">
            <a:off x="41713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BCBF05A3-471C-4A3C-A18F-3B31380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downtime</a:t>
            </a:r>
          </a:p>
        </p:txBody>
      </p:sp>
      <p:pic>
        <p:nvPicPr>
          <p:cNvPr id="201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b50e15bba438c"/>
          <a:stretch xmlns:a="http://schemas.openxmlformats.org/drawingml/2006/main"/>
        </p:blipFill>
        <p:spPr>
          <a:xfrm xmlns:a="http://schemas.openxmlformats.org/drawingml/2006/main">
            <a:off x="491430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F56778D7-1183-4F9D-8D4A-6BAB64E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</a:t>
            </a:r>
          </a:p>
        </p:txBody>
      </p:sp>
      <p:pic>
        <p:nvPicPr>
          <p:cNvPr id="203" name="Picture 1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b50e15bba438c"/>
          <a:stretch xmlns:a="http://schemas.openxmlformats.org/drawingml/2006/main"/>
        </p:blipFill>
        <p:spPr>
          <a:xfrm xmlns:a="http://schemas.openxmlformats.org/drawingml/2006/main">
            <a:off x="56191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FC31E4EB-4103-440D-B82A-A521151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62" name="Straight Connector 61">
            <a:extLst xmlns:a="http://schemas.openxmlformats.org/drawingml/2006/main">
              <a:ext uri="{FF2B5EF4-FFF2-40B4-BE49-F238E27FC236}">
                <a16:creationId xmlns:a16="http://schemas.microsoft.com/office/drawing/2014/main" id="{9B36067F-69DD-41C7-913E-CA54F8C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A2CB8EE4-87EE-4E03-B094-5FD3A96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traight Connector 63">
            <a:extLst xmlns:a="http://schemas.openxmlformats.org/drawingml/2006/main">
              <a:ext uri="{FF2B5EF4-FFF2-40B4-BE49-F238E27FC236}">
                <a16:creationId xmlns:a16="http://schemas.microsoft.com/office/drawing/2014/main" id="{6426E86F-678A-4620-838E-2022A55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E7EB4DE1-92A8-4571-B2DB-1CEAEE0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400425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90F601E3-5DB4-407B-AC57-46094BF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04800"/>
          </a:xfrm>
          <a:prstGeom xmlns:a="http://schemas.openxmlformats.org/drawingml/2006/main" prst="roundRect">
            <a:avLst>
              <a:gd name="adj" fmla="val 18750"/>
            </a:avLst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C2628BBB-C0E5-4EC4-841E-C01D9E6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00325"/>
            <a:ext cx="327660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AEB0B200-61AC-4A68-AE1E-F69838E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 CLOUD VMWARE SOLUTION (OCVS)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FB8BABC6-30D2-4A52-B11A-6B939958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3076575" cy="1924050"/>
          </a:xfrm>
          <a:prstGeom xmlns:a="http://schemas.openxmlformats.org/drawingml/2006/main" prst="roundRect">
            <a:avLst>
              <a:gd name="adj" fmla="val 297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3B3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10F27041-0BF5-4E7A-98B0-97186FD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4" name="Picture 1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7eea90c844b9d"/>
          <a:stretch xmlns:a="http://schemas.openxmlformats.org/drawingml/2006/main"/>
        </p:blipFill>
        <p:spPr>
          <a:xfrm xmlns:a="http://schemas.openxmlformats.org/drawingml/2006/main">
            <a:off x="6962775" y="28575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23D883D7-AF85-44DC-B421-337DCF5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337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Virtual Cloud Network (VCN)</a:t>
            </a:r>
          </a:p>
        </p:txBody>
      </p:sp>
      <p:sp>
        <p:nvSpPr>
          <p:cNvPr id="73" name="Rounded Rectangle 72">
            <a:extLst xmlns:a="http://schemas.openxmlformats.org/drawingml/2006/main">
              <a:ext uri="{FF2B5EF4-FFF2-40B4-BE49-F238E27FC236}">
                <a16:creationId xmlns:a16="http://schemas.microsoft.com/office/drawing/2014/main" id="{ABC8CB99-54C1-4CB2-B732-0A80BE0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27432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B07CF799-F2FD-4488-85E0-D54ED29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623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VMware Environment</a:t>
            </a: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5C004DA8-B8F3-4DA1-9101-8DFA273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650187E2-3C76-4358-971F-A5F83C5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5D3827B-AD91-4C24-8337-C6C255E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A5DB91C5-7016-4391-8755-A576424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4889516B-E239-407F-BCE9-46811647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3BEB0685-037B-4035-9D14-32DB390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pic>
        <p:nvPicPr>
          <p:cNvPr id="224" name="Picture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ca6abb54141f7"/>
          <a:stretch xmlns:a="http://schemas.openxmlformats.org/drawingml/2006/main"/>
        </p:blipFill>
        <p:spPr>
          <a:xfrm xmlns:a="http://schemas.openxmlformats.org/drawingml/2006/main">
            <a:off x="68008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D001E645-FE15-465C-80E8-8FE2D092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6" name="Picture 1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ca6abb54141f7"/>
          <a:stretch xmlns:a="http://schemas.openxmlformats.org/drawingml/2006/main"/>
        </p:blipFill>
        <p:spPr>
          <a:xfrm xmlns:a="http://schemas.openxmlformats.org/drawingml/2006/main">
            <a:off x="77914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98A396A1-7F76-41A1-AFA8-7B70FA8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8" name="Picture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ca6abb54141f7"/>
          <a:stretch xmlns:a="http://schemas.openxmlformats.org/drawingml/2006/main"/>
        </p:blipFill>
        <p:spPr>
          <a:xfrm xmlns:a="http://schemas.openxmlformats.org/drawingml/2006/main">
            <a:off x="87820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6C8D6220-BE6B-4F00-92AD-B7B4B47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87" name="Rounded Rectangle 86">
            <a:extLst xmlns:a="http://schemas.openxmlformats.org/drawingml/2006/main">
              <a:ext uri="{FF2B5EF4-FFF2-40B4-BE49-F238E27FC236}">
                <a16:creationId xmlns:a16="http://schemas.microsoft.com/office/drawing/2014/main" id="{85064B4D-70EA-4445-BB7D-496EC13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00625"/>
            <a:ext cx="2971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1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2a97090f34880"/>
          <a:stretch xmlns:a="http://schemas.openxmlformats.org/drawingml/2006/main"/>
        </p:blipFill>
        <p:spPr>
          <a:xfrm xmlns:a="http://schemas.openxmlformats.org/drawingml/2006/main">
            <a:off x="6600825" y="5119407"/>
            <a:ext cx="304800" cy="295835"/>
          </a:xfrm>
          <a:prstGeom xmlns:a="http://schemas.openxmlformats.org/drawingml/2006/main" prst="rect">
            <a:avLst/>
          </a:prstGeom>
        </p:spPr>
      </p:pic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239622D7-450A-43E7-A736-51F812A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53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Customer-managed VMware environment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OCI infrastructure</a:t>
            </a:r>
          </a:p>
        </p:txBody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8DBE4D25-A75E-4E29-94BA-C2969469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09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91" name="Straight Connector 90">
            <a:extLst xmlns:a="http://schemas.openxmlformats.org/drawingml/2006/main">
              <a:ext uri="{FF2B5EF4-FFF2-40B4-BE49-F238E27FC236}">
                <a16:creationId xmlns:a16="http://schemas.microsoft.com/office/drawing/2014/main" id="{152CC60B-A654-417A-B940-4187C14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5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82a27769b4869"/>
          <a:stretch xmlns:a="http://schemas.openxmlformats.org/drawingml/2006/main"/>
        </p:blipFill>
        <p:spPr>
          <a:xfrm xmlns:a="http://schemas.openxmlformats.org/drawingml/2006/main">
            <a:off x="10067925" y="22098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DBB3291D-DF6C-4589-9632-71CD6DA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193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Exit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17BBA97F-6308-414A-A3BD-F1EFAE8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Retire on-premises data center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infrastructure.</a:t>
            </a:r>
          </a:p>
        </p:txBody>
      </p:sp>
      <p:sp>
        <p:nvSpPr>
          <p:cNvPr id="95" name="Straight Connector 94">
            <a:extLst xmlns:a="http://schemas.openxmlformats.org/drawingml/2006/main">
              <a:ext uri="{FF2B5EF4-FFF2-40B4-BE49-F238E27FC236}">
                <a16:creationId xmlns:a16="http://schemas.microsoft.com/office/drawing/2014/main" id="{ABF27BBB-4FC4-4204-B910-564CFD2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8F2C7EB8-3C5E-4D6F-83D6-D879E47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718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Avoid Hardware Refresh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6E356DE7-70E3-453D-BDBB-1732D8E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3372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Eliminate CAPEX for hardware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refresh cycles.</a:t>
            </a:r>
          </a:p>
        </p:txBody>
      </p:sp>
      <p:sp>
        <p:nvSpPr>
          <p:cNvPr id="99" name="Straight Connector 98">
            <a:extLst xmlns:a="http://schemas.openxmlformats.org/drawingml/2006/main">
              <a:ext uri="{FF2B5EF4-FFF2-40B4-BE49-F238E27FC236}">
                <a16:creationId xmlns:a16="http://schemas.microsoft.com/office/drawing/2014/main" id="{A0B1F0DE-6364-4393-A65A-846FF00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83A0D7F6-F887-46A0-AD2F-43D2833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052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Preserve VMware Operations</a:t>
            </a:r>
          </a:p>
        </p:txBody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7FF8650F-120C-46C8-9796-DFF94CC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671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Continue using the same tools,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processes, and skillsets.</a:t>
            </a:r>
          </a:p>
        </p:txBody>
      </p:sp>
      <p:sp>
        <p:nvSpPr>
          <p:cNvPr id="103" name="Straight Connector 102">
            <a:extLst xmlns:a="http://schemas.openxmlformats.org/drawingml/2006/main">
              <a:ext uri="{FF2B5EF4-FFF2-40B4-BE49-F238E27FC236}">
                <a16:creationId xmlns:a16="http://schemas.microsoft.com/office/drawing/2014/main" id="{F860E018-8289-484F-A615-C663BF9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576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21187F40-208C-46A7-B79A-F6D0B00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386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Reduce Infrastructure Complexity</a:t>
            </a: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A32230F1-EC94-4EC2-A8F0-6274DC4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0057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Simplify operations and reduce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management overhead.</a:t>
            </a:r>
          </a:p>
        </p:txBody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F3AF8AAD-B7D2-40DA-A537-6537F56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911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0BC0A0C5-1CD9-49EC-8B69-80C9C62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72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Accelerate Cloud Adoption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5154D960-EF8D-4A15-A66E-6C93ACD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Move to the cloud at your own pace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lower risk.</a:t>
            </a:r>
          </a:p>
        </p:txBody>
      </p:sp>
      <p:sp>
        <p:nvSpPr>
          <p:cNvPr id="111" name="Rounded Rectangle 110">
            <a:extLst xmlns:a="http://schemas.openxmlformats.org/drawingml/2006/main">
              <a:ext uri="{FF2B5EF4-FFF2-40B4-BE49-F238E27FC236}">
                <a16:creationId xmlns:a16="http://schemas.microsoft.com/office/drawing/2014/main" id="{ACEA0D02-1655-4D6C-907E-7CA8F2D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924550"/>
            <a:ext cx="9248775" cy="685800"/>
          </a:xfrm>
          <a:prstGeom xmlns:a="http://schemas.openxmlformats.org/drawingml/2006/main" prst="roundRect">
            <a:avLst>
              <a:gd name="adj" fmla="val 9722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6482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1" name="Picture 2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cb0df19d14c6b"/>
          <a:stretch xmlns:a="http://schemas.openxmlformats.org/drawingml/2006/main"/>
        </p:blipFill>
        <p:spPr>
          <a:xfrm xmlns:a="http://schemas.openxmlformats.org/drawingml/2006/main">
            <a:off x="476250" y="5995829"/>
            <a:ext cx="552450" cy="543243"/>
          </a:xfrm>
          <a:prstGeom xmlns:a="http://schemas.openxmlformats.org/drawingml/2006/main" prst="rect">
            <a:avLst/>
          </a:prstGeom>
        </p:spPr>
      </p:pic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5C7BD333-122E-435D-9BA0-51C4A00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388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Migrate VMware workloads at your own pace while preserving existing tools,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processes, and operational models.</a:t>
            </a:r>
          </a:p>
        </p:txBody>
      </p:sp>
      <p:pic>
        <p:nvPicPr>
          <p:cNvPr id="25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e1a6ad03746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2918460"/>
            <a:ext cx="534489" cy="534489"/>
          </a:xfrm>
          <a:prstGeom xmlns:a="http://schemas.openxmlformats.org/drawingml/2006/main" prst="rect">
            <a:avLst/>
          </a:prstGeom>
        </p:spPr>
      </p:pic>
      <p:pic>
        <p:nvPicPr>
          <p:cNvPr id="25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64f245122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5128" y="3645801"/>
            <a:ext cx="560023" cy="535674"/>
          </a:xfrm>
          <a:prstGeom xmlns:a="http://schemas.openxmlformats.org/drawingml/2006/main" prst="rect">
            <a:avLst/>
          </a:prstGeom>
        </p:spPr>
      </p:pic>
      <p:pic>
        <p:nvPicPr>
          <p:cNvPr id="25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42f0812b9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3627" y="4385038"/>
            <a:ext cx="567690" cy="544036"/>
          </a:xfrm>
          <a:prstGeom xmlns:a="http://schemas.openxmlformats.org/drawingml/2006/main" prst="rect">
            <a:avLst/>
          </a:prstGeom>
        </p:spPr>
      </p:pic>
      <p:pic>
        <p:nvPicPr>
          <p:cNvPr id="256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8a565b1b5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2200" y="5110162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257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9be08a0d24e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898" y="4703030"/>
            <a:ext cx="376657" cy="4237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7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1D8277E6-0E8D-4B1C-BE8B-0DFE6F3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5DE07460-2E25-4CF6-A8CC-3E5E2EC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377BC7BF-A4FE-4E62-B1C3-EFD2395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AEB8A7D7-EE0B-435D-ABD0-990406F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7969E390-7BAD-4E60-8B91-07F195F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B034B364-5C06-4AC6-AECF-BA6D7DC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5C15AD4A-EF3A-44EF-9F68-D5E9F2C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A81CC16D-8F54-4CC2-9A5E-A940D5D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01C54D88-22F9-4D46-A7E2-858C68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CD2DD363-C83E-4773-A04A-B0F2147D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202B316C-A3FC-4CDC-86F5-08C3A32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C7F2EC04-F6D8-4293-97CD-7C4C93E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01A5D460-3398-434E-800A-52786BE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771341A9-6600-4758-AA3E-FD18850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C2EC75AB-91D3-4EB9-8AB2-0EA04B9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08012A2A-5572-4C5E-8A5E-0EB9B47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9C2CDCC5-B378-44B7-B2B4-AAE0DCA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6C6F1A41-C742-4E59-A8BB-130865D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2841978C-EC33-4C2E-A1FA-568CB55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607DE43F-CCF0-459B-BC4C-7D8FB42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BCC0FC01-6799-4556-8BE5-2D0D774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8BBC59E0-8D0A-414B-8679-DF094F8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9DCF65A3-E8D1-472C-9552-D899A8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AC62CBA4-E261-4F86-875E-DF33A772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2FB36D62-171A-4390-8AC9-FD0206D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226A87EE-3F52-4443-B8A6-E108596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C524C2FF-6D54-4320-9AC5-297C23D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6488C2E9-70FD-4A52-BA7D-37BCC47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21657689-2CA9-48CA-8E7F-24CF6E9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81212400-C498-4ED5-908E-792FB33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3463D1A3-170F-4120-AA83-5C9E65E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B9D4BF67-DCAE-4BD2-8597-4AE7C91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0109D6FD-7CAA-47B5-855B-B006C81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9962CA04-361B-4A02-B41D-258E62D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416008A2-80BC-4C1D-817A-28AFE9D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4BE433FA-5042-487C-A615-87BAB66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5328C1B1-5E89-4D48-A69E-F421EB8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C7E745C-B27A-4750-85F3-CBAA5E7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1A63F028-A120-44CF-9F2E-2A8A957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E0855F93-8B1B-4585-A378-5DEFFE1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2FA5CC67-5362-4F6D-9338-8E1E72A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483FBAD3-DBB2-4D12-BEAC-C85CD7F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44CBE0F0-01D5-46F0-BC8A-09436D8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4E9847D3-C961-4926-B168-F91CD81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25CEE1F3-21D5-4CAB-A08E-4ADB70B3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4FC08FA2-3F8A-49F0-AF81-7D2BB02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54FF5F0A-E7DA-46C6-A94D-A6EB754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1687F88E-4D2A-4F43-A7E4-4F2620D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AAD7809F-24E8-4907-BD05-24726B6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00F74F2D-2625-4ED8-A2F0-6E1F484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0429A2C0-C273-411A-8D62-5E06652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488C77BB-5758-4DBF-9641-AF73013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8873D980-29E1-4E3E-9FD6-12C484A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75E8C647-0A5F-4F9C-8063-11578A2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C2EECF49-7CFF-40D8-8D49-148DE426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04434576-EE7F-42E6-AC9D-F2714E0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33DA886F-CC81-44D0-BEE7-3A709C4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A5A85FE6-4F53-43FC-BE56-1112F89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95B02967-14B9-4919-A025-DC43A3A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65A3FE14-0468-4189-9F9A-50B073E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4112AD2E-FF57-44DA-922D-C1B51314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B47C6655-0C25-492B-A122-0515832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928FA884-4BED-43F4-8279-E0B9DFB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a8a808ba1420f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0250993104901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3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6c52695b54ed4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daa0be93a4357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681d93f15482e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237006094894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ae2403214255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8e0e1d1e2472f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47daeed214344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9b907d0ff4605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00c1d96540a4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8DDD8EBD-14B5-4BCB-AF31-F850CB3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E9444FE5-8822-4892-B58C-D3B9BD7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A25CB3B4-C9DF-4005-9498-D3B6BFA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Proposed Oracle Cloud VMware Solution topology for the selected workload.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C22909A3-B4AA-4105-A660-38F2C42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7A23B4E9-8DEF-425E-8676-A7FFE5C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8D8AA430-26AB-43F2-A691-AC7A027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C8060D93-F200-4121-A8F4-B60CB3C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44A1CF5A-2F75-424A-839D-8788BC8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DB965F50-676B-4BE8-976A-BC9E217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1717285A-5473-409E-BD95-8244D3D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98BE580A-A548-4154-B15D-CC8C8C0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2255B871-EECF-43E4-8ED9-ABFBFB0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B6C9CD7F-BA12-4DDB-8D03-B2BAE48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14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1DA73C48-F2F4-4B26-B361-890D9E2E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15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7517D09A-2689-4A71-A671-BAF2B6A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7492ACA8-4B55-490D-A2BD-252F817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7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9CFF7D13-B6C3-47DC-8BF2-F7DEE42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18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93295264-A539-48AB-93CC-FAB189E7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31CAEF73-9531-448C-BCE3-641ABF0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0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4BECA517-E3E9-406D-87FD-0E25F5E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1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EF3BA3EF-8094-4716-A7CC-605316B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666F1DE8-6D60-4CDA-B33F-924BDCF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3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90879DA1-8595-4A6D-8ADB-FF1BF5B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24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D27AB04C-B0FA-4604-82B6-4EA8F31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3623C212-D135-469E-911C-0ACECDD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6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D51016FF-7E51-4207-B14F-9210DA1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27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7F1AA975-0363-491D-95AB-C4CE5B9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9373A7F7-B05F-414E-843B-9F1D64C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9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77F7BC98-4BBA-4B2C-922F-4D872AE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30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964FEDBB-0D4A-49C3-AD18-D2EE9AD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1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E21B3A7C-1F05-41E7-BF3C-20B9265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32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190BC1B4-1C7C-4100-9686-968EEF2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3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9BF70E92-07F0-4483-843C-7F7CF6D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34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E9175D69-D2F3-43C9-BC2F-E00ED70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5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83822C15-7A89-48B3-B1F0-BF8BA11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36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65019F4D-DE17-4E19-AE54-1EBA2E2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7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B8D29B03-8CF4-49D7-B73C-1AA1A844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8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0449B1F1-A723-49B1-ACD4-6109C27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9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B2101716-457D-461F-B246-F1BA05F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0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E9CD2974-AF09-4F13-8D44-8A78BB6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8D58C2B7-29DF-4EC5-A974-11DD56E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2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A712DD0B-4514-4917-9E26-037F97B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43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2D410E82-5B40-4847-8008-80BDFE3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4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8F50E8C5-B4AD-4690-9465-860D2B1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7A529A6F-430D-47A0-A816-8C4C3BB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46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83163986-EF8F-4546-964C-ED8F5E0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7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ACD5D5BF-C65C-4D49-AF7B-144573E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8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0980A366-4242-454E-8EBA-3E3B18C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A016766B-74A4-42FB-8BF9-E418615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0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30FA1F1B-350A-4202-8360-2B3A1B4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1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667E7064-0B1A-4346-8149-C4DD1A1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2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B4D45778-3277-4223-A7DB-50545E43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3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C2237DC3-CBF0-4402-9926-7B2E357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54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1A675F77-26BA-4127-BA9A-A5ED90C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55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E4CB9966-B4D9-46A7-A486-25D2B0A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61B0E4AC-02E8-47B7-B394-13A8B16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7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70AAD25C-EEAE-48F9-98E7-D3D2465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8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8ECF6467-771A-448E-BB45-E91E760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9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848EDE57-D123-4DCE-A02D-387650D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0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99CB25D-FED6-4989-8402-7F93C1E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61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89E67D40-BEAA-4AED-BDD9-DE8A779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2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1841CF5E-5BAB-4B82-9211-E1F3300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63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E29EAC17-AF97-4A17-BE1A-5C801CB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2AC6D1F4-17DC-4484-9483-0616BC3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65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F400875A-3BE7-4A37-AA1F-D97FE73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66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D3E3B993-B881-4A3D-A956-16207DA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7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2E41DBC7-4ECE-40FB-8B84-B5F2D5A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8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B4F35D7D-1B9E-4038-A336-C85286D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9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C501CD67-F1FE-499A-B570-8441743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0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6768F0EC-BDF6-47FB-9429-7D3DD82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74F1656B-F397-48F7-B006-9B2385F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2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DA3202F9-A8A4-41A8-A386-48C36D4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3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B267F579-D525-4A0F-89A6-CA21658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4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C52A43D2-387F-44A9-A68E-02EC107B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75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6EFBCC3B-16D4-4570-A3B4-A54C7B3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76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EDCE47DF-3807-46D4-95C0-6E921A69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7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3AE42621-927D-40AD-848A-1FB8B93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8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DCB6DF62-B191-4875-B87C-B54EA8B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09337C91-CAD7-4B1C-A6E3-DE0E7B1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0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9F3D67E0-45A3-4FD5-AEB6-4A39CFD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1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1D9EF5E2-0D8F-4D3E-8BEF-7D147DE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2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B0D94D6E-0884-448C-8AA7-F557CC4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d7a84525e4e14"/>
          <a:stretch xmlns:a="http://schemas.openxmlformats.org/drawingml/2006/main"/>
        </p:blipFill>
        <p:spPr>
          <a:xfrm xmlns:a="http://schemas.openxmlformats.org/drawingml/2006/main">
            <a:off x="342900" y="266700"/>
            <a:ext cx="1876425" cy="523875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f2f674b7547e9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23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ricing-master-top-mask">
            <a:extLst xmlns:a="http://schemas.openxmlformats.org/drawingml/2006/main">
              <a:ext uri="{FF2B5EF4-FFF2-40B4-BE49-F238E27FC236}">
                <a16:creationId xmlns:a16="http://schemas.microsoft.com/office/drawing/2014/main" id="{F2737592-7ED9-4D13-AF51-EF1DC75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master-footer-mask">
            <a:extLst xmlns:a="http://schemas.openxmlformats.org/drawingml/2006/main">
              <a:ext uri="{FF2B5EF4-FFF2-40B4-BE49-F238E27FC236}">
                <a16:creationId xmlns:a16="http://schemas.microsoft.com/office/drawing/2014/main" id="{4890BC2B-DD56-4C10-BBAF-7CA1F9F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D629AB68-23AD-4E50-B4EB-CBE3D48F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D31D4684-53CC-42D6-B3D7-54D06BC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803FC164-FCBF-48CD-9108-DD17F78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A5F25B21-1C6D-42F0-BD63-C631728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AD686ECB-B888-47EF-A6B3-9B6ECE1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845518CB-D4E0-4591-94E4-68C11C3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4af7be08c48a8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24050" cy="600075"/>
          </a:xfrm>
          <a:prstGeom xmlns:a="http://schemas.openxmlformats.org/drawingml/2006/main" prst="rect">
            <a:avLst/>
          </a:prstGeom>
        </p:spPr>
      </p:pic>
      <p:sp>
        <p:nvSpPr>
          <p:cNvPr id="10" name="ocvs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2EB22904-35AD-4588-B05E-56E32F2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Summary</a:t>
            </a:r>
          </a:p>
        </p:txBody>
      </p:sp>
      <p:sp>
        <p:nvSpPr>
          <p:cNvPr id="11" name="ocvs-pricing-title-rule">
            <a:extLst xmlns:a="http://schemas.openxmlformats.org/drawingml/2006/main">
              <a:ext uri="{FF2B5EF4-FFF2-40B4-BE49-F238E27FC236}">
                <a16:creationId xmlns:a16="http://schemas.microsoft.com/office/drawing/2014/main" id="{2ECC2841-1BA2-4167-AD6A-922C926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ocvs-pricing-summary-subtitle">
            <a:extLst xmlns:a="http://schemas.openxmlformats.org/drawingml/2006/main">
              <a:ext uri="{FF2B5EF4-FFF2-40B4-BE49-F238E27FC236}">
                <a16:creationId xmlns:a16="http://schemas.microsoft.com/office/drawing/2014/main" id="{36104604-0A83-446D-A11B-7366290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OCVS sizing result and commitment term.</a:t>
            </a:r>
          </a:p>
        </p:txBody>
      </p:sp>
      <p:sp>
        <p:nvSpPr>
          <p:cNvPr id="13" name="pricing-payg-card">
            <a:extLst xmlns:a="http://schemas.openxmlformats.org/drawingml/2006/main">
              <a:ext uri="{FF2B5EF4-FFF2-40B4-BE49-F238E27FC236}">
                <a16:creationId xmlns:a16="http://schemas.microsoft.com/office/drawing/2014/main" id="{E5029A10-8C8E-477D-827E-42C71C7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4" name="pricing-payg-header">
            <a:extLst xmlns:a="http://schemas.openxmlformats.org/drawingml/2006/main">
              <a:ext uri="{FF2B5EF4-FFF2-40B4-BE49-F238E27FC236}">
                <a16:creationId xmlns:a16="http://schemas.microsoft.com/office/drawing/2014/main" id="{F155F66E-080B-43C2-97FD-678BE40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5" name="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BC34A6A9-E292-462D-AFFC-CDD6641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6" name="pricing-payg-row-1-fill">
            <a:extLst xmlns:a="http://schemas.openxmlformats.org/drawingml/2006/main">
              <a:ext uri="{FF2B5EF4-FFF2-40B4-BE49-F238E27FC236}">
                <a16:creationId xmlns:a16="http://schemas.microsoft.com/office/drawing/2014/main" id="{A09D84CB-021D-4325-A244-A93EC4B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pricing-payg-row-1-line">
            <a:extLst xmlns:a="http://schemas.openxmlformats.org/drawingml/2006/main">
              <a:ext uri="{FF2B5EF4-FFF2-40B4-BE49-F238E27FC236}">
                <a16:creationId xmlns:a16="http://schemas.microsoft.com/office/drawing/2014/main" id="{0631DE72-A60B-4F25-99D5-9228BF4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8" name="pricing-payg-row-1-label">
            <a:extLst xmlns:a="http://schemas.openxmlformats.org/drawingml/2006/main">
              <a:ext uri="{FF2B5EF4-FFF2-40B4-BE49-F238E27FC236}">
                <a16:creationId xmlns:a16="http://schemas.microsoft.com/office/drawing/2014/main" id="{3A3A79D7-B4BF-4EED-9D40-CB879BB2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19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51A3BC44-9F15-4452-88E2-0DB9563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0" name="pricing-payg-row-2-fill">
            <a:extLst xmlns:a="http://schemas.openxmlformats.org/drawingml/2006/main">
              <a:ext uri="{FF2B5EF4-FFF2-40B4-BE49-F238E27FC236}">
                <a16:creationId xmlns:a16="http://schemas.microsoft.com/office/drawing/2014/main" id="{CFC36F2B-EEF5-4E0C-9766-95B8908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ricing-payg-row-2-line">
            <a:extLst xmlns:a="http://schemas.openxmlformats.org/drawingml/2006/main">
              <a:ext uri="{FF2B5EF4-FFF2-40B4-BE49-F238E27FC236}">
                <a16:creationId xmlns:a16="http://schemas.microsoft.com/office/drawing/2014/main" id="{C08C0E1B-CCBE-4F7E-BE61-7E61228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pricing-payg-row-2-label">
            <a:extLst xmlns:a="http://schemas.openxmlformats.org/drawingml/2006/main">
              <a:ext uri="{FF2B5EF4-FFF2-40B4-BE49-F238E27FC236}">
                <a16:creationId xmlns:a16="http://schemas.microsoft.com/office/drawing/2014/main" id="{33F50F75-D459-47E8-BBC6-DA43E32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DD165367-AFBE-4E87-98FE-1BF6B55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4" name="pricing-payg-row-3-fill">
            <a:extLst xmlns:a="http://schemas.openxmlformats.org/drawingml/2006/main">
              <a:ext uri="{FF2B5EF4-FFF2-40B4-BE49-F238E27FC236}">
                <a16:creationId xmlns:a16="http://schemas.microsoft.com/office/drawing/2014/main" id="{2C6FE6D5-DBB4-4EB6-B102-B491CD0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5" name="pricing-payg-row-3-line">
            <a:extLst xmlns:a="http://schemas.openxmlformats.org/drawingml/2006/main">
              <a:ext uri="{FF2B5EF4-FFF2-40B4-BE49-F238E27FC236}">
                <a16:creationId xmlns:a16="http://schemas.microsoft.com/office/drawing/2014/main" id="{939FDBCC-2069-4B82-A414-E4A32CC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6" name="pricing-payg-row-3-label">
            <a:extLst xmlns:a="http://schemas.openxmlformats.org/drawingml/2006/main">
              <a:ext uri="{FF2B5EF4-FFF2-40B4-BE49-F238E27FC236}">
                <a16:creationId xmlns:a16="http://schemas.microsoft.com/office/drawing/2014/main" id="{2E371D0C-FCCC-4E7B-9A33-522CD96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7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47B46A6A-1C67-45DE-AD28-B1D55D09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8" name="pricing-payg-row-4-fill">
            <a:extLst xmlns:a="http://schemas.openxmlformats.org/drawingml/2006/main">
              <a:ext uri="{FF2B5EF4-FFF2-40B4-BE49-F238E27FC236}">
                <a16:creationId xmlns:a16="http://schemas.microsoft.com/office/drawing/2014/main" id="{91193D26-E22A-4AF6-B749-06FAD65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9" name="pricing-payg-row-4-line">
            <a:extLst xmlns:a="http://schemas.openxmlformats.org/drawingml/2006/main">
              <a:ext uri="{FF2B5EF4-FFF2-40B4-BE49-F238E27FC236}">
                <a16:creationId xmlns:a16="http://schemas.microsoft.com/office/drawing/2014/main" id="{8E063E18-90F9-4598-90BB-E2DED084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pricing-payg-row-4-label">
            <a:extLst xmlns:a="http://schemas.openxmlformats.org/drawingml/2006/main">
              <a:ext uri="{FF2B5EF4-FFF2-40B4-BE49-F238E27FC236}">
                <a16:creationId xmlns:a16="http://schemas.microsoft.com/office/drawing/2014/main" id="{38298E48-11D2-4D2F-929C-BBDD5EC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1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5FA079C6-B62A-4724-8C8B-DA3A31A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37E295EA-13D9-4634-A1AB-AB29135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3" name="pricing-one-year-header">
            <a:extLst xmlns:a="http://schemas.openxmlformats.org/drawingml/2006/main">
              <a:ext uri="{FF2B5EF4-FFF2-40B4-BE49-F238E27FC236}">
                <a16:creationId xmlns:a16="http://schemas.microsoft.com/office/drawing/2014/main" id="{40E3CDA1-EE1C-4D26-A8C4-53B3F98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4" name="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7FF38563-3163-400B-886A-5C13B1DB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5" name="pricing-one-year-row-1-fill">
            <a:extLst xmlns:a="http://schemas.openxmlformats.org/drawingml/2006/main">
              <a:ext uri="{FF2B5EF4-FFF2-40B4-BE49-F238E27FC236}">
                <a16:creationId xmlns:a16="http://schemas.microsoft.com/office/drawing/2014/main" id="{28E7C60A-B304-4131-BA10-081FE72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pricing-one-year-row-1-line">
            <a:extLst xmlns:a="http://schemas.openxmlformats.org/drawingml/2006/main">
              <a:ext uri="{FF2B5EF4-FFF2-40B4-BE49-F238E27FC236}">
                <a16:creationId xmlns:a16="http://schemas.microsoft.com/office/drawing/2014/main" id="{BC5C5BBE-7EE4-4A66-AA63-EB2D75D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7" name="pricing-one-year-row-1-label">
            <a:extLst xmlns:a="http://schemas.openxmlformats.org/drawingml/2006/main">
              <a:ext uri="{FF2B5EF4-FFF2-40B4-BE49-F238E27FC236}">
                <a16:creationId xmlns:a16="http://schemas.microsoft.com/office/drawing/2014/main" id="{E8E1C769-7380-43F2-B0E7-6A8910E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44E934D8-06EB-4F9E-A12F-FDD9902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pricing-one-year-row-2-fill">
            <a:extLst xmlns:a="http://schemas.openxmlformats.org/drawingml/2006/main">
              <a:ext uri="{FF2B5EF4-FFF2-40B4-BE49-F238E27FC236}">
                <a16:creationId xmlns:a16="http://schemas.microsoft.com/office/drawing/2014/main" id="{F7970B9E-9129-4C64-AFC1-BECAC7E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pricing-one-year-row-2-line">
            <a:extLst xmlns:a="http://schemas.openxmlformats.org/drawingml/2006/main">
              <a:ext uri="{FF2B5EF4-FFF2-40B4-BE49-F238E27FC236}">
                <a16:creationId xmlns:a16="http://schemas.microsoft.com/office/drawing/2014/main" id="{62690468-720F-4E3C-BAE5-BCDC52F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pricing-one-year-row-2-label">
            <a:extLst xmlns:a="http://schemas.openxmlformats.org/drawingml/2006/main">
              <a:ext uri="{FF2B5EF4-FFF2-40B4-BE49-F238E27FC236}">
                <a16:creationId xmlns:a16="http://schemas.microsoft.com/office/drawing/2014/main" id="{35F840F2-F05B-44E2-B095-E4C01E57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2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A92A1301-0D99-43C4-BAA9-1396C41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pricing-one-year-row-3-fill">
            <a:extLst xmlns:a="http://schemas.openxmlformats.org/drawingml/2006/main">
              <a:ext uri="{FF2B5EF4-FFF2-40B4-BE49-F238E27FC236}">
                <a16:creationId xmlns:a16="http://schemas.microsoft.com/office/drawing/2014/main" id="{F1065F3C-3B8C-4B99-A976-DE35BEE9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4" name="pricing-one-year-row-3-line">
            <a:extLst xmlns:a="http://schemas.openxmlformats.org/drawingml/2006/main">
              <a:ext uri="{FF2B5EF4-FFF2-40B4-BE49-F238E27FC236}">
                <a16:creationId xmlns:a16="http://schemas.microsoft.com/office/drawing/2014/main" id="{50EEF697-C6C8-4260-BD10-10611B4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5" name="pricing-one-year-row-3-label">
            <a:extLst xmlns:a="http://schemas.openxmlformats.org/drawingml/2006/main">
              <a:ext uri="{FF2B5EF4-FFF2-40B4-BE49-F238E27FC236}">
                <a16:creationId xmlns:a16="http://schemas.microsoft.com/office/drawing/2014/main" id="{E0EC3E7F-83BD-4ACC-981D-2FB046F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6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61593558-E536-4506-85EE-24BF8422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one-year-row-4-fill">
            <a:extLst xmlns:a="http://schemas.openxmlformats.org/drawingml/2006/main">
              <a:ext uri="{FF2B5EF4-FFF2-40B4-BE49-F238E27FC236}">
                <a16:creationId xmlns:a16="http://schemas.microsoft.com/office/drawing/2014/main" id="{ECB68273-1037-44B7-B5F1-FAAE6AD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8" name="pricing-one-year-row-4-line">
            <a:extLst xmlns:a="http://schemas.openxmlformats.org/drawingml/2006/main">
              <a:ext uri="{FF2B5EF4-FFF2-40B4-BE49-F238E27FC236}">
                <a16:creationId xmlns:a16="http://schemas.microsoft.com/office/drawing/2014/main" id="{3CA570B6-3346-4989-B0C9-89C0B39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9" name="pricing-one-year-row-4-label">
            <a:extLst xmlns:a="http://schemas.openxmlformats.org/drawingml/2006/main">
              <a:ext uri="{FF2B5EF4-FFF2-40B4-BE49-F238E27FC236}">
                <a16:creationId xmlns:a16="http://schemas.microsoft.com/office/drawing/2014/main" id="{FD649963-B07F-4516-BCF3-462391BC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50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27B481C9-6A0B-4F10-A6B2-005EBF9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1DD6F95E-5409-4523-94F7-53219D5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2" name="pricing-three-year-header">
            <a:extLst xmlns:a="http://schemas.openxmlformats.org/drawingml/2006/main">
              <a:ext uri="{FF2B5EF4-FFF2-40B4-BE49-F238E27FC236}">
                <a16:creationId xmlns:a16="http://schemas.microsoft.com/office/drawing/2014/main" id="{23CB253E-6DD9-4ACF-BB2D-4D92D78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3" name="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78419A74-6C1E-4D26-9FE3-80CA785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4" name="pricing-three-year-row-1-fill">
            <a:extLst xmlns:a="http://schemas.openxmlformats.org/drawingml/2006/main">
              <a:ext uri="{FF2B5EF4-FFF2-40B4-BE49-F238E27FC236}">
                <a16:creationId xmlns:a16="http://schemas.microsoft.com/office/drawing/2014/main" id="{07275161-63AB-4250-8ED2-E8F9A32A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pricing-three-year-row-1-line">
            <a:extLst xmlns:a="http://schemas.openxmlformats.org/drawingml/2006/main">
              <a:ext uri="{FF2B5EF4-FFF2-40B4-BE49-F238E27FC236}">
                <a16:creationId xmlns:a16="http://schemas.microsoft.com/office/drawing/2014/main" id="{E992E744-4F0D-4055-86B6-8AA6872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6" name="pricing-three-year-row-1-label">
            <a:extLst xmlns:a="http://schemas.openxmlformats.org/drawingml/2006/main">
              <a:ext uri="{FF2B5EF4-FFF2-40B4-BE49-F238E27FC236}">
                <a16:creationId xmlns:a16="http://schemas.microsoft.com/office/drawing/2014/main" id="{80FBA0D5-15AE-4746-AE36-CAB6E24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7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08D22671-564F-471A-92FF-CB68E5C8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pricing-three-year-row-2-fill">
            <a:extLst xmlns:a="http://schemas.openxmlformats.org/drawingml/2006/main">
              <a:ext uri="{FF2B5EF4-FFF2-40B4-BE49-F238E27FC236}">
                <a16:creationId xmlns:a16="http://schemas.microsoft.com/office/drawing/2014/main" id="{F5B3F501-5377-46BB-B9D5-E9EAFB3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pricing-three-year-row-2-line">
            <a:extLst xmlns:a="http://schemas.openxmlformats.org/drawingml/2006/main">
              <a:ext uri="{FF2B5EF4-FFF2-40B4-BE49-F238E27FC236}">
                <a16:creationId xmlns:a16="http://schemas.microsoft.com/office/drawing/2014/main" id="{E4B96A14-8524-474F-B914-A8F44FE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0" name="pricing-three-year-row-2-label">
            <a:extLst xmlns:a="http://schemas.openxmlformats.org/drawingml/2006/main">
              <a:ext uri="{FF2B5EF4-FFF2-40B4-BE49-F238E27FC236}">
                <a16:creationId xmlns:a16="http://schemas.microsoft.com/office/drawing/2014/main" id="{87DDDDB6-1103-4FC5-9631-9790BE6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1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2C8055AF-902A-4FB4-810B-E539587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pricing-three-year-row-3-fill">
            <a:extLst xmlns:a="http://schemas.openxmlformats.org/drawingml/2006/main">
              <a:ext uri="{FF2B5EF4-FFF2-40B4-BE49-F238E27FC236}">
                <a16:creationId xmlns:a16="http://schemas.microsoft.com/office/drawing/2014/main" id="{632C8AB3-D827-410E-9724-87F3B33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3" name="pricing-three-year-row-3-line">
            <a:extLst xmlns:a="http://schemas.openxmlformats.org/drawingml/2006/main">
              <a:ext uri="{FF2B5EF4-FFF2-40B4-BE49-F238E27FC236}">
                <a16:creationId xmlns:a16="http://schemas.microsoft.com/office/drawing/2014/main" id="{0A3D3CE6-865D-4987-889E-CE342EB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4" name="pricing-three-year-row-3-label">
            <a:extLst xmlns:a="http://schemas.openxmlformats.org/drawingml/2006/main">
              <a:ext uri="{FF2B5EF4-FFF2-40B4-BE49-F238E27FC236}">
                <a16:creationId xmlns:a16="http://schemas.microsoft.com/office/drawing/2014/main" id="{ADFA199B-5564-45EF-AC2A-6D452B2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5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1289989B-82C1-4AEF-B92D-D2D05DD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pricing-three-year-row-4-fill">
            <a:extLst xmlns:a="http://schemas.openxmlformats.org/drawingml/2006/main">
              <a:ext uri="{FF2B5EF4-FFF2-40B4-BE49-F238E27FC236}">
                <a16:creationId xmlns:a16="http://schemas.microsoft.com/office/drawing/2014/main" id="{A9E1CA93-739A-4597-A6AE-1BD9C65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7" name="pricing-three-year-row-4-line">
            <a:extLst xmlns:a="http://schemas.openxmlformats.org/drawingml/2006/main">
              <a:ext uri="{FF2B5EF4-FFF2-40B4-BE49-F238E27FC236}">
                <a16:creationId xmlns:a16="http://schemas.microsoft.com/office/drawing/2014/main" id="{D0F63DA3-FB01-4453-B8E9-3E08749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8" name="pricing-three-year-row-4-label">
            <a:extLst xmlns:a="http://schemas.openxmlformats.org/drawingml/2006/main">
              <a:ext uri="{FF2B5EF4-FFF2-40B4-BE49-F238E27FC236}">
                <a16:creationId xmlns:a16="http://schemas.microsoft.com/office/drawing/2014/main" id="{6194E081-28CE-4BE5-8C22-1913F48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9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1FA83883-1522-4B41-9EFA-AA5DEAC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0" name="ocvs-pricing-disclaimer">
            <a:extLst xmlns:a="http://schemas.openxmlformats.org/drawingml/2006/main">
              <a:ext uri="{FF2B5EF4-FFF2-40B4-BE49-F238E27FC236}">
                <a16:creationId xmlns:a16="http://schemas.microsoft.com/office/drawing/2014/main" id="{7B26FBB7-93C1-448F-9929-B84D73E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Pricing is indicative and reflects the active sizing result and commercial inputs.</a:t>
            </a:r>
          </a:p>
        </p:txBody>
      </p:sp>
      <p:sp>
        <p:nvSpPr>
          <p:cNvPr id="71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711173EF-150D-4F3A-8E9E-274E4E2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72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FA30E786-572B-4009-9724-EF67992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73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5EFCF22E-4A95-444A-8BC6-DAF5D76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bf9a27541494b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03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ricing-top-mask">
            <a:extLst xmlns:a="http://schemas.openxmlformats.org/drawingml/2006/main">
              <a:ext uri="{FF2B5EF4-FFF2-40B4-BE49-F238E27FC236}">
                <a16:creationId xmlns:a16="http://schemas.microsoft.com/office/drawing/2014/main" id="{7D6ED06B-F34E-4C7D-BCBC-96F6F09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footer-mask">
            <a:extLst xmlns:a="http://schemas.openxmlformats.org/drawingml/2006/main">
              <a:ext uri="{FF2B5EF4-FFF2-40B4-BE49-F238E27FC236}">
                <a16:creationId xmlns:a16="http://schemas.microsoft.com/office/drawing/2014/main" id="{2C2948ED-0B2A-4C09-A3C0-252008E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6700146D-AF15-4AAE-AE87-B7E9436A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4C8480A2-8B3F-424A-943A-208F40F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D74A1ABA-3EE3-402A-8D3D-29C4C767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323BF3C2-B2CA-4968-B9D4-966F6EBB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ED6D7305-EDE5-4AE6-ACDC-5321EB7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D0C59808-FECB-4FA1-A24E-C20B6B97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cc223be9c482b"/>
          <a:stretch xmlns:a="http://schemas.openxmlformats.org/drawingml/2006/main"/>
        </p:blipFill>
        <p:spPr>
          <a:xfrm xmlns:a="http://schemas.openxmlformats.org/drawingml/2006/main">
            <a:off x="381000" y="247650"/>
            <a:ext cx="1809750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CCF8E376-8776-4F25-9DB4-C662C8C3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11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7A289553-D694-4801-9397-4C81601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12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7702F306-B9FE-4DDC-BB90-AC92DDF1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341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b2ad6457649e8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14" name="ocvs-multi-pricing-title">
            <a:extLst xmlns:a="http://schemas.openxmlformats.org/drawingml/2006/main">
              <a:ext uri="{FF2B5EF4-FFF2-40B4-BE49-F238E27FC236}">
                <a16:creationId xmlns:a16="http://schemas.microsoft.com/office/drawing/2014/main" id="{A4135A1F-1DB8-4122-8097-B62E2A9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Multi-Cluster Pricing Summary</a:t>
            </a:r>
          </a:p>
        </p:txBody>
      </p:sp>
      <p:sp>
        <p:nvSpPr>
          <p:cNvPr id="15" name="ocvs-multi-pricing-title-rule">
            <a:extLst xmlns:a="http://schemas.openxmlformats.org/drawingml/2006/main">
              <a:ext uri="{FF2B5EF4-FFF2-40B4-BE49-F238E27FC236}">
                <a16:creationId xmlns:a16="http://schemas.microsoft.com/office/drawing/2014/main" id="{C7C46792-F103-40DE-87F2-19D34A3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2F"/>
          </a:solidFill>
          <a:ln xmlns:a="http://schemas.openxmlformats.org/drawingml/2006/main" w="0">
            <a:noFill/>
          </a:ln>
        </p:spPr>
      </p:sp>
      <p:sp>
        <p:nvSpPr>
          <p:cNvPr id="16" name="ocvs-multi-pricing-subtitle">
            <a:extLst xmlns:a="http://schemas.openxmlformats.org/drawingml/2006/main">
              <a:ext uri="{FF2B5EF4-FFF2-40B4-BE49-F238E27FC236}">
                <a16:creationId xmlns:a16="http://schemas.microsoft.com/office/drawing/2014/main" id="{9BC8F3BC-94CA-4BE0-85D9-0F19D480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aggregated across all target OCVS clusters and commitment terms.</a:t>
            </a:r>
          </a:p>
        </p:txBody>
      </p:sp>
      <p:sp>
        <p:nvSpPr>
          <p:cNvPr id="17" name="editable-ocvs-multi-pricing-context">
            <a:extLst xmlns:a="http://schemas.openxmlformats.org/drawingml/2006/main">
              <a:ext uri="{FF2B5EF4-FFF2-40B4-BE49-F238E27FC236}">
                <a16:creationId xmlns:a16="http://schemas.microsoft.com/office/drawing/2014/main" id="{B46F116D-11B7-4D16-B9BA-693D155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2 target clusters: Unified Management and OCVS Cluster 2</a:t>
            </a:r>
          </a:p>
        </p:txBody>
      </p:sp>
      <p:sp>
        <p:nvSpPr>
          <p:cNvPr id="18" name="ocvs-multi-pricing-payg-card">
            <a:extLst xmlns:a="http://schemas.openxmlformats.org/drawingml/2006/main">
              <a:ext uri="{FF2B5EF4-FFF2-40B4-BE49-F238E27FC236}">
                <a16:creationId xmlns:a16="http://schemas.microsoft.com/office/drawing/2014/main" id="{3780F0ED-AE42-4A08-BA13-6AEAA2B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9" name="ocvs-multi-pricing-payg-band">
            <a:extLst xmlns:a="http://schemas.openxmlformats.org/drawingml/2006/main">
              <a:ext uri="{FF2B5EF4-FFF2-40B4-BE49-F238E27FC236}">
                <a16:creationId xmlns:a16="http://schemas.microsoft.com/office/drawing/2014/main" id="{08B26F53-18D8-4B0B-B7FE-D910DB7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71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20" name="ocvs-multi-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3D2FE889-C614-4D25-BB1F-1FD6FFA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21" name="ocvs-multi-pricing-payg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72476CC1-17FF-49C2-8807-9ECB13AF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22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DE6AC350-D401-4A7E-9F5F-0C402D5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3" name="ocvs-multi-pricing-payg-infrastructure-line">
            <a:extLst xmlns:a="http://schemas.openxmlformats.org/drawingml/2006/main">
              <a:ext uri="{FF2B5EF4-FFF2-40B4-BE49-F238E27FC236}">
                <a16:creationId xmlns:a16="http://schemas.microsoft.com/office/drawing/2014/main" id="{DE23D80F-3F52-425A-AEE7-9002439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24" name="ocvs-multi-pricing-payg-storage-label">
            <a:extLst xmlns:a="http://schemas.openxmlformats.org/drawingml/2006/main">
              <a:ext uri="{FF2B5EF4-FFF2-40B4-BE49-F238E27FC236}">
                <a16:creationId xmlns:a16="http://schemas.microsoft.com/office/drawing/2014/main" id="{2378E745-A72E-477F-8C55-BD844E6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5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45430FEE-82C3-45AD-9B5C-861AC7A3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6" name="ocvs-multi-pricing-payg-storage-line">
            <a:extLst xmlns:a="http://schemas.openxmlformats.org/drawingml/2006/main">
              <a:ext uri="{FF2B5EF4-FFF2-40B4-BE49-F238E27FC236}">
                <a16:creationId xmlns:a16="http://schemas.microsoft.com/office/drawing/2014/main" id="{17625B39-B3B2-4877-9940-7A216EB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148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27" name="ocvs-multi-pricing-payg-monthly-total-fill">
            <a:extLst xmlns:a="http://schemas.openxmlformats.org/drawingml/2006/main">
              <a:ext uri="{FF2B5EF4-FFF2-40B4-BE49-F238E27FC236}">
                <a16:creationId xmlns:a16="http://schemas.microsoft.com/office/drawing/2014/main" id="{F8B53F11-7DEF-4DA3-A164-A8928BBD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28" name="ocvs-multi-pricing-payg-monthly-total-label">
            <a:extLst xmlns:a="http://schemas.openxmlformats.org/drawingml/2006/main">
              <a:ext uri="{FF2B5EF4-FFF2-40B4-BE49-F238E27FC236}">
                <a16:creationId xmlns:a16="http://schemas.microsoft.com/office/drawing/2014/main" id="{3C84C604-E5AD-4AC9-9CB6-522CDE4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9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0A9BE998-B42C-4B58-AD6C-23F5E77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0" name="ocvs-multi-pricing-payg-monthly-total-line">
            <a:extLst xmlns:a="http://schemas.openxmlformats.org/drawingml/2006/main">
              <a:ext uri="{FF2B5EF4-FFF2-40B4-BE49-F238E27FC236}">
                <a16:creationId xmlns:a16="http://schemas.microsoft.com/office/drawing/2014/main" id="{0CC3DA88-0F7E-4DE4-A80D-212CC073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1" name="ocvs-multi-pricing-payg-annual-total-fill">
            <a:extLst xmlns:a="http://schemas.openxmlformats.org/drawingml/2006/main">
              <a:ext uri="{FF2B5EF4-FFF2-40B4-BE49-F238E27FC236}">
                <a16:creationId xmlns:a16="http://schemas.microsoft.com/office/drawing/2014/main" id="{C889380E-FD9C-40C3-B9F0-BA43CDE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911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32" name="ocvs-multi-pricing-payg-annual-total-label">
            <a:extLst xmlns:a="http://schemas.openxmlformats.org/drawingml/2006/main">
              <a:ext uri="{FF2B5EF4-FFF2-40B4-BE49-F238E27FC236}">
                <a16:creationId xmlns:a16="http://schemas.microsoft.com/office/drawing/2014/main" id="{781CD0C7-21A1-47F6-93A5-3D6DDF6F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3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487648D1-5E7F-4E1D-AB48-0544F2A2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86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4" name="ocvs-multi-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FFC51B91-3FD9-4C8E-8636-33C2E29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5" name="ocvs-multi-pricing-one-year-band">
            <a:extLst xmlns:a="http://schemas.openxmlformats.org/drawingml/2006/main">
              <a:ext uri="{FF2B5EF4-FFF2-40B4-BE49-F238E27FC236}">
                <a16:creationId xmlns:a16="http://schemas.microsoft.com/office/drawing/2014/main" id="{04A83321-170A-4C3C-91C2-93D327B5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71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6" name="ocvs-multi-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E9C03022-970B-4F81-BEC4-8C70CF3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7" name="ocvs-multi-pricing-one-year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C13FC29D-0B01-44B5-A4AA-574EACBB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646B4935-D743-4260-8A6C-C475C59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ocvs-multi-pricing-one-year-infrastructure-line">
            <a:extLst xmlns:a="http://schemas.openxmlformats.org/drawingml/2006/main">
              <a:ext uri="{FF2B5EF4-FFF2-40B4-BE49-F238E27FC236}">
                <a16:creationId xmlns:a16="http://schemas.microsoft.com/office/drawing/2014/main" id="{99E51F9B-6E34-45C9-BD52-E50E7AC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0" name="ocvs-multi-pricing-one-year-storage-label">
            <a:extLst xmlns:a="http://schemas.openxmlformats.org/drawingml/2006/main">
              <a:ext uri="{FF2B5EF4-FFF2-40B4-BE49-F238E27FC236}">
                <a16:creationId xmlns:a16="http://schemas.microsoft.com/office/drawing/2014/main" id="{47D94642-7BB9-4193-BCB5-570EAD3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1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74C013C9-FCBE-4E3D-A98C-1E1C2F75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2" name="ocvs-multi-pricing-one-year-storage-line">
            <a:extLst xmlns:a="http://schemas.openxmlformats.org/drawingml/2006/main">
              <a:ext uri="{FF2B5EF4-FFF2-40B4-BE49-F238E27FC236}">
                <a16:creationId xmlns:a16="http://schemas.microsoft.com/office/drawing/2014/main" id="{4612C63D-4269-4DB2-B2AB-2870F279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3" name="ocvs-multi-pricing-one-year-monthly-total-fill">
            <a:extLst xmlns:a="http://schemas.openxmlformats.org/drawingml/2006/main">
              <a:ext uri="{FF2B5EF4-FFF2-40B4-BE49-F238E27FC236}">
                <a16:creationId xmlns:a16="http://schemas.microsoft.com/office/drawing/2014/main" id="{6C34D31B-BD70-4122-A015-0CB1F785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196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44" name="ocvs-multi-pricing-one-year-monthly-total-label">
            <a:extLst xmlns:a="http://schemas.openxmlformats.org/drawingml/2006/main">
              <a:ext uri="{FF2B5EF4-FFF2-40B4-BE49-F238E27FC236}">
                <a16:creationId xmlns:a16="http://schemas.microsoft.com/office/drawing/2014/main" id="{A3F5500D-2A12-43C0-B864-5B075CB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5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B04A920D-8037-4F7E-B581-8ED8BB7D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6" name="ocvs-multi-pricing-one-year-monthly-total-line">
            <a:extLst xmlns:a="http://schemas.openxmlformats.org/drawingml/2006/main">
              <a:ext uri="{FF2B5EF4-FFF2-40B4-BE49-F238E27FC236}">
                <a16:creationId xmlns:a16="http://schemas.microsoft.com/office/drawing/2014/main" id="{C7593306-117C-484F-BF46-7887E8D9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86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7" name="ocvs-multi-pricing-one-year-annual-total-fill">
            <a:extLst xmlns:a="http://schemas.openxmlformats.org/drawingml/2006/main">
              <a:ext uri="{FF2B5EF4-FFF2-40B4-BE49-F238E27FC236}">
                <a16:creationId xmlns:a16="http://schemas.microsoft.com/office/drawing/2014/main" id="{99770868-6952-414E-8491-D372DBE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9911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48" name="ocvs-multi-pricing-one-year-annual-total-label">
            <a:extLst xmlns:a="http://schemas.openxmlformats.org/drawingml/2006/main">
              <a:ext uri="{FF2B5EF4-FFF2-40B4-BE49-F238E27FC236}">
                <a16:creationId xmlns:a16="http://schemas.microsoft.com/office/drawing/2014/main" id="{7A334C1F-E621-4D29-AA58-6F38BD9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86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49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83E84E25-A29E-4DC1-AE8D-C6DF4FA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0" name="ocvs-multi-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36BCDFCF-2A21-468C-8E75-1A29CADF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1" name="ocvs-multi-pricing-three-year-band">
            <a:extLst xmlns:a="http://schemas.openxmlformats.org/drawingml/2006/main">
              <a:ext uri="{FF2B5EF4-FFF2-40B4-BE49-F238E27FC236}">
                <a16:creationId xmlns:a16="http://schemas.microsoft.com/office/drawing/2014/main" id="{AFF2AA9A-108A-4CC5-B84F-6E8F7DF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71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2" name="ocvs-multi-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29EDFDBB-F207-4791-9A18-B4BBC96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3" name="ocvs-multi-pricing-three-year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CBCC5312-E8F8-425E-9FB3-F6E3500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4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4A5501B4-B66F-4EE1-85B1-8C6582D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5" name="ocvs-multi-pricing-three-year-infrastructure-line">
            <a:extLst xmlns:a="http://schemas.openxmlformats.org/drawingml/2006/main">
              <a:ext uri="{FF2B5EF4-FFF2-40B4-BE49-F238E27FC236}">
                <a16:creationId xmlns:a16="http://schemas.microsoft.com/office/drawing/2014/main" id="{F2295A82-81A6-45F7-B70D-3342280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43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6" name="ocvs-multi-pricing-three-year-storage-label">
            <a:extLst xmlns:a="http://schemas.openxmlformats.org/drawingml/2006/main">
              <a:ext uri="{FF2B5EF4-FFF2-40B4-BE49-F238E27FC236}">
                <a16:creationId xmlns:a16="http://schemas.microsoft.com/office/drawing/2014/main" id="{B5967EA5-703D-4C0A-8A55-D40C808B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7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142D843C-74FD-40F9-B236-CF88CB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ocvs-multi-pricing-three-year-storage-line">
            <a:extLst xmlns:a="http://schemas.openxmlformats.org/drawingml/2006/main">
              <a:ext uri="{FF2B5EF4-FFF2-40B4-BE49-F238E27FC236}">
                <a16:creationId xmlns:a16="http://schemas.microsoft.com/office/drawing/2014/main" id="{3897C02F-4DC4-4C73-813D-802465FD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148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9" name="ocvs-multi-pricing-three-year-monthly-total-fill">
            <a:extLst xmlns:a="http://schemas.openxmlformats.org/drawingml/2006/main">
              <a:ext uri="{FF2B5EF4-FFF2-40B4-BE49-F238E27FC236}">
                <a16:creationId xmlns:a16="http://schemas.microsoft.com/office/drawing/2014/main" id="{9DBC1328-F350-40F3-9088-21E7FA4F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196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60" name="ocvs-multi-pricing-three-year-monthly-total-label">
            <a:extLst xmlns:a="http://schemas.openxmlformats.org/drawingml/2006/main">
              <a:ext uri="{FF2B5EF4-FFF2-40B4-BE49-F238E27FC236}">
                <a16:creationId xmlns:a16="http://schemas.microsoft.com/office/drawing/2014/main" id="{3D5029BA-7E99-4BC9-BFDC-EC999D4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1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5242DE2C-5543-49BC-B157-B1F6171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148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ocvs-multi-pricing-three-year-monthly-total-line">
            <a:extLst xmlns:a="http://schemas.openxmlformats.org/drawingml/2006/main">
              <a:ext uri="{FF2B5EF4-FFF2-40B4-BE49-F238E27FC236}">
                <a16:creationId xmlns:a16="http://schemas.microsoft.com/office/drawing/2014/main" id="{CB876906-0A44-40CC-B25B-EF3331CA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3" name="ocvs-multi-pricing-three-year-annual-total-fill">
            <a:extLst xmlns:a="http://schemas.openxmlformats.org/drawingml/2006/main">
              <a:ext uri="{FF2B5EF4-FFF2-40B4-BE49-F238E27FC236}">
                <a16:creationId xmlns:a16="http://schemas.microsoft.com/office/drawing/2014/main" id="{D0C14C50-185A-48CF-A3CF-E29DBDE8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9911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64" name="ocvs-multi-pricing-three-year-annual-total-label">
            <a:extLst xmlns:a="http://schemas.openxmlformats.org/drawingml/2006/main">
              <a:ext uri="{FF2B5EF4-FFF2-40B4-BE49-F238E27FC236}">
                <a16:creationId xmlns:a16="http://schemas.microsoft.com/office/drawing/2014/main" id="{FD1F03E6-53F3-4D84-AF64-86F5BBE4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5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8217EC56-CECA-4FC8-9B0B-A54C327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86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ocvs-multi-pricing-note">
            <a:extLst xmlns:a="http://schemas.openxmlformats.org/drawingml/2006/main">
              <a:ext uri="{FF2B5EF4-FFF2-40B4-BE49-F238E27FC236}">
                <a16:creationId xmlns:a16="http://schemas.microsoft.com/office/drawing/2014/main" id="{49DAC905-9A4F-4266-83BE-CDD1140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Pricing aggregates each target cluster's selected shape, node count, storage architecture, and applicable commitment discount.</a:t>
            </a:r>
          </a:p>
        </p:txBody>
      </p:sp>
    </p:spTree>
    <p:extLst>
      <p:ext uri="{BB962C8B-B14F-4D97-AF65-F5344CB8AC3E}">
        <p14:creationId xmlns:p14="http://schemas.microsoft.com/office/powerpoint/2010/main" val="1068139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30B4A-2296-4E67-AE3A-90D373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8dcaa00d0482d"/>
          <a:stretch xmlns:a="http://schemas.openxmlformats.org/drawingml/2006/main"/>
        </p:blipFill>
        <p:spPr>
          <a:xfrm xmlns:a="http://schemas.openxmlformats.org/drawingml/2006/main">
            <a:off x="4219575" y="3185422"/>
            <a:ext cx="3752850" cy="534781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7D35F5-2CF6-43F3-9813-9C11FDF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486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0444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2026-09-10T08:38:37.0910000Z</dcterms:created>
  <dcterms:modified xsi:type="dcterms:W3CDTF">2026-09-10T08:38:37.0910000Z</dcterms:modified>
</coreProperties>
</file>