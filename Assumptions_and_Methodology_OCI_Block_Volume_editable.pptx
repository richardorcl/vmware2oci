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f1d2a26eae4951" /><Relationship Type="http://schemas.openxmlformats.org/officeDocument/2006/relationships/extended-properties" Target="/docProps/app.xml" Id="R85465abc7ee24843" /><Relationship Type="http://schemas.openxmlformats.org/officeDocument/2006/relationships/officeDocument" Target="/ppt/presentation.xml" Id="Ra5a978f858ca47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f4a8e11fa34d16"/>
  </p:sldMasterIdLst>
  <p:notesMasterIdLst>
    <p:notesMasterId xmlns:r="http://schemas.openxmlformats.org/officeDocument/2006/relationships" r:id="R6e96157d52c740c3"/>
  </p:notesMasterIdLst>
  <p:sldIdLst>
    <p:sldId xmlns:r="http://schemas.openxmlformats.org/officeDocument/2006/relationships" id="256" r:id="R70683664fea04d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6fba74b53d45c9" /><Relationship Type="http://schemas.openxmlformats.org/officeDocument/2006/relationships/slideMaster" Target="/ppt/slideMasters/slideMaster1.xml" Id="R6cf4a8e11fa34d16" /><Relationship Type="http://schemas.openxmlformats.org/officeDocument/2006/relationships/notesMaster" Target="/ppt/notesMasters/notesMaster1.xml" Id="R6e96157d52c740c3" /><Relationship Type="http://schemas.openxmlformats.org/officeDocument/2006/relationships/presProps" Target="/ppt/presProps.xml" Id="Rcf5838f3d2c34b20" /><Relationship Type="http://schemas.openxmlformats.org/officeDocument/2006/relationships/tableStyles" Target="/ppt/tableStyles.xml" Id="R51a4f40a7cf04555" /><Relationship Type="http://schemas.openxmlformats.org/officeDocument/2006/relationships/slide" Target="/ppt/slides/slide1.xml" Id="R70683664fea04d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51e0784a254c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a54a27cda14080" /><Relationship Type="http://schemas.openxmlformats.org/officeDocument/2006/relationships/notesMaster" Target="/ppt/notesMasters/notesMaster1.xml" Id="R6da72f8dd2634a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d20f2911b945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7c8c80be88411c" /><Relationship Type="http://schemas.openxmlformats.org/officeDocument/2006/relationships/slideLayout" Target="/ppt/slideLayouts/slideLayout1.xml" Id="Rdca0f96687f240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a0f96687f240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cddc0d1c84fea" /><Relationship Type="http://schemas.openxmlformats.org/officeDocument/2006/relationships/image" Target="/ppt/media/image.png" Id="R62b71188e4654a52" /><Relationship Type="http://schemas.openxmlformats.org/officeDocument/2006/relationships/image" Target="/ppt/media/image2.png" Id="R7fb98c80a8dd4ba5" /><Relationship Type="http://schemas.openxmlformats.org/officeDocument/2006/relationships/image" Target="/ppt/media/image3.png" Id="Ra1fc880148a047b3" /><Relationship Type="http://schemas.openxmlformats.org/officeDocument/2006/relationships/image" Target="/ppt/media/image4.png" Id="R33cf95d3f2d545aa" /><Relationship Type="http://schemas.openxmlformats.org/officeDocument/2006/relationships/image" Target="/ppt/media/image5.png" Id="R5f2092a2405e4ad9" /><Relationship Type="http://schemas.openxmlformats.org/officeDocument/2006/relationships/image" Target="/ppt/media/image6.png" Id="R4c7af124b37943d8" /><Relationship Type="http://schemas.openxmlformats.org/officeDocument/2006/relationships/image" Target="/ppt/media/image7.png" Id="Re5ee576c482b48a1" /><Relationship Type="http://schemas.openxmlformats.org/officeDocument/2006/relationships/image" Target="/ppt/media/image8.png" Id="Rad86bb38712f4fdd" /><Relationship Type="http://schemas.openxmlformats.org/officeDocument/2006/relationships/image" Target="/ppt/media/image9.png" Id="Rf473fcaee9554122" /><Relationship Type="http://schemas.openxmlformats.org/officeDocument/2006/relationships/image" Target="/ppt/media/image10.png" Id="R41771ddb8d1144bd" /><Relationship Type="http://schemas.openxmlformats.org/officeDocument/2006/relationships/notesSlide" Target="/ppt/notesSlides/notesSlide1.xml" Id="R44b6d38f147f47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71188e4654a52"/>
          <a:stretch xmlns:a="http://schemas.openxmlformats.org/drawingml/2006/main"/>
        </p:blipFill>
        <p:spPr>
          <a:xfrm xmlns:a="http://schemas.openxmlformats.org/drawingml/2006/main">
            <a:off x="285750" y="191294"/>
            <a:ext cx="1752600" cy="474662"/>
          </a:xfrm>
          <a:prstGeom xmlns:a="http://schemas.openxmlformats.org/drawingml/2006/main" prst="rect">
            <a:avLst/>
          </a:prstGeom>
        </p:spPr>
      </p:pic>
      <p:sp>
        <p:nvSpPr>
          <p:cNvPr id="2" name="oracle-red-accent">
            <a:extLst xmlns:a="http://schemas.openxmlformats.org/drawingml/2006/main">
              <a:ext uri="{FF2B5EF4-FFF2-40B4-BE49-F238E27FC236}">
                <a16:creationId xmlns:a16="http://schemas.microsoft.com/office/drawing/2014/main" id="{A7776BB4-A7AC-4409-B2ED-2695D0D3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62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2222"/>
          </a:solidFill>
          <a:ln xmlns:a="http://schemas.openxmlformats.org/drawingml/2006/main" w="0">
            <a:solidFill>
              <a:srgbClr val="F52222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9E5026-08F7-46FE-8823-B727ED0A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525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4C2B"/>
                </a:solidFill>
              </a:defRPr>
            </a:pPr>
            <a:r>
              <a:rPr sz="3150" b="1">
                <a:solidFill>
                  <a:srgbClr val="0B4C2B"/>
                </a:solidFill>
              </a:rPr>
              <a:t>Assumptions &amp; Methodology</a:t>
            </a:r>
          </a:p>
        </p:txBody>
      </p:sp>
      <p:sp>
        <p:nvSpPr>
          <p:cNvPr id="4" name="slide-introduction">
            <a:extLst xmlns:a="http://schemas.openxmlformats.org/drawingml/2006/main">
              <a:ext uri="{FF2B5EF4-FFF2-40B4-BE49-F238E27FC236}">
                <a16:creationId xmlns:a16="http://schemas.microsoft.com/office/drawing/2014/main" id="{8037FE0C-8354-4BA3-B1A1-D28E980E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9542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The proposed sizing is based on the customer-provided RVTools inventory and the configured capacity policy.</a:t>
            </a:r>
          </a:p>
        </p:txBody>
      </p:sp>
      <p:sp>
        <p:nvSpPr>
          <p:cNvPr id="5" name="table-outer-frame">
            <a:extLst xmlns:a="http://schemas.openxmlformats.org/drawingml/2006/main">
              <a:ext uri="{FF2B5EF4-FFF2-40B4-BE49-F238E27FC236}">
                <a16:creationId xmlns:a16="http://schemas.microsoft.com/office/drawing/2014/main" id="{87BAC953-096D-408C-8DB7-025A20E5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7285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BC8"/>
            </a:solidFill>
            <a:prstDash val="solid"/>
          </a:ln>
        </p:spPr>
      </p:sp>
      <p:sp>
        <p:nvSpPr>
          <p:cNvPr id="6" name="methodology-band">
            <a:extLst xmlns:a="http://schemas.openxmlformats.org/drawingml/2006/main">
              <a:ext uri="{FF2B5EF4-FFF2-40B4-BE49-F238E27FC236}">
                <a16:creationId xmlns:a16="http://schemas.microsoft.com/office/drawing/2014/main" id="{CDDE9DE5-9409-45BB-84CB-68B1929C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72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F2B"/>
          </a:solidFill>
          <a:ln xmlns:a="http://schemas.openxmlformats.org/drawingml/2006/main" w="0">
            <a:solidFill>
              <a:srgbClr val="104F2B"/>
            </a:solidFill>
            <a:prstDash val="solid"/>
          </a:ln>
        </p:spPr>
      </p:sp>
      <p:sp>
        <p:nvSpPr>
          <p:cNvPr id="7" name="compute-policy-band">
            <a:extLst xmlns:a="http://schemas.openxmlformats.org/drawingml/2006/main">
              <a:ext uri="{FF2B5EF4-FFF2-40B4-BE49-F238E27FC236}">
                <a16:creationId xmlns:a16="http://schemas.microsoft.com/office/drawing/2014/main" id="{62BBDA1D-ECF1-47D7-8E67-2E7922CD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11372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F2B"/>
          </a:solidFill>
          <a:ln xmlns:a="http://schemas.openxmlformats.org/drawingml/2006/main" w="0">
            <a:solidFill>
              <a:srgbClr val="104F2B"/>
            </a:solidFill>
            <a:prstDash val="solid"/>
          </a:ln>
        </p:spPr>
      </p:sp>
      <p:sp>
        <p:nvSpPr>
          <p:cNvPr id="8" name="storage-policy-band">
            <a:extLst xmlns:a="http://schemas.openxmlformats.org/drawingml/2006/main">
              <a:ext uri="{FF2B5EF4-FFF2-40B4-BE49-F238E27FC236}">
                <a16:creationId xmlns:a16="http://schemas.microsoft.com/office/drawing/2014/main" id="{DB648A80-D19A-498C-A5C2-301FF72C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1137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4F2B"/>
          </a:solidFill>
          <a:ln xmlns:a="http://schemas.openxmlformats.org/drawingml/2006/main" w="0">
            <a:solidFill>
              <a:srgbClr val="104F2B"/>
            </a:solidFill>
            <a:prstDash val="solid"/>
          </a:ln>
        </p:spPr>
      </p:sp>
      <p:sp>
        <p:nvSpPr>
          <p:cNvPr id="9" name="methodology-band-text">
            <a:extLst xmlns:a="http://schemas.openxmlformats.org/drawingml/2006/main">
              <a:ext uri="{FF2B5EF4-FFF2-40B4-BE49-F238E27FC236}">
                <a16:creationId xmlns:a16="http://schemas.microsoft.com/office/drawing/2014/main" id="{69632420-E665-4E3D-9A5F-8A057941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097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Sizing Methodology</a:t>
            </a:r>
          </a:p>
        </p:txBody>
      </p:sp>
      <p:sp>
        <p:nvSpPr>
          <p:cNvPr id="10" name="compute-band-text">
            <a:extLst xmlns:a="http://schemas.openxmlformats.org/drawingml/2006/main">
              <a:ext uri="{FF2B5EF4-FFF2-40B4-BE49-F238E27FC236}">
                <a16:creationId xmlns:a16="http://schemas.microsoft.com/office/drawing/2014/main" id="{D9F00A7E-803C-4594-9B24-98ECBE2B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52775"/>
            <a:ext cx="838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Compute &amp; Memory Policy</a:t>
            </a:r>
          </a:p>
        </p:txBody>
      </p:sp>
      <p:sp>
        <p:nvSpPr>
          <p:cNvPr id="11" name="storage-band-text">
            <a:extLst xmlns:a="http://schemas.openxmlformats.org/drawingml/2006/main">
              <a:ext uri="{FF2B5EF4-FFF2-40B4-BE49-F238E27FC236}">
                <a16:creationId xmlns:a16="http://schemas.microsoft.com/office/drawing/2014/main" id="{7E8C03F3-F049-48F4-82BD-4A5C1E75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81525"/>
            <a:ext cx="838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Storage Policy — OCI Block Volume</a:t>
            </a:r>
          </a:p>
        </p:txBody>
      </p:sp>
      <p:sp>
        <p:nvSpPr>
          <p:cNvPr id="12" name="column-divider-icons">
            <a:extLst xmlns:a="http://schemas.openxmlformats.org/drawingml/2006/main">
              <a:ext uri="{FF2B5EF4-FFF2-40B4-BE49-F238E27FC236}">
                <a16:creationId xmlns:a16="http://schemas.microsoft.com/office/drawing/2014/main" id="{A8A06CA7-7C42-40AB-B617-EA653E0B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85975"/>
            <a:ext cx="9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solidFill>
              <a:srgbClr val="C8CBC8"/>
            </a:solidFill>
            <a:prstDash val="solid"/>
          </a:ln>
        </p:spPr>
      </p:sp>
      <p:sp>
        <p:nvSpPr>
          <p:cNvPr id="13" name="column-divider-labels">
            <a:extLst xmlns:a="http://schemas.openxmlformats.org/drawingml/2006/main">
              <a:ext uri="{FF2B5EF4-FFF2-40B4-BE49-F238E27FC236}">
                <a16:creationId xmlns:a16="http://schemas.microsoft.com/office/drawing/2014/main" id="{AEF108BC-9333-45A0-AEA7-76A9F830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85975"/>
            <a:ext cx="9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solidFill>
              <a:srgbClr val="C8CBC8"/>
            </a:solidFill>
            <a:prstDash val="solid"/>
          </a:ln>
        </p:spPr>
      </p:sp>
      <p:sp>
        <p:nvSpPr>
          <p:cNvPr id="14" name="compute-column-divider-icons">
            <a:extLst xmlns:a="http://schemas.openxmlformats.org/drawingml/2006/main">
              <a:ext uri="{FF2B5EF4-FFF2-40B4-BE49-F238E27FC236}">
                <a16:creationId xmlns:a16="http://schemas.microsoft.com/office/drawing/2014/main" id="{87DBCD91-2D1F-415D-A79F-AE19AD79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19475"/>
            <a:ext cx="95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solidFill>
              <a:srgbClr val="C8CBC8"/>
            </a:solidFill>
            <a:prstDash val="solid"/>
          </a:ln>
        </p:spPr>
      </p:sp>
      <p:sp>
        <p:nvSpPr>
          <p:cNvPr id="15" name="compute-column-divider-labels">
            <a:extLst xmlns:a="http://schemas.openxmlformats.org/drawingml/2006/main">
              <a:ext uri="{FF2B5EF4-FFF2-40B4-BE49-F238E27FC236}">
                <a16:creationId xmlns:a16="http://schemas.microsoft.com/office/drawing/2014/main" id="{B77C9D18-2282-44AE-A107-D8240648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19475"/>
            <a:ext cx="95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solidFill>
              <a:srgbClr val="C8CBC8"/>
            </a:solidFill>
            <a:prstDash val="solid"/>
          </a:ln>
        </p:spPr>
      </p:sp>
      <p:sp>
        <p:nvSpPr>
          <p:cNvPr id="16" name="storage-column-divider-icons">
            <a:extLst xmlns:a="http://schemas.openxmlformats.org/drawingml/2006/main">
              <a:ext uri="{FF2B5EF4-FFF2-40B4-BE49-F238E27FC236}">
                <a16:creationId xmlns:a16="http://schemas.microsoft.com/office/drawing/2014/main" id="{22080B98-5087-44EF-AAB8-C302E02E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19650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solidFill>
              <a:srgbClr val="C8CBC8"/>
            </a:solidFill>
            <a:prstDash val="solid"/>
          </a:ln>
        </p:spPr>
      </p:sp>
      <p:sp>
        <p:nvSpPr>
          <p:cNvPr id="17" name="storage-column-divider-labels">
            <a:extLst xmlns:a="http://schemas.openxmlformats.org/drawingml/2006/main">
              <a:ext uri="{FF2B5EF4-FFF2-40B4-BE49-F238E27FC236}">
                <a16:creationId xmlns:a16="http://schemas.microsoft.com/office/drawing/2014/main" id="{B92D7801-F067-4D8D-9A2C-10ADD7C6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19650"/>
            <a:ext cx="952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solidFill>
              <a:srgbClr val="C8CBC8"/>
            </a:solidFill>
            <a:prstDash val="solid"/>
          </a:ln>
        </p:spPr>
      </p:sp>
      <p:sp>
        <p:nvSpPr>
          <p:cNvPr id="18" name="table-row-rule-1">
            <a:extLst xmlns:a="http://schemas.openxmlformats.org/drawingml/2006/main">
              <a:ext uri="{FF2B5EF4-FFF2-40B4-BE49-F238E27FC236}">
                <a16:creationId xmlns:a16="http://schemas.microsoft.com/office/drawing/2014/main" id="{66C3BFA8-2B76-4131-A965-88818C85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72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solidFill>
              <a:srgbClr val="C8CBC8"/>
            </a:solidFill>
            <a:prstDash val="solid"/>
          </a:ln>
        </p:spPr>
      </p:sp>
      <p:sp>
        <p:nvSpPr>
          <p:cNvPr id="19" name="table-row-rule-2">
            <a:extLst xmlns:a="http://schemas.openxmlformats.org/drawingml/2006/main">
              <a:ext uri="{FF2B5EF4-FFF2-40B4-BE49-F238E27FC236}">
                <a16:creationId xmlns:a16="http://schemas.microsoft.com/office/drawing/2014/main" id="{7BE5AC74-5C5B-4C00-A0B5-AB1EB4F3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11372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solidFill>
              <a:srgbClr val="C8CBC8"/>
            </a:solidFill>
            <a:prstDash val="solid"/>
          </a:ln>
        </p:spPr>
      </p:sp>
      <p:sp>
        <p:nvSpPr>
          <p:cNvPr id="20" name="table-row-rule-3">
            <a:extLst xmlns:a="http://schemas.openxmlformats.org/drawingml/2006/main">
              <a:ext uri="{FF2B5EF4-FFF2-40B4-BE49-F238E27FC236}">
                <a16:creationId xmlns:a16="http://schemas.microsoft.com/office/drawing/2014/main" id="{9065A6DD-EF07-4EF5-95B7-3FF98B0F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11372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solidFill>
              <a:srgbClr val="C8CBC8"/>
            </a:solidFill>
            <a:prstDash val="solid"/>
          </a:ln>
        </p:spPr>
      </p:sp>
      <p:sp>
        <p:nvSpPr>
          <p:cNvPr id="21" name="table-row-rule-4">
            <a:extLst xmlns:a="http://schemas.openxmlformats.org/drawingml/2006/main">
              <a:ext uri="{FF2B5EF4-FFF2-40B4-BE49-F238E27FC236}">
                <a16:creationId xmlns:a16="http://schemas.microsoft.com/office/drawing/2014/main" id="{6129490B-27FC-4744-951F-1260F543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11372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solidFill>
              <a:srgbClr val="C8CBC8"/>
            </a:solidFill>
            <a:prstDash val="solid"/>
          </a:ln>
        </p:spPr>
      </p:sp>
      <p:sp>
        <p:nvSpPr>
          <p:cNvPr id="22" name="table-row-rule-5">
            <a:extLst xmlns:a="http://schemas.openxmlformats.org/drawingml/2006/main">
              <a:ext uri="{FF2B5EF4-FFF2-40B4-BE49-F238E27FC236}">
                <a16:creationId xmlns:a16="http://schemas.microsoft.com/office/drawing/2014/main" id="{015DF894-88E0-414E-9D4F-29451736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11372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solidFill>
              <a:srgbClr val="C8CBC8"/>
            </a:solidFill>
            <a:prstDash val="solid"/>
          </a:ln>
        </p:spPr>
      </p:sp>
      <p:sp>
        <p:nvSpPr>
          <p:cNvPr id="23" name="table-row-rule-6">
            <a:extLst xmlns:a="http://schemas.openxmlformats.org/drawingml/2006/main">
              <a:ext uri="{FF2B5EF4-FFF2-40B4-BE49-F238E27FC236}">
                <a16:creationId xmlns:a16="http://schemas.microsoft.com/office/drawing/2014/main" id="{10939642-CC82-4A66-B769-F2212982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48275"/>
            <a:ext cx="11372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solidFill>
              <a:srgbClr val="C8CBC8"/>
            </a:solidFill>
            <a:prstDash val="solid"/>
          </a:ln>
        </p:spPr>
      </p:sp>
      <p:sp>
        <p:nvSpPr>
          <p:cNvPr id="24" name="table-row-rule-7">
            <a:extLst xmlns:a="http://schemas.openxmlformats.org/drawingml/2006/main">
              <a:ext uri="{FF2B5EF4-FFF2-40B4-BE49-F238E27FC236}">
                <a16:creationId xmlns:a16="http://schemas.microsoft.com/office/drawing/2014/main" id="{2865F3D3-756F-4578-BBB3-4AC875C9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72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solidFill>
              <a:srgbClr val="C8CBC8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98c80a8dd4ba5"/>
          <a:stretch xmlns:a="http://schemas.openxmlformats.org/drawingml/2006/main"/>
        </p:blipFill>
        <p:spPr>
          <a:xfrm xmlns:a="http://schemas.openxmlformats.org/drawingml/2006/main">
            <a:off x="762000" y="2190750"/>
            <a:ext cx="361950" cy="285750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c880148a047b3"/>
          <a:stretch xmlns:a="http://schemas.openxmlformats.org/drawingml/2006/main"/>
        </p:blipFill>
        <p:spPr>
          <a:xfrm xmlns:a="http://schemas.openxmlformats.org/drawingml/2006/main">
            <a:off x="762000" y="2726531"/>
            <a:ext cx="361950" cy="261938"/>
          </a:xfrm>
          <a:prstGeom xmlns:a="http://schemas.openxmlformats.org/drawingml/2006/main" prst="rect">
            <a:avLst/>
          </a:prstGeom>
        </p:spPr>
      </p:pic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f95d3f2d545aa"/>
          <a:stretch xmlns:a="http://schemas.openxmlformats.org/drawingml/2006/main"/>
        </p:blipFill>
        <p:spPr>
          <a:xfrm xmlns:a="http://schemas.openxmlformats.org/drawingml/2006/main">
            <a:off x="762000" y="3469481"/>
            <a:ext cx="361950" cy="261938"/>
          </a:xfrm>
          <a:prstGeom xmlns:a="http://schemas.openxmlformats.org/drawingml/2006/main" prst="rect">
            <a:avLst/>
          </a:prstGeom>
        </p:spPr>
      </p:pic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092a2405e4ad9"/>
          <a:stretch xmlns:a="http://schemas.openxmlformats.org/drawingml/2006/main"/>
        </p:blipFill>
        <p:spPr>
          <a:xfrm xmlns:a="http://schemas.openxmlformats.org/drawingml/2006/main">
            <a:off x="762000" y="3831431"/>
            <a:ext cx="361950" cy="261938"/>
          </a:xfrm>
          <a:prstGeom xmlns:a="http://schemas.openxmlformats.org/drawingml/2006/main" prst="rect">
            <a:avLst/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af124b37943d8"/>
          <a:stretch xmlns:a="http://schemas.openxmlformats.org/drawingml/2006/main"/>
        </p:blipFill>
        <p:spPr>
          <a:xfrm xmlns:a="http://schemas.openxmlformats.org/drawingml/2006/main">
            <a:off x="762000" y="4224338"/>
            <a:ext cx="361950" cy="180975"/>
          </a:xfrm>
          <a:prstGeom xmlns:a="http://schemas.openxmlformats.org/drawingml/2006/main" prst="rect">
            <a:avLst/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e576c482b48a1"/>
          <a:stretch xmlns:a="http://schemas.openxmlformats.org/drawingml/2006/main"/>
        </p:blipFill>
        <p:spPr>
          <a:xfrm xmlns:a="http://schemas.openxmlformats.org/drawingml/2006/main">
            <a:off x="762000" y="4898231"/>
            <a:ext cx="361950" cy="261938"/>
          </a:xfrm>
          <a:prstGeom xmlns:a="http://schemas.openxmlformats.org/drawingml/2006/main" prst="rect">
            <a:avLst/>
          </a:prstGeom>
        </p:spPr>
      </p:pic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6bb38712f4fdd"/>
          <a:stretch xmlns:a="http://schemas.openxmlformats.org/drawingml/2006/main"/>
        </p:blipFill>
        <p:spPr>
          <a:xfrm xmlns:a="http://schemas.openxmlformats.org/drawingml/2006/main">
            <a:off x="762000" y="5326856"/>
            <a:ext cx="361950" cy="261938"/>
          </a:xfrm>
          <a:prstGeom xmlns:a="http://schemas.openxmlformats.org/drawingml/2006/main" prst="rect">
            <a:avLst/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3fcaee9554122"/>
          <a:stretch xmlns:a="http://schemas.openxmlformats.org/drawingml/2006/main"/>
        </p:blipFill>
        <p:spPr>
          <a:xfrm xmlns:a="http://schemas.openxmlformats.org/drawingml/2006/main">
            <a:off x="762000" y="5774531"/>
            <a:ext cx="361950" cy="261938"/>
          </a:xfrm>
          <a:prstGeom xmlns:a="http://schemas.openxmlformats.org/drawingml/2006/main" prst="rect">
            <a:avLst/>
          </a:prstGeom>
        </p:spPr>
      </p:pic>
      <p:sp>
        <p:nvSpPr>
          <p:cNvPr id="33" name="data-source-label">
            <a:extLst xmlns:a="http://schemas.openxmlformats.org/drawingml/2006/main">
              <a:ext uri="{FF2B5EF4-FFF2-40B4-BE49-F238E27FC236}">
                <a16:creationId xmlns:a16="http://schemas.microsoft.com/office/drawing/2014/main" id="{AB676C6E-57FE-4245-B2CF-34CC835A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098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Data Source</a:t>
            </a:r>
          </a:p>
        </p:txBody>
      </p:sp>
      <p:sp>
        <p:nvSpPr>
          <p:cNvPr id="34" name="data-source-value">
            <a:extLst xmlns:a="http://schemas.openxmlformats.org/drawingml/2006/main">
              <a:ext uri="{FF2B5EF4-FFF2-40B4-BE49-F238E27FC236}">
                <a16:creationId xmlns:a16="http://schemas.microsoft.com/office/drawing/2014/main" id="{76EC1571-1BF8-4465-B179-B8468244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43125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RVTools export provided by the customer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(Analysis Date: May 08, 2025)</a:t>
            </a:r>
          </a:p>
        </p:txBody>
      </p:sp>
      <p:sp>
        <p:nvSpPr>
          <p:cNvPr id="35" name="sizing-approach-label">
            <a:extLst xmlns:a="http://schemas.openxmlformats.org/drawingml/2006/main">
              <a:ext uri="{FF2B5EF4-FFF2-40B4-BE49-F238E27FC236}">
                <a16:creationId xmlns:a16="http://schemas.microsoft.com/office/drawing/2014/main" id="{F68A8403-12F9-475C-84C4-CADBD574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724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Sizing Approach</a:t>
            </a:r>
          </a:p>
        </p:txBody>
      </p:sp>
      <p:sp>
        <p:nvSpPr>
          <p:cNvPr id="36" name="sizing-approach-value">
            <a:extLst xmlns:a="http://schemas.openxmlformats.org/drawingml/2006/main">
              <a:ext uri="{FF2B5EF4-FFF2-40B4-BE49-F238E27FC236}">
                <a16:creationId xmlns:a16="http://schemas.microsoft.com/office/drawing/2014/main" id="{DCB53872-0A83-41AF-B7B8-78BCD3CF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Selected VM scope, OCVS host profile, and configured capacity policy</a:t>
            </a:r>
          </a:p>
        </p:txBody>
      </p:sp>
      <p:sp>
        <p:nvSpPr>
          <p:cNvPr id="37" name="vcpu-ocpu-label">
            <a:extLst xmlns:a="http://schemas.openxmlformats.org/drawingml/2006/main">
              <a:ext uri="{FF2B5EF4-FFF2-40B4-BE49-F238E27FC236}">
                <a16:creationId xmlns:a16="http://schemas.microsoft.com/office/drawing/2014/main" id="{8B27A77A-2D06-483D-A127-4268E315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4861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vCPU per OCPU</a:t>
            </a:r>
          </a:p>
        </p:txBody>
      </p:sp>
      <p:sp>
        <p:nvSpPr>
          <p:cNvPr id="38" name="vcpu-ocpu-value">
            <a:extLst xmlns:a="http://schemas.openxmlformats.org/drawingml/2006/main">
              <a:ext uri="{FF2B5EF4-FFF2-40B4-BE49-F238E27FC236}">
                <a16:creationId xmlns:a16="http://schemas.microsoft.com/office/drawing/2014/main" id="{F4224CA9-9F51-4358-B23D-986F3B77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4:1</a:t>
            </a:r>
          </a:p>
        </p:txBody>
      </p:sp>
      <p:sp>
        <p:nvSpPr>
          <p:cNvPr id="39" name="cpu-headroom-label">
            <a:extLst xmlns:a="http://schemas.openxmlformats.org/drawingml/2006/main">
              <a:ext uri="{FF2B5EF4-FFF2-40B4-BE49-F238E27FC236}">
                <a16:creationId xmlns:a16="http://schemas.microsoft.com/office/drawing/2014/main" id="{BDE3CE43-9091-48B9-94A8-5975E4B0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8576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CPU headroom</a:t>
            </a:r>
          </a:p>
        </p:txBody>
      </p:sp>
      <p:sp>
        <p:nvSpPr>
          <p:cNvPr id="40" name="cpu-headroom-value">
            <a:extLst xmlns:a="http://schemas.openxmlformats.org/drawingml/2006/main">
              <a:ext uri="{FF2B5EF4-FFF2-40B4-BE49-F238E27FC236}">
                <a16:creationId xmlns:a16="http://schemas.microsoft.com/office/drawing/2014/main" id="{B2E5BECF-C40C-4E6D-A442-A4AFE898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20%</a:t>
            </a:r>
          </a:p>
        </p:txBody>
      </p:sp>
      <p:sp>
        <p:nvSpPr>
          <p:cNvPr id="41" name="ram-headroom-label">
            <a:extLst xmlns:a="http://schemas.openxmlformats.org/drawingml/2006/main">
              <a:ext uri="{FF2B5EF4-FFF2-40B4-BE49-F238E27FC236}">
                <a16:creationId xmlns:a16="http://schemas.microsoft.com/office/drawing/2014/main" id="{B2286BF2-D9F7-490F-B9D9-47986384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2195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RAM headroom</a:t>
            </a:r>
          </a:p>
        </p:txBody>
      </p:sp>
      <p:sp>
        <p:nvSpPr>
          <p:cNvPr id="42" name="ram-headroom-value">
            <a:extLst xmlns:a="http://schemas.openxmlformats.org/drawingml/2006/main">
              <a:ext uri="{FF2B5EF4-FFF2-40B4-BE49-F238E27FC236}">
                <a16:creationId xmlns:a16="http://schemas.microsoft.com/office/drawing/2014/main" id="{4C1153D3-D7BF-4746-BFEA-1881E41C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95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20%</a:t>
            </a:r>
          </a:p>
        </p:txBody>
      </p:sp>
      <p:sp>
        <p:nvSpPr>
          <p:cNvPr id="43" name="storage-headroom-label">
            <a:extLst xmlns:a="http://schemas.openxmlformats.org/drawingml/2006/main">
              <a:ext uri="{FF2B5EF4-FFF2-40B4-BE49-F238E27FC236}">
                <a16:creationId xmlns:a16="http://schemas.microsoft.com/office/drawing/2014/main" id="{2E80AA1E-6AD9-4CD1-88C9-3BB0C6F1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8958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Storage headroom</a:t>
            </a:r>
          </a:p>
        </p:txBody>
      </p:sp>
      <p:sp>
        <p:nvSpPr>
          <p:cNvPr id="44" name="storage-headroom-value">
            <a:extLst xmlns:a="http://schemas.openxmlformats.org/drawingml/2006/main">
              <a:ext uri="{FF2B5EF4-FFF2-40B4-BE49-F238E27FC236}">
                <a16:creationId xmlns:a16="http://schemas.microsoft.com/office/drawing/2014/main" id="{0F704318-B159-44C2-B56F-AF884D36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958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25%</a:t>
            </a:r>
          </a:p>
        </p:txBody>
      </p:sp>
      <p:sp>
        <p:nvSpPr>
          <p:cNvPr id="45" name="performance-label">
            <a:extLst xmlns:a="http://schemas.openxmlformats.org/drawingml/2006/main">
              <a:ext uri="{FF2B5EF4-FFF2-40B4-BE49-F238E27FC236}">
                <a16:creationId xmlns:a16="http://schemas.microsoft.com/office/drawing/2014/main" id="{F6E4AC2C-CDAC-4A32-9FB0-7E2D8AF1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3244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Standard storage performance</a:t>
            </a:r>
          </a:p>
        </p:txBody>
      </p:sp>
      <p:sp>
        <p:nvSpPr>
          <p:cNvPr id="46" name="performance-value">
            <a:extLst xmlns:a="http://schemas.openxmlformats.org/drawingml/2006/main">
              <a:ext uri="{FF2B5EF4-FFF2-40B4-BE49-F238E27FC236}">
                <a16:creationId xmlns:a16="http://schemas.microsoft.com/office/drawing/2014/main" id="{318EE761-BDF2-4224-8251-FE3C7BD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244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10 VPU/GB</a:t>
            </a:r>
          </a:p>
        </p:txBody>
      </p:sp>
      <p:sp>
        <p:nvSpPr>
          <p:cNvPr id="47" name="architecture-label">
            <a:extLst xmlns:a="http://schemas.openxmlformats.org/drawingml/2006/main">
              <a:ext uri="{FF2B5EF4-FFF2-40B4-BE49-F238E27FC236}">
                <a16:creationId xmlns:a16="http://schemas.microsoft.com/office/drawing/2014/main" id="{9A7C3320-C709-4C43-9E18-E9518DA7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7626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Selected storage architecture</a:t>
            </a:r>
          </a:p>
        </p:txBody>
      </p:sp>
      <p:sp>
        <p:nvSpPr>
          <p:cNvPr id="48" name="architecture-value">
            <a:extLst xmlns:a="http://schemas.openxmlformats.org/drawingml/2006/main">
              <a:ext uri="{FF2B5EF4-FFF2-40B4-BE49-F238E27FC236}">
                <a16:creationId xmlns:a16="http://schemas.microsoft.com/office/drawing/2014/main" id="{D6BDA079-09FA-4CC1-BA91-6AD6D874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7054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OCI Block Volume (Block Storage)</a:t>
            </a:r>
          </a:p>
          <a:p xmlns:a="http://schemas.openxmlformats.org/drawingml/2006/main">
            <a:pPr>
              <a:defRPr sz="1425">
                <a:solidFill>
                  <a:srgbClr val="111111"/>
                </a:solidFill>
              </a:defRPr>
            </a:pPr>
            <a:r>
              <a:rPr sz="1425">
                <a:solidFill>
                  <a:srgbClr val="111111"/>
                </a:solidFill>
              </a:rPr>
              <a:t>(Applies to BM.Standard and BM.Optimized shapes)</a:t>
            </a:r>
          </a:p>
        </p:txBody>
      </p:sp>
      <p:sp>
        <p:nvSpPr>
          <p:cNvPr id="49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A8D68D3F-07A7-4B73-8A29-D07C62D7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00800"/>
            <a:ext cx="10791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solidFill>
              <a:srgbClr val="C8CBC8"/>
            </a:solidFill>
            <a:prstDash val="solid"/>
          </a:ln>
        </p:spPr>
      </p:sp>
      <p:sp>
        <p:nvSpPr>
          <p:cNvPr id="50" name="footer-cloud-infrastructure">
            <a:extLst xmlns:a="http://schemas.openxmlformats.org/drawingml/2006/main">
              <a:ext uri="{FF2B5EF4-FFF2-40B4-BE49-F238E27FC236}">
                <a16:creationId xmlns:a16="http://schemas.microsoft.com/office/drawing/2014/main" id="{80F84B2E-18C0-4720-8A43-B04C8288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5151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A6A6A"/>
                </a:solidFill>
              </a:defRPr>
            </a:pPr>
            <a:r>
              <a:rPr sz="975">
                <a:solidFill>
                  <a:srgbClr val="6A6A6A"/>
                </a:solidFill>
              </a:rPr>
              <a:t>Oracle Cloud Infrastructure</a:t>
            </a:r>
          </a:p>
        </p:txBody>
      </p:sp>
      <p:sp>
        <p:nvSpPr>
          <p:cNvPr id="51" name="footer-ocvs-customer-sizing">
            <a:extLst xmlns:a="http://schemas.openxmlformats.org/drawingml/2006/main">
              <a:ext uri="{FF2B5EF4-FFF2-40B4-BE49-F238E27FC236}">
                <a16:creationId xmlns:a16="http://schemas.microsoft.com/office/drawing/2014/main" id="{729243BC-3757-4391-9EE1-CACB0F20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5151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A6A6A"/>
                </a:solidFill>
              </a:defRPr>
            </a:pPr>
            <a:r>
              <a:rPr sz="975">
                <a:solidFill>
                  <a:srgbClr val="6A6A6A"/>
                </a:solidFill>
              </a:rPr>
              <a:t>OCVS Customer Sizing</a:t>
            </a:r>
          </a:p>
        </p:txBody>
      </p:sp>
      <p:sp>
        <p:nvSpPr>
          <p:cNvPr id="52" name="footer-divider-vertical">
            <a:extLst xmlns:a="http://schemas.openxmlformats.org/drawingml/2006/main">
              <a:ext uri="{FF2B5EF4-FFF2-40B4-BE49-F238E27FC236}">
                <a16:creationId xmlns:a16="http://schemas.microsoft.com/office/drawing/2014/main" id="{300F5873-B181-4940-A4AF-29206848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515100"/>
            <a:ext cx="95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8E8E"/>
          </a:solidFill>
          <a:ln xmlns:a="http://schemas.openxmlformats.org/drawingml/2006/main" w="0">
            <a:solidFill>
              <a:srgbClr val="8E8E8E"/>
            </a:solidFill>
            <a:prstDash val="solid"/>
          </a:ln>
        </p:spPr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71ddb8d1144bd"/>
          <a:stretch xmlns:a="http://schemas.openxmlformats.org/drawingml/2006/main"/>
        </p:blipFill>
        <p:spPr>
          <a:xfrm xmlns:a="http://schemas.openxmlformats.org/drawingml/2006/main">
            <a:off x="11334750" y="6401803"/>
            <a:ext cx="600075" cy="3789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98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2026-09-03T10:07:10.3860000Z</dcterms:created>
  <dcterms:modified xsi:type="dcterms:W3CDTF">2026-09-03T10:07:10.3860000Z</dcterms:modified>
</coreProperties>
</file>