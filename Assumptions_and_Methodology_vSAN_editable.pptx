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902fa528954562" /><Relationship Type="http://schemas.openxmlformats.org/officeDocument/2006/relationships/extended-properties" Target="/docProps/app.xml" Id="R9269cf6b8ddd4683" /><Relationship Type="http://schemas.openxmlformats.org/officeDocument/2006/relationships/officeDocument" Target="/ppt/presentation.xml" Id="Rcf4d94366867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32385f16e5409f"/>
  </p:sldMasterIdLst>
  <p:notesMasterIdLst>
    <p:notesMasterId xmlns:r="http://schemas.openxmlformats.org/officeDocument/2006/relationships" r:id="Rbb830e510604441e"/>
  </p:notesMasterIdLst>
  <p:sldIdLst>
    <p:sldId xmlns:r="http://schemas.openxmlformats.org/officeDocument/2006/relationships" id="256" r:id="R930629f5c70c4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e90845bc2d4dc4" /><Relationship Type="http://schemas.openxmlformats.org/officeDocument/2006/relationships/slideMaster" Target="/ppt/slideMasters/slideMaster1.xml" Id="R9b32385f16e5409f" /><Relationship Type="http://schemas.openxmlformats.org/officeDocument/2006/relationships/notesMaster" Target="/ppt/notesMasters/notesMaster1.xml" Id="Rbb830e510604441e" /><Relationship Type="http://schemas.openxmlformats.org/officeDocument/2006/relationships/presProps" Target="/ppt/presProps.xml" Id="R06583bdb963646b8" /><Relationship Type="http://schemas.openxmlformats.org/officeDocument/2006/relationships/tableStyles" Target="/ppt/tableStyles.xml" Id="Rac240cd76f1b4466" /><Relationship Type="http://schemas.openxmlformats.org/officeDocument/2006/relationships/slide" Target="/ppt/slides/slide1.xml" Id="R930629f5c70c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51127f16f747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7f09dfaa4a4584" /><Relationship Type="http://schemas.openxmlformats.org/officeDocument/2006/relationships/notesMaster" Target="/ppt/notesMasters/notesMaster1.xml" Id="R868c9f1365ac4c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3c2998aa94f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f657142ef4ff4" /><Relationship Type="http://schemas.openxmlformats.org/officeDocument/2006/relationships/slideLayout" Target="/ppt/slideLayouts/slideLayout1.xml" Id="R8d41dda6a5fc4e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41dda6a5fc4e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0dd36a0f54a62" /><Relationship Type="http://schemas.openxmlformats.org/officeDocument/2006/relationships/image" Target="/ppt/media/image.png" Id="Rdcf730ccfe3b49f8" /><Relationship Type="http://schemas.openxmlformats.org/officeDocument/2006/relationships/image" Target="/ppt/media/image2.png" Id="R46d2b711f00547dc" /><Relationship Type="http://schemas.openxmlformats.org/officeDocument/2006/relationships/image" Target="/ppt/media/image3.png" Id="R0d17692782b741bd" /><Relationship Type="http://schemas.openxmlformats.org/officeDocument/2006/relationships/image" Target="/ppt/media/image4.png" Id="Rca721df2559e4cf2" /><Relationship Type="http://schemas.openxmlformats.org/officeDocument/2006/relationships/image" Target="/ppt/media/image5.png" Id="Re4baf832e8a54fbe" /><Relationship Type="http://schemas.openxmlformats.org/officeDocument/2006/relationships/image" Target="/ppt/media/image6.png" Id="R3ba60b4838704418" /><Relationship Type="http://schemas.openxmlformats.org/officeDocument/2006/relationships/image" Target="/ppt/media/image7.png" Id="Rcb7dc5e02ef74705" /><Relationship Type="http://schemas.openxmlformats.org/officeDocument/2006/relationships/image" Target="/ppt/media/image8.png" Id="R6f4d2c75b47d4a3c" /><Relationship Type="http://schemas.openxmlformats.org/officeDocument/2006/relationships/image" Target="/ppt/media/image9.png" Id="R484ba2c244c646ed" /><Relationship Type="http://schemas.openxmlformats.org/officeDocument/2006/relationships/image" Target="/ppt/media/image10.png" Id="R0e4740db065344f4" /><Relationship Type="http://schemas.openxmlformats.org/officeDocument/2006/relationships/image" Target="/ppt/media/image11.png" Id="R23b4fde140e643b9" /><Relationship Type="http://schemas.openxmlformats.org/officeDocument/2006/relationships/notesSlide" Target="/ppt/notesSlides/notesSlide1.xml" Id="R2a5623a98c13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413D5E-BF4C-491B-873D-B938DDC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62025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4B2B"/>
                </a:solidFill>
              </a:defRPr>
            </a:pPr>
            <a:r>
              <a:rPr sz="3150" b="1">
                <a:solidFill>
                  <a:srgbClr val="004B2B"/>
                </a:solidFill>
              </a:rPr>
              <a:t>Assumptions &amp; Methodology</a:t>
            </a:r>
          </a:p>
        </p:txBody>
      </p:sp>
      <p:sp>
        <p:nvSpPr>
          <p:cNvPr id="2" name="oracle-red-accent">
            <a:extLst xmlns:a="http://schemas.openxmlformats.org/drawingml/2006/main">
              <a:ext uri="{FF2B5EF4-FFF2-40B4-BE49-F238E27FC236}">
                <a16:creationId xmlns:a16="http://schemas.microsoft.com/office/drawing/2014/main" id="{961D6215-7B47-448C-8DD3-092E7C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954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2222"/>
          </a:solidFill>
          <a:ln xmlns:a="http://schemas.openxmlformats.org/drawingml/2006/main" w="0">
            <a:solidFill>
              <a:srgbClr val="F52222"/>
            </a:solidFill>
            <a:prstDash val="solid"/>
          </a:ln>
        </p:spPr>
      </p:sp>
      <p:sp>
        <p:nvSpPr>
          <p:cNvPr id="3" name="slide-description">
            <a:extLst xmlns:a="http://schemas.openxmlformats.org/drawingml/2006/main">
              <a:ext uri="{FF2B5EF4-FFF2-40B4-BE49-F238E27FC236}">
                <a16:creationId xmlns:a16="http://schemas.microsoft.com/office/drawing/2014/main" id="{A94A45CB-C7B2-4E50-B1A7-0AEC286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859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The proposed sizing is based on the customer-provided RVTools inventory and the configured capacity policy.</a:t>
            </a:r>
          </a:p>
        </p:txBody>
      </p:sp>
      <p:sp>
        <p:nvSpPr>
          <p:cNvPr id="4" name="methodology-outer-frame">
            <a:extLst xmlns:a="http://schemas.openxmlformats.org/drawingml/2006/main">
              <a:ext uri="{FF2B5EF4-FFF2-40B4-BE49-F238E27FC236}">
                <a16:creationId xmlns:a16="http://schemas.microsoft.com/office/drawing/2014/main" id="{7E6574C8-4F5F-4B63-AC9D-9CC14837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1131570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8"/>
            </a:solidFill>
            <a:prstDash val="solid"/>
          </a:ln>
        </p:spPr>
      </p:sp>
      <p:sp>
        <p:nvSpPr>
          <p:cNvPr id="5" name="sizing-methodology-header">
            <a:extLst xmlns:a="http://schemas.openxmlformats.org/drawingml/2006/main">
              <a:ext uri="{FF2B5EF4-FFF2-40B4-BE49-F238E27FC236}">
                <a16:creationId xmlns:a16="http://schemas.microsoft.com/office/drawing/2014/main" id="{AB61070F-A0A3-4D1E-AD10-F135C7DB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11315700" cy="35242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04B2B"/>
          </a:solidFill>
          <a:ln xmlns:a="http://schemas.openxmlformats.org/drawingml/2006/main" w="0">
            <a:solidFill>
              <a:srgbClr val="004B2B"/>
            </a:solidFill>
            <a:prstDash val="solid"/>
          </a:ln>
        </p:spPr>
      </p:sp>
      <p:sp>
        <p:nvSpPr>
          <p:cNvPr id="6" name="compute-memory-header">
            <a:extLst xmlns:a="http://schemas.openxmlformats.org/drawingml/2006/main">
              <a:ext uri="{FF2B5EF4-FFF2-40B4-BE49-F238E27FC236}">
                <a16:creationId xmlns:a16="http://schemas.microsoft.com/office/drawing/2014/main" id="{B3622A64-298C-4B74-83CE-0E949FAD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0"/>
            <a:ext cx="112871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04B2B"/>
          </a:solidFill>
          <a:ln xmlns:a="http://schemas.openxmlformats.org/drawingml/2006/main" w="0">
            <a:solidFill>
              <a:srgbClr val="004B2B"/>
            </a:solidFill>
            <a:prstDash val="solid"/>
          </a:ln>
        </p:spPr>
      </p:sp>
      <p:sp>
        <p:nvSpPr>
          <p:cNvPr id="7" name="storage-vsan-header">
            <a:extLst xmlns:a="http://schemas.openxmlformats.org/drawingml/2006/main">
              <a:ext uri="{FF2B5EF4-FFF2-40B4-BE49-F238E27FC236}">
                <a16:creationId xmlns:a16="http://schemas.microsoft.com/office/drawing/2014/main" id="{51AF73D1-D751-4863-AE78-EDD6DFB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287125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04B2B"/>
          </a:solidFill>
          <a:ln xmlns:a="http://schemas.openxmlformats.org/drawingml/2006/main" w="0">
            <a:solidFill>
              <a:srgbClr val="004B2B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730ccfe3b49f8"/>
          <a:stretch xmlns:a="http://schemas.openxmlformats.org/drawingml/2006/main"/>
        </p:blipFill>
        <p:spPr>
          <a:xfrm xmlns:a="http://schemas.openxmlformats.org/drawingml/2006/main">
            <a:off x="654050" y="1971675"/>
            <a:ext cx="311150" cy="26670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2b711f00547dc"/>
          <a:stretch xmlns:a="http://schemas.openxmlformats.org/drawingml/2006/main"/>
        </p:blipFill>
        <p:spPr>
          <a:xfrm xmlns:a="http://schemas.openxmlformats.org/drawingml/2006/main">
            <a:off x="619125" y="2393421"/>
            <a:ext cx="419100" cy="337608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7692782b741bd"/>
          <a:stretch xmlns:a="http://schemas.openxmlformats.org/drawingml/2006/main"/>
        </p:blipFill>
        <p:spPr>
          <a:xfrm xmlns:a="http://schemas.openxmlformats.org/drawingml/2006/main">
            <a:off x="619125" y="2892425"/>
            <a:ext cx="419100" cy="34925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21df2559e4cf2"/>
          <a:stretch xmlns:a="http://schemas.openxmlformats.org/drawingml/2006/main"/>
        </p:blipFill>
        <p:spPr>
          <a:xfrm xmlns:a="http://schemas.openxmlformats.org/drawingml/2006/main">
            <a:off x="619125" y="3623998"/>
            <a:ext cx="419100" cy="343429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af832e8a54fbe"/>
          <a:stretch xmlns:a="http://schemas.openxmlformats.org/drawingml/2006/main"/>
        </p:blipFill>
        <p:spPr>
          <a:xfrm xmlns:a="http://schemas.openxmlformats.org/drawingml/2006/main">
            <a:off x="619125" y="4038736"/>
            <a:ext cx="419100" cy="371203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60b4838704418"/>
          <a:stretch xmlns:a="http://schemas.openxmlformats.org/drawingml/2006/main"/>
        </p:blipFill>
        <p:spPr>
          <a:xfrm xmlns:a="http://schemas.openxmlformats.org/drawingml/2006/main">
            <a:off x="638175" y="4412116"/>
            <a:ext cx="381000" cy="234043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dc5e02ef74705"/>
          <a:stretch xmlns:a="http://schemas.openxmlformats.org/drawingml/2006/main"/>
        </p:blipFill>
        <p:spPr>
          <a:xfrm xmlns:a="http://schemas.openxmlformats.org/drawingml/2006/main">
            <a:off x="619125" y="5079955"/>
            <a:ext cx="419100" cy="365216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d2c75b47d4a3c"/>
          <a:stretch xmlns:a="http://schemas.openxmlformats.org/drawingml/2006/main"/>
        </p:blipFill>
        <p:spPr>
          <a:xfrm xmlns:a="http://schemas.openxmlformats.org/drawingml/2006/main">
            <a:off x="619125" y="5505586"/>
            <a:ext cx="419100" cy="371203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ba2c244c646ed"/>
          <a:stretch xmlns:a="http://schemas.openxmlformats.org/drawingml/2006/main"/>
        </p:blipFill>
        <p:spPr>
          <a:xfrm xmlns:a="http://schemas.openxmlformats.org/drawingml/2006/main">
            <a:off x="645856" y="5915025"/>
            <a:ext cx="365637" cy="323850"/>
          </a:xfrm>
          <a:prstGeom xmlns:a="http://schemas.openxmlformats.org/drawingml/2006/main" prst="rect">
            <a:avLst/>
          </a:prstGeom>
        </p:spPr>
      </p:pic>
      <p:sp>
        <p:nvSpPr>
          <p:cNvPr id="17" name="sizing-methodology-header-text">
            <a:extLst xmlns:a="http://schemas.openxmlformats.org/drawingml/2006/main">
              <a:ext uri="{FF2B5EF4-FFF2-40B4-BE49-F238E27FC236}">
                <a16:creationId xmlns:a16="http://schemas.microsoft.com/office/drawing/2014/main" id="{B21613F1-372E-4D3E-8951-231713BC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09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Sizing Methodology</a:t>
            </a:r>
          </a:p>
        </p:txBody>
      </p:sp>
      <p:sp>
        <p:nvSpPr>
          <p:cNvPr id="18" name="compute-memory-header-text">
            <a:extLst xmlns:a="http://schemas.openxmlformats.org/drawingml/2006/main">
              <a:ext uri="{FF2B5EF4-FFF2-40B4-BE49-F238E27FC236}">
                <a16:creationId xmlns:a16="http://schemas.microsoft.com/office/drawing/2014/main" id="{0F5A9CF6-9161-4256-87C2-19C4E674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Compute &amp; Memory Policy</a:t>
            </a:r>
          </a:p>
        </p:txBody>
      </p:sp>
      <p:sp>
        <p:nvSpPr>
          <p:cNvPr id="19" name="storage-vsan-header-text">
            <a:extLst xmlns:a="http://schemas.openxmlformats.org/drawingml/2006/main">
              <a:ext uri="{FF2B5EF4-FFF2-40B4-BE49-F238E27FC236}">
                <a16:creationId xmlns:a16="http://schemas.microsoft.com/office/drawing/2014/main" id="{06C443A6-4BB3-475D-965D-5D8E6938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43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Storage Policy — vSAN</a:t>
            </a:r>
          </a:p>
        </p:txBody>
      </p:sp>
      <p:sp>
        <p:nvSpPr>
          <p:cNvPr id="20" name="methodology-divider-1">
            <a:extLst xmlns:a="http://schemas.openxmlformats.org/drawingml/2006/main">
              <a:ext uri="{FF2B5EF4-FFF2-40B4-BE49-F238E27FC236}">
                <a16:creationId xmlns:a16="http://schemas.microsoft.com/office/drawing/2014/main" id="{5AED7A9B-FCA5-4542-9B99-26AD9938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9077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1" name="methodology-divider-2">
            <a:extLst xmlns:a="http://schemas.openxmlformats.org/drawingml/2006/main">
              <a:ext uri="{FF2B5EF4-FFF2-40B4-BE49-F238E27FC236}">
                <a16:creationId xmlns:a16="http://schemas.microsoft.com/office/drawing/2014/main" id="{7BD18A30-E611-4E98-8100-6DF0512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2" name="compute-divider-1">
            <a:extLst xmlns:a="http://schemas.openxmlformats.org/drawingml/2006/main">
              <a:ext uri="{FF2B5EF4-FFF2-40B4-BE49-F238E27FC236}">
                <a16:creationId xmlns:a16="http://schemas.microsoft.com/office/drawing/2014/main" id="{389672E6-9129-4FDC-9F88-E092F40E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90925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3" name="compute-divider-2">
            <a:extLst xmlns:a="http://schemas.openxmlformats.org/drawingml/2006/main">
              <a:ext uri="{FF2B5EF4-FFF2-40B4-BE49-F238E27FC236}">
                <a16:creationId xmlns:a16="http://schemas.microsoft.com/office/drawing/2014/main" id="{DCFE84C1-0FE2-4E55-B97E-D75C29E6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0025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4" name="compute-divider-3">
            <a:extLst xmlns:a="http://schemas.openxmlformats.org/drawingml/2006/main">
              <a:ext uri="{FF2B5EF4-FFF2-40B4-BE49-F238E27FC236}">
                <a16:creationId xmlns:a16="http://schemas.microsoft.com/office/drawing/2014/main" id="{76468F55-4FC5-4889-BAE2-8EA303E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29125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5" name="storage-divider-1">
            <a:extLst xmlns:a="http://schemas.openxmlformats.org/drawingml/2006/main">
              <a:ext uri="{FF2B5EF4-FFF2-40B4-BE49-F238E27FC236}">
                <a16:creationId xmlns:a16="http://schemas.microsoft.com/office/drawing/2014/main" id="{C826D873-BEBC-46C6-8F73-1ABFD3F1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57775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6" name="storage-divider-2">
            <a:extLst xmlns:a="http://schemas.openxmlformats.org/drawingml/2006/main">
              <a:ext uri="{FF2B5EF4-FFF2-40B4-BE49-F238E27FC236}">
                <a16:creationId xmlns:a16="http://schemas.microsoft.com/office/drawing/2014/main" id="{9EA409BA-74A0-4877-9E84-0A4001B7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864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7" name="storage-divider-3">
            <a:extLst xmlns:a="http://schemas.openxmlformats.org/drawingml/2006/main">
              <a:ext uri="{FF2B5EF4-FFF2-40B4-BE49-F238E27FC236}">
                <a16:creationId xmlns:a16="http://schemas.microsoft.com/office/drawing/2014/main" id="{1705EE2C-E33B-40C0-981E-48B5498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15025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28" name="data-source-label">
            <a:extLst xmlns:a="http://schemas.openxmlformats.org/drawingml/2006/main">
              <a:ext uri="{FF2B5EF4-FFF2-40B4-BE49-F238E27FC236}">
                <a16:creationId xmlns:a16="http://schemas.microsoft.com/office/drawing/2014/main" id="{2904B08E-E177-42B0-A977-01EB350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6697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Data Source</a:t>
            </a:r>
          </a:p>
        </p:txBody>
      </p:sp>
      <p:sp>
        <p:nvSpPr>
          <p:cNvPr id="29" name="data-source-value">
            <a:extLst xmlns:a="http://schemas.openxmlformats.org/drawingml/2006/main">
              <a:ext uri="{FF2B5EF4-FFF2-40B4-BE49-F238E27FC236}">
                <a16:creationId xmlns:a16="http://schemas.microsoft.com/office/drawing/2014/main" id="{4B811582-603E-4889-8725-E81C011B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RVTools export provided by the customer</a:t>
            </a:r>
          </a:p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(Analysis Date: May 08, 2025)</a:t>
            </a:r>
          </a:p>
        </p:txBody>
      </p:sp>
      <p:sp>
        <p:nvSpPr>
          <p:cNvPr id="30" name="sizing-approach-label">
            <a:extLst xmlns:a="http://schemas.openxmlformats.org/drawingml/2006/main">
              <a:ext uri="{FF2B5EF4-FFF2-40B4-BE49-F238E27FC236}">
                <a16:creationId xmlns:a16="http://schemas.microsoft.com/office/drawing/2014/main" id="{65405FE4-AB5C-4798-A26B-5C22CD76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Sizing Approach</a:t>
            </a:r>
          </a:p>
        </p:txBody>
      </p:sp>
      <p:sp>
        <p:nvSpPr>
          <p:cNvPr id="31" name="sizing-approach-value">
            <a:extLst xmlns:a="http://schemas.openxmlformats.org/drawingml/2006/main">
              <a:ext uri="{FF2B5EF4-FFF2-40B4-BE49-F238E27FC236}">
                <a16:creationId xmlns:a16="http://schemas.microsoft.com/office/drawing/2014/main" id="{91CCB343-A9C8-4AB9-BE7C-82C9C0D4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Selected VM scope, OCVS host profile, and configured capacity policy</a:t>
            </a:r>
          </a:p>
        </p:txBody>
      </p:sp>
      <p:sp>
        <p:nvSpPr>
          <p:cNvPr id="32" name="vcpu-ocpu-label">
            <a:extLst xmlns:a="http://schemas.openxmlformats.org/drawingml/2006/main">
              <a:ext uri="{FF2B5EF4-FFF2-40B4-BE49-F238E27FC236}">
                <a16:creationId xmlns:a16="http://schemas.microsoft.com/office/drawing/2014/main" id="{4067E654-F77A-4069-81E0-51D8B5BB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vCPU per OCPU</a:t>
            </a:r>
          </a:p>
        </p:txBody>
      </p:sp>
      <p:sp>
        <p:nvSpPr>
          <p:cNvPr id="33" name="vcpu-ocpu-value">
            <a:extLst xmlns:a="http://schemas.openxmlformats.org/drawingml/2006/main">
              <a:ext uri="{FF2B5EF4-FFF2-40B4-BE49-F238E27FC236}">
                <a16:creationId xmlns:a16="http://schemas.microsoft.com/office/drawing/2014/main" id="{5C840233-9424-4BF8-B4DF-E5B8CC7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4:1</a:t>
            </a:r>
          </a:p>
        </p:txBody>
      </p:sp>
      <p:sp>
        <p:nvSpPr>
          <p:cNvPr id="34" name="cpu-headroom-label">
            <a:extLst xmlns:a="http://schemas.openxmlformats.org/drawingml/2006/main">
              <a:ext uri="{FF2B5EF4-FFF2-40B4-BE49-F238E27FC236}">
                <a16:creationId xmlns:a16="http://schemas.microsoft.com/office/drawing/2014/main" id="{78A45BFF-3729-426B-A98C-F783C29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CPU headroom</a:t>
            </a:r>
          </a:p>
        </p:txBody>
      </p:sp>
      <p:sp>
        <p:nvSpPr>
          <p:cNvPr id="35" name="cpu-headroom-value">
            <a:extLst xmlns:a="http://schemas.openxmlformats.org/drawingml/2006/main">
              <a:ext uri="{FF2B5EF4-FFF2-40B4-BE49-F238E27FC236}">
                <a16:creationId xmlns:a16="http://schemas.microsoft.com/office/drawing/2014/main" id="{433AF11E-7605-4D14-B13A-279A7BA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20%</a:t>
            </a:r>
          </a:p>
        </p:txBody>
      </p:sp>
      <p:sp>
        <p:nvSpPr>
          <p:cNvPr id="36" name="ram-headroom-label">
            <a:extLst xmlns:a="http://schemas.openxmlformats.org/drawingml/2006/main">
              <a:ext uri="{FF2B5EF4-FFF2-40B4-BE49-F238E27FC236}">
                <a16:creationId xmlns:a16="http://schemas.microsoft.com/office/drawing/2014/main" id="{CDB00B29-A76F-401F-980D-7AE30BB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RAM headroom</a:t>
            </a:r>
          </a:p>
        </p:txBody>
      </p:sp>
      <p:sp>
        <p:nvSpPr>
          <p:cNvPr id="37" name="ram-headroom-value">
            <a:extLst xmlns:a="http://schemas.openxmlformats.org/drawingml/2006/main">
              <a:ext uri="{FF2B5EF4-FFF2-40B4-BE49-F238E27FC236}">
                <a16:creationId xmlns:a16="http://schemas.microsoft.com/office/drawing/2014/main" id="{73205D02-99A6-48CA-9424-6C61FEBA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20%</a:t>
            </a:r>
          </a:p>
        </p:txBody>
      </p:sp>
      <p:sp>
        <p:nvSpPr>
          <p:cNvPr id="38" name="storage-headroom-label">
            <a:extLst xmlns:a="http://schemas.openxmlformats.org/drawingml/2006/main">
              <a:ext uri="{FF2B5EF4-FFF2-40B4-BE49-F238E27FC236}">
                <a16:creationId xmlns:a16="http://schemas.microsoft.com/office/drawing/2014/main" id="{FE7A04AD-E304-4302-BDE3-9A53AAB3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73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Storage headroom</a:t>
            </a:r>
          </a:p>
        </p:txBody>
      </p:sp>
      <p:sp>
        <p:nvSpPr>
          <p:cNvPr id="39" name="storage-headroom-value">
            <a:extLst xmlns:a="http://schemas.openxmlformats.org/drawingml/2006/main">
              <a:ext uri="{FF2B5EF4-FFF2-40B4-BE49-F238E27FC236}">
                <a16:creationId xmlns:a16="http://schemas.microsoft.com/office/drawing/2014/main" id="{CF421AA5-3D12-4DF5-9A32-E81B089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25%</a:t>
            </a:r>
          </a:p>
        </p:txBody>
      </p:sp>
      <p:sp>
        <p:nvSpPr>
          <p:cNvPr id="40" name="vsan-usable-label">
            <a:extLst xmlns:a="http://schemas.openxmlformats.org/drawingml/2006/main">
              <a:ext uri="{FF2B5EF4-FFF2-40B4-BE49-F238E27FC236}">
                <a16:creationId xmlns:a16="http://schemas.microsoft.com/office/drawing/2014/main" id="{E301DD29-9CF0-4CF2-AFF4-1600D24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959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Dense vSAN usable capacity</a:t>
            </a:r>
          </a:p>
        </p:txBody>
      </p:sp>
      <p:sp>
        <p:nvSpPr>
          <p:cNvPr id="41" name="vsan-usable-value">
            <a:extLst xmlns:a="http://schemas.openxmlformats.org/drawingml/2006/main">
              <a:ext uri="{FF2B5EF4-FFF2-40B4-BE49-F238E27FC236}">
                <a16:creationId xmlns:a16="http://schemas.microsoft.com/office/drawing/2014/main" id="{8B5DDA8E-04B9-43C1-A9BC-A656CE63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95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50%</a:t>
            </a:r>
          </a:p>
        </p:txBody>
      </p:sp>
      <p:sp>
        <p:nvSpPr>
          <p:cNvPr id="42" name="storage-architecture-label">
            <a:extLst xmlns:a="http://schemas.openxmlformats.org/drawingml/2006/main">
              <a:ext uri="{FF2B5EF4-FFF2-40B4-BE49-F238E27FC236}">
                <a16:creationId xmlns:a16="http://schemas.microsoft.com/office/drawing/2014/main" id="{E0C5894D-2DFC-43FC-A712-F5499095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245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4B2B"/>
                </a:solidFill>
              </a:defRPr>
            </a:pPr>
            <a:r>
              <a:rPr sz="1275" b="1">
                <a:solidFill>
                  <a:srgbClr val="004B2B"/>
                </a:solidFill>
              </a:rPr>
              <a:t>Selected storage architecture</a:t>
            </a:r>
          </a:p>
        </p:txBody>
      </p:sp>
      <p:sp>
        <p:nvSpPr>
          <p:cNvPr id="43" name="storage-architecture-value">
            <a:extLst xmlns:a="http://schemas.openxmlformats.org/drawingml/2006/main">
              <a:ext uri="{FF2B5EF4-FFF2-40B4-BE49-F238E27FC236}">
                <a16:creationId xmlns:a16="http://schemas.microsoft.com/office/drawing/2014/main" id="{2E96352C-7A93-409F-B267-2AAE8692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vSAN</a:t>
            </a:r>
          </a:p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(Applies to BM.DenseIO shapes)</a:t>
            </a:r>
          </a:p>
        </p:txBody>
      </p:sp>
      <p:sp>
        <p:nvSpPr>
          <p:cNvPr id="44" name="row-separator-1">
            <a:extLst xmlns:a="http://schemas.openxmlformats.org/drawingml/2006/main">
              <a:ext uri="{FF2B5EF4-FFF2-40B4-BE49-F238E27FC236}">
                <a16:creationId xmlns:a16="http://schemas.microsoft.com/office/drawing/2014/main" id="{3055D0B1-D377-44CB-9AC7-0C382A30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45" name="row-separator-2">
            <a:extLst xmlns:a="http://schemas.openxmlformats.org/drawingml/2006/main">
              <a:ext uri="{FF2B5EF4-FFF2-40B4-BE49-F238E27FC236}">
                <a16:creationId xmlns:a16="http://schemas.microsoft.com/office/drawing/2014/main" id="{348DD983-3472-4061-A6D6-41DCB8D2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46" name="row-separator-3">
            <a:extLst xmlns:a="http://schemas.openxmlformats.org/drawingml/2006/main">
              <a:ext uri="{FF2B5EF4-FFF2-40B4-BE49-F238E27FC236}">
                <a16:creationId xmlns:a16="http://schemas.microsoft.com/office/drawing/2014/main" id="{FDDE0F88-4385-4895-8485-4F7FB748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33825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47" name="row-separator-4">
            <a:extLst xmlns:a="http://schemas.openxmlformats.org/drawingml/2006/main">
              <a:ext uri="{FF2B5EF4-FFF2-40B4-BE49-F238E27FC236}">
                <a16:creationId xmlns:a16="http://schemas.microsoft.com/office/drawing/2014/main" id="{FFAD667B-FCA5-41D8-9B47-580B4F9E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48" name="row-separator-5">
            <a:extLst xmlns:a="http://schemas.openxmlformats.org/drawingml/2006/main">
              <a:ext uri="{FF2B5EF4-FFF2-40B4-BE49-F238E27FC236}">
                <a16:creationId xmlns:a16="http://schemas.microsoft.com/office/drawing/2014/main" id="{4D1F1A55-7B49-4C5B-96CA-68133C41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49" name="row-separator-6">
            <a:extLst xmlns:a="http://schemas.openxmlformats.org/drawingml/2006/main">
              <a:ext uri="{FF2B5EF4-FFF2-40B4-BE49-F238E27FC236}">
                <a16:creationId xmlns:a16="http://schemas.microsoft.com/office/drawing/2014/main" id="{97E66B34-3F5A-4D8E-8402-89B7438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00675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sp>
        <p:nvSpPr>
          <p:cNvPr id="50" name="row-separator-7">
            <a:extLst xmlns:a="http://schemas.openxmlformats.org/drawingml/2006/main">
              <a:ext uri="{FF2B5EF4-FFF2-40B4-BE49-F238E27FC236}">
                <a16:creationId xmlns:a16="http://schemas.microsoft.com/office/drawing/2014/main" id="{7FAD8FFC-55A8-40C8-A3B9-4C941FFC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039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8"/>
          </a:solidFill>
          <a:ln xmlns:a="http://schemas.openxmlformats.org/drawingml/2006/main" w="0">
            <a:solidFill>
              <a:srgbClr val="D6DCD8"/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740db065344f4"/>
          <a:stretch xmlns:a="http://schemas.openxmlformats.org/drawingml/2006/main"/>
        </p:blipFill>
        <p:spPr>
          <a:xfrm xmlns:a="http://schemas.openxmlformats.org/drawingml/2006/main">
            <a:off x="228600" y="210375"/>
            <a:ext cx="1838325" cy="607950"/>
          </a:xfrm>
          <a:prstGeom xmlns:a="http://schemas.openxmlformats.org/drawingml/2006/main" prst="rect">
            <a:avLst/>
          </a:prstGeom>
        </p:spPr>
      </p:pic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4fde140e643b9"/>
          <a:stretch xmlns:a="http://schemas.openxmlformats.org/drawingml/2006/main"/>
        </p:blipFill>
        <p:spPr>
          <a:xfrm xmlns:a="http://schemas.openxmlformats.org/drawingml/2006/main">
            <a:off x="11344275" y="6396095"/>
            <a:ext cx="600075" cy="3904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84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2026-09-03T09:10:40.0380000Z</dcterms:created>
  <dcterms:modified xsi:type="dcterms:W3CDTF">2026-09-03T09:10:40.0380000Z</dcterms:modified>
</coreProperties>
</file>